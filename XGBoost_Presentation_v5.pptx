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88" r:id="rId40"/>
    <p:sldId id="289" r:id="rId41"/>
    <p:sldId id="290" r:id="rId42"/>
    <p:sldId id="257" r:id="rId9"/>
    <p:sldId id="258" r:id="rId10"/>
    <p:sldId id="293" r:id="rId45"/>
    <p:sldId id="259" r:id="rId11"/>
    <p:sldId id="260" r:id="rId12"/>
    <p:sldId id="261" r:id="rId13"/>
    <p:sldId id="262" r:id="rId14"/>
    <p:sldId id="263" r:id="rId15"/>
    <p:sldId id="264" r:id="rId16"/>
    <p:sldId id="265" r:id="rId17"/>
    <p:sldId id="294" r:id="rId46"/>
    <p:sldId id="295" r:id="rId47"/>
    <p:sldId id="296" r:id="rId48"/>
    <p:sldId id="297" r:id="rId49"/>
    <p:sldId id="277" r:id="rId29"/>
    <p:sldId id="278" r:id="rId30"/>
    <p:sldId id="280" r:id="rId32"/>
    <p:sldId id="291" r:id="rId43"/>
    <p:sldId id="298" r:id="rId50"/>
    <p:sldId id="272" r:id="rId24"/>
    <p:sldId id="299" r:id="rId51"/>
    <p:sldId id="300" r:id="rId52"/>
    <p:sldId id="274" r:id="rId26"/>
    <p:sldId id="292" r:id="rId44"/>
    <p:sldId id="301" r:id="rId53"/>
    <p:sldId id="302" r:id="rId54"/>
    <p:sldId id="281" r:id="rId33"/>
    <p:sldId id="282" r:id="rId34"/>
    <p:sldId id="283" r:id="rId35"/>
    <p:sldId id="279" r:id="rId31"/>
    <p:sldId id="273" r:id="rId25"/>
    <p:sldId id="276" r:id="rId28"/>
    <p:sldId id="284" r:id="rId36"/>
    <p:sldId id="285" r:id="rId37"/>
    <p:sldId id="286" r:id="rId38"/>
    <p:sldId id="287" r:id="rId39"/>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what XGBoost is, how it works (with the math), and how we used it to find Higgs boson events in real CERN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moves the orange ball to the next milestone. The last click sends it back to 2014: the Higgs Boson challenge, where XGBoost became famous (we use the same kind of data in Part 3). Sources: XGBoost paper (Chen &amp; Guestrin 2016), XGBoost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XGBoost = eXtreme Gradient Boosting. Key message: lots of weak, shallow trees, each fixing the errors of the previous ones. The picture: a relay team where every runner is a little better than the last.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through the plot: round 0 everyone gets 2.2. Each click adds one tree; the error drops 1.02 -&gt; 0.70 -&gt; 0.49 -&gt; 0.36. Small houses go down, big houses go 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demo (λ = 1). Use the buttons in slideshow mode: ADD TREE adds the next tree, BACK goes back, ↺ resets, and the λ button switches to λ = 5 at the same round. Watch the bars slide toward the true prices (Morph transition) and read one leaf: G = sum of gradients, H = sum of hessians, w = −G/(H+λ). With λ = 5 the steps are smaller: regularization slows the learning down.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demo (λ = 1). Use the buttons in slideshow mode: ADD TREE adds the next tree, BACK goes back, ↺ resets, and the λ button switches to λ = 5 at the same round. Watch the bars slide toward the true prices (Morph transition) and read one leaf: G = sum of gradients, H = sum of hessians, w = −G/(H+λ). With λ = 5 the steps are smaller: regularization slows the learning down.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demo (λ = 1). Use the buttons in slideshow mode: ADD TREE adds the next tree, BACK goes back, ↺ resets, and the λ button switches to λ = 5 at the same round. Watch the bars slide toward the true prices (Morph transition) and read one leaf: G = sum of gradients, H = sum of hessians, w = −G/(H+λ). With λ = 5 the steps are smaller: regularization slows the learning down.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demo (λ = 1). Use the buttons in slideshow mode: ADD TREE adds the next tree, BACK goes back, ↺ resets, and the λ button switches to λ = 5 at the same round. Watch the bars slide toward the true prices (Morph transition) and read one leaf: G = sum of gradients, H = sum of hessians, w = −G/(H+λ). With λ = 5 the steps are smaller: regularization slows the learning down.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demo (λ = 1). Use the buttons in slideshow mode: ADD TREE adds the next tree, BACK goes back, ↺ resets, and the λ button switches to λ = 5 at the same round. Watch the bars slide toward the true prices (Morph transition) and read one leaf: G = sum of gradients, H = sum of hessians, w = −G/(H+λ). With λ = 5 the steps are smaller: regularization slows the learning down.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demo (λ = 1). Use the buttons in slideshow mode: ADD TREE adds the next tree, BACK goes back, ↺ resets, and the λ button switches to λ = 5 at the same round. Watch the bars slide toward the true prices (Morph transition) and read one leaf: G = sum of gradients, H = sum of hessians, w = −G/(H+λ). With λ = 5 the steps are smaller: regularization slows the learning down.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demo (λ = 5). Use the buttons in slideshow mode: ADD TREE adds the next tree, BACK goes back, ↺ resets, and the λ button switches to λ = 1 at the same round. Watch the bars slide toward the true prices (Morph transition) and read one leaf: G = sum of gradients, H = sum of hessians, w = −G/(H+λ). With λ = 5 the steps are smaller: regularization slows the learning down.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demo (λ = 5). Use the buttons in slideshow mode: ADD TREE adds the next tree, BACK goes back, ↺ resets, and the λ button switches to λ = 1 at the same round. Watch the bars slide toward the true prices (Morph transition) and read one leaf: G = sum of gradients, H = sum of hessians, w = −G/(H+λ). With λ = 5 the steps are smaller: regularization slows the learning down.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demo (λ = 5). Use the buttons in slideshow mode: ADD TREE adds the next tree, BACK goes back, ↺ resets, and the λ button switches to λ = 1 at the same round. Watch the bars slide toward the true prices (Morph transition) and read one leaf: G = sum of gradients, H = sum of hessians, w = −G/(H+λ). With λ = 5 the steps are smaller: regularization slows the learning down.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demo (λ = 5). Use the buttons in slideshow mode: ADD TREE adds the next tree, BACK goes back, ↺ resets, and the λ button switches to λ = 1 at the same round. Watch the bars slide toward the true prices (Morph transition) and read one leaf: G = sum of gradients, H = sum of hessians, w = −G/(H+λ). With λ = 5 the steps are smaller: regularization slows the learning down.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demo (λ = 5). Use the buttons in slideshow mode: ADD TREE adds the next tree, BACK goes back, ↺ resets, and the λ button switches to λ = 1 at the same round. Watch the bars slide toward the true prices (Morph transition) and read one leaf: G = sum of gradients, H = sum of hessians, w = −G/(H+λ). With λ = 5 the steps are smaller: regularization slows the learning down.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demo (λ = 5). Use the buttons in slideshow mode: ADD TREE adds the next tree, BACK goes back, ↺ resets, and the λ button switches to λ = 1 at the same round. Watch the bars slide toward the true prices (Morph transition) and read one leaf: G = sum of gradients, H = sum of hessians, w = −G/(H+λ). With λ = 5 the steps are smaller: regularization slows the learning down.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XGBoost minimizes loss plus a penalty on tree size (gamma per leaf) and leaf values (lambda). 2) Near the current prediction any smooth loss looks like a parabola: g = slope (gradient), h = curvature (hessian). 3) Summing per leaf gives a parabola in w; its minimum is w* = -G/(H+lambda). 4) A split is kept only if the gain beats gamma. Classic GBM uses only g; XGBoost uses g AND 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that the formulas are exactly what XGBoost computes. Every event starts at p0 = 0.3427; g = p0 - y, h = p0(1-p0). Summed per leaf, -G/(H+lambda)*eta gives XGBoost's leaf values to 5 decimals, and the gain formula gives exactly its gain. (Notebook 7.5.)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tree-building code never looks at the loss, only at g and h. Swap the loss and you switch task. For classification the trees add up log-odds and the sigmoid turns them into a probability (plot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panel changes one hyperparameter. Train vs validation. Learning rate 1.0 drops validation to 0.882. The n_estimators panel shows why early stopping matters.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speed from the XGBoost paper (seconds per tree). Bottom: the trade-off every boosted model must manage, underfitting vs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 data fits in a spreadsheet, try XGBoost first.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Boosting beats bagging (RF) and crushes the linear model. XGBoost and LightGBM are tied here. Speed: same 300 trees / depth 5, sklearn GBM 355 s vs XGBoost 0.8 s. The XGBoost paper shows the same pattern: 0.68 s per tree vs 28.5 s for scikit-learn on 1M Higgs events.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XGBoost, LightGBM and CatBoost are all gradient-boosted trees: they differ in how trees grow (level-wise vs leaf-wise vs symmetric), categorical handling and tuning effort. Isolation Forest is unsupervised anomaly detection: anomalies are separated by fewer random splits. Rule of thumb: XGBoost = safe all-rounder, LightGBM = speed on huge data, CatBoost = many categories, Isolation Forest = no labels / outliers.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dataset. The EDA showed three things that point to XGBoost: structured missing values, missingness that carries information, and non-linear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preprocessing step has a reason: trees don't need scaling, XGBoost handles NaN, Weight would let the model cheat. Early stopping picked 778 trees.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test ROC-AUC 0.911. The best threshold depends on the goal: 0.35 for best F1, 0.86 for the physicists' AMS metric. 2014 winner scored about 3.8 AMS on different data.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 how much each feature pushes one prediction up or down. Dependence plot: peak at ~125 GeV. Bottom: overall importance and one event explained.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lesson: more data &gt; feature engineering &gt; more tuning.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thing: always use early stopping on a validation set, and never touch the test set until the very end.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small trees, working as a team, caught the Higgs boson. Thank the audience, take questions, then launch the Kahoot.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ask the question and pause. Then: you only studied your mistakes. XGBoost does the same: every new tree studies only what the previous trees got wrong.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explains the idea so everyone can follow. Part 2 opens the hood: the math. Part 3 shows how we applied it to real CERN data in our notebook. Then a Kahoot.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what XGBoost is and why it works, explained without math.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the math behind XGBoost, with a fully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our notebook, from installation to SHAP.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decision tree asks yes/no questions; each leaf holds a number w that is added to the prediction. Random Forest: many deep trees trained independently and averaged, which reduces variance. Boosting: many shallow (weak) trees trained one after another and added up, each fixing what is left, which reduces bias.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things XGBoost adds to classic gradient boosting: 1) a penalty in the objective, 2) second-order g and h giving exact leaf values, 3) the gain formula with gamma as pruning, 4) row/column subsampling, 5) learned default direction for missing values, 6) systems speed-ups (the XGBoost paper: 0.68 s vs 28.5 s per tree for scikit-learn).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Missing values: sparsity-aware split finding. For every split XGBoost tries both directions for the NaNs and keeps the better one. Overfitting: five kinds of brakes. With them, training and test scores stay close; without them, training gets perfect and test gets worse.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 knobs make the model more complex: deeper trees, more trees, bigger steps. Turn them up and you risk overfitting. BRAKE knobs make it simpler: they refuse weak splits or shrink leaf values. Turn them up too far and you underfit. Subsample and colsample act as brakes when you LOWER them. scale_pos_weight balances rare classes.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practical order: fix the learning rate at 0.1 with early stopping, tune the tree shape (max_depth, min_child_weight), then gamma, then the randomness (subsample, colsample), then the penalties (lambda, alpha), and finally lower the learning rate and let early stopping add more trees. The curve on the right is the goal: the sweet spot where validation error is lowest.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ball walks through the recipe: compute g and h, scan all splits with histograms, keep the best by Gain (including where NaN goes), stop by max_depth / min_child_weight / gamma, set w = -G/(H+lambda), add eta*w and repeat. The last click sends the ball back to step 1: the next tree.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visitors, one feature. Everyone starts at p = 0.5. For log loss g = p - y and h = p(1-p). Buyers get g = -0.5 (the model is too low for them), non-buyers g = +0.5. Summed over everyone G = 0: no single leaf can improve, so we need a split.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'minutes &lt; 10' separates non-buyers (G = +1, H = 0.5) from buyers (G = -1, H = 0.5). Gain = 0.67 &gt; gamma = 0, so we split. Leaf values -0.67 and +0.67. With learning rate 0.3 the log-odds become -0.2 and +0.2, so probabilities 0.45 and 0.55: both moved toward the truth, and the log loss drops from 0.693 to 0.598. The next tree recomputes g and h from these new probabilities.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Install with pip (or conda). Import XGBClassifier for classification and XGBRegressor for regression; they work like any scikit-learn model. early_stopping_rounds plus an eval_set gives early stopping. Missing values can stay as NaN.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map of the notebook. Each box is one part with its key result.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xgboost_interactive_demo.html" TargetMode="External"/><Relationship Id="rId3" Type="http://schemas.openxmlformats.org/officeDocument/2006/relationships/slide" Target="slide6.xml"/><Relationship Id="rId4" Type="http://schemas.openxmlformats.org/officeDocument/2006/relationships/slide" Target="slide5.xml"/><Relationship Id="rId5" Type="http://schemas.openxmlformats.org/officeDocument/2006/relationships/slide" Target="slide1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xgboost_interactive_demo.html" TargetMode="External"/><Relationship Id="rId3" Type="http://schemas.openxmlformats.org/officeDocument/2006/relationships/slide" Target="slide5.xml"/><Relationship Id="rId4" Type="http://schemas.openxmlformats.org/officeDocument/2006/relationships/slide" Target="slide7.xml"/><Relationship Id="rId5" Type="http://schemas.openxmlformats.org/officeDocument/2006/relationships/slide" Target="slide1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xgboost_interactive_demo.html" TargetMode="External"/><Relationship Id="rId3" Type="http://schemas.openxmlformats.org/officeDocument/2006/relationships/slide" Target="slide6.xml"/><Relationship Id="rId4" Type="http://schemas.openxmlformats.org/officeDocument/2006/relationships/slide" Target="slide8.xml"/><Relationship Id="rId5" Type="http://schemas.openxmlformats.org/officeDocument/2006/relationships/slide" Target="slide5.xml"/><Relationship Id="rId6" Type="http://schemas.openxmlformats.org/officeDocument/2006/relationships/slide" Target="slide1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xgboost_interactive_demo.html" TargetMode="Externa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5.xml"/><Relationship Id="rId6" Type="http://schemas.openxmlformats.org/officeDocument/2006/relationships/slide" Target="slide1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xgboost_interactive_demo.html" TargetMode="External"/><Relationship Id="rId3" Type="http://schemas.openxmlformats.org/officeDocument/2006/relationships/slide" Target="slide8.xml"/><Relationship Id="rId4" Type="http://schemas.openxmlformats.org/officeDocument/2006/relationships/slide" Target="slide10.xml"/><Relationship Id="rId5" Type="http://schemas.openxmlformats.org/officeDocument/2006/relationships/slide" Target="slide5.xml"/><Relationship Id="rId6" Type="http://schemas.openxmlformats.org/officeDocument/2006/relationships/slide" Target="slide15.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xgboost_interactive_demo.html" TargetMode="External"/><Relationship Id="rId3" Type="http://schemas.openxmlformats.org/officeDocument/2006/relationships/slide" Target="slide9.xml"/><Relationship Id="rId4" Type="http://schemas.openxmlformats.org/officeDocument/2006/relationships/slide" Target="slide5.xml"/><Relationship Id="rId5" Type="http://schemas.openxmlformats.org/officeDocument/2006/relationships/slide" Target="slide16.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xgboost_interactive_demo.html" TargetMode="External"/><Relationship Id="rId3" Type="http://schemas.openxmlformats.org/officeDocument/2006/relationships/slide" Target="slide12.xml"/><Relationship Id="rId4" Type="http://schemas.openxmlformats.org/officeDocument/2006/relationships/slide" Target="slide11.xml"/><Relationship Id="rId5" Type="http://schemas.openxmlformats.org/officeDocument/2006/relationships/slide" Target="slide5.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xgboost_interactive_demo.html" TargetMode="External"/><Relationship Id="rId3" Type="http://schemas.openxmlformats.org/officeDocument/2006/relationships/slide" Target="slide11.xml"/><Relationship Id="rId4" Type="http://schemas.openxmlformats.org/officeDocument/2006/relationships/slide" Target="slide13.xml"/><Relationship Id="rId5" Type="http://schemas.openxmlformats.org/officeDocument/2006/relationships/slide" Target="slide6.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xgboost_interactive_demo.html" TargetMode="External"/><Relationship Id="rId3" Type="http://schemas.openxmlformats.org/officeDocument/2006/relationships/slide" Target="slide12.xml"/><Relationship Id="rId4" Type="http://schemas.openxmlformats.org/officeDocument/2006/relationships/slide" Target="slide14.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xgboost_interactive_demo.html" TargetMode="External"/><Relationship Id="rId3" Type="http://schemas.openxmlformats.org/officeDocument/2006/relationships/slide" Target="slide13.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8.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xgboost_interactive_demo.html" TargetMode="External"/><Relationship Id="rId3" Type="http://schemas.openxmlformats.org/officeDocument/2006/relationships/slide" Target="slide14.xml"/><Relationship Id="rId4" Type="http://schemas.openxmlformats.org/officeDocument/2006/relationships/slide" Target="slide16.xml"/><Relationship Id="rId5" Type="http://schemas.openxmlformats.org/officeDocument/2006/relationships/slide" Target="slide11.xml"/><Relationship Id="rId6" Type="http://schemas.openxmlformats.org/officeDocument/2006/relationships/slide" Target="slide9.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xgboost_interactive_demo.html" TargetMode="External"/><Relationship Id="rId3" Type="http://schemas.openxmlformats.org/officeDocument/2006/relationships/slide" Target="slide15.xml"/><Relationship Id="rId4" Type="http://schemas.openxmlformats.org/officeDocument/2006/relationships/slide" Target="slide11.xml"/><Relationship Id="rId5" Type="http://schemas.openxmlformats.org/officeDocument/2006/relationships/slide" Target="slide10.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1.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1.png"/><Relationship Id="rId4" Type="http://schemas.openxmlformats.org/officeDocument/2006/relationships/hyperlink" Target="https://github.com/Marwanamer005/XGboosting-" TargetMode="Externa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548640"/>
            <a:ext cx="5486400" cy="36576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NTI  ·  MACHINE LEARNING ACTIVITY DAY</a:t>
            </a:r>
          </a:p>
        </p:txBody>
      </p:sp>
      <p:sp>
        <p:nvSpPr>
          <p:cNvPr id="3" name="TextBox 2"/>
          <p:cNvSpPr txBox="1"/>
          <p:nvPr/>
        </p:nvSpPr>
        <p:spPr>
          <a:xfrm>
            <a:off x="7863840" y="548640"/>
            <a:ext cx="3657600" cy="365760"/>
          </a:xfrm>
          <a:prstGeom prst="rect">
            <a:avLst/>
          </a:prstGeom>
          <a:noFill/>
        </p:spPr>
        <p:txBody>
          <a:bodyPr wrap="square" lIns="0" rIns="0" tIns="0" bIns="0" anchor="t">
            <a:spAutoFit/>
          </a:bodyPr>
          <a:lstStyle/>
          <a:p>
            <a:pPr algn="r">
              <a:spcAft>
                <a:spcPts val="0"/>
              </a:spcAft>
            </a:pPr>
            <a:r>
              <a:rPr sz="1100" b="0" i="0">
                <a:solidFill>
                  <a:srgbClr val="262A33"/>
                </a:solidFill>
                <a:latin typeface="Segoe UI"/>
              </a:rPr>
              <a:t>OCTOBER 3, 2026</a:t>
            </a:r>
          </a:p>
        </p:txBody>
      </p:sp>
      <p:pic>
        <p:nvPicPr>
          <p:cNvPr id="4" name="Picture 3" descr="dots.png"/>
          <p:cNvPicPr>
            <a:picLocks noChangeAspect="1"/>
          </p:cNvPicPr>
          <p:nvPr/>
        </p:nvPicPr>
        <p:blipFill>
          <a:blip r:embed="rId2"/>
          <a:stretch>
            <a:fillRect/>
          </a:stretch>
        </p:blipFill>
        <p:spPr>
          <a:xfrm>
            <a:off x="1691640" y="1691640"/>
            <a:ext cx="1645920" cy="868680"/>
          </a:xfrm>
          <a:prstGeom prst="rect">
            <a:avLst/>
          </a:prstGeom>
        </p:spPr>
      </p:pic>
      <p:sp>
        <p:nvSpPr>
          <p:cNvPr id="5" name="TextBox 4"/>
          <p:cNvSpPr txBox="1"/>
          <p:nvPr/>
        </p:nvSpPr>
        <p:spPr>
          <a:xfrm>
            <a:off x="914400" y="2514600"/>
            <a:ext cx="10360152" cy="1280160"/>
          </a:xfrm>
          <a:prstGeom prst="rect">
            <a:avLst/>
          </a:prstGeom>
          <a:noFill/>
        </p:spPr>
        <p:txBody>
          <a:bodyPr wrap="square" lIns="0" rIns="0" tIns="0" bIns="0" anchor="ctr">
            <a:spAutoFit/>
          </a:bodyPr>
          <a:lstStyle/>
          <a:p>
            <a:pPr algn="ctr">
              <a:spcAft>
                <a:spcPts val="0"/>
              </a:spcAft>
            </a:pPr>
            <a:r>
              <a:rPr sz="9600" b="0" i="0">
                <a:solidFill>
                  <a:srgbClr val="262A33"/>
                </a:solidFill>
                <a:latin typeface="Bahnschrift Light"/>
              </a:rPr>
              <a:t>XGBOOST</a:t>
            </a:r>
          </a:p>
        </p:txBody>
      </p:sp>
      <p:sp>
        <p:nvSpPr>
          <p:cNvPr id="6" name="TextBox 5"/>
          <p:cNvSpPr txBox="1"/>
          <p:nvPr/>
        </p:nvSpPr>
        <p:spPr>
          <a:xfrm>
            <a:off x="2194560" y="3840480"/>
            <a:ext cx="7799831" cy="822960"/>
          </a:xfrm>
          <a:prstGeom prst="rect">
            <a:avLst/>
          </a:prstGeom>
          <a:noFill/>
        </p:spPr>
        <p:txBody>
          <a:bodyPr wrap="square" lIns="0" rIns="0" tIns="0" bIns="0" anchor="t">
            <a:spAutoFit/>
          </a:bodyPr>
          <a:lstStyle/>
          <a:p>
            <a:pPr algn="ctr">
              <a:spcAft>
                <a:spcPts val="0"/>
              </a:spcAft>
            </a:pPr>
            <a:r>
              <a:rPr sz="1800" b="0" i="0">
                <a:solidFill>
                  <a:srgbClr val="262A33"/>
                </a:solidFill>
                <a:latin typeface="Segoe UI"/>
              </a:rPr>
              <a:t>eXtreme Gradient Boosting: from a simple idea to finding the Higgs boson</a:t>
            </a:r>
          </a:p>
        </p:txBody>
      </p:sp>
      <p:pic>
        <p:nvPicPr>
          <p:cNvPr id="7" name="Picture 6" descr="dots.png"/>
          <p:cNvPicPr>
            <a:picLocks noChangeAspect="1"/>
          </p:cNvPicPr>
          <p:nvPr/>
        </p:nvPicPr>
        <p:blipFill>
          <a:blip r:embed="rId2"/>
          <a:stretch>
            <a:fillRect/>
          </a:stretch>
        </p:blipFill>
        <p:spPr>
          <a:xfrm>
            <a:off x="9418320" y="4480560"/>
            <a:ext cx="1645920" cy="868680"/>
          </a:xfrm>
          <a:prstGeom prst="rect">
            <a:avLst/>
          </a:prstGeom>
        </p:spPr>
      </p:pic>
      <p:sp>
        <p:nvSpPr>
          <p:cNvPr id="8" name="TextBox 7"/>
          <p:cNvSpPr txBox="1"/>
          <p:nvPr/>
        </p:nvSpPr>
        <p:spPr>
          <a:xfrm>
            <a:off x="685800" y="5989320"/>
            <a:ext cx="7132320" cy="36576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MARWAN MOHAMMED MOSTAFA  ·  AMMAR IBRAHIM IBRAHIM  ·  BELAL SALAH</a:t>
            </a:r>
          </a:p>
        </p:txBody>
      </p:sp>
      <p:sp>
        <p:nvSpPr>
          <p:cNvPr id="9" name="TextBox 8"/>
          <p:cNvSpPr txBox="1"/>
          <p:nvPr/>
        </p:nvSpPr>
        <p:spPr>
          <a:xfrm>
            <a:off x="7863840" y="5989320"/>
            <a:ext cx="3657600" cy="365760"/>
          </a:xfrm>
          <a:prstGeom prst="rect">
            <a:avLst/>
          </a:prstGeom>
          <a:noFill/>
        </p:spPr>
        <p:txBody>
          <a:bodyPr wrap="square" lIns="0" rIns="0" tIns="0" bIns="0" anchor="t">
            <a:spAutoFit/>
          </a:bodyPr>
          <a:lstStyle/>
          <a:p>
            <a:pPr algn="r">
              <a:spcAft>
                <a:spcPts val="0"/>
              </a:spcAft>
            </a:pPr>
            <a:r>
              <a:rPr sz="1100" b="0" i="0">
                <a:solidFill>
                  <a:srgbClr val="262A33"/>
                </a:solidFill>
                <a:latin typeface="Segoe UI"/>
              </a:rPr>
              <a:t>github.com/Marwanamer005/XGboosting-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13" fill="hold">
                            <p:stCondLst>
                              <p:cond delay="150"/>
                            </p:stCondLst>
                            <p:childTnLst>
                              <p:par>
                                <p:cTn id="8" presetID="53" presetClass="entr" presetSubtype="16"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anim calcmode="lin" valueType="num">
                                      <p:cBhvr>
                                        <p:cTn id="11" dur="550" fill="hold"/>
                                        <p:tgtEl>
                                          <p:spTgt spid="5"/>
                                        </p:tgtEl>
                                        <p:attrNameLst>
                                          <p:attrName>ppt_w</p:attrName>
                                        </p:attrNameLst>
                                      </p:cBhvr>
                                      <p:tavLst>
                                        <p:tav tm="0">
                                          <p:val>
                                            <p:strVal val="#ppt_w*0.8"/>
                                          </p:val>
                                        </p:tav>
                                        <p:tav tm="100000">
                                          <p:val>
                                            <p:strVal val="#ppt_w"/>
                                          </p:val>
                                        </p:tav>
                                      </p:tavLst>
                                    </p:anim>
                                    <p:anim calcmode="lin" valueType="num">
                                      <p:cBhvr>
                                        <p:cTn id="12" dur="550" fill="hold"/>
                                        <p:tgtEl>
                                          <p:spTgt spid="5"/>
                                        </p:tgtEl>
                                        <p:attrNameLst>
                                          <p:attrName>ppt_h</p:attrName>
                                        </p:attrNameLst>
                                      </p:cBhvr>
                                      <p:tavLst>
                                        <p:tav tm="0">
                                          <p:val>
                                            <p:strVal val="#ppt_h*0.8"/>
                                          </p:val>
                                        </p:tav>
                                        <p:tav tm="100000">
                                          <p:val>
                                            <p:strVal val="#ppt_h"/>
                                          </p:val>
                                        </p:tav>
                                      </p:tavLst>
                                    </p:anim>
                                  </p:childTnLst>
                                </p:cTn>
                              </p:par>
                            </p:childTnLst>
                          </p:cTn>
                        </p:par>
                        <p:par>
                          <p:cTn id="17" fill="hold">
                            <p:stCondLst>
                              <p:cond delay="450"/>
                            </p:stCondLst>
                            <p:childTnLst>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21" fill="hold">
                            <p:stCondLst>
                              <p:cond delay="900"/>
                            </p:stCondLst>
                            <p:childTnLst>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par>
                          <p:cTn id="25" fill="hold">
                            <p:stCondLst>
                              <p:cond delay="1500"/>
                            </p:stCondLst>
                            <p:childTnLst>
                              <p:par>
                                <p:cTn id="22" presetID="10" presetClass="entr" presetSubtype="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childTnLst>
                          </p:cTn>
                        </p:par>
                        <p:par>
                          <p:cTn id="29" fill="hold">
                            <p:stCondLst>
                              <p:cond delay="2250"/>
                            </p:stCondLst>
                            <p:childTnLst>
                              <p:par>
                                <p:cTn id="26" presetID="10" presetClass="entr" presetSubtype="0"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par>
                          <p:cTn id="34" fill="hold">
                            <p:stCondLst>
                              <p:cond delay="3150"/>
                            </p:stCondLst>
                            <p:childTnLst>
                              <p:par>
                                <p:cTn id="30" presetID="42" presetClass="entr" presetSubtype="0" fill="hold"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650"/>
                                        <p:tgtEl>
                                          <p:spTgt spid="8"/>
                                        </p:tgtEl>
                                      </p:cBhvr>
                                    </p:animEffect>
                                    <p:anim calcmode="lin" valueType="num">
                                      <p:cBhvr>
                                        <p:cTn id="33" dur="650" fill="hold"/>
                                        <p:tgtEl>
                                          <p:spTgt spid="8"/>
                                        </p:tgtEl>
                                        <p:attrNameLst>
                                          <p:attrName>ppt_y</p:attrName>
                                        </p:attrNameLst>
                                      </p:cBhvr>
                                      <p:tavLst>
                                        <p:tav tm="0">
                                          <p:val>
                                            <p:strVal val="#ppt_y+0.06"/>
                                          </p:val>
                                        </p:tav>
                                        <p:tav tm="100000">
                                          <p:val>
                                            <p:strVal val="#ppt_y"/>
                                          </p:val>
                                        </p:tav>
                                      </p:tavLst>
                                    </p:anim>
                                  </p:childTnLst>
                                </p:cTn>
                              </p:par>
                            </p:childTnLst>
                          </p:cTn>
                        </p:par>
                        <p:par>
                          <p:cTn id="39" fill="hold">
                            <p:stCondLst>
                              <p:cond delay="4200"/>
                            </p:stCondLst>
                            <p:childTnLst>
                              <p:par>
                                <p:cTn id="35" presetID="42"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650"/>
                                        <p:tgtEl>
                                          <p:spTgt spid="9"/>
                                        </p:tgtEl>
                                      </p:cBhvr>
                                    </p:animEffect>
                                    <p:anim calcmode="lin" valueType="num">
                                      <p:cBhvr>
                                        <p:cTn id="38" dur="650" fill="hold"/>
                                        <p:tgtEl>
                                          <p:spTgt spid="9"/>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502920"/>
            <a:ext cx="7315200" cy="54864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From a research project to Kaggle's favourite tool</a:t>
            </a:r>
          </a:p>
        </p:txBody>
      </p:sp>
      <p:pic>
        <p:nvPicPr>
          <p:cNvPr id="3" name="Picture 2" descr="dots.png"/>
          <p:cNvPicPr>
            <a:picLocks noChangeAspect="1"/>
          </p:cNvPicPr>
          <p:nvPr/>
        </p:nvPicPr>
        <p:blipFill>
          <a:blip r:embed="rId2"/>
          <a:stretch>
            <a:fillRect/>
          </a:stretch>
        </p:blipFill>
        <p:spPr>
          <a:xfrm>
            <a:off x="9875520" y="457200"/>
            <a:ext cx="1645920" cy="868680"/>
          </a:xfrm>
          <a:prstGeom prst="rect">
            <a:avLst/>
          </a:prstGeom>
        </p:spPr>
      </p:pic>
      <p:sp>
        <p:nvSpPr>
          <p:cNvPr id="4" name="TextBox 3"/>
          <p:cNvSpPr txBox="1"/>
          <p:nvPr/>
        </p:nvSpPr>
        <p:spPr>
          <a:xfrm>
            <a:off x="685800" y="914400"/>
            <a:ext cx="8229600" cy="1371600"/>
          </a:xfrm>
          <a:prstGeom prst="rect">
            <a:avLst/>
          </a:prstGeom>
          <a:noFill/>
        </p:spPr>
        <p:txBody>
          <a:bodyPr wrap="square" lIns="0" rIns="0" tIns="0" bIns="0" anchor="b">
            <a:spAutoFit/>
          </a:bodyPr>
          <a:lstStyle/>
          <a:p>
            <a:pPr algn="l">
              <a:lnSpc>
                <a:spcPct val="88000"/>
              </a:lnSpc>
              <a:spcAft>
                <a:spcPts val="0"/>
              </a:spcAft>
            </a:pPr>
            <a:r>
              <a:rPr sz="5400" b="0" i="0">
                <a:solidFill>
                  <a:srgbClr val="262A33"/>
                </a:solidFill>
                <a:latin typeface="Bahnschrift Light"/>
              </a:rPr>
              <a:t>HISTORY OF XGBOOST</a:t>
            </a:r>
          </a:p>
        </p:txBody>
      </p:sp>
      <p:cxnSp>
        <p:nvCxnSpPr>
          <p:cNvPr id="5" name="Connector 4"/>
          <p:cNvCxnSpPr/>
          <p:nvPr/>
        </p:nvCxnSpPr>
        <p:spPr>
          <a:xfrm>
            <a:off x="822960" y="3246120"/>
            <a:ext cx="10561320" cy="0"/>
          </a:xfrm>
          <a:prstGeom prst="line">
            <a:avLst/>
          </a:prstGeom>
          <a:ln w="12700">
            <a:solidFill>
              <a:srgbClr val="262A33"/>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731520" y="3154679"/>
            <a:ext cx="182880" cy="182880"/>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2514600"/>
            <a:ext cx="1371600" cy="457200"/>
          </a:xfrm>
          <a:prstGeom prst="rect">
            <a:avLst/>
          </a:prstGeom>
          <a:noFill/>
        </p:spPr>
        <p:txBody>
          <a:bodyPr wrap="square" lIns="0" rIns="0" tIns="0" bIns="0" anchor="t">
            <a:spAutoFit/>
          </a:bodyPr>
          <a:lstStyle/>
          <a:p>
            <a:pPr algn="ctr">
              <a:spcAft>
                <a:spcPts val="0"/>
              </a:spcAft>
            </a:pPr>
            <a:r>
              <a:rPr sz="2200" b="0" i="0">
                <a:solidFill>
                  <a:srgbClr val="262A33"/>
                </a:solidFill>
                <a:latin typeface="Bahnschrift Light"/>
              </a:rPr>
              <a:t>1997</a:t>
            </a:r>
          </a:p>
        </p:txBody>
      </p:sp>
      <p:sp>
        <p:nvSpPr>
          <p:cNvPr id="8" name="TextBox 7"/>
          <p:cNvSpPr txBox="1"/>
          <p:nvPr/>
        </p:nvSpPr>
        <p:spPr>
          <a:xfrm>
            <a:off x="109728" y="4069080"/>
            <a:ext cx="1426464" cy="2194560"/>
          </a:xfrm>
          <a:prstGeom prst="rect">
            <a:avLst/>
          </a:prstGeom>
          <a:noFill/>
        </p:spPr>
        <p:txBody>
          <a:bodyPr wrap="square" lIns="0" rIns="0" tIns="0" bIns="0" anchor="t">
            <a:spAutoFit/>
          </a:bodyPr>
          <a:lstStyle/>
          <a:p>
            <a:pPr algn="ctr">
              <a:lnSpc>
                <a:spcPct val="105000"/>
              </a:lnSpc>
              <a:spcAft>
                <a:spcPts val="400"/>
              </a:spcAft>
            </a:pPr>
            <a:r>
              <a:rPr sz="1200" b="0" i="0">
                <a:solidFill>
                  <a:srgbClr val="262A33"/>
                </a:solidFill>
                <a:latin typeface="Segoe UI Semibold"/>
              </a:rPr>
              <a:t>AdaBoost</a:t>
            </a:r>
          </a:p>
          <a:p>
            <a:pPr algn="ctr">
              <a:lnSpc>
                <a:spcPct val="105000"/>
              </a:lnSpc>
              <a:spcAft>
                <a:spcPts val="400"/>
              </a:spcAft>
            </a:pPr>
            <a:r>
              <a:rPr sz="1000" b="0" i="0">
                <a:solidFill>
                  <a:srgbClr val="5B5F68"/>
                </a:solidFill>
                <a:latin typeface="Segoe UI"/>
              </a:rPr>
              <a:t>Freund &amp; Schapire: combine many weak models into a strong one (boosting).</a:t>
            </a:r>
          </a:p>
        </p:txBody>
      </p:sp>
      <p:sp>
        <p:nvSpPr>
          <p:cNvPr id="9" name="Oval 8"/>
          <p:cNvSpPr/>
          <p:nvPr/>
        </p:nvSpPr>
        <p:spPr>
          <a:xfrm>
            <a:off x="2240279" y="3154679"/>
            <a:ext cx="182880" cy="182880"/>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19" y="3520440"/>
            <a:ext cx="1371600" cy="457200"/>
          </a:xfrm>
          <a:prstGeom prst="rect">
            <a:avLst/>
          </a:prstGeom>
          <a:noFill/>
        </p:spPr>
        <p:txBody>
          <a:bodyPr wrap="square" lIns="0" rIns="0" tIns="0" bIns="0" anchor="t">
            <a:spAutoFit/>
          </a:bodyPr>
          <a:lstStyle/>
          <a:p>
            <a:pPr algn="ctr">
              <a:spcAft>
                <a:spcPts val="0"/>
              </a:spcAft>
            </a:pPr>
            <a:r>
              <a:rPr sz="2200" b="0" i="0">
                <a:solidFill>
                  <a:srgbClr val="262A33"/>
                </a:solidFill>
                <a:latin typeface="Bahnschrift Light"/>
              </a:rPr>
              <a:t>2001</a:t>
            </a:r>
          </a:p>
        </p:txBody>
      </p:sp>
      <p:sp>
        <p:nvSpPr>
          <p:cNvPr id="11" name="TextBox 10"/>
          <p:cNvSpPr txBox="1"/>
          <p:nvPr/>
        </p:nvSpPr>
        <p:spPr>
          <a:xfrm>
            <a:off x="1618487" y="4069080"/>
            <a:ext cx="1426464" cy="2194560"/>
          </a:xfrm>
          <a:prstGeom prst="rect">
            <a:avLst/>
          </a:prstGeom>
          <a:noFill/>
        </p:spPr>
        <p:txBody>
          <a:bodyPr wrap="square" lIns="0" rIns="0" tIns="0" bIns="0" anchor="t">
            <a:spAutoFit/>
          </a:bodyPr>
          <a:lstStyle/>
          <a:p>
            <a:pPr algn="ctr">
              <a:lnSpc>
                <a:spcPct val="105000"/>
              </a:lnSpc>
              <a:spcAft>
                <a:spcPts val="400"/>
              </a:spcAft>
            </a:pPr>
            <a:r>
              <a:rPr sz="1200" b="0" i="0">
                <a:solidFill>
                  <a:srgbClr val="262A33"/>
                </a:solidFill>
                <a:latin typeface="Segoe UI Semibold"/>
              </a:rPr>
              <a:t>Gradient boosting</a:t>
            </a:r>
          </a:p>
          <a:p>
            <a:pPr algn="ctr">
              <a:lnSpc>
                <a:spcPct val="105000"/>
              </a:lnSpc>
              <a:spcAft>
                <a:spcPts val="400"/>
              </a:spcAft>
            </a:pPr>
            <a:r>
              <a:rPr sz="1000" b="0" i="0">
                <a:solidFill>
                  <a:srgbClr val="5B5F68"/>
                </a:solidFill>
                <a:latin typeface="Segoe UI"/>
              </a:rPr>
              <a:t>Jerome Friedman: each new tree fits the gradient of the loss.</a:t>
            </a:r>
          </a:p>
        </p:txBody>
      </p:sp>
      <p:sp>
        <p:nvSpPr>
          <p:cNvPr id="12" name="Oval 11"/>
          <p:cNvSpPr/>
          <p:nvPr/>
        </p:nvSpPr>
        <p:spPr>
          <a:xfrm>
            <a:off x="3749040" y="3154679"/>
            <a:ext cx="182880" cy="182880"/>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54680" y="2514600"/>
            <a:ext cx="1371600" cy="457200"/>
          </a:xfrm>
          <a:prstGeom prst="rect">
            <a:avLst/>
          </a:prstGeom>
          <a:noFill/>
        </p:spPr>
        <p:txBody>
          <a:bodyPr wrap="square" lIns="0" rIns="0" tIns="0" bIns="0" anchor="t">
            <a:spAutoFit/>
          </a:bodyPr>
          <a:lstStyle/>
          <a:p>
            <a:pPr algn="ctr">
              <a:spcAft>
                <a:spcPts val="0"/>
              </a:spcAft>
            </a:pPr>
            <a:r>
              <a:rPr sz="2200" b="0" i="0">
                <a:solidFill>
                  <a:srgbClr val="B5543A"/>
                </a:solidFill>
                <a:latin typeface="Bahnschrift Light"/>
              </a:rPr>
              <a:t>2014</a:t>
            </a:r>
          </a:p>
        </p:txBody>
      </p:sp>
      <p:sp>
        <p:nvSpPr>
          <p:cNvPr id="14" name="TextBox 13"/>
          <p:cNvSpPr txBox="1"/>
          <p:nvPr/>
        </p:nvSpPr>
        <p:spPr>
          <a:xfrm>
            <a:off x="3127248" y="4069080"/>
            <a:ext cx="1426464" cy="2194560"/>
          </a:xfrm>
          <a:prstGeom prst="rect">
            <a:avLst/>
          </a:prstGeom>
          <a:noFill/>
        </p:spPr>
        <p:txBody>
          <a:bodyPr wrap="square" lIns="0" rIns="0" tIns="0" bIns="0" anchor="t">
            <a:spAutoFit/>
          </a:bodyPr>
          <a:lstStyle/>
          <a:p>
            <a:pPr algn="ctr">
              <a:lnSpc>
                <a:spcPct val="105000"/>
              </a:lnSpc>
              <a:spcAft>
                <a:spcPts val="400"/>
              </a:spcAft>
            </a:pPr>
            <a:r>
              <a:rPr sz="1200" b="0" i="0">
                <a:solidFill>
                  <a:srgbClr val="262A33"/>
                </a:solidFill>
                <a:latin typeface="Segoe UI Semibold"/>
              </a:rPr>
              <a:t>XGBoost is born</a:t>
            </a:r>
          </a:p>
          <a:p>
            <a:pPr algn="ctr">
              <a:lnSpc>
                <a:spcPct val="105000"/>
              </a:lnSpc>
              <a:spcAft>
                <a:spcPts val="400"/>
              </a:spcAft>
            </a:pPr>
            <a:r>
              <a:rPr sz="1000" b="0" i="0">
                <a:solidFill>
                  <a:srgbClr val="5B5F68"/>
                </a:solidFill>
                <a:latin typeface="Segoe UI"/>
              </a:rPr>
              <a:t>Tianqi Chen (University of Washington) releases it as an open-source research project.</a:t>
            </a:r>
          </a:p>
        </p:txBody>
      </p:sp>
      <p:sp>
        <p:nvSpPr>
          <p:cNvPr id="15" name="Oval 14"/>
          <p:cNvSpPr/>
          <p:nvPr/>
        </p:nvSpPr>
        <p:spPr>
          <a:xfrm>
            <a:off x="5257800" y="3154679"/>
            <a:ext cx="182880" cy="182880"/>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3520440"/>
            <a:ext cx="1371600" cy="457200"/>
          </a:xfrm>
          <a:prstGeom prst="rect">
            <a:avLst/>
          </a:prstGeom>
          <a:noFill/>
        </p:spPr>
        <p:txBody>
          <a:bodyPr wrap="square" lIns="0" rIns="0" tIns="0" bIns="0" anchor="t">
            <a:spAutoFit/>
          </a:bodyPr>
          <a:lstStyle/>
          <a:p>
            <a:pPr algn="ctr">
              <a:spcAft>
                <a:spcPts val="0"/>
              </a:spcAft>
            </a:pPr>
            <a:r>
              <a:rPr sz="2200" b="0" i="0">
                <a:solidFill>
                  <a:srgbClr val="B5543A"/>
                </a:solidFill>
                <a:latin typeface="Bahnschrift Light"/>
              </a:rPr>
              <a:t>2014</a:t>
            </a:r>
          </a:p>
        </p:txBody>
      </p:sp>
      <p:sp>
        <p:nvSpPr>
          <p:cNvPr id="17" name="TextBox 16"/>
          <p:cNvSpPr txBox="1"/>
          <p:nvPr/>
        </p:nvSpPr>
        <p:spPr>
          <a:xfrm>
            <a:off x="4636007" y="4069080"/>
            <a:ext cx="1426464" cy="2194560"/>
          </a:xfrm>
          <a:prstGeom prst="rect">
            <a:avLst/>
          </a:prstGeom>
          <a:noFill/>
        </p:spPr>
        <p:txBody>
          <a:bodyPr wrap="square" lIns="0" rIns="0" tIns="0" bIns="0" anchor="t">
            <a:spAutoFit/>
          </a:bodyPr>
          <a:lstStyle/>
          <a:p>
            <a:pPr algn="ctr">
              <a:lnSpc>
                <a:spcPct val="105000"/>
              </a:lnSpc>
              <a:spcAft>
                <a:spcPts val="400"/>
              </a:spcAft>
            </a:pPr>
            <a:r>
              <a:rPr sz="1200" b="0" i="0">
                <a:solidFill>
                  <a:srgbClr val="262A33"/>
                </a:solidFill>
                <a:latin typeface="Segoe UI Semibold"/>
              </a:rPr>
              <a:t>Higgs Boson challenge</a:t>
            </a:r>
          </a:p>
          <a:p>
            <a:pPr algn="ctr">
              <a:lnSpc>
                <a:spcPct val="105000"/>
              </a:lnSpc>
              <a:spcAft>
                <a:spcPts val="400"/>
              </a:spcAft>
            </a:pPr>
            <a:r>
              <a:rPr sz="1000" b="0" i="0">
                <a:solidFill>
                  <a:srgbClr val="5B5F68"/>
                </a:solidFill>
                <a:latin typeface="Segoe UI"/>
              </a:rPr>
              <a:t>Kaggle + CERN ATLAS competition makes XGBoost famous; Python and R packages follow.</a:t>
            </a:r>
          </a:p>
        </p:txBody>
      </p:sp>
      <p:sp>
        <p:nvSpPr>
          <p:cNvPr id="18" name="Oval 17"/>
          <p:cNvSpPr/>
          <p:nvPr/>
        </p:nvSpPr>
        <p:spPr>
          <a:xfrm>
            <a:off x="6766560" y="3154679"/>
            <a:ext cx="182880" cy="182880"/>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0" y="2514600"/>
            <a:ext cx="1371600" cy="457200"/>
          </a:xfrm>
          <a:prstGeom prst="rect">
            <a:avLst/>
          </a:prstGeom>
          <a:noFill/>
        </p:spPr>
        <p:txBody>
          <a:bodyPr wrap="square" lIns="0" rIns="0" tIns="0" bIns="0" anchor="t">
            <a:spAutoFit/>
          </a:bodyPr>
          <a:lstStyle/>
          <a:p>
            <a:pPr algn="ctr">
              <a:spcAft>
                <a:spcPts val="0"/>
              </a:spcAft>
            </a:pPr>
            <a:r>
              <a:rPr sz="2200" b="0" i="0">
                <a:solidFill>
                  <a:srgbClr val="262A33"/>
                </a:solidFill>
                <a:latin typeface="Bahnschrift Light"/>
              </a:rPr>
              <a:t>2015</a:t>
            </a:r>
          </a:p>
        </p:txBody>
      </p:sp>
      <p:sp>
        <p:nvSpPr>
          <p:cNvPr id="20" name="TextBox 19"/>
          <p:cNvSpPr txBox="1"/>
          <p:nvPr/>
        </p:nvSpPr>
        <p:spPr>
          <a:xfrm>
            <a:off x="6144768" y="4069080"/>
            <a:ext cx="1426464" cy="2194560"/>
          </a:xfrm>
          <a:prstGeom prst="rect">
            <a:avLst/>
          </a:prstGeom>
          <a:noFill/>
        </p:spPr>
        <p:txBody>
          <a:bodyPr wrap="square" lIns="0" rIns="0" tIns="0" bIns="0" anchor="t">
            <a:spAutoFit/>
          </a:bodyPr>
          <a:lstStyle/>
          <a:p>
            <a:pPr algn="ctr">
              <a:lnSpc>
                <a:spcPct val="105000"/>
              </a:lnSpc>
              <a:spcAft>
                <a:spcPts val="400"/>
              </a:spcAft>
            </a:pPr>
            <a:r>
              <a:rPr sz="1200" b="0" i="0">
                <a:solidFill>
                  <a:srgbClr val="262A33"/>
                </a:solidFill>
                <a:latin typeface="Segoe UI Semibold"/>
              </a:rPr>
              <a:t>Kaggle's favourite</a:t>
            </a:r>
          </a:p>
          <a:p>
            <a:pPr algn="ctr">
              <a:lnSpc>
                <a:spcPct val="105000"/>
              </a:lnSpc>
              <a:spcAft>
                <a:spcPts val="400"/>
              </a:spcAft>
            </a:pPr>
            <a:r>
              <a:rPr sz="1000" b="0" i="0">
                <a:solidFill>
                  <a:srgbClr val="5B5F68"/>
                </a:solidFill>
                <a:latin typeface="Segoe UI"/>
              </a:rPr>
              <a:t>17 of 29 winning Kaggle solutions used it; every top-10 team at KDD Cup 2015 too.</a:t>
            </a:r>
          </a:p>
        </p:txBody>
      </p:sp>
      <p:sp>
        <p:nvSpPr>
          <p:cNvPr id="21" name="Oval 20"/>
          <p:cNvSpPr/>
          <p:nvPr/>
        </p:nvSpPr>
        <p:spPr>
          <a:xfrm>
            <a:off x="8275320" y="3154679"/>
            <a:ext cx="182880" cy="182880"/>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0" y="3520440"/>
            <a:ext cx="1371600" cy="457200"/>
          </a:xfrm>
          <a:prstGeom prst="rect">
            <a:avLst/>
          </a:prstGeom>
          <a:noFill/>
        </p:spPr>
        <p:txBody>
          <a:bodyPr wrap="square" lIns="0" rIns="0" tIns="0" bIns="0" anchor="t">
            <a:spAutoFit/>
          </a:bodyPr>
          <a:lstStyle/>
          <a:p>
            <a:pPr algn="ctr">
              <a:spcAft>
                <a:spcPts val="0"/>
              </a:spcAft>
            </a:pPr>
            <a:r>
              <a:rPr sz="2200" b="0" i="0">
                <a:solidFill>
                  <a:srgbClr val="262A33"/>
                </a:solidFill>
                <a:latin typeface="Bahnschrift Light"/>
              </a:rPr>
              <a:t>2016</a:t>
            </a:r>
          </a:p>
        </p:txBody>
      </p:sp>
      <p:sp>
        <p:nvSpPr>
          <p:cNvPr id="23" name="TextBox 22"/>
          <p:cNvSpPr txBox="1"/>
          <p:nvPr/>
        </p:nvSpPr>
        <p:spPr>
          <a:xfrm>
            <a:off x="7653528" y="4069080"/>
            <a:ext cx="1426464" cy="2194560"/>
          </a:xfrm>
          <a:prstGeom prst="rect">
            <a:avLst/>
          </a:prstGeom>
          <a:noFill/>
        </p:spPr>
        <p:txBody>
          <a:bodyPr wrap="square" lIns="0" rIns="0" tIns="0" bIns="0" anchor="t">
            <a:spAutoFit/>
          </a:bodyPr>
          <a:lstStyle/>
          <a:p>
            <a:pPr algn="ctr">
              <a:lnSpc>
                <a:spcPct val="105000"/>
              </a:lnSpc>
              <a:spcAft>
                <a:spcPts val="400"/>
              </a:spcAft>
            </a:pPr>
            <a:r>
              <a:rPr sz="1200" b="0" i="0">
                <a:solidFill>
                  <a:srgbClr val="262A33"/>
                </a:solidFill>
                <a:latin typeface="Segoe UI Semibold"/>
              </a:rPr>
              <a:t>The KDD paper</a:t>
            </a:r>
          </a:p>
          <a:p>
            <a:pPr algn="ctr">
              <a:lnSpc>
                <a:spcPct val="105000"/>
              </a:lnSpc>
              <a:spcAft>
                <a:spcPts val="400"/>
              </a:spcAft>
            </a:pPr>
            <a:r>
              <a:rPr sz="1000" b="0" i="0">
                <a:solidFill>
                  <a:srgbClr val="5B5F68"/>
                </a:solidFill>
                <a:latin typeface="Segoe UI"/>
              </a:rPr>
              <a:t>Chen &amp; Guestrin publish 'XGBoost: A Scalable Tree Boosting System'.</a:t>
            </a:r>
          </a:p>
        </p:txBody>
      </p:sp>
      <p:sp>
        <p:nvSpPr>
          <p:cNvPr id="24" name="Oval 23"/>
          <p:cNvSpPr/>
          <p:nvPr/>
        </p:nvSpPr>
        <p:spPr>
          <a:xfrm>
            <a:off x="9784080" y="3154679"/>
            <a:ext cx="182880" cy="182880"/>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89719" y="2514600"/>
            <a:ext cx="1371600" cy="457200"/>
          </a:xfrm>
          <a:prstGeom prst="rect">
            <a:avLst/>
          </a:prstGeom>
          <a:noFill/>
        </p:spPr>
        <p:txBody>
          <a:bodyPr wrap="square" lIns="0" rIns="0" tIns="0" bIns="0" anchor="t">
            <a:spAutoFit/>
          </a:bodyPr>
          <a:lstStyle/>
          <a:p>
            <a:pPr algn="ctr">
              <a:spcAft>
                <a:spcPts val="0"/>
              </a:spcAft>
            </a:pPr>
            <a:r>
              <a:rPr sz="2200" b="0" i="0">
                <a:solidFill>
                  <a:srgbClr val="262A33"/>
                </a:solidFill>
                <a:latin typeface="Bahnschrift Light"/>
              </a:rPr>
              <a:t>2017</a:t>
            </a:r>
          </a:p>
        </p:txBody>
      </p:sp>
      <p:sp>
        <p:nvSpPr>
          <p:cNvPr id="26" name="TextBox 25"/>
          <p:cNvSpPr txBox="1"/>
          <p:nvPr/>
        </p:nvSpPr>
        <p:spPr>
          <a:xfrm>
            <a:off x="9162288" y="4069080"/>
            <a:ext cx="1426464" cy="2194560"/>
          </a:xfrm>
          <a:prstGeom prst="rect">
            <a:avLst/>
          </a:prstGeom>
          <a:noFill/>
        </p:spPr>
        <p:txBody>
          <a:bodyPr wrap="square" lIns="0" rIns="0" tIns="0" bIns="0" anchor="t">
            <a:spAutoFit/>
          </a:bodyPr>
          <a:lstStyle/>
          <a:p>
            <a:pPr algn="ctr">
              <a:lnSpc>
                <a:spcPct val="105000"/>
              </a:lnSpc>
              <a:spcAft>
                <a:spcPts val="400"/>
              </a:spcAft>
            </a:pPr>
            <a:r>
              <a:rPr sz="1200" b="0" i="0">
                <a:solidFill>
                  <a:srgbClr val="262A33"/>
                </a:solidFill>
                <a:latin typeface="Segoe UI Semibold"/>
              </a:rPr>
              <a:t>Rivals arrive</a:t>
            </a:r>
          </a:p>
          <a:p>
            <a:pPr algn="ctr">
              <a:lnSpc>
                <a:spcPct val="105000"/>
              </a:lnSpc>
              <a:spcAft>
                <a:spcPts val="400"/>
              </a:spcAft>
            </a:pPr>
            <a:r>
              <a:rPr sz="1000" b="0" i="0">
                <a:solidFill>
                  <a:srgbClr val="5B5F68"/>
                </a:solidFill>
                <a:latin typeface="Segoe UI"/>
              </a:rPr>
              <a:t>Microsoft's LightGBM and Yandex's CatBoost build on the same ideas.</a:t>
            </a:r>
          </a:p>
        </p:txBody>
      </p:sp>
      <p:sp>
        <p:nvSpPr>
          <p:cNvPr id="27" name="Oval 26"/>
          <p:cNvSpPr/>
          <p:nvPr/>
        </p:nvSpPr>
        <p:spPr>
          <a:xfrm>
            <a:off x="11292840" y="3154679"/>
            <a:ext cx="182880" cy="182880"/>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98480" y="3520440"/>
            <a:ext cx="1371600" cy="457200"/>
          </a:xfrm>
          <a:prstGeom prst="rect">
            <a:avLst/>
          </a:prstGeom>
          <a:noFill/>
        </p:spPr>
        <p:txBody>
          <a:bodyPr wrap="square" lIns="0" rIns="0" tIns="0" bIns="0" anchor="t">
            <a:spAutoFit/>
          </a:bodyPr>
          <a:lstStyle/>
          <a:p>
            <a:pPr algn="ctr">
              <a:spcAft>
                <a:spcPts val="0"/>
              </a:spcAft>
            </a:pPr>
            <a:r>
              <a:rPr sz="2200" b="0" i="0">
                <a:solidFill>
                  <a:srgbClr val="262A33"/>
                </a:solidFill>
                <a:latin typeface="Bahnschrift Light"/>
              </a:rPr>
              <a:t>2025</a:t>
            </a:r>
          </a:p>
        </p:txBody>
      </p:sp>
      <p:sp>
        <p:nvSpPr>
          <p:cNvPr id="29" name="TextBox 28"/>
          <p:cNvSpPr txBox="1"/>
          <p:nvPr/>
        </p:nvSpPr>
        <p:spPr>
          <a:xfrm>
            <a:off x="10671048" y="4069080"/>
            <a:ext cx="1426464" cy="2194560"/>
          </a:xfrm>
          <a:prstGeom prst="rect">
            <a:avLst/>
          </a:prstGeom>
          <a:noFill/>
        </p:spPr>
        <p:txBody>
          <a:bodyPr wrap="square" lIns="0" rIns="0" tIns="0" bIns="0" anchor="t">
            <a:spAutoFit/>
          </a:bodyPr>
          <a:lstStyle/>
          <a:p>
            <a:pPr algn="ctr">
              <a:lnSpc>
                <a:spcPct val="105000"/>
              </a:lnSpc>
              <a:spcAft>
                <a:spcPts val="400"/>
              </a:spcAft>
            </a:pPr>
            <a:r>
              <a:rPr sz="1200" b="0" i="0">
                <a:solidFill>
                  <a:srgbClr val="262A33"/>
                </a:solidFill>
                <a:latin typeface="Segoe UI Semibold"/>
              </a:rPr>
              <a:t>Version 3.0</a:t>
            </a:r>
          </a:p>
          <a:p>
            <a:pPr algn="ctr">
              <a:lnSpc>
                <a:spcPct val="105000"/>
              </a:lnSpc>
              <a:spcAft>
                <a:spcPts val="400"/>
              </a:spcAft>
            </a:pPr>
            <a:r>
              <a:rPr sz="1000" b="0" i="0">
                <a:solidFill>
                  <a:srgbClr val="5B5F68"/>
                </a:solidFill>
                <a:latin typeface="Segoe UI"/>
              </a:rPr>
              <a:t>Still actively developed; we used version 3.2 in our notebook.</a:t>
            </a:r>
          </a:p>
        </p:txBody>
      </p:sp>
      <p:sp>
        <p:nvSpPr>
          <p:cNvPr id="30" name="ball0"/>
          <p:cNvSpPr/>
          <p:nvPr/>
        </p:nvSpPr>
        <p:spPr>
          <a:xfrm>
            <a:off x="658368" y="3081527"/>
            <a:ext cx="329184" cy="32918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ll1"/>
          <p:cNvSpPr/>
          <p:nvPr/>
        </p:nvSpPr>
        <p:spPr>
          <a:xfrm>
            <a:off x="2167127" y="3081527"/>
            <a:ext cx="329184" cy="32918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ll2"/>
          <p:cNvSpPr/>
          <p:nvPr/>
        </p:nvSpPr>
        <p:spPr>
          <a:xfrm>
            <a:off x="3675888" y="3081527"/>
            <a:ext cx="329184" cy="32918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ll3"/>
          <p:cNvSpPr/>
          <p:nvPr/>
        </p:nvSpPr>
        <p:spPr>
          <a:xfrm>
            <a:off x="5184648" y="3081527"/>
            <a:ext cx="329184" cy="32918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ll4"/>
          <p:cNvSpPr/>
          <p:nvPr/>
        </p:nvSpPr>
        <p:spPr>
          <a:xfrm>
            <a:off x="6693408" y="3081527"/>
            <a:ext cx="329184" cy="32918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ll5"/>
          <p:cNvSpPr/>
          <p:nvPr/>
        </p:nvSpPr>
        <p:spPr>
          <a:xfrm>
            <a:off x="8202168" y="3081527"/>
            <a:ext cx="329184" cy="32918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ll6"/>
          <p:cNvSpPr/>
          <p:nvPr/>
        </p:nvSpPr>
        <p:spPr>
          <a:xfrm>
            <a:off x="9710928" y="3081527"/>
            <a:ext cx="329184" cy="32918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ll7"/>
          <p:cNvSpPr/>
          <p:nvPr/>
        </p:nvSpPr>
        <p:spPr>
          <a:xfrm>
            <a:off x="11219688" y="3081527"/>
            <a:ext cx="329184" cy="32918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084064" y="2980944"/>
            <a:ext cx="530352" cy="530352"/>
          </a:xfrm>
          <a:prstGeom prst="ellipse">
            <a:avLst/>
          </a:prstGeom>
          <a:noFill/>
          <a:ln w="28575">
            <a:solidFill>
              <a:srgbClr val="B554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069079" y="5440680"/>
            <a:ext cx="2560320" cy="731520"/>
          </a:xfrm>
          <a:prstGeom prst="rect">
            <a:avLst/>
          </a:prstGeom>
          <a:noFill/>
        </p:spPr>
        <p:txBody>
          <a:bodyPr wrap="square" lIns="0" rIns="0" tIns="0" bIns="0" anchor="t">
            <a:spAutoFit/>
          </a:bodyPr>
          <a:lstStyle/>
          <a:p>
            <a:pPr algn="ctr">
              <a:spcAft>
                <a:spcPts val="0"/>
              </a:spcAft>
            </a:pPr>
            <a:r>
              <a:rPr sz="1400" b="0" i="1">
                <a:solidFill>
                  <a:srgbClr val="B5543A"/>
                </a:solidFill>
                <a:latin typeface="Segoe UI"/>
              </a:rPr>
              <a:t>← the breakthrough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5" fill="hold">
                            <p:stCondLst>
                              <p:cond delay="450"/>
                            </p:stCondLst>
                            <p:childTnLst>
                              <p:par>
                                <p:cTn id="12" presetID="22" presetClass="entr" presetSubtype="8"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700"/>
                                        <p:tgtEl>
                                          <p:spTgt spid="4"/>
                                        </p:tgtEl>
                                      </p:cBhvr>
                                    </p:animEffect>
                                  </p:childTnLst>
                                </p:cTn>
                              </p:par>
                            </p:childTnLst>
                          </p:cTn>
                        </p:par>
                        <p:par>
                          <p:cTn id="19" fill="hold">
                            <p:stCondLst>
                              <p:cond delay="900"/>
                            </p:stCondLst>
                            <p:childTnLst>
                              <p:par>
                                <p:cTn id="16" presetID="22" presetClass="entr" presetSubtype="8"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700"/>
                                        <p:tgtEl>
                                          <p:spTgt spid="5"/>
                                        </p:tgtEl>
                                      </p:cBhvr>
                                    </p:animEffect>
                                  </p:childTnLst>
                                </p:cTn>
                              </p:par>
                            </p:childTnLst>
                          </p:cTn>
                        </p:par>
                        <p:par>
                          <p:cTn id="25" fill="hold">
                            <p:stCondLst>
                              <p:cond delay="1500"/>
                            </p:stCondLst>
                            <p:childTnLst>
                              <p:par>
                                <p:cTn id="20" presetID="53" presetClass="entr" presetSubtype="16"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anim calcmode="lin" valueType="num">
                                      <p:cBhvr>
                                        <p:cTn id="23" dur="550" fill="hold"/>
                                        <p:tgtEl>
                                          <p:spTgt spid="6"/>
                                        </p:tgtEl>
                                        <p:attrNameLst>
                                          <p:attrName>ppt_w</p:attrName>
                                        </p:attrNameLst>
                                      </p:cBhvr>
                                      <p:tavLst>
                                        <p:tav tm="0">
                                          <p:val>
                                            <p:strVal val="#ppt_w*0.8"/>
                                          </p:val>
                                        </p:tav>
                                        <p:tav tm="100000">
                                          <p:val>
                                            <p:strVal val="#ppt_w"/>
                                          </p:val>
                                        </p:tav>
                                      </p:tavLst>
                                    </p:anim>
                                    <p:anim calcmode="lin" valueType="num">
                                      <p:cBhvr>
                                        <p:cTn id="24" dur="550" fill="hold"/>
                                        <p:tgtEl>
                                          <p:spTgt spid="6"/>
                                        </p:tgtEl>
                                        <p:attrNameLst>
                                          <p:attrName>ppt_h</p:attrName>
                                        </p:attrNameLst>
                                      </p:cBhvr>
                                      <p:tavLst>
                                        <p:tav tm="0">
                                          <p:val>
                                            <p:strVal val="#ppt_h*0.8"/>
                                          </p:val>
                                        </p:tav>
                                        <p:tav tm="100000">
                                          <p:val>
                                            <p:strVal val="#ppt_h"/>
                                          </p:val>
                                        </p:tav>
                                      </p:tavLst>
                                    </p:anim>
                                  </p:childTnLst>
                                </p:cTn>
                              </p:par>
                            </p:childTnLst>
                          </p:cTn>
                        </p:par>
                        <p:par>
                          <p:cTn id="31" fill="hold">
                            <p:stCondLst>
                              <p:cond delay="2250"/>
                            </p:stCondLst>
                            <p:childTnLst>
                              <p:par>
                                <p:cTn id="26" presetID="53" presetClass="entr" presetSubtype="16"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50"/>
                                        <p:tgtEl>
                                          <p:spTgt spid="9"/>
                                        </p:tgtEl>
                                      </p:cBhvr>
                                    </p:animEffect>
                                    <p:anim calcmode="lin" valueType="num">
                                      <p:cBhvr>
                                        <p:cTn id="29" dur="550" fill="hold"/>
                                        <p:tgtEl>
                                          <p:spTgt spid="9"/>
                                        </p:tgtEl>
                                        <p:attrNameLst>
                                          <p:attrName>ppt_w</p:attrName>
                                        </p:attrNameLst>
                                      </p:cBhvr>
                                      <p:tavLst>
                                        <p:tav tm="0">
                                          <p:val>
                                            <p:strVal val="#ppt_w*0.8"/>
                                          </p:val>
                                        </p:tav>
                                        <p:tav tm="100000">
                                          <p:val>
                                            <p:strVal val="#ppt_w"/>
                                          </p:val>
                                        </p:tav>
                                      </p:tavLst>
                                    </p:anim>
                                    <p:anim calcmode="lin" valueType="num">
                                      <p:cBhvr>
                                        <p:cTn id="30" dur="550" fill="hold"/>
                                        <p:tgtEl>
                                          <p:spTgt spid="9"/>
                                        </p:tgtEl>
                                        <p:attrNameLst>
                                          <p:attrName>ppt_h</p:attrName>
                                        </p:attrNameLst>
                                      </p:cBhvr>
                                      <p:tavLst>
                                        <p:tav tm="0">
                                          <p:val>
                                            <p:strVal val="#ppt_h*0.8"/>
                                          </p:val>
                                        </p:tav>
                                        <p:tav tm="100000">
                                          <p:val>
                                            <p:strVal val="#ppt_h"/>
                                          </p:val>
                                        </p:tav>
                                      </p:tavLst>
                                    </p:anim>
                                  </p:childTnLst>
                                </p:cTn>
                              </p:par>
                            </p:childTnLst>
                          </p:cTn>
                        </p:par>
                        <p:par>
                          <p:cTn id="37" fill="hold">
                            <p:stCondLst>
                              <p:cond delay="3150"/>
                            </p:stCondLst>
                            <p:childTnLst>
                              <p:par>
                                <p:cTn id="32" presetID="53" presetClass="entr" presetSubtype="16"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50"/>
                                        <p:tgtEl>
                                          <p:spTgt spid="12"/>
                                        </p:tgtEl>
                                      </p:cBhvr>
                                    </p:animEffect>
                                    <p:anim calcmode="lin" valueType="num">
                                      <p:cBhvr>
                                        <p:cTn id="35" dur="550" fill="hold"/>
                                        <p:tgtEl>
                                          <p:spTgt spid="12"/>
                                        </p:tgtEl>
                                        <p:attrNameLst>
                                          <p:attrName>ppt_w</p:attrName>
                                        </p:attrNameLst>
                                      </p:cBhvr>
                                      <p:tavLst>
                                        <p:tav tm="0">
                                          <p:val>
                                            <p:strVal val="#ppt_w*0.8"/>
                                          </p:val>
                                        </p:tav>
                                        <p:tav tm="100000">
                                          <p:val>
                                            <p:strVal val="#ppt_w"/>
                                          </p:val>
                                        </p:tav>
                                      </p:tavLst>
                                    </p:anim>
                                    <p:anim calcmode="lin" valueType="num">
                                      <p:cBhvr>
                                        <p:cTn id="36" dur="550" fill="hold"/>
                                        <p:tgtEl>
                                          <p:spTgt spid="12"/>
                                        </p:tgtEl>
                                        <p:attrNameLst>
                                          <p:attrName>ppt_h</p:attrName>
                                        </p:attrNameLst>
                                      </p:cBhvr>
                                      <p:tavLst>
                                        <p:tav tm="0">
                                          <p:val>
                                            <p:strVal val="#ppt_h*0.8"/>
                                          </p:val>
                                        </p:tav>
                                        <p:tav tm="100000">
                                          <p:val>
                                            <p:strVal val="#ppt_h"/>
                                          </p:val>
                                        </p:tav>
                                      </p:tavLst>
                                    </p:anim>
                                  </p:childTnLst>
                                </p:cTn>
                              </p:par>
                            </p:childTnLst>
                          </p:cTn>
                        </p:par>
                        <p:par>
                          <p:cTn id="43" fill="hold">
                            <p:stCondLst>
                              <p:cond delay="4200"/>
                            </p:stCondLst>
                            <p:childTnLst>
                              <p:par>
                                <p:cTn id="38" presetID="53" presetClass="entr" presetSubtype="16"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p:cTn id="41" dur="550" fill="hold"/>
                                        <p:tgtEl>
                                          <p:spTgt spid="15"/>
                                        </p:tgtEl>
                                        <p:attrNameLst>
                                          <p:attrName>ppt_w</p:attrName>
                                        </p:attrNameLst>
                                      </p:cBhvr>
                                      <p:tavLst>
                                        <p:tav tm="0">
                                          <p:val>
                                            <p:strVal val="#ppt_w*0.8"/>
                                          </p:val>
                                        </p:tav>
                                        <p:tav tm="100000">
                                          <p:val>
                                            <p:strVal val="#ppt_w"/>
                                          </p:val>
                                        </p:tav>
                                      </p:tavLst>
                                    </p:anim>
                                    <p:anim calcmode="lin" valueType="num">
                                      <p:cBhvr>
                                        <p:cTn id="42" dur="550" fill="hold"/>
                                        <p:tgtEl>
                                          <p:spTgt spid="15"/>
                                        </p:tgtEl>
                                        <p:attrNameLst>
                                          <p:attrName>ppt_h</p:attrName>
                                        </p:attrNameLst>
                                      </p:cBhvr>
                                      <p:tavLst>
                                        <p:tav tm="0">
                                          <p:val>
                                            <p:strVal val="#ppt_h*0.8"/>
                                          </p:val>
                                        </p:tav>
                                        <p:tav tm="100000">
                                          <p:val>
                                            <p:strVal val="#ppt_h"/>
                                          </p:val>
                                        </p:tav>
                                      </p:tavLst>
                                    </p:anim>
                                  </p:childTnLst>
                                </p:cTn>
                              </p:par>
                            </p:childTnLst>
                          </p:cTn>
                        </p:par>
                        <p:par>
                          <p:cTn id="49" fill="hold">
                            <p:stCondLst>
                              <p:cond delay="5400"/>
                            </p:stCondLst>
                            <p:childTnLst>
                              <p:par>
                                <p:cTn id="44" presetID="53" presetClass="entr" presetSubtype="16"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50"/>
                                        <p:tgtEl>
                                          <p:spTgt spid="18"/>
                                        </p:tgtEl>
                                      </p:cBhvr>
                                    </p:animEffect>
                                    <p:anim calcmode="lin" valueType="num">
                                      <p:cBhvr>
                                        <p:cTn id="47" dur="550" fill="hold"/>
                                        <p:tgtEl>
                                          <p:spTgt spid="18"/>
                                        </p:tgtEl>
                                        <p:attrNameLst>
                                          <p:attrName>ppt_w</p:attrName>
                                        </p:attrNameLst>
                                      </p:cBhvr>
                                      <p:tavLst>
                                        <p:tav tm="0">
                                          <p:val>
                                            <p:strVal val="#ppt_w*0.8"/>
                                          </p:val>
                                        </p:tav>
                                        <p:tav tm="100000">
                                          <p:val>
                                            <p:strVal val="#ppt_w"/>
                                          </p:val>
                                        </p:tav>
                                      </p:tavLst>
                                    </p:anim>
                                    <p:anim calcmode="lin" valueType="num">
                                      <p:cBhvr>
                                        <p:cTn id="48" dur="550" fill="hold"/>
                                        <p:tgtEl>
                                          <p:spTgt spid="18"/>
                                        </p:tgtEl>
                                        <p:attrNameLst>
                                          <p:attrName>ppt_h</p:attrName>
                                        </p:attrNameLst>
                                      </p:cBhvr>
                                      <p:tavLst>
                                        <p:tav tm="0">
                                          <p:val>
                                            <p:strVal val="#ppt_h*0.8"/>
                                          </p:val>
                                        </p:tav>
                                        <p:tav tm="100000">
                                          <p:val>
                                            <p:strVal val="#ppt_h"/>
                                          </p:val>
                                        </p:tav>
                                      </p:tavLst>
                                    </p:anim>
                                  </p:childTnLst>
                                </p:cTn>
                              </p:par>
                            </p:childTnLst>
                          </p:cTn>
                        </p:par>
                        <p:par>
                          <p:cTn id="55" fill="hold">
                            <p:stCondLst>
                              <p:cond delay="6750"/>
                            </p:stCondLst>
                            <p:childTnLst>
                              <p:par>
                                <p:cTn id="50" presetID="53" presetClass="entr" presetSubtype="16"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50"/>
                                        <p:tgtEl>
                                          <p:spTgt spid="21"/>
                                        </p:tgtEl>
                                      </p:cBhvr>
                                    </p:animEffect>
                                    <p:anim calcmode="lin" valueType="num">
                                      <p:cBhvr>
                                        <p:cTn id="53" dur="550" fill="hold"/>
                                        <p:tgtEl>
                                          <p:spTgt spid="21"/>
                                        </p:tgtEl>
                                        <p:attrNameLst>
                                          <p:attrName>ppt_w</p:attrName>
                                        </p:attrNameLst>
                                      </p:cBhvr>
                                      <p:tavLst>
                                        <p:tav tm="0">
                                          <p:val>
                                            <p:strVal val="#ppt_w*0.8"/>
                                          </p:val>
                                        </p:tav>
                                        <p:tav tm="100000">
                                          <p:val>
                                            <p:strVal val="#ppt_w"/>
                                          </p:val>
                                        </p:tav>
                                      </p:tavLst>
                                    </p:anim>
                                    <p:anim calcmode="lin" valueType="num">
                                      <p:cBhvr>
                                        <p:cTn id="54" dur="550" fill="hold"/>
                                        <p:tgtEl>
                                          <p:spTgt spid="21"/>
                                        </p:tgtEl>
                                        <p:attrNameLst>
                                          <p:attrName>ppt_h</p:attrName>
                                        </p:attrNameLst>
                                      </p:cBhvr>
                                      <p:tavLst>
                                        <p:tav tm="0">
                                          <p:val>
                                            <p:strVal val="#ppt_h*0.8"/>
                                          </p:val>
                                        </p:tav>
                                        <p:tav tm="100000">
                                          <p:val>
                                            <p:strVal val="#ppt_h"/>
                                          </p:val>
                                        </p:tav>
                                      </p:tavLst>
                                    </p:anim>
                                  </p:childTnLst>
                                </p:cTn>
                              </p:par>
                            </p:childTnLst>
                          </p:cTn>
                        </p:par>
                        <p:par>
                          <p:cTn id="61" fill="hold">
                            <p:stCondLst>
                              <p:cond delay="8250"/>
                            </p:stCondLst>
                            <p:childTnLst>
                              <p:par>
                                <p:cTn id="56" presetID="53" presetClass="entr" presetSubtype="16" fill="hold"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50"/>
                                        <p:tgtEl>
                                          <p:spTgt spid="24"/>
                                        </p:tgtEl>
                                      </p:cBhvr>
                                    </p:animEffect>
                                    <p:anim calcmode="lin" valueType="num">
                                      <p:cBhvr>
                                        <p:cTn id="59" dur="550" fill="hold"/>
                                        <p:tgtEl>
                                          <p:spTgt spid="24"/>
                                        </p:tgtEl>
                                        <p:attrNameLst>
                                          <p:attrName>ppt_w</p:attrName>
                                        </p:attrNameLst>
                                      </p:cBhvr>
                                      <p:tavLst>
                                        <p:tav tm="0">
                                          <p:val>
                                            <p:strVal val="#ppt_w*0.8"/>
                                          </p:val>
                                        </p:tav>
                                        <p:tav tm="100000">
                                          <p:val>
                                            <p:strVal val="#ppt_w"/>
                                          </p:val>
                                        </p:tav>
                                      </p:tavLst>
                                    </p:anim>
                                    <p:anim calcmode="lin" valueType="num">
                                      <p:cBhvr>
                                        <p:cTn id="60" dur="550" fill="hold"/>
                                        <p:tgtEl>
                                          <p:spTgt spid="24"/>
                                        </p:tgtEl>
                                        <p:attrNameLst>
                                          <p:attrName>ppt_h</p:attrName>
                                        </p:attrNameLst>
                                      </p:cBhvr>
                                      <p:tavLst>
                                        <p:tav tm="0">
                                          <p:val>
                                            <p:strVal val="#ppt_h*0.8"/>
                                          </p:val>
                                        </p:tav>
                                        <p:tav tm="100000">
                                          <p:val>
                                            <p:strVal val="#ppt_h"/>
                                          </p:val>
                                        </p:tav>
                                      </p:tavLst>
                                    </p:anim>
                                  </p:childTnLst>
                                </p:cTn>
                              </p:par>
                            </p:childTnLst>
                          </p:cTn>
                        </p:par>
                        <p:par>
                          <p:cTn id="67" fill="hold">
                            <p:stCondLst>
                              <p:cond delay="9900"/>
                            </p:stCondLst>
                            <p:childTnLst>
                              <p:par>
                                <p:cTn id="62" presetID="53" presetClass="entr" presetSubtype="16" fill="hold"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550"/>
                                        <p:tgtEl>
                                          <p:spTgt spid="27"/>
                                        </p:tgtEl>
                                      </p:cBhvr>
                                    </p:animEffect>
                                    <p:anim calcmode="lin" valueType="num">
                                      <p:cBhvr>
                                        <p:cTn id="65" dur="550" fill="hold"/>
                                        <p:tgtEl>
                                          <p:spTgt spid="27"/>
                                        </p:tgtEl>
                                        <p:attrNameLst>
                                          <p:attrName>ppt_w</p:attrName>
                                        </p:attrNameLst>
                                      </p:cBhvr>
                                      <p:tavLst>
                                        <p:tav tm="0">
                                          <p:val>
                                            <p:strVal val="#ppt_w*0.8"/>
                                          </p:val>
                                        </p:tav>
                                        <p:tav tm="100000">
                                          <p:val>
                                            <p:strVal val="#ppt_w"/>
                                          </p:val>
                                        </p:tav>
                                      </p:tavLst>
                                    </p:anim>
                                    <p:anim calcmode="lin" valueType="num">
                                      <p:cBhvr>
                                        <p:cTn id="66" dur="550" fill="hold"/>
                                        <p:tgtEl>
                                          <p:spTgt spid="27"/>
                                        </p:tgtEl>
                                        <p:attrNameLst>
                                          <p:attrName>ppt_h</p:attrName>
                                        </p:attrNameLst>
                                      </p:cBhvr>
                                      <p:tavLst>
                                        <p:tav tm="0">
                                          <p:val>
                                            <p:strVal val="#ppt_h*0.8"/>
                                          </p:val>
                                        </p:tav>
                                        <p:tav tm="100000">
                                          <p:val>
                                            <p:strVal val="#ppt_h"/>
                                          </p:val>
                                        </p:tav>
                                      </p:tavLst>
                                    </p:anim>
                                  </p:childTnLst>
                                </p:cTn>
                              </p:par>
                            </p:childTnLst>
                          </p:cTn>
                        </p:par>
                        <p:par>
                          <p:cTn id="73" fill="hold">
                            <p:stCondLst>
                              <p:cond delay="11700"/>
                            </p:stCondLst>
                            <p:childTnLst>
                              <p:par>
                                <p:cTn id="68" presetID="53" presetClass="entr" presetSubtype="16" fill="hold"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550"/>
                                        <p:tgtEl>
                                          <p:spTgt spid="30"/>
                                        </p:tgtEl>
                                      </p:cBhvr>
                                    </p:animEffect>
                                    <p:anim calcmode="lin" valueType="num">
                                      <p:cBhvr>
                                        <p:cTn id="71" dur="550" fill="hold"/>
                                        <p:tgtEl>
                                          <p:spTgt spid="30"/>
                                        </p:tgtEl>
                                        <p:attrNameLst>
                                          <p:attrName>ppt_w</p:attrName>
                                        </p:attrNameLst>
                                      </p:cBhvr>
                                      <p:tavLst>
                                        <p:tav tm="0">
                                          <p:val>
                                            <p:strVal val="#ppt_w*0.8"/>
                                          </p:val>
                                        </p:tav>
                                        <p:tav tm="100000">
                                          <p:val>
                                            <p:strVal val="#ppt_w"/>
                                          </p:val>
                                        </p:tav>
                                      </p:tavLst>
                                    </p:anim>
                                    <p:anim calcmode="lin" valueType="num">
                                      <p:cBhvr>
                                        <p:cTn id="72" dur="550" fill="hold"/>
                                        <p:tgtEl>
                                          <p:spTgt spid="30"/>
                                        </p:tgtEl>
                                        <p:attrNameLst>
                                          <p:attrName>ppt_h</p:attrName>
                                        </p:attrNameLst>
                                      </p:cBhvr>
                                      <p:tavLst>
                                        <p:tav tm="0">
                                          <p:val>
                                            <p:strVal val="#ppt_h*0.8"/>
                                          </p:val>
                                        </p:tav>
                                        <p:tav tm="100000">
                                          <p:val>
                                            <p:strVal val="#ppt_h"/>
                                          </p:val>
                                        </p:tav>
                                      </p:tavLst>
                                    </p:anim>
                                  </p:childTnLst>
                                </p:cTn>
                              </p:par>
                            </p:childTnLst>
                          </p:cTn>
                        </p:par>
                        <p:par>
                          <p:cTn id="78" fill="hold">
                            <p:stCondLst>
                              <p:cond delay="13650"/>
                            </p:stCondLst>
                            <p:childTnLst>
                              <p:par>
                                <p:cTn id="74" presetID="42" presetClass="entr" presetSubtype="0" fill="hold" nodeType="withEffect">
                                  <p:stCondLst>
                                    <p:cond delay="0"/>
                                  </p:stCondLst>
                                  <p:childTnLst>
                                    <p:set>
                                      <p:cBhvr>
                                        <p:cTn id="75" dur="1" fill="hold">
                                          <p:stCondLst>
                                            <p:cond delay="0"/>
                                          </p:stCondLst>
                                        </p:cTn>
                                        <p:tgtEl>
                                          <p:spTgt spid="7"/>
                                        </p:tgtEl>
                                        <p:attrNameLst>
                                          <p:attrName>style.visibility</p:attrName>
                                        </p:attrNameLst>
                                      </p:cBhvr>
                                      <p:to>
                                        <p:strVal val="visible"/>
                                      </p:to>
                                    </p:set>
                                    <p:animEffect transition="in" filter="fade">
                                      <p:cBhvr>
                                        <p:cTn id="76" dur="650"/>
                                        <p:tgtEl>
                                          <p:spTgt spid="7"/>
                                        </p:tgtEl>
                                      </p:cBhvr>
                                    </p:animEffect>
                                    <p:anim calcmode="lin" valueType="num">
                                      <p:cBhvr>
                                        <p:cTn id="77" dur="650" fill="hold"/>
                                        <p:tgtEl>
                                          <p:spTgt spid="7"/>
                                        </p:tgtEl>
                                        <p:attrNameLst>
                                          <p:attrName>ppt_y</p:attrName>
                                        </p:attrNameLst>
                                      </p:cBhvr>
                                      <p:tavLst>
                                        <p:tav tm="0">
                                          <p:val>
                                            <p:strVal val="#ppt_y+0.06"/>
                                          </p:val>
                                        </p:tav>
                                        <p:tav tm="100000">
                                          <p:val>
                                            <p:strVal val="#ppt_y"/>
                                          </p:val>
                                        </p:tav>
                                      </p:tavLst>
                                    </p:anim>
                                  </p:childTnLst>
                                </p:cTn>
                              </p:par>
                            </p:childTnLst>
                          </p:cTn>
                        </p:par>
                        <p:par>
                          <p:cTn id="83" fill="hold">
                            <p:stCondLst>
                              <p:cond delay="15750"/>
                            </p:stCondLst>
                            <p:childTnLst>
                              <p:par>
                                <p:cTn id="79" presetID="42" presetClass="entr" presetSubtype="0" fill="hold" nodeType="with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fade">
                                      <p:cBhvr>
                                        <p:cTn id="81" dur="650"/>
                                        <p:tgtEl>
                                          <p:spTgt spid="8"/>
                                        </p:tgtEl>
                                      </p:cBhvr>
                                    </p:animEffect>
                                    <p:anim calcmode="lin" valueType="num">
                                      <p:cBhvr>
                                        <p:cTn id="82" dur="650" fill="hold"/>
                                        <p:tgtEl>
                                          <p:spTgt spid="8"/>
                                        </p:tgtEl>
                                        <p:attrNameLst>
                                          <p:attrName>ppt_y</p:attrName>
                                        </p:attrNameLst>
                                      </p:cBhvr>
                                      <p:tavLst>
                                        <p:tav tm="0">
                                          <p:val>
                                            <p:strVal val="#ppt_y+0.06"/>
                                          </p:val>
                                        </p:tav>
                                        <p:tav tm="100000">
                                          <p:val>
                                            <p:strVal val="#ppt_y"/>
                                          </p:val>
                                        </p:tav>
                                      </p:tavLst>
                                    </p:anim>
                                  </p:childTnLst>
                                </p:cTn>
                              </p:par>
                            </p:childTnLst>
                          </p:cTn>
                        </p:par>
                      </p:childTnLst>
                    </p:cTn>
                  </p:par>
                  <p:par>
                    <p:cTn id="84" fill="hold">
                      <p:stCondLst>
                        <p:cond delay="indefinite"/>
                      </p:stCondLst>
                      <p:childTnLst>
                        <p:par>
                          <p:cTn id="87" fill="hold">
                            <p:stCondLst>
                              <p:cond delay="0"/>
                            </p:stCondLst>
                            <p:childTnLst>
                              <p:par>
                                <p:cTn id="85" presetID="0" presetClass="path" presetSubtype="0" fill="hold" nodeType="clickEffect">
                                  <p:stCondLst>
                                    <p:cond delay="0"/>
                                  </p:stCondLst>
                                  <p:childTnLst>
                                    <p:animMotion origin="layout" path="M 0 0 L 0.12375 0 E" pathEditMode="relative" ptsTypes="">
                                      <p:cBhvr>
                                        <p:cTn id="86" dur="650" accel="20000" decel="50000" fill="hold"/>
                                        <p:tgtEl>
                                          <p:spTgt spid="30"/>
                                        </p:tgtEl>
                                        <p:attrNameLst>
                                          <p:attrName>ppt_x</p:attrName>
                                          <p:attrName>ppt_y</p:attrName>
                                        </p:attrNameLst>
                                      </p:cBhvr>
                                    </p:animMotion>
                                  </p:childTnLst>
                                </p:cTn>
                              </p:par>
                            </p:childTnLst>
                          </p:cTn>
                        </p:par>
                        <p:par>
                          <p:cTn id="100" fill="hold">
                            <p:stCondLst>
                              <p:cond delay="650"/>
                            </p:stCondLst>
                            <p:childTnLst>
                              <p:par>
                                <p:cTn id="88" presetID="1" presetClass="exit" presetSubtype="0" fill="hold" nodeType="afterEffect">
                                  <p:stCondLst>
                                    <p:cond delay="0"/>
                                  </p:stCondLst>
                                  <p:childTnLst>
                                    <p:set>
                                      <p:cBhvr>
                                        <p:cTn id="89" dur="1" fill="hold">
                                          <p:stCondLst>
                                            <p:cond delay="0"/>
                                          </p:stCondLst>
                                        </p:cTn>
                                        <p:tgtEl>
                                          <p:spTgt spid="30"/>
                                        </p:tgtEl>
                                        <p:attrNameLst>
                                          <p:attrName>style.visibility</p:attrName>
                                        </p:attrNameLst>
                                      </p:cBhvr>
                                      <p:to>
                                        <p:strVal val="hidden"/>
                                      </p:to>
                                    </p:set>
                                  </p:childTnLst>
                                </p:cTn>
                              </p:par>
                              <p:par>
                                <p:cTn id="90" presetID="1" presetClass="entr" presetSubtype="0" fill="hold" nodeType="afterEffect">
                                  <p:stCondLst>
                                    <p:cond delay="0"/>
                                  </p:stCondLst>
                                  <p:childTnLst>
                                    <p:set>
                                      <p:cBhvr>
                                        <p:cTn id="91" dur="1" fill="hold">
                                          <p:stCondLst>
                                            <p:cond delay="0"/>
                                          </p:stCondLst>
                                        </p:cTn>
                                        <p:tgtEl>
                                          <p:spTgt spid="31"/>
                                        </p:tgtEl>
                                        <p:attrNameLst>
                                          <p:attrName>style.visibility</p:attrName>
                                        </p:attrNameLst>
                                      </p:cBhvr>
                                      <p:to>
                                        <p:strVal val="visible"/>
                                      </p:to>
                                    </p:set>
                                  </p:childTnLst>
                                </p:cTn>
                              </p:par>
                              <p:par>
                                <p:cTn id="92" presetID="42" presetClass="entr" presetSubtype="0" fill="hold" nodeType="afterEffect">
                                  <p:stCondLst>
                                    <p:cond delay="0"/>
                                  </p:stCondLst>
                                  <p:childTnLst>
                                    <p:set>
                                      <p:cBhvr>
                                        <p:cTn id="93" dur="1" fill="hold">
                                          <p:stCondLst>
                                            <p:cond delay="0"/>
                                          </p:stCondLst>
                                        </p:cTn>
                                        <p:tgtEl>
                                          <p:spTgt spid="10"/>
                                        </p:tgtEl>
                                        <p:attrNameLst>
                                          <p:attrName>style.visibility</p:attrName>
                                        </p:attrNameLst>
                                      </p:cBhvr>
                                      <p:to>
                                        <p:strVal val="visible"/>
                                      </p:to>
                                    </p:set>
                                    <p:animEffect transition="in" filter="fade">
                                      <p:cBhvr>
                                        <p:cTn id="94" dur="650"/>
                                        <p:tgtEl>
                                          <p:spTgt spid="10"/>
                                        </p:tgtEl>
                                      </p:cBhvr>
                                    </p:animEffect>
                                    <p:anim calcmode="lin" valueType="num">
                                      <p:cBhvr>
                                        <p:cTn id="95" dur="650" fill="hold"/>
                                        <p:tgtEl>
                                          <p:spTgt spid="10"/>
                                        </p:tgtEl>
                                        <p:attrNameLst>
                                          <p:attrName>ppt_y</p:attrName>
                                        </p:attrNameLst>
                                      </p:cBhvr>
                                      <p:tavLst>
                                        <p:tav tm="0">
                                          <p:val>
                                            <p:strVal val="#ppt_y+0.06"/>
                                          </p:val>
                                        </p:tav>
                                        <p:tav tm="100000">
                                          <p:val>
                                            <p:strVal val="#ppt_y"/>
                                          </p:val>
                                        </p:tav>
                                      </p:tavLst>
                                    </p:anim>
                                  </p:childTnLst>
                                </p:cTn>
                              </p:par>
                              <p:par>
                                <p:cTn id="96" presetID="42" presetClass="entr" presetSubtype="0" fill="hold" nodeType="afterEffect">
                                  <p:stCondLst>
                                    <p:cond delay="0"/>
                                  </p:stCondLst>
                                  <p:childTnLst>
                                    <p:set>
                                      <p:cBhvr>
                                        <p:cTn id="97" dur="1" fill="hold">
                                          <p:stCondLst>
                                            <p:cond delay="0"/>
                                          </p:stCondLst>
                                        </p:cTn>
                                        <p:tgtEl>
                                          <p:spTgt spid="11"/>
                                        </p:tgtEl>
                                        <p:attrNameLst>
                                          <p:attrName>style.visibility</p:attrName>
                                        </p:attrNameLst>
                                      </p:cBhvr>
                                      <p:to>
                                        <p:strVal val="visible"/>
                                      </p:to>
                                    </p:set>
                                    <p:animEffect transition="in" filter="fade">
                                      <p:cBhvr>
                                        <p:cTn id="98" dur="650"/>
                                        <p:tgtEl>
                                          <p:spTgt spid="11"/>
                                        </p:tgtEl>
                                      </p:cBhvr>
                                    </p:animEffect>
                                    <p:anim calcmode="lin" valueType="num">
                                      <p:cBhvr>
                                        <p:cTn id="99" dur="650" fill="hold"/>
                                        <p:tgtEl>
                                          <p:spTgt spid="11"/>
                                        </p:tgtEl>
                                        <p:attrNameLst>
                                          <p:attrName>ppt_y</p:attrName>
                                        </p:attrNameLst>
                                      </p:cBhvr>
                                      <p:tavLst>
                                        <p:tav tm="0">
                                          <p:val>
                                            <p:strVal val="#ppt_y+0.06"/>
                                          </p:val>
                                        </p:tav>
                                        <p:tav tm="100000">
                                          <p:val>
                                            <p:strVal val="#ppt_y"/>
                                          </p:val>
                                        </p:tav>
                                      </p:tavLst>
                                    </p:anim>
                                  </p:childTnLst>
                                </p:cTn>
                              </p:par>
                            </p:childTnLst>
                          </p:cTn>
                        </p:par>
                      </p:childTnLst>
                    </p:cTn>
                  </p:par>
                  <p:par>
                    <p:cTn id="101" fill="hold">
                      <p:stCondLst>
                        <p:cond delay="indefinite"/>
                      </p:stCondLst>
                      <p:childTnLst>
                        <p:par>
                          <p:cTn id="104" fill="hold">
                            <p:stCondLst>
                              <p:cond delay="0"/>
                            </p:stCondLst>
                            <p:childTnLst>
                              <p:par>
                                <p:cTn id="102" presetID="0" presetClass="path" presetSubtype="0" fill="hold" nodeType="clickEffect">
                                  <p:stCondLst>
                                    <p:cond delay="0"/>
                                  </p:stCondLst>
                                  <p:childTnLst>
                                    <p:animMotion origin="layout" path="M 0 0 L 0.12375 0 E" pathEditMode="relative" ptsTypes="">
                                      <p:cBhvr>
                                        <p:cTn id="103" dur="650" accel="20000" decel="50000" fill="hold"/>
                                        <p:tgtEl>
                                          <p:spTgt spid="31"/>
                                        </p:tgtEl>
                                        <p:attrNameLst>
                                          <p:attrName>ppt_x</p:attrName>
                                          <p:attrName>ppt_y</p:attrName>
                                        </p:attrNameLst>
                                      </p:cBhvr>
                                    </p:animMotion>
                                  </p:childTnLst>
                                </p:cTn>
                              </p:par>
                            </p:childTnLst>
                          </p:cTn>
                        </p:par>
                        <p:par>
                          <p:cTn id="117" fill="hold">
                            <p:stCondLst>
                              <p:cond delay="650"/>
                            </p:stCondLst>
                            <p:childTnLst>
                              <p:par>
                                <p:cTn id="105" presetID="1" presetClass="exit" presetSubtype="0" fill="hold" nodeType="afterEffect">
                                  <p:stCondLst>
                                    <p:cond delay="0"/>
                                  </p:stCondLst>
                                  <p:childTnLst>
                                    <p:set>
                                      <p:cBhvr>
                                        <p:cTn id="106" dur="1" fill="hold">
                                          <p:stCondLst>
                                            <p:cond delay="0"/>
                                          </p:stCondLst>
                                        </p:cTn>
                                        <p:tgtEl>
                                          <p:spTgt spid="31"/>
                                        </p:tgtEl>
                                        <p:attrNameLst>
                                          <p:attrName>style.visibility</p:attrName>
                                        </p:attrNameLst>
                                      </p:cBhvr>
                                      <p:to>
                                        <p:strVal val="hidden"/>
                                      </p:to>
                                    </p:set>
                                  </p:childTnLst>
                                </p:cTn>
                              </p:par>
                              <p:par>
                                <p:cTn id="107" presetID="1" presetClass="entr" presetSubtype="0" fill="hold" nodeType="afterEffect">
                                  <p:stCondLst>
                                    <p:cond delay="0"/>
                                  </p:stCondLst>
                                  <p:childTnLst>
                                    <p:set>
                                      <p:cBhvr>
                                        <p:cTn id="108" dur="1" fill="hold">
                                          <p:stCondLst>
                                            <p:cond delay="0"/>
                                          </p:stCondLst>
                                        </p:cTn>
                                        <p:tgtEl>
                                          <p:spTgt spid="32"/>
                                        </p:tgtEl>
                                        <p:attrNameLst>
                                          <p:attrName>style.visibility</p:attrName>
                                        </p:attrNameLst>
                                      </p:cBhvr>
                                      <p:to>
                                        <p:strVal val="visible"/>
                                      </p:to>
                                    </p:set>
                                  </p:childTnLst>
                                </p:cTn>
                              </p:par>
                              <p:par>
                                <p:cTn id="109" presetID="42" presetClass="entr" presetSubtype="0" fill="hold" nodeType="afterEffect">
                                  <p:stCondLst>
                                    <p:cond delay="0"/>
                                  </p:stCondLst>
                                  <p:childTnLst>
                                    <p:set>
                                      <p:cBhvr>
                                        <p:cTn id="110" dur="1" fill="hold">
                                          <p:stCondLst>
                                            <p:cond delay="0"/>
                                          </p:stCondLst>
                                        </p:cTn>
                                        <p:tgtEl>
                                          <p:spTgt spid="13"/>
                                        </p:tgtEl>
                                        <p:attrNameLst>
                                          <p:attrName>style.visibility</p:attrName>
                                        </p:attrNameLst>
                                      </p:cBhvr>
                                      <p:to>
                                        <p:strVal val="visible"/>
                                      </p:to>
                                    </p:set>
                                    <p:animEffect transition="in" filter="fade">
                                      <p:cBhvr>
                                        <p:cTn id="111" dur="650"/>
                                        <p:tgtEl>
                                          <p:spTgt spid="13"/>
                                        </p:tgtEl>
                                      </p:cBhvr>
                                    </p:animEffect>
                                    <p:anim calcmode="lin" valueType="num">
                                      <p:cBhvr>
                                        <p:cTn id="112" dur="650" fill="hold"/>
                                        <p:tgtEl>
                                          <p:spTgt spid="13"/>
                                        </p:tgtEl>
                                        <p:attrNameLst>
                                          <p:attrName>ppt_y</p:attrName>
                                        </p:attrNameLst>
                                      </p:cBhvr>
                                      <p:tavLst>
                                        <p:tav tm="0">
                                          <p:val>
                                            <p:strVal val="#ppt_y+0.06"/>
                                          </p:val>
                                        </p:tav>
                                        <p:tav tm="100000">
                                          <p:val>
                                            <p:strVal val="#ppt_y"/>
                                          </p:val>
                                        </p:tav>
                                      </p:tavLst>
                                    </p:anim>
                                  </p:childTnLst>
                                </p:cTn>
                              </p:par>
                              <p:par>
                                <p:cTn id="113" presetID="42" presetClass="entr" presetSubtype="0" fill="hold" nodeType="afterEffect">
                                  <p:stCondLst>
                                    <p:cond delay="0"/>
                                  </p:stCondLst>
                                  <p:childTnLst>
                                    <p:set>
                                      <p:cBhvr>
                                        <p:cTn id="114" dur="1" fill="hold">
                                          <p:stCondLst>
                                            <p:cond delay="0"/>
                                          </p:stCondLst>
                                        </p:cTn>
                                        <p:tgtEl>
                                          <p:spTgt spid="14"/>
                                        </p:tgtEl>
                                        <p:attrNameLst>
                                          <p:attrName>style.visibility</p:attrName>
                                        </p:attrNameLst>
                                      </p:cBhvr>
                                      <p:to>
                                        <p:strVal val="visible"/>
                                      </p:to>
                                    </p:set>
                                    <p:animEffect transition="in" filter="fade">
                                      <p:cBhvr>
                                        <p:cTn id="115" dur="650"/>
                                        <p:tgtEl>
                                          <p:spTgt spid="14"/>
                                        </p:tgtEl>
                                      </p:cBhvr>
                                    </p:animEffect>
                                    <p:anim calcmode="lin" valueType="num">
                                      <p:cBhvr>
                                        <p:cTn id="116" dur="650" fill="hold"/>
                                        <p:tgtEl>
                                          <p:spTgt spid="14"/>
                                        </p:tgtEl>
                                        <p:attrNameLst>
                                          <p:attrName>ppt_y</p:attrName>
                                        </p:attrNameLst>
                                      </p:cBhvr>
                                      <p:tavLst>
                                        <p:tav tm="0">
                                          <p:val>
                                            <p:strVal val="#ppt_y+0.06"/>
                                          </p:val>
                                        </p:tav>
                                        <p:tav tm="100000">
                                          <p:val>
                                            <p:strVal val="#ppt_y"/>
                                          </p:val>
                                        </p:tav>
                                      </p:tavLst>
                                    </p:anim>
                                  </p:childTnLst>
                                </p:cTn>
                              </p:par>
                            </p:childTnLst>
                          </p:cTn>
                        </p:par>
                      </p:childTnLst>
                    </p:cTn>
                  </p:par>
                  <p:par>
                    <p:cTn id="118" fill="hold">
                      <p:stCondLst>
                        <p:cond delay="indefinite"/>
                      </p:stCondLst>
                      <p:childTnLst>
                        <p:par>
                          <p:cTn id="121" fill="hold">
                            <p:stCondLst>
                              <p:cond delay="0"/>
                            </p:stCondLst>
                            <p:childTnLst>
                              <p:par>
                                <p:cTn id="119" presetID="0" presetClass="path" presetSubtype="0" fill="hold" nodeType="clickEffect">
                                  <p:stCondLst>
                                    <p:cond delay="0"/>
                                  </p:stCondLst>
                                  <p:childTnLst>
                                    <p:animMotion origin="layout" path="M 0 0 L 0.12375 0 E" pathEditMode="relative" ptsTypes="">
                                      <p:cBhvr>
                                        <p:cTn id="120" dur="650" accel="20000" decel="50000" fill="hold"/>
                                        <p:tgtEl>
                                          <p:spTgt spid="32"/>
                                        </p:tgtEl>
                                        <p:attrNameLst>
                                          <p:attrName>ppt_x</p:attrName>
                                          <p:attrName>ppt_y</p:attrName>
                                        </p:attrNameLst>
                                      </p:cBhvr>
                                    </p:animMotion>
                                  </p:childTnLst>
                                </p:cTn>
                              </p:par>
                            </p:childTnLst>
                          </p:cTn>
                        </p:par>
                        <p:par>
                          <p:cTn id="134" fill="hold">
                            <p:stCondLst>
                              <p:cond delay="650"/>
                            </p:stCondLst>
                            <p:childTnLst>
                              <p:par>
                                <p:cTn id="122" presetID="1" presetClass="exit" presetSubtype="0" fill="hold" nodeType="afterEffect">
                                  <p:stCondLst>
                                    <p:cond delay="0"/>
                                  </p:stCondLst>
                                  <p:childTnLst>
                                    <p:set>
                                      <p:cBhvr>
                                        <p:cTn id="123" dur="1" fill="hold">
                                          <p:stCondLst>
                                            <p:cond delay="0"/>
                                          </p:stCondLst>
                                        </p:cTn>
                                        <p:tgtEl>
                                          <p:spTgt spid="32"/>
                                        </p:tgtEl>
                                        <p:attrNameLst>
                                          <p:attrName>style.visibility</p:attrName>
                                        </p:attrNameLst>
                                      </p:cBhvr>
                                      <p:to>
                                        <p:strVal val="hidden"/>
                                      </p:to>
                                    </p:set>
                                  </p:childTnLst>
                                </p:cTn>
                              </p:par>
                              <p:par>
                                <p:cTn id="124" presetID="1" presetClass="entr" presetSubtype="0" fill="hold" nodeType="afterEffect">
                                  <p:stCondLst>
                                    <p:cond delay="0"/>
                                  </p:stCondLst>
                                  <p:childTnLst>
                                    <p:set>
                                      <p:cBhvr>
                                        <p:cTn id="125" dur="1" fill="hold">
                                          <p:stCondLst>
                                            <p:cond delay="0"/>
                                          </p:stCondLst>
                                        </p:cTn>
                                        <p:tgtEl>
                                          <p:spTgt spid="33"/>
                                        </p:tgtEl>
                                        <p:attrNameLst>
                                          <p:attrName>style.visibility</p:attrName>
                                        </p:attrNameLst>
                                      </p:cBhvr>
                                      <p:to>
                                        <p:strVal val="visible"/>
                                      </p:to>
                                    </p:set>
                                  </p:childTnLst>
                                </p:cTn>
                              </p:par>
                              <p:par>
                                <p:cTn id="126" presetID="42" presetClass="entr" presetSubtype="0" fill="hold" nodeType="afterEffect">
                                  <p:stCondLst>
                                    <p:cond delay="0"/>
                                  </p:stCondLst>
                                  <p:childTnLst>
                                    <p:set>
                                      <p:cBhvr>
                                        <p:cTn id="127" dur="1" fill="hold">
                                          <p:stCondLst>
                                            <p:cond delay="0"/>
                                          </p:stCondLst>
                                        </p:cTn>
                                        <p:tgtEl>
                                          <p:spTgt spid="16"/>
                                        </p:tgtEl>
                                        <p:attrNameLst>
                                          <p:attrName>style.visibility</p:attrName>
                                        </p:attrNameLst>
                                      </p:cBhvr>
                                      <p:to>
                                        <p:strVal val="visible"/>
                                      </p:to>
                                    </p:set>
                                    <p:animEffect transition="in" filter="fade">
                                      <p:cBhvr>
                                        <p:cTn id="128" dur="650"/>
                                        <p:tgtEl>
                                          <p:spTgt spid="16"/>
                                        </p:tgtEl>
                                      </p:cBhvr>
                                    </p:animEffect>
                                    <p:anim calcmode="lin" valueType="num">
                                      <p:cBhvr>
                                        <p:cTn id="129" dur="650" fill="hold"/>
                                        <p:tgtEl>
                                          <p:spTgt spid="16"/>
                                        </p:tgtEl>
                                        <p:attrNameLst>
                                          <p:attrName>ppt_y</p:attrName>
                                        </p:attrNameLst>
                                      </p:cBhvr>
                                      <p:tavLst>
                                        <p:tav tm="0">
                                          <p:val>
                                            <p:strVal val="#ppt_y+0.06"/>
                                          </p:val>
                                        </p:tav>
                                        <p:tav tm="100000">
                                          <p:val>
                                            <p:strVal val="#ppt_y"/>
                                          </p:val>
                                        </p:tav>
                                      </p:tavLst>
                                    </p:anim>
                                  </p:childTnLst>
                                </p:cTn>
                              </p:par>
                              <p:par>
                                <p:cTn id="130" presetID="42" presetClass="entr" presetSubtype="0" fill="hold" nodeType="afterEffect">
                                  <p:stCondLst>
                                    <p:cond delay="0"/>
                                  </p:stCondLst>
                                  <p:childTnLst>
                                    <p:set>
                                      <p:cBhvr>
                                        <p:cTn id="131" dur="1" fill="hold">
                                          <p:stCondLst>
                                            <p:cond delay="0"/>
                                          </p:stCondLst>
                                        </p:cTn>
                                        <p:tgtEl>
                                          <p:spTgt spid="17"/>
                                        </p:tgtEl>
                                        <p:attrNameLst>
                                          <p:attrName>style.visibility</p:attrName>
                                        </p:attrNameLst>
                                      </p:cBhvr>
                                      <p:to>
                                        <p:strVal val="visible"/>
                                      </p:to>
                                    </p:set>
                                    <p:animEffect transition="in" filter="fade">
                                      <p:cBhvr>
                                        <p:cTn id="132" dur="650"/>
                                        <p:tgtEl>
                                          <p:spTgt spid="17"/>
                                        </p:tgtEl>
                                      </p:cBhvr>
                                    </p:animEffect>
                                    <p:anim calcmode="lin" valueType="num">
                                      <p:cBhvr>
                                        <p:cTn id="133" dur="650" fill="hold"/>
                                        <p:tgtEl>
                                          <p:spTgt spid="17"/>
                                        </p:tgtEl>
                                        <p:attrNameLst>
                                          <p:attrName>ppt_y</p:attrName>
                                        </p:attrNameLst>
                                      </p:cBhvr>
                                      <p:tavLst>
                                        <p:tav tm="0">
                                          <p:val>
                                            <p:strVal val="#ppt_y+0.06"/>
                                          </p:val>
                                        </p:tav>
                                        <p:tav tm="100000">
                                          <p:val>
                                            <p:strVal val="#ppt_y"/>
                                          </p:val>
                                        </p:tav>
                                      </p:tavLst>
                                    </p:anim>
                                  </p:childTnLst>
                                </p:cTn>
                              </p:par>
                            </p:childTnLst>
                          </p:cTn>
                        </p:par>
                      </p:childTnLst>
                    </p:cTn>
                  </p:par>
                  <p:par>
                    <p:cTn id="135" fill="hold">
                      <p:stCondLst>
                        <p:cond delay="indefinite"/>
                      </p:stCondLst>
                      <p:childTnLst>
                        <p:par>
                          <p:cTn id="138" fill="hold">
                            <p:stCondLst>
                              <p:cond delay="0"/>
                            </p:stCondLst>
                            <p:childTnLst>
                              <p:par>
                                <p:cTn id="136" presetID="0" presetClass="path" presetSubtype="0" fill="hold" nodeType="clickEffect">
                                  <p:stCondLst>
                                    <p:cond delay="0"/>
                                  </p:stCondLst>
                                  <p:childTnLst>
                                    <p:animMotion origin="layout" path="M 0 0 L 0.12375 0 E" pathEditMode="relative" ptsTypes="">
                                      <p:cBhvr>
                                        <p:cTn id="137" dur="650" accel="20000" decel="50000" fill="hold"/>
                                        <p:tgtEl>
                                          <p:spTgt spid="33"/>
                                        </p:tgtEl>
                                        <p:attrNameLst>
                                          <p:attrName>ppt_x</p:attrName>
                                          <p:attrName>ppt_y</p:attrName>
                                        </p:attrNameLst>
                                      </p:cBhvr>
                                    </p:animMotion>
                                  </p:childTnLst>
                                </p:cTn>
                              </p:par>
                            </p:childTnLst>
                          </p:cTn>
                        </p:par>
                        <p:par>
                          <p:cTn id="151" fill="hold">
                            <p:stCondLst>
                              <p:cond delay="650"/>
                            </p:stCondLst>
                            <p:childTnLst>
                              <p:par>
                                <p:cTn id="139" presetID="1" presetClass="exit" presetSubtype="0" fill="hold" nodeType="afterEffect">
                                  <p:stCondLst>
                                    <p:cond delay="0"/>
                                  </p:stCondLst>
                                  <p:childTnLst>
                                    <p:set>
                                      <p:cBhvr>
                                        <p:cTn id="140" dur="1" fill="hold">
                                          <p:stCondLst>
                                            <p:cond delay="0"/>
                                          </p:stCondLst>
                                        </p:cTn>
                                        <p:tgtEl>
                                          <p:spTgt spid="33"/>
                                        </p:tgtEl>
                                        <p:attrNameLst>
                                          <p:attrName>style.visibility</p:attrName>
                                        </p:attrNameLst>
                                      </p:cBhvr>
                                      <p:to>
                                        <p:strVal val="hidden"/>
                                      </p:to>
                                    </p:set>
                                  </p:childTnLst>
                                </p:cTn>
                              </p:par>
                              <p:par>
                                <p:cTn id="141" presetID="1" presetClass="entr" presetSubtype="0" fill="hold" nodeType="afterEffect">
                                  <p:stCondLst>
                                    <p:cond delay="0"/>
                                  </p:stCondLst>
                                  <p:childTnLst>
                                    <p:set>
                                      <p:cBhvr>
                                        <p:cTn id="142" dur="1" fill="hold">
                                          <p:stCondLst>
                                            <p:cond delay="0"/>
                                          </p:stCondLst>
                                        </p:cTn>
                                        <p:tgtEl>
                                          <p:spTgt spid="34"/>
                                        </p:tgtEl>
                                        <p:attrNameLst>
                                          <p:attrName>style.visibility</p:attrName>
                                        </p:attrNameLst>
                                      </p:cBhvr>
                                      <p:to>
                                        <p:strVal val="visible"/>
                                      </p:to>
                                    </p:set>
                                  </p:childTnLst>
                                </p:cTn>
                              </p:par>
                              <p:par>
                                <p:cTn id="143" presetID="42" presetClass="entr" presetSubtype="0" fill="hold" nodeType="afterEffect">
                                  <p:stCondLst>
                                    <p:cond delay="0"/>
                                  </p:stCondLst>
                                  <p:childTnLst>
                                    <p:set>
                                      <p:cBhvr>
                                        <p:cTn id="144" dur="1" fill="hold">
                                          <p:stCondLst>
                                            <p:cond delay="0"/>
                                          </p:stCondLst>
                                        </p:cTn>
                                        <p:tgtEl>
                                          <p:spTgt spid="19"/>
                                        </p:tgtEl>
                                        <p:attrNameLst>
                                          <p:attrName>style.visibility</p:attrName>
                                        </p:attrNameLst>
                                      </p:cBhvr>
                                      <p:to>
                                        <p:strVal val="visible"/>
                                      </p:to>
                                    </p:set>
                                    <p:animEffect transition="in" filter="fade">
                                      <p:cBhvr>
                                        <p:cTn id="145" dur="650"/>
                                        <p:tgtEl>
                                          <p:spTgt spid="19"/>
                                        </p:tgtEl>
                                      </p:cBhvr>
                                    </p:animEffect>
                                    <p:anim calcmode="lin" valueType="num">
                                      <p:cBhvr>
                                        <p:cTn id="146" dur="650" fill="hold"/>
                                        <p:tgtEl>
                                          <p:spTgt spid="19"/>
                                        </p:tgtEl>
                                        <p:attrNameLst>
                                          <p:attrName>ppt_y</p:attrName>
                                        </p:attrNameLst>
                                      </p:cBhvr>
                                      <p:tavLst>
                                        <p:tav tm="0">
                                          <p:val>
                                            <p:strVal val="#ppt_y+0.06"/>
                                          </p:val>
                                        </p:tav>
                                        <p:tav tm="100000">
                                          <p:val>
                                            <p:strVal val="#ppt_y"/>
                                          </p:val>
                                        </p:tav>
                                      </p:tavLst>
                                    </p:anim>
                                  </p:childTnLst>
                                </p:cTn>
                              </p:par>
                              <p:par>
                                <p:cTn id="147" presetID="42" presetClass="entr" presetSubtype="0" fill="hold" nodeType="afterEffect">
                                  <p:stCondLst>
                                    <p:cond delay="0"/>
                                  </p:stCondLst>
                                  <p:childTnLst>
                                    <p:set>
                                      <p:cBhvr>
                                        <p:cTn id="148" dur="1" fill="hold">
                                          <p:stCondLst>
                                            <p:cond delay="0"/>
                                          </p:stCondLst>
                                        </p:cTn>
                                        <p:tgtEl>
                                          <p:spTgt spid="20"/>
                                        </p:tgtEl>
                                        <p:attrNameLst>
                                          <p:attrName>style.visibility</p:attrName>
                                        </p:attrNameLst>
                                      </p:cBhvr>
                                      <p:to>
                                        <p:strVal val="visible"/>
                                      </p:to>
                                    </p:set>
                                    <p:animEffect transition="in" filter="fade">
                                      <p:cBhvr>
                                        <p:cTn id="149" dur="650"/>
                                        <p:tgtEl>
                                          <p:spTgt spid="20"/>
                                        </p:tgtEl>
                                      </p:cBhvr>
                                    </p:animEffect>
                                    <p:anim calcmode="lin" valueType="num">
                                      <p:cBhvr>
                                        <p:cTn id="150" dur="650" fill="hold"/>
                                        <p:tgtEl>
                                          <p:spTgt spid="20"/>
                                        </p:tgtEl>
                                        <p:attrNameLst>
                                          <p:attrName>ppt_y</p:attrName>
                                        </p:attrNameLst>
                                      </p:cBhvr>
                                      <p:tavLst>
                                        <p:tav tm="0">
                                          <p:val>
                                            <p:strVal val="#ppt_y+0.06"/>
                                          </p:val>
                                        </p:tav>
                                        <p:tav tm="100000">
                                          <p:val>
                                            <p:strVal val="#ppt_y"/>
                                          </p:val>
                                        </p:tav>
                                      </p:tavLst>
                                    </p:anim>
                                  </p:childTnLst>
                                </p:cTn>
                              </p:par>
                            </p:childTnLst>
                          </p:cTn>
                        </p:par>
                      </p:childTnLst>
                    </p:cTn>
                  </p:par>
                  <p:par>
                    <p:cTn id="152" fill="hold">
                      <p:stCondLst>
                        <p:cond delay="indefinite"/>
                      </p:stCondLst>
                      <p:childTnLst>
                        <p:par>
                          <p:cTn id="155" fill="hold">
                            <p:stCondLst>
                              <p:cond delay="0"/>
                            </p:stCondLst>
                            <p:childTnLst>
                              <p:par>
                                <p:cTn id="153" presetID="0" presetClass="path" presetSubtype="0" fill="hold" nodeType="clickEffect">
                                  <p:stCondLst>
                                    <p:cond delay="0"/>
                                  </p:stCondLst>
                                  <p:childTnLst>
                                    <p:animMotion origin="layout" path="M 0 0 L 0.12375 0 E" pathEditMode="relative" ptsTypes="">
                                      <p:cBhvr>
                                        <p:cTn id="154" dur="650" accel="20000" decel="50000" fill="hold"/>
                                        <p:tgtEl>
                                          <p:spTgt spid="34"/>
                                        </p:tgtEl>
                                        <p:attrNameLst>
                                          <p:attrName>ppt_x</p:attrName>
                                          <p:attrName>ppt_y</p:attrName>
                                        </p:attrNameLst>
                                      </p:cBhvr>
                                    </p:animMotion>
                                  </p:childTnLst>
                                </p:cTn>
                              </p:par>
                            </p:childTnLst>
                          </p:cTn>
                        </p:par>
                        <p:par>
                          <p:cTn id="168" fill="hold">
                            <p:stCondLst>
                              <p:cond delay="650"/>
                            </p:stCondLst>
                            <p:childTnLst>
                              <p:par>
                                <p:cTn id="156" presetID="1" presetClass="exit" presetSubtype="0" fill="hold" nodeType="afterEffect">
                                  <p:stCondLst>
                                    <p:cond delay="0"/>
                                  </p:stCondLst>
                                  <p:childTnLst>
                                    <p:set>
                                      <p:cBhvr>
                                        <p:cTn id="157" dur="1" fill="hold">
                                          <p:stCondLst>
                                            <p:cond delay="0"/>
                                          </p:stCondLst>
                                        </p:cTn>
                                        <p:tgtEl>
                                          <p:spTgt spid="34"/>
                                        </p:tgtEl>
                                        <p:attrNameLst>
                                          <p:attrName>style.visibility</p:attrName>
                                        </p:attrNameLst>
                                      </p:cBhvr>
                                      <p:to>
                                        <p:strVal val="hidden"/>
                                      </p:to>
                                    </p:set>
                                  </p:childTnLst>
                                </p:cTn>
                              </p:par>
                              <p:par>
                                <p:cTn id="158" presetID="1" presetClass="entr" presetSubtype="0" fill="hold" nodeType="afterEffect">
                                  <p:stCondLst>
                                    <p:cond delay="0"/>
                                  </p:stCondLst>
                                  <p:childTnLst>
                                    <p:set>
                                      <p:cBhvr>
                                        <p:cTn id="159" dur="1" fill="hold">
                                          <p:stCondLst>
                                            <p:cond delay="0"/>
                                          </p:stCondLst>
                                        </p:cTn>
                                        <p:tgtEl>
                                          <p:spTgt spid="35"/>
                                        </p:tgtEl>
                                        <p:attrNameLst>
                                          <p:attrName>style.visibility</p:attrName>
                                        </p:attrNameLst>
                                      </p:cBhvr>
                                      <p:to>
                                        <p:strVal val="visible"/>
                                      </p:to>
                                    </p:set>
                                  </p:childTnLst>
                                </p:cTn>
                              </p:par>
                              <p:par>
                                <p:cTn id="160" presetID="42" presetClass="entr" presetSubtype="0" fill="hold" nodeType="afterEffect">
                                  <p:stCondLst>
                                    <p:cond delay="0"/>
                                  </p:stCondLst>
                                  <p:childTnLst>
                                    <p:set>
                                      <p:cBhvr>
                                        <p:cTn id="161" dur="1" fill="hold">
                                          <p:stCondLst>
                                            <p:cond delay="0"/>
                                          </p:stCondLst>
                                        </p:cTn>
                                        <p:tgtEl>
                                          <p:spTgt spid="22"/>
                                        </p:tgtEl>
                                        <p:attrNameLst>
                                          <p:attrName>style.visibility</p:attrName>
                                        </p:attrNameLst>
                                      </p:cBhvr>
                                      <p:to>
                                        <p:strVal val="visible"/>
                                      </p:to>
                                    </p:set>
                                    <p:animEffect transition="in" filter="fade">
                                      <p:cBhvr>
                                        <p:cTn id="162" dur="650"/>
                                        <p:tgtEl>
                                          <p:spTgt spid="22"/>
                                        </p:tgtEl>
                                      </p:cBhvr>
                                    </p:animEffect>
                                    <p:anim calcmode="lin" valueType="num">
                                      <p:cBhvr>
                                        <p:cTn id="163" dur="650" fill="hold"/>
                                        <p:tgtEl>
                                          <p:spTgt spid="22"/>
                                        </p:tgtEl>
                                        <p:attrNameLst>
                                          <p:attrName>ppt_y</p:attrName>
                                        </p:attrNameLst>
                                      </p:cBhvr>
                                      <p:tavLst>
                                        <p:tav tm="0">
                                          <p:val>
                                            <p:strVal val="#ppt_y+0.06"/>
                                          </p:val>
                                        </p:tav>
                                        <p:tav tm="100000">
                                          <p:val>
                                            <p:strVal val="#ppt_y"/>
                                          </p:val>
                                        </p:tav>
                                      </p:tavLst>
                                    </p:anim>
                                  </p:childTnLst>
                                </p:cTn>
                              </p:par>
                              <p:par>
                                <p:cTn id="164" presetID="42" presetClass="entr" presetSubtype="0" fill="hold" nodeType="afterEffect">
                                  <p:stCondLst>
                                    <p:cond delay="0"/>
                                  </p:stCondLst>
                                  <p:childTnLst>
                                    <p:set>
                                      <p:cBhvr>
                                        <p:cTn id="165" dur="1" fill="hold">
                                          <p:stCondLst>
                                            <p:cond delay="0"/>
                                          </p:stCondLst>
                                        </p:cTn>
                                        <p:tgtEl>
                                          <p:spTgt spid="23"/>
                                        </p:tgtEl>
                                        <p:attrNameLst>
                                          <p:attrName>style.visibility</p:attrName>
                                        </p:attrNameLst>
                                      </p:cBhvr>
                                      <p:to>
                                        <p:strVal val="visible"/>
                                      </p:to>
                                    </p:set>
                                    <p:animEffect transition="in" filter="fade">
                                      <p:cBhvr>
                                        <p:cTn id="166" dur="650"/>
                                        <p:tgtEl>
                                          <p:spTgt spid="23"/>
                                        </p:tgtEl>
                                      </p:cBhvr>
                                    </p:animEffect>
                                    <p:anim calcmode="lin" valueType="num">
                                      <p:cBhvr>
                                        <p:cTn id="167" dur="650" fill="hold"/>
                                        <p:tgtEl>
                                          <p:spTgt spid="23"/>
                                        </p:tgtEl>
                                        <p:attrNameLst>
                                          <p:attrName>ppt_y</p:attrName>
                                        </p:attrNameLst>
                                      </p:cBhvr>
                                      <p:tavLst>
                                        <p:tav tm="0">
                                          <p:val>
                                            <p:strVal val="#ppt_y+0.06"/>
                                          </p:val>
                                        </p:tav>
                                        <p:tav tm="100000">
                                          <p:val>
                                            <p:strVal val="#ppt_y"/>
                                          </p:val>
                                        </p:tav>
                                      </p:tavLst>
                                    </p:anim>
                                  </p:childTnLst>
                                </p:cTn>
                              </p:par>
                            </p:childTnLst>
                          </p:cTn>
                        </p:par>
                      </p:childTnLst>
                    </p:cTn>
                  </p:par>
                  <p:par>
                    <p:cTn id="169" fill="hold">
                      <p:stCondLst>
                        <p:cond delay="indefinite"/>
                      </p:stCondLst>
                      <p:childTnLst>
                        <p:par>
                          <p:cTn id="172" fill="hold">
                            <p:stCondLst>
                              <p:cond delay="0"/>
                            </p:stCondLst>
                            <p:childTnLst>
                              <p:par>
                                <p:cTn id="170" presetID="0" presetClass="path" presetSubtype="0" fill="hold" nodeType="clickEffect">
                                  <p:stCondLst>
                                    <p:cond delay="0"/>
                                  </p:stCondLst>
                                  <p:childTnLst>
                                    <p:animMotion origin="layout" path="M 0 0 L 0.12375 0 E" pathEditMode="relative" ptsTypes="">
                                      <p:cBhvr>
                                        <p:cTn id="171" dur="650" accel="20000" decel="50000" fill="hold"/>
                                        <p:tgtEl>
                                          <p:spTgt spid="35"/>
                                        </p:tgtEl>
                                        <p:attrNameLst>
                                          <p:attrName>ppt_x</p:attrName>
                                          <p:attrName>ppt_y</p:attrName>
                                        </p:attrNameLst>
                                      </p:cBhvr>
                                    </p:animMotion>
                                  </p:childTnLst>
                                </p:cTn>
                              </p:par>
                            </p:childTnLst>
                          </p:cTn>
                        </p:par>
                        <p:par>
                          <p:cTn id="185" fill="hold">
                            <p:stCondLst>
                              <p:cond delay="650"/>
                            </p:stCondLst>
                            <p:childTnLst>
                              <p:par>
                                <p:cTn id="173" presetID="1" presetClass="exit" presetSubtype="0" fill="hold" nodeType="afterEffect">
                                  <p:stCondLst>
                                    <p:cond delay="0"/>
                                  </p:stCondLst>
                                  <p:childTnLst>
                                    <p:set>
                                      <p:cBhvr>
                                        <p:cTn id="174" dur="1" fill="hold">
                                          <p:stCondLst>
                                            <p:cond delay="0"/>
                                          </p:stCondLst>
                                        </p:cTn>
                                        <p:tgtEl>
                                          <p:spTgt spid="35"/>
                                        </p:tgtEl>
                                        <p:attrNameLst>
                                          <p:attrName>style.visibility</p:attrName>
                                        </p:attrNameLst>
                                      </p:cBhvr>
                                      <p:to>
                                        <p:strVal val="hidden"/>
                                      </p:to>
                                    </p:set>
                                  </p:childTnLst>
                                </p:cTn>
                              </p:par>
                              <p:par>
                                <p:cTn id="175" presetID="1" presetClass="entr" presetSubtype="0" fill="hold" nodeType="afterEffect">
                                  <p:stCondLst>
                                    <p:cond delay="0"/>
                                  </p:stCondLst>
                                  <p:childTnLst>
                                    <p:set>
                                      <p:cBhvr>
                                        <p:cTn id="176" dur="1" fill="hold">
                                          <p:stCondLst>
                                            <p:cond delay="0"/>
                                          </p:stCondLst>
                                        </p:cTn>
                                        <p:tgtEl>
                                          <p:spTgt spid="36"/>
                                        </p:tgtEl>
                                        <p:attrNameLst>
                                          <p:attrName>style.visibility</p:attrName>
                                        </p:attrNameLst>
                                      </p:cBhvr>
                                      <p:to>
                                        <p:strVal val="visible"/>
                                      </p:to>
                                    </p:set>
                                  </p:childTnLst>
                                </p:cTn>
                              </p:par>
                              <p:par>
                                <p:cTn id="177" presetID="42" presetClass="entr" presetSubtype="0" fill="hold" nodeType="afterEffect">
                                  <p:stCondLst>
                                    <p:cond delay="0"/>
                                  </p:stCondLst>
                                  <p:childTnLst>
                                    <p:set>
                                      <p:cBhvr>
                                        <p:cTn id="178" dur="1" fill="hold">
                                          <p:stCondLst>
                                            <p:cond delay="0"/>
                                          </p:stCondLst>
                                        </p:cTn>
                                        <p:tgtEl>
                                          <p:spTgt spid="25"/>
                                        </p:tgtEl>
                                        <p:attrNameLst>
                                          <p:attrName>style.visibility</p:attrName>
                                        </p:attrNameLst>
                                      </p:cBhvr>
                                      <p:to>
                                        <p:strVal val="visible"/>
                                      </p:to>
                                    </p:set>
                                    <p:animEffect transition="in" filter="fade">
                                      <p:cBhvr>
                                        <p:cTn id="179" dur="650"/>
                                        <p:tgtEl>
                                          <p:spTgt spid="25"/>
                                        </p:tgtEl>
                                      </p:cBhvr>
                                    </p:animEffect>
                                    <p:anim calcmode="lin" valueType="num">
                                      <p:cBhvr>
                                        <p:cTn id="180" dur="650" fill="hold"/>
                                        <p:tgtEl>
                                          <p:spTgt spid="25"/>
                                        </p:tgtEl>
                                        <p:attrNameLst>
                                          <p:attrName>ppt_y</p:attrName>
                                        </p:attrNameLst>
                                      </p:cBhvr>
                                      <p:tavLst>
                                        <p:tav tm="0">
                                          <p:val>
                                            <p:strVal val="#ppt_y+0.06"/>
                                          </p:val>
                                        </p:tav>
                                        <p:tav tm="100000">
                                          <p:val>
                                            <p:strVal val="#ppt_y"/>
                                          </p:val>
                                        </p:tav>
                                      </p:tavLst>
                                    </p:anim>
                                  </p:childTnLst>
                                </p:cTn>
                              </p:par>
                              <p:par>
                                <p:cTn id="181" presetID="42" presetClass="entr" presetSubtype="0" fill="hold" nodeType="afterEffect">
                                  <p:stCondLst>
                                    <p:cond delay="0"/>
                                  </p:stCondLst>
                                  <p:childTnLst>
                                    <p:set>
                                      <p:cBhvr>
                                        <p:cTn id="182" dur="1" fill="hold">
                                          <p:stCondLst>
                                            <p:cond delay="0"/>
                                          </p:stCondLst>
                                        </p:cTn>
                                        <p:tgtEl>
                                          <p:spTgt spid="26"/>
                                        </p:tgtEl>
                                        <p:attrNameLst>
                                          <p:attrName>style.visibility</p:attrName>
                                        </p:attrNameLst>
                                      </p:cBhvr>
                                      <p:to>
                                        <p:strVal val="visible"/>
                                      </p:to>
                                    </p:set>
                                    <p:animEffect transition="in" filter="fade">
                                      <p:cBhvr>
                                        <p:cTn id="183" dur="650"/>
                                        <p:tgtEl>
                                          <p:spTgt spid="26"/>
                                        </p:tgtEl>
                                      </p:cBhvr>
                                    </p:animEffect>
                                    <p:anim calcmode="lin" valueType="num">
                                      <p:cBhvr>
                                        <p:cTn id="184" dur="650" fill="hold"/>
                                        <p:tgtEl>
                                          <p:spTgt spid="26"/>
                                        </p:tgtEl>
                                        <p:attrNameLst>
                                          <p:attrName>ppt_y</p:attrName>
                                        </p:attrNameLst>
                                      </p:cBhvr>
                                      <p:tavLst>
                                        <p:tav tm="0">
                                          <p:val>
                                            <p:strVal val="#ppt_y+0.06"/>
                                          </p:val>
                                        </p:tav>
                                        <p:tav tm="100000">
                                          <p:val>
                                            <p:strVal val="#ppt_y"/>
                                          </p:val>
                                        </p:tav>
                                      </p:tavLst>
                                    </p:anim>
                                  </p:childTnLst>
                                </p:cTn>
                              </p:par>
                            </p:childTnLst>
                          </p:cTn>
                        </p:par>
                      </p:childTnLst>
                    </p:cTn>
                  </p:par>
                  <p:par>
                    <p:cTn id="186" fill="hold">
                      <p:stCondLst>
                        <p:cond delay="indefinite"/>
                      </p:stCondLst>
                      <p:childTnLst>
                        <p:par>
                          <p:cTn id="189" fill="hold">
                            <p:stCondLst>
                              <p:cond delay="0"/>
                            </p:stCondLst>
                            <p:childTnLst>
                              <p:par>
                                <p:cTn id="187" presetID="0" presetClass="path" presetSubtype="0" fill="hold" nodeType="clickEffect">
                                  <p:stCondLst>
                                    <p:cond delay="0"/>
                                  </p:stCondLst>
                                  <p:childTnLst>
                                    <p:animMotion origin="layout" path="M 0 0 L 0.12375 0 E" pathEditMode="relative" ptsTypes="">
                                      <p:cBhvr>
                                        <p:cTn id="188" dur="650" accel="20000" decel="50000" fill="hold"/>
                                        <p:tgtEl>
                                          <p:spTgt spid="36"/>
                                        </p:tgtEl>
                                        <p:attrNameLst>
                                          <p:attrName>ppt_x</p:attrName>
                                          <p:attrName>ppt_y</p:attrName>
                                        </p:attrNameLst>
                                      </p:cBhvr>
                                    </p:animMotion>
                                  </p:childTnLst>
                                </p:cTn>
                              </p:par>
                            </p:childTnLst>
                          </p:cTn>
                        </p:par>
                        <p:par>
                          <p:cTn id="202" fill="hold">
                            <p:stCondLst>
                              <p:cond delay="650"/>
                            </p:stCondLst>
                            <p:childTnLst>
                              <p:par>
                                <p:cTn id="190" presetID="1" presetClass="exit" presetSubtype="0" fill="hold" nodeType="afterEffect">
                                  <p:stCondLst>
                                    <p:cond delay="0"/>
                                  </p:stCondLst>
                                  <p:childTnLst>
                                    <p:set>
                                      <p:cBhvr>
                                        <p:cTn id="191" dur="1" fill="hold">
                                          <p:stCondLst>
                                            <p:cond delay="0"/>
                                          </p:stCondLst>
                                        </p:cTn>
                                        <p:tgtEl>
                                          <p:spTgt spid="36"/>
                                        </p:tgtEl>
                                        <p:attrNameLst>
                                          <p:attrName>style.visibility</p:attrName>
                                        </p:attrNameLst>
                                      </p:cBhvr>
                                      <p:to>
                                        <p:strVal val="hidden"/>
                                      </p:to>
                                    </p:set>
                                  </p:childTnLst>
                                </p:cTn>
                              </p:par>
                              <p:par>
                                <p:cTn id="192" presetID="1" presetClass="entr" presetSubtype="0" fill="hold" nodeType="afterEffect">
                                  <p:stCondLst>
                                    <p:cond delay="0"/>
                                  </p:stCondLst>
                                  <p:childTnLst>
                                    <p:set>
                                      <p:cBhvr>
                                        <p:cTn id="193" dur="1" fill="hold">
                                          <p:stCondLst>
                                            <p:cond delay="0"/>
                                          </p:stCondLst>
                                        </p:cTn>
                                        <p:tgtEl>
                                          <p:spTgt spid="37"/>
                                        </p:tgtEl>
                                        <p:attrNameLst>
                                          <p:attrName>style.visibility</p:attrName>
                                        </p:attrNameLst>
                                      </p:cBhvr>
                                      <p:to>
                                        <p:strVal val="visible"/>
                                      </p:to>
                                    </p:set>
                                  </p:childTnLst>
                                </p:cTn>
                              </p:par>
                              <p:par>
                                <p:cTn id="194" presetID="42" presetClass="entr" presetSubtype="0" fill="hold" nodeType="afterEffect">
                                  <p:stCondLst>
                                    <p:cond delay="0"/>
                                  </p:stCondLst>
                                  <p:childTnLst>
                                    <p:set>
                                      <p:cBhvr>
                                        <p:cTn id="195" dur="1" fill="hold">
                                          <p:stCondLst>
                                            <p:cond delay="0"/>
                                          </p:stCondLst>
                                        </p:cTn>
                                        <p:tgtEl>
                                          <p:spTgt spid="28"/>
                                        </p:tgtEl>
                                        <p:attrNameLst>
                                          <p:attrName>style.visibility</p:attrName>
                                        </p:attrNameLst>
                                      </p:cBhvr>
                                      <p:to>
                                        <p:strVal val="visible"/>
                                      </p:to>
                                    </p:set>
                                    <p:animEffect transition="in" filter="fade">
                                      <p:cBhvr>
                                        <p:cTn id="196" dur="650"/>
                                        <p:tgtEl>
                                          <p:spTgt spid="28"/>
                                        </p:tgtEl>
                                      </p:cBhvr>
                                    </p:animEffect>
                                    <p:anim calcmode="lin" valueType="num">
                                      <p:cBhvr>
                                        <p:cTn id="197" dur="650" fill="hold"/>
                                        <p:tgtEl>
                                          <p:spTgt spid="28"/>
                                        </p:tgtEl>
                                        <p:attrNameLst>
                                          <p:attrName>ppt_y</p:attrName>
                                        </p:attrNameLst>
                                      </p:cBhvr>
                                      <p:tavLst>
                                        <p:tav tm="0">
                                          <p:val>
                                            <p:strVal val="#ppt_y+0.06"/>
                                          </p:val>
                                        </p:tav>
                                        <p:tav tm="100000">
                                          <p:val>
                                            <p:strVal val="#ppt_y"/>
                                          </p:val>
                                        </p:tav>
                                      </p:tavLst>
                                    </p:anim>
                                  </p:childTnLst>
                                </p:cTn>
                              </p:par>
                              <p:par>
                                <p:cTn id="198" presetID="42" presetClass="entr" presetSubtype="0" fill="hold" nodeType="afterEffect">
                                  <p:stCondLst>
                                    <p:cond delay="0"/>
                                  </p:stCondLst>
                                  <p:childTnLst>
                                    <p:set>
                                      <p:cBhvr>
                                        <p:cTn id="199" dur="1" fill="hold">
                                          <p:stCondLst>
                                            <p:cond delay="0"/>
                                          </p:stCondLst>
                                        </p:cTn>
                                        <p:tgtEl>
                                          <p:spTgt spid="29"/>
                                        </p:tgtEl>
                                        <p:attrNameLst>
                                          <p:attrName>style.visibility</p:attrName>
                                        </p:attrNameLst>
                                      </p:cBhvr>
                                      <p:to>
                                        <p:strVal val="visible"/>
                                      </p:to>
                                    </p:set>
                                    <p:animEffect transition="in" filter="fade">
                                      <p:cBhvr>
                                        <p:cTn id="200" dur="650"/>
                                        <p:tgtEl>
                                          <p:spTgt spid="29"/>
                                        </p:tgtEl>
                                      </p:cBhvr>
                                    </p:animEffect>
                                    <p:anim calcmode="lin" valueType="num">
                                      <p:cBhvr>
                                        <p:cTn id="201" dur="650" fill="hold"/>
                                        <p:tgtEl>
                                          <p:spTgt spid="29"/>
                                        </p:tgtEl>
                                        <p:attrNameLst>
                                          <p:attrName>ppt_y</p:attrName>
                                        </p:attrNameLst>
                                      </p:cBhvr>
                                      <p:tavLst>
                                        <p:tav tm="0">
                                          <p:val>
                                            <p:strVal val="#ppt_y+0.06"/>
                                          </p:val>
                                        </p:tav>
                                        <p:tav tm="100000">
                                          <p:val>
                                            <p:strVal val="#ppt_y"/>
                                          </p:val>
                                        </p:tav>
                                      </p:tavLst>
                                    </p:anim>
                                  </p:childTnLst>
                                </p:cTn>
                              </p:par>
                            </p:childTnLst>
                          </p:cTn>
                        </p:par>
                      </p:childTnLst>
                    </p:cTn>
                  </p:par>
                  <p:par>
                    <p:cTn id="203" fill="hold">
                      <p:stCondLst>
                        <p:cond delay="indefinite"/>
                      </p:stCondLst>
                      <p:childTnLst>
                        <p:par>
                          <p:cTn id="206" fill="hold">
                            <p:stCondLst>
                              <p:cond delay="0"/>
                            </p:stCondLst>
                            <p:childTnLst>
                              <p:par>
                                <p:cTn id="204" presetID="0" presetClass="path" presetSubtype="0" fill="hold" nodeType="clickEffect">
                                  <p:stCondLst>
                                    <p:cond delay="0"/>
                                  </p:stCondLst>
                                  <p:childTnLst>
                                    <p:animMotion origin="layout" path="M 0 0 L -0.49501 0 E" pathEditMode="relative" ptsTypes="">
                                      <p:cBhvr>
                                        <p:cTn id="205" dur="1300" accel="20000" decel="50000" fill="hold"/>
                                        <p:tgtEl>
                                          <p:spTgt spid="37"/>
                                        </p:tgtEl>
                                        <p:attrNameLst>
                                          <p:attrName>ppt_x</p:attrName>
                                          <p:attrName>ppt_y</p:attrName>
                                        </p:attrNameLst>
                                      </p:cBhvr>
                                    </p:animMotion>
                                  </p:childTnLst>
                                </p:cTn>
                              </p:par>
                            </p:childTnLst>
                          </p:cTn>
                        </p:par>
                        <p:par>
                          <p:cTn id="216" fill="hold">
                            <p:stCondLst>
                              <p:cond delay="1300"/>
                            </p:stCondLst>
                            <p:childTnLst>
                              <p:par>
                                <p:cTn id="207" presetID="53" presetClass="entr" presetSubtype="16" fill="hold" nodeType="afterEffect">
                                  <p:stCondLst>
                                    <p:cond delay="0"/>
                                  </p:stCondLst>
                                  <p:childTnLst>
                                    <p:set>
                                      <p:cBhvr>
                                        <p:cTn id="208" dur="1" fill="hold">
                                          <p:stCondLst>
                                            <p:cond delay="0"/>
                                          </p:stCondLst>
                                        </p:cTn>
                                        <p:tgtEl>
                                          <p:spTgt spid="38"/>
                                        </p:tgtEl>
                                        <p:attrNameLst>
                                          <p:attrName>style.visibility</p:attrName>
                                        </p:attrNameLst>
                                      </p:cBhvr>
                                      <p:to>
                                        <p:strVal val="visible"/>
                                      </p:to>
                                    </p:set>
                                    <p:animEffect transition="in" filter="fade">
                                      <p:cBhvr>
                                        <p:cTn id="209" dur="550"/>
                                        <p:tgtEl>
                                          <p:spTgt spid="38"/>
                                        </p:tgtEl>
                                      </p:cBhvr>
                                    </p:animEffect>
                                    <p:anim calcmode="lin" valueType="num">
                                      <p:cBhvr>
                                        <p:cTn id="210" dur="550" fill="hold"/>
                                        <p:tgtEl>
                                          <p:spTgt spid="38"/>
                                        </p:tgtEl>
                                        <p:attrNameLst>
                                          <p:attrName>ppt_w</p:attrName>
                                        </p:attrNameLst>
                                      </p:cBhvr>
                                      <p:tavLst>
                                        <p:tav tm="0">
                                          <p:val>
                                            <p:strVal val="#ppt_w*0.8"/>
                                          </p:val>
                                        </p:tav>
                                        <p:tav tm="100000">
                                          <p:val>
                                            <p:strVal val="#ppt_w"/>
                                          </p:val>
                                        </p:tav>
                                      </p:tavLst>
                                    </p:anim>
                                    <p:anim calcmode="lin" valueType="num">
                                      <p:cBhvr>
                                        <p:cTn id="211" dur="550" fill="hold"/>
                                        <p:tgtEl>
                                          <p:spTgt spid="38"/>
                                        </p:tgtEl>
                                        <p:attrNameLst>
                                          <p:attrName>ppt_h</p:attrName>
                                        </p:attrNameLst>
                                      </p:cBhvr>
                                      <p:tavLst>
                                        <p:tav tm="0">
                                          <p:val>
                                            <p:strVal val="#ppt_h*0.8"/>
                                          </p:val>
                                        </p:tav>
                                        <p:tav tm="100000">
                                          <p:val>
                                            <p:strVal val="#ppt_h"/>
                                          </p:val>
                                        </p:tav>
                                      </p:tavLst>
                                    </p:anim>
                                  </p:childTnLst>
                                </p:cTn>
                              </p:par>
                              <p:par>
                                <p:cTn id="212" presetID="42" presetClass="entr" presetSubtype="0" fill="hold" nodeType="afterEffect">
                                  <p:stCondLst>
                                    <p:cond delay="0"/>
                                  </p:stCondLst>
                                  <p:childTnLst>
                                    <p:set>
                                      <p:cBhvr>
                                        <p:cTn id="213" dur="1" fill="hold">
                                          <p:stCondLst>
                                            <p:cond delay="0"/>
                                          </p:stCondLst>
                                        </p:cTn>
                                        <p:tgtEl>
                                          <p:spTgt spid="39"/>
                                        </p:tgtEl>
                                        <p:attrNameLst>
                                          <p:attrName>style.visibility</p:attrName>
                                        </p:attrNameLst>
                                      </p:cBhvr>
                                      <p:to>
                                        <p:strVal val="visible"/>
                                      </p:to>
                                    </p:set>
                                    <p:animEffect transition="in" filter="fade">
                                      <p:cBhvr>
                                        <p:cTn id="214" dur="650"/>
                                        <p:tgtEl>
                                          <p:spTgt spid="39"/>
                                        </p:tgtEl>
                                      </p:cBhvr>
                                    </p:animEffect>
                                    <p:anim calcmode="lin" valueType="num">
                                      <p:cBhvr>
                                        <p:cTn id="215" dur="650" fill="hold"/>
                                        <p:tgtEl>
                                          <p:spTgt spid="39"/>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pic>
        <p:nvPicPr>
          <p:cNvPr id="2" name="Picture 1" descr="dots.png"/>
          <p:cNvPicPr>
            <a:picLocks noChangeAspect="1"/>
          </p:cNvPicPr>
          <p:nvPr/>
        </p:nvPicPr>
        <p:blipFill>
          <a:blip r:embed="rId2"/>
          <a:stretch>
            <a:fillRect/>
          </a:stretch>
        </p:blipFill>
        <p:spPr>
          <a:xfrm>
            <a:off x="822960" y="685800"/>
            <a:ext cx="1645920" cy="868680"/>
          </a:xfrm>
          <a:prstGeom prst="rect">
            <a:avLst/>
          </a:prstGeom>
        </p:spPr>
      </p:pic>
      <p:sp>
        <p:nvSpPr>
          <p:cNvPr id="3" name="TextBox 2"/>
          <p:cNvSpPr txBox="1"/>
          <p:nvPr/>
        </p:nvSpPr>
        <p:spPr>
          <a:xfrm>
            <a:off x="685800" y="1463040"/>
            <a:ext cx="6949440" cy="2377440"/>
          </a:xfrm>
          <a:prstGeom prst="rect">
            <a:avLst/>
          </a:prstGeom>
          <a:noFill/>
        </p:spPr>
        <p:txBody>
          <a:bodyPr wrap="square" lIns="0" rIns="0" tIns="0" bIns="0" anchor="b">
            <a:spAutoFit/>
          </a:bodyPr>
          <a:lstStyle/>
          <a:p>
            <a:pPr algn="l">
              <a:lnSpc>
                <a:spcPct val="88000"/>
              </a:lnSpc>
              <a:spcAft>
                <a:spcPts val="0"/>
              </a:spcAft>
            </a:pPr>
            <a:r>
              <a:rPr sz="6600" b="0" i="0">
                <a:solidFill>
                  <a:srgbClr val="262A33"/>
                </a:solidFill>
                <a:latin typeface="Bahnschrift Light"/>
              </a:rPr>
              <a:t>WHAT IS</a:t>
            </a:r>
          </a:p>
          <a:p>
            <a:pPr algn="l">
              <a:lnSpc>
                <a:spcPct val="88000"/>
              </a:lnSpc>
              <a:spcAft>
                <a:spcPts val="0"/>
              </a:spcAft>
            </a:pPr>
            <a:r>
              <a:rPr sz="6600" b="0" i="0">
                <a:solidFill>
                  <a:srgbClr val="262A33"/>
                </a:solidFill>
                <a:latin typeface="Bahnschrift Light"/>
              </a:rPr>
              <a:t>XGBOOST?</a:t>
            </a:r>
          </a:p>
        </p:txBody>
      </p:sp>
      <p:sp>
        <p:nvSpPr>
          <p:cNvPr id="4" name="TextBox 3"/>
          <p:cNvSpPr txBox="1"/>
          <p:nvPr/>
        </p:nvSpPr>
        <p:spPr>
          <a:xfrm>
            <a:off x="5120640" y="2971800"/>
            <a:ext cx="2926080" cy="82296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Many small trees,</a:t>
            </a:r>
          </a:p>
          <a:p>
            <a:pPr algn="l">
              <a:lnSpc>
                <a:spcPct val="100000"/>
              </a:lnSpc>
              <a:spcAft>
                <a:spcPts val="0"/>
              </a:spcAft>
            </a:pPr>
            <a:r>
              <a:rPr sz="1800" b="0" i="0">
                <a:solidFill>
                  <a:srgbClr val="262A33"/>
                </a:solidFill>
                <a:latin typeface="Segoe UI"/>
              </a:rPr>
              <a:t>one strong model</a:t>
            </a:r>
          </a:p>
        </p:txBody>
      </p:sp>
      <p:pic>
        <p:nvPicPr>
          <p:cNvPr id="5" name="Picture 4" descr="ai_relay.png"/>
          <p:cNvPicPr>
            <a:picLocks noChangeAspect="1"/>
          </p:cNvPicPr>
          <p:nvPr/>
        </p:nvPicPr>
        <p:blipFill>
          <a:blip r:embed="rId3"/>
          <a:stretch>
            <a:fillRect/>
          </a:stretch>
        </p:blipFill>
        <p:spPr>
          <a:xfrm>
            <a:off x="7119541" y="274320"/>
            <a:ext cx="4460396" cy="2651760"/>
          </a:xfrm>
          <a:prstGeom prst="rect">
            <a:avLst/>
          </a:prstGeom>
        </p:spPr>
      </p:pic>
      <p:pic>
        <p:nvPicPr>
          <p:cNvPr id="6" name="Picture 5" descr="dots.png"/>
          <p:cNvPicPr>
            <a:picLocks noChangeAspect="1"/>
          </p:cNvPicPr>
          <p:nvPr/>
        </p:nvPicPr>
        <p:blipFill>
          <a:blip r:embed="rId2"/>
          <a:stretch>
            <a:fillRect/>
          </a:stretch>
        </p:blipFill>
        <p:spPr>
          <a:xfrm>
            <a:off x="6492240" y="3611880"/>
            <a:ext cx="1645920" cy="868680"/>
          </a:xfrm>
          <a:prstGeom prst="rect">
            <a:avLst/>
          </a:prstGeom>
        </p:spPr>
      </p:pic>
      <p:sp>
        <p:nvSpPr>
          <p:cNvPr id="7" name="TextBox 6"/>
          <p:cNvSpPr txBox="1"/>
          <p:nvPr/>
        </p:nvSpPr>
        <p:spPr>
          <a:xfrm>
            <a:off x="685800" y="4526280"/>
            <a:ext cx="3383280" cy="2011680"/>
          </a:xfrm>
          <a:prstGeom prst="rect">
            <a:avLst/>
          </a:prstGeom>
          <a:noFill/>
        </p:spPr>
        <p:txBody>
          <a:bodyPr wrap="square" lIns="0" rIns="0" tIns="0" bIns="0" anchor="t">
            <a:spAutoFit/>
          </a:bodyPr>
          <a:lstStyle/>
          <a:p>
            <a:pPr algn="l">
              <a:lnSpc>
                <a:spcPct val="105000"/>
              </a:lnSpc>
              <a:spcAft>
                <a:spcPts val="400"/>
              </a:spcAft>
            </a:pPr>
            <a:r>
              <a:rPr sz="1300" b="0" i="1">
                <a:solidFill>
                  <a:srgbClr val="262A33"/>
                </a:solidFill>
                <a:latin typeface="Segoe UI Semibold"/>
              </a:rPr>
              <a:t>Definition</a:t>
            </a:r>
          </a:p>
          <a:p>
            <a:pPr algn="l">
              <a:lnSpc>
                <a:spcPct val="105000"/>
              </a:lnSpc>
              <a:spcAft>
                <a:spcPts val="400"/>
              </a:spcAft>
            </a:pPr>
            <a:r>
              <a:rPr sz="1200" b="0" i="0">
                <a:solidFill>
                  <a:srgbClr val="5B5F68"/>
                </a:solidFill>
                <a:latin typeface="Segoe UI"/>
              </a:rPr>
              <a:t>eXtreme Gradient Boosting: an ensemble of decision trees built one after another. Each new tree corrects the mistakes of the trees before it.</a:t>
            </a:r>
          </a:p>
        </p:txBody>
      </p:sp>
      <p:sp>
        <p:nvSpPr>
          <p:cNvPr id="8" name="TextBox 7"/>
          <p:cNvSpPr txBox="1"/>
          <p:nvPr/>
        </p:nvSpPr>
        <p:spPr>
          <a:xfrm>
            <a:off x="4389120" y="4526280"/>
            <a:ext cx="3383280" cy="2011680"/>
          </a:xfrm>
          <a:prstGeom prst="rect">
            <a:avLst/>
          </a:prstGeom>
          <a:noFill/>
        </p:spPr>
        <p:txBody>
          <a:bodyPr wrap="square" lIns="0" rIns="0" tIns="0" bIns="0" anchor="t">
            <a:spAutoFit/>
          </a:bodyPr>
          <a:lstStyle/>
          <a:p>
            <a:pPr algn="l">
              <a:lnSpc>
                <a:spcPct val="105000"/>
              </a:lnSpc>
              <a:spcAft>
                <a:spcPts val="400"/>
              </a:spcAft>
            </a:pPr>
            <a:r>
              <a:rPr sz="1300" b="0" i="1">
                <a:solidFill>
                  <a:srgbClr val="262A33"/>
                </a:solidFill>
                <a:latin typeface="Segoe UI Semibold"/>
              </a:rPr>
              <a:t>Why it was developed</a:t>
            </a:r>
          </a:p>
          <a:p>
            <a:pPr algn="l">
              <a:lnSpc>
                <a:spcPct val="105000"/>
              </a:lnSpc>
              <a:spcAft>
                <a:spcPts val="400"/>
              </a:spcAft>
            </a:pPr>
            <a:r>
              <a:rPr sz="1200" b="0" i="0">
                <a:solidFill>
                  <a:srgbClr val="5B5F68"/>
                </a:solidFill>
                <a:latin typeface="Segoe UI"/>
              </a:rPr>
              <a:t>Classic gradient boosting was accurate but slow, overfit easily and could not handle missing values. XGBoost added speed, regularization and native missing-value handling.</a:t>
            </a:r>
          </a:p>
        </p:txBody>
      </p:sp>
      <p:sp>
        <p:nvSpPr>
          <p:cNvPr id="9" name="TextBox 8"/>
          <p:cNvSpPr txBox="1"/>
          <p:nvPr/>
        </p:nvSpPr>
        <p:spPr>
          <a:xfrm>
            <a:off x="8092440" y="4526280"/>
            <a:ext cx="3429000" cy="2011680"/>
          </a:xfrm>
          <a:prstGeom prst="rect">
            <a:avLst/>
          </a:prstGeom>
          <a:noFill/>
        </p:spPr>
        <p:txBody>
          <a:bodyPr wrap="square" lIns="0" rIns="0" tIns="0" bIns="0" anchor="t">
            <a:spAutoFit/>
          </a:bodyPr>
          <a:lstStyle/>
          <a:p>
            <a:pPr algn="l">
              <a:lnSpc>
                <a:spcPct val="105000"/>
              </a:lnSpc>
              <a:spcAft>
                <a:spcPts val="400"/>
              </a:spcAft>
            </a:pPr>
            <a:r>
              <a:rPr sz="1300" b="0" i="1">
                <a:solidFill>
                  <a:srgbClr val="262A33"/>
                </a:solidFill>
                <a:latin typeface="Segoe UI Semibold"/>
              </a:rPr>
              <a:t>Where it is used</a:t>
            </a:r>
          </a:p>
          <a:p>
            <a:pPr algn="l">
              <a:lnSpc>
                <a:spcPct val="105000"/>
              </a:lnSpc>
              <a:spcAft>
                <a:spcPts val="400"/>
              </a:spcAft>
            </a:pPr>
            <a:r>
              <a:rPr sz="1200" b="0" i="0">
                <a:solidFill>
                  <a:srgbClr val="5B5F68"/>
                </a:solidFill>
                <a:latin typeface="Segoe UI"/>
              </a:rPr>
              <a:t>Tabular data everywhere: fraud detection, credit scoring, churn, ranking and ads, insurance pricing, medical risk scores, physics.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9" fill="hold">
                            <p:stCondLst>
                              <p:cond delay="900"/>
                            </p:stCondLst>
                            <p:childTnLst>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par>
                          <p:cTn id="25" fill="hold">
                            <p:stCondLst>
                              <p:cond delay="1500"/>
                            </p:stCondLst>
                            <p:childTnLst>
                              <p:par>
                                <p:cTn id="20" presetID="53" presetClass="entr" presetSubtype="16"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50"/>
                                        <p:tgtEl>
                                          <p:spTgt spid="5"/>
                                        </p:tgtEl>
                                      </p:cBhvr>
                                    </p:animEffect>
                                    <p:anim calcmode="lin" valueType="num">
                                      <p:cBhvr>
                                        <p:cTn id="23" dur="550" fill="hold"/>
                                        <p:tgtEl>
                                          <p:spTgt spid="5"/>
                                        </p:tgtEl>
                                        <p:attrNameLst>
                                          <p:attrName>ppt_w</p:attrName>
                                        </p:attrNameLst>
                                      </p:cBhvr>
                                      <p:tavLst>
                                        <p:tav tm="0">
                                          <p:val>
                                            <p:strVal val="#ppt_w*0.8"/>
                                          </p:val>
                                        </p:tav>
                                        <p:tav tm="100000">
                                          <p:val>
                                            <p:strVal val="#ppt_w"/>
                                          </p:val>
                                        </p:tav>
                                      </p:tavLst>
                                    </p:anim>
                                    <p:anim calcmode="lin" valueType="num">
                                      <p:cBhvr>
                                        <p:cTn id="24" dur="550" fill="hold"/>
                                        <p:tgtEl>
                                          <p:spTgt spid="5"/>
                                        </p:tgtEl>
                                        <p:attrNameLst>
                                          <p:attrName>ppt_h</p:attrName>
                                        </p:attrNameLst>
                                      </p:cBhvr>
                                      <p:tavLst>
                                        <p:tav tm="0">
                                          <p:val>
                                            <p:strVal val="#ppt_h*0.8"/>
                                          </p:val>
                                        </p:tav>
                                        <p:tav tm="100000">
                                          <p:val>
                                            <p:strVal val="#ppt_h"/>
                                          </p:val>
                                        </p:tav>
                                      </p:tavLst>
                                    </p:anim>
                                  </p:childTnLst>
                                </p:cTn>
                              </p:par>
                            </p:childTnLst>
                          </p:cTn>
                        </p:par>
                      </p:childTnLst>
                    </p:cTn>
                  </p:par>
                  <p:par>
                    <p:cTn id="26" fill="hold">
                      <p:stCondLst>
                        <p:cond delay="indefinite"/>
                      </p:stCondLst>
                      <p:childTnLst>
                        <p:par>
                          <p:cTn id="31"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650"/>
                                        <p:tgtEl>
                                          <p:spTgt spid="7"/>
                                        </p:tgtEl>
                                      </p:cBhvr>
                                    </p:animEffect>
                                    <p:anim calcmode="lin" valueType="num">
                                      <p:cBhvr>
                                        <p:cTn id="30" dur="650" fill="hold"/>
                                        <p:tgtEl>
                                          <p:spTgt spid="7"/>
                                        </p:tgtEl>
                                        <p:attrNameLst>
                                          <p:attrName>ppt_y</p:attrName>
                                        </p:attrNameLst>
                                      </p:cBhvr>
                                      <p:tavLst>
                                        <p:tav tm="0">
                                          <p:val>
                                            <p:strVal val="#ppt_y+0.06"/>
                                          </p:val>
                                        </p:tav>
                                        <p:tav tm="100000">
                                          <p:val>
                                            <p:strVal val="#ppt_y"/>
                                          </p:val>
                                        </p:tav>
                                      </p:tavLst>
                                    </p:anim>
                                  </p:childTnLst>
                                </p:cTn>
                              </p:par>
                            </p:childTnLst>
                          </p:cTn>
                        </p:par>
                      </p:childTnLst>
                    </p:cTn>
                  </p:par>
                  <p:par>
                    <p:cTn id="32" fill="hold">
                      <p:stCondLst>
                        <p:cond delay="indefinite"/>
                      </p:stCondLst>
                      <p:childTnLst>
                        <p:par>
                          <p:cTn id="37"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650"/>
                                        <p:tgtEl>
                                          <p:spTgt spid="8"/>
                                        </p:tgtEl>
                                      </p:cBhvr>
                                    </p:animEffect>
                                    <p:anim calcmode="lin" valueType="num">
                                      <p:cBhvr>
                                        <p:cTn id="36" dur="650" fill="hold"/>
                                        <p:tgtEl>
                                          <p:spTgt spid="8"/>
                                        </p:tgtEl>
                                        <p:attrNameLst>
                                          <p:attrName>ppt_y</p:attrName>
                                        </p:attrNameLst>
                                      </p:cBhvr>
                                      <p:tavLst>
                                        <p:tav tm="0">
                                          <p:val>
                                            <p:strVal val="#ppt_y+0.06"/>
                                          </p:val>
                                        </p:tav>
                                        <p:tav tm="100000">
                                          <p:val>
                                            <p:strVal val="#ppt_y"/>
                                          </p:val>
                                        </p:tav>
                                      </p:tavLst>
                                    </p:anim>
                                  </p:childTnLst>
                                </p:cTn>
                              </p:par>
                            </p:childTnLst>
                          </p:cTn>
                        </p:par>
                      </p:childTnLst>
                    </p:cTn>
                  </p:par>
                  <p:par>
                    <p:cTn id="38" fill="hold">
                      <p:stCondLst>
                        <p:cond delay="indefinite"/>
                      </p:stCondLst>
                      <p:childTnLst>
                        <p:par>
                          <p:cTn id="43"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650"/>
                                        <p:tgtEl>
                                          <p:spTgt spid="9"/>
                                        </p:tgtEl>
                                      </p:cBhvr>
                                    </p:animEffect>
                                    <p:anim calcmode="lin" valueType="num">
                                      <p:cBhvr>
                                        <p:cTn id="42" dur="650" fill="hold"/>
                                        <p:tgtEl>
                                          <p:spTgt spid="9"/>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502920"/>
            <a:ext cx="4572000" cy="4572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Learning from mistakes</a:t>
            </a:r>
          </a:p>
        </p:txBody>
      </p:sp>
      <p:pic>
        <p:nvPicPr>
          <p:cNvPr id="3" name="Picture 2" descr="dots.png"/>
          <p:cNvPicPr>
            <a:picLocks noChangeAspect="1"/>
          </p:cNvPicPr>
          <p:nvPr/>
        </p:nvPicPr>
        <p:blipFill>
          <a:blip r:embed="rId2"/>
          <a:stretch>
            <a:fillRect/>
          </a:stretch>
        </p:blipFill>
        <p:spPr>
          <a:xfrm>
            <a:off x="685800" y="1051560"/>
            <a:ext cx="1645920" cy="868680"/>
          </a:xfrm>
          <a:prstGeom prst="rect">
            <a:avLst/>
          </a:prstGeom>
        </p:spPr>
      </p:pic>
      <p:sp>
        <p:nvSpPr>
          <p:cNvPr id="4" name="TextBox 3"/>
          <p:cNvSpPr txBox="1"/>
          <p:nvPr/>
        </p:nvSpPr>
        <p:spPr>
          <a:xfrm>
            <a:off x="685800" y="1600200"/>
            <a:ext cx="5669280" cy="2377440"/>
          </a:xfrm>
          <a:prstGeom prst="rect">
            <a:avLst/>
          </a:prstGeom>
          <a:noFill/>
        </p:spPr>
        <p:txBody>
          <a:bodyPr wrap="square" lIns="0" rIns="0" tIns="0" bIns="0" anchor="b">
            <a:spAutoFit/>
          </a:bodyPr>
          <a:lstStyle/>
          <a:p>
            <a:pPr algn="l">
              <a:lnSpc>
                <a:spcPct val="88000"/>
              </a:lnSpc>
              <a:spcAft>
                <a:spcPts val="0"/>
              </a:spcAft>
            </a:pPr>
            <a:r>
              <a:rPr sz="6000" b="0" i="0">
                <a:solidFill>
                  <a:srgbClr val="262A33"/>
                </a:solidFill>
                <a:latin typeface="Bahnschrift Light"/>
              </a:rPr>
              <a:t>HOW BOOSTING</a:t>
            </a:r>
          </a:p>
          <a:p>
            <a:pPr algn="l">
              <a:lnSpc>
                <a:spcPct val="88000"/>
              </a:lnSpc>
              <a:spcAft>
                <a:spcPts val="0"/>
              </a:spcAft>
            </a:pPr>
            <a:r>
              <a:rPr sz="6000" b="0" i="0">
                <a:solidFill>
                  <a:srgbClr val="262A33"/>
                </a:solidFill>
                <a:latin typeface="Bahnschrift Light"/>
              </a:rPr>
              <a:t>WORKS</a:t>
            </a:r>
          </a:p>
        </p:txBody>
      </p:sp>
      <p:pic>
        <p:nvPicPr>
          <p:cNvPr id="5" name="Picture 4" descr="boost_round0.png"/>
          <p:cNvPicPr>
            <a:picLocks noChangeAspect="1"/>
          </p:cNvPicPr>
          <p:nvPr/>
        </p:nvPicPr>
        <p:blipFill>
          <a:blip r:embed="rId3"/>
          <a:stretch>
            <a:fillRect/>
          </a:stretch>
        </p:blipFill>
        <p:spPr>
          <a:xfrm>
            <a:off x="6400800" y="415289"/>
            <a:ext cx="5212080" cy="3329940"/>
          </a:xfrm>
          <a:prstGeom prst="rect">
            <a:avLst/>
          </a:prstGeom>
        </p:spPr>
      </p:pic>
      <p:pic>
        <p:nvPicPr>
          <p:cNvPr id="6" name="Picture 5" descr="boost_round1.png"/>
          <p:cNvPicPr>
            <a:picLocks noChangeAspect="1"/>
          </p:cNvPicPr>
          <p:nvPr/>
        </p:nvPicPr>
        <p:blipFill>
          <a:blip r:embed="rId4"/>
          <a:stretch>
            <a:fillRect/>
          </a:stretch>
        </p:blipFill>
        <p:spPr>
          <a:xfrm>
            <a:off x="6400800" y="415289"/>
            <a:ext cx="5212080" cy="3329940"/>
          </a:xfrm>
          <a:prstGeom prst="rect">
            <a:avLst/>
          </a:prstGeom>
        </p:spPr>
      </p:pic>
      <p:pic>
        <p:nvPicPr>
          <p:cNvPr id="7" name="Picture 6" descr="boost_round2.png"/>
          <p:cNvPicPr>
            <a:picLocks noChangeAspect="1"/>
          </p:cNvPicPr>
          <p:nvPr/>
        </p:nvPicPr>
        <p:blipFill>
          <a:blip r:embed="rId5"/>
          <a:stretch>
            <a:fillRect/>
          </a:stretch>
        </p:blipFill>
        <p:spPr>
          <a:xfrm>
            <a:off x="6400800" y="415289"/>
            <a:ext cx="5212080" cy="3329940"/>
          </a:xfrm>
          <a:prstGeom prst="rect">
            <a:avLst/>
          </a:prstGeom>
        </p:spPr>
      </p:pic>
      <p:pic>
        <p:nvPicPr>
          <p:cNvPr id="8" name="Picture 7" descr="boost_round3.png"/>
          <p:cNvPicPr>
            <a:picLocks noChangeAspect="1"/>
          </p:cNvPicPr>
          <p:nvPr/>
        </p:nvPicPr>
        <p:blipFill>
          <a:blip r:embed="rId6"/>
          <a:stretch>
            <a:fillRect/>
          </a:stretch>
        </p:blipFill>
        <p:spPr>
          <a:xfrm>
            <a:off x="6400800" y="415289"/>
            <a:ext cx="5212080" cy="3329940"/>
          </a:xfrm>
          <a:prstGeom prst="rect">
            <a:avLst/>
          </a:prstGeom>
        </p:spPr>
      </p:pic>
      <p:sp>
        <p:nvSpPr>
          <p:cNvPr id="9" name="Rectangle 8"/>
          <p:cNvSpPr/>
          <p:nvPr/>
        </p:nvSpPr>
        <p:spPr>
          <a:xfrm>
            <a:off x="685800" y="4343400"/>
            <a:ext cx="3383280" cy="1965960"/>
          </a:xfrm>
          <a:prstGeom prst="rect">
            <a:avLst/>
          </a:prstGeom>
          <a:noFill/>
          <a:ln w="11430">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480560"/>
            <a:ext cx="3108960" cy="1737360"/>
          </a:xfrm>
          <a:prstGeom prst="rect">
            <a:avLst/>
          </a:prstGeom>
          <a:noFill/>
        </p:spPr>
        <p:txBody>
          <a:bodyPr wrap="square" lIns="0" rIns="0" tIns="0" bIns="0" anchor="t">
            <a:spAutoFit/>
          </a:bodyPr>
          <a:lstStyle/>
          <a:p>
            <a:pPr algn="l">
              <a:spcAft>
                <a:spcPts val="500"/>
              </a:spcAft>
            </a:pPr>
            <a:r>
              <a:rPr sz="1300" b="0" i="0">
                <a:solidFill>
                  <a:srgbClr val="262A33"/>
                </a:solidFill>
                <a:latin typeface="Segoe UI"/>
              </a:rPr>
              <a:t>1.  Start with one guess (the average)</a:t>
            </a:r>
          </a:p>
          <a:p>
            <a:pPr algn="l">
              <a:spcAft>
                <a:spcPts val="500"/>
              </a:spcAft>
            </a:pPr>
            <a:r>
              <a:rPr sz="1300" b="0" i="0">
                <a:solidFill>
                  <a:srgbClr val="262A33"/>
                </a:solidFill>
                <a:latin typeface="Segoe UI"/>
              </a:rPr>
              <a:t>2.  Measure the errors (residuals)</a:t>
            </a:r>
          </a:p>
          <a:p>
            <a:pPr algn="l">
              <a:spcAft>
                <a:spcPts val="500"/>
              </a:spcAft>
            </a:pPr>
            <a:r>
              <a:rPr sz="1300" b="0" i="0">
                <a:solidFill>
                  <a:srgbClr val="262A33"/>
                </a:solidFill>
                <a:latin typeface="Segoe UI"/>
              </a:rPr>
              <a:t>3.  Train a small tree on those errors</a:t>
            </a:r>
          </a:p>
          <a:p>
            <a:pPr algn="l">
              <a:spcAft>
                <a:spcPts val="500"/>
              </a:spcAft>
            </a:pPr>
            <a:r>
              <a:rPr sz="1300" b="0" i="0">
                <a:solidFill>
                  <a:srgbClr val="262A33"/>
                </a:solidFill>
                <a:latin typeface="Segoe UI"/>
              </a:rPr>
              <a:t>4.  Add it, scaled by the learning rate η</a:t>
            </a:r>
          </a:p>
          <a:p>
            <a:pPr algn="l">
              <a:spcAft>
                <a:spcPts val="500"/>
              </a:spcAft>
            </a:pPr>
            <a:r>
              <a:rPr sz="1300" b="0" i="0">
                <a:solidFill>
                  <a:srgbClr val="262A33"/>
                </a:solidFill>
                <a:latin typeface="Segoe UI"/>
              </a:rPr>
              <a:t>5.  Repeat for hundreds of trees</a:t>
            </a:r>
          </a:p>
        </p:txBody>
      </p:sp>
      <p:sp>
        <p:nvSpPr>
          <p:cNvPr id="11" name="TextBox 10"/>
          <p:cNvSpPr txBox="1"/>
          <p:nvPr/>
        </p:nvSpPr>
        <p:spPr>
          <a:xfrm>
            <a:off x="4526280" y="4343400"/>
            <a:ext cx="3291840" cy="201168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Boosting vs bagging</a:t>
            </a:r>
          </a:p>
          <a:p>
            <a:pPr algn="l">
              <a:lnSpc>
                <a:spcPct val="105000"/>
              </a:lnSpc>
              <a:spcAft>
                <a:spcPts val="400"/>
              </a:spcAft>
            </a:pPr>
            <a:r>
              <a:rPr sz="1200" b="0" i="0">
                <a:solidFill>
                  <a:srgbClr val="5B5F68"/>
                </a:solidFill>
                <a:latin typeface="Segoe UI"/>
              </a:rPr>
              <a:t>Random Forest grows deep trees independently and averages them. Boosting grows shallow trees one after another, each one fixing what is left.</a:t>
            </a:r>
          </a:p>
        </p:txBody>
      </p:sp>
      <p:sp>
        <p:nvSpPr>
          <p:cNvPr id="12" name="TextBox 11"/>
          <p:cNvSpPr txBox="1"/>
          <p:nvPr/>
        </p:nvSpPr>
        <p:spPr>
          <a:xfrm>
            <a:off x="8183879" y="4343400"/>
            <a:ext cx="3291840" cy="365760"/>
          </a:xfrm>
          <a:prstGeom prst="rect">
            <a:avLst/>
          </a:prstGeom>
          <a:noFill/>
        </p:spPr>
        <p:txBody>
          <a:bodyPr wrap="square" lIns="0" rIns="0" tIns="0" bIns="0" anchor="t">
            <a:spAutoFit/>
          </a:bodyPr>
          <a:lstStyle/>
          <a:p>
            <a:pPr algn="l">
              <a:spcAft>
                <a:spcPts val="0"/>
              </a:spcAft>
            </a:pPr>
            <a:r>
              <a:rPr sz="1300" b="0" i="0">
                <a:solidFill>
                  <a:srgbClr val="262A33"/>
                </a:solidFill>
                <a:latin typeface="Segoe UI Semibold"/>
              </a:rPr>
              <a:t>Final prediction</a:t>
            </a:r>
          </a:p>
        </p:txBody>
      </p:sp>
      <p:pic>
        <p:nvPicPr>
          <p:cNvPr id="13" name="Picture 12" descr="predict.png"/>
          <p:cNvPicPr>
            <a:picLocks noChangeAspect="1"/>
          </p:cNvPicPr>
          <p:nvPr/>
        </p:nvPicPr>
        <p:blipFill>
          <a:blip r:embed="rId7"/>
          <a:stretch>
            <a:fillRect/>
          </a:stretch>
        </p:blipFill>
        <p:spPr>
          <a:xfrm>
            <a:off x="8183879" y="4754880"/>
            <a:ext cx="3337560" cy="213672"/>
          </a:xfrm>
          <a:prstGeom prst="rect">
            <a:avLst/>
          </a:prstGeom>
        </p:spPr>
      </p:pic>
      <p:sp>
        <p:nvSpPr>
          <p:cNvPr id="14" name="TextBox 13"/>
          <p:cNvSpPr txBox="1"/>
          <p:nvPr/>
        </p:nvSpPr>
        <p:spPr>
          <a:xfrm>
            <a:off x="8183879" y="5257800"/>
            <a:ext cx="3291840" cy="91440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The learning rate η keeps every step small, so no single tree dominates.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5" fill="hold">
                            <p:stCondLst>
                              <p:cond delay="450"/>
                            </p:stCondLst>
                            <p:childTnLst>
                              <p:par>
                                <p:cTn id="12" presetID="22" presetClass="entr" presetSubtype="8"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700"/>
                                        <p:tgtEl>
                                          <p:spTgt spid="4"/>
                                        </p:tgtEl>
                                      </p:cBhvr>
                                    </p:animEffect>
                                  </p:childTnLst>
                                </p:cTn>
                              </p:par>
                            </p:childTnLst>
                          </p:cTn>
                        </p:par>
                        <p:par>
                          <p:cTn id="21" fill="hold">
                            <p:stCondLst>
                              <p:cond delay="900"/>
                            </p:stCondLst>
                            <p:childTnLst>
                              <p:par>
                                <p:cTn id="16" presetID="53" presetClass="entr" presetSubtype="16"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p:cTn id="19" dur="550" fill="hold"/>
                                        <p:tgtEl>
                                          <p:spTgt spid="5"/>
                                        </p:tgtEl>
                                        <p:attrNameLst>
                                          <p:attrName>ppt_w</p:attrName>
                                        </p:attrNameLst>
                                      </p:cBhvr>
                                      <p:tavLst>
                                        <p:tav tm="0">
                                          <p:val>
                                            <p:strVal val="#ppt_w*0.8"/>
                                          </p:val>
                                        </p:tav>
                                        <p:tav tm="100000">
                                          <p:val>
                                            <p:strVal val="#ppt_w"/>
                                          </p:val>
                                        </p:tav>
                                      </p:tavLst>
                                    </p:anim>
                                    <p:anim calcmode="lin" valueType="num">
                                      <p:cBhvr>
                                        <p:cTn id="20" dur="550" fill="hold"/>
                                        <p:tgtEl>
                                          <p:spTgt spid="5"/>
                                        </p:tgtEl>
                                        <p:attrNameLst>
                                          <p:attrName>ppt_h</p:attrName>
                                        </p:attrNameLst>
                                      </p:cBhvr>
                                      <p:tavLst>
                                        <p:tav tm="0">
                                          <p:val>
                                            <p:strVal val="#ppt_h*0.8"/>
                                          </p:val>
                                        </p:tav>
                                        <p:tav tm="100000">
                                          <p:val>
                                            <p:strVal val="#ppt_h"/>
                                          </p:val>
                                        </p:tav>
                                      </p:tavLst>
                                    </p:anim>
                                  </p:childTnLst>
                                </p:cTn>
                              </p:par>
                            </p:childTnLst>
                          </p:cTn>
                        </p:par>
                        <p:par>
                          <p:cTn id="25" fill="hold">
                            <p:stCondLst>
                              <p:cond delay="1500"/>
                            </p:stCondLst>
                            <p:childTnLst>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par>
                          <p:cTn id="29" fill="hold">
                            <p:stCondLst>
                              <p:cond delay="2250"/>
                            </p:stCondLst>
                            <p:childTnLst>
                              <p:par>
                                <p:cTn id="26" presetID="22" presetClass="entr" presetSubtype="8"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700"/>
                                        <p:tgtEl>
                                          <p:spTgt spid="10"/>
                                        </p:tgtEl>
                                      </p:cBhvr>
                                    </p:animEffect>
                                  </p:childTnLst>
                                </p:cTn>
                              </p:par>
                            </p:childTnLst>
                          </p:cTn>
                        </p:par>
                      </p:childTnLst>
                    </p:cTn>
                  </p:par>
                  <p:par>
                    <p:cTn id="30" fill="hold">
                      <p:stCondLst>
                        <p:cond delay="indefinite"/>
                      </p:stCondLst>
                      <p:childTnLst>
                        <p:par>
                          <p:cTn id="3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childTnLst>
                          </p:cTn>
                        </p:par>
                      </p:childTnLst>
                    </p:cTn>
                  </p:par>
                  <p:par>
                    <p:cTn id="35" fill="hold">
                      <p:stCondLst>
                        <p:cond delay="indefinite"/>
                      </p:stCondLst>
                      <p:childTnLst>
                        <p:par>
                          <p:cTn id="39"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par>
                    <p:cTn id="40" fill="hold">
                      <p:stCondLst>
                        <p:cond delay="indefinite"/>
                      </p:stCondLst>
                      <p:childTnLst>
                        <p:par>
                          <p:cTn id="44"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childTnLst>
                          </p:cTn>
                        </p:par>
                      </p:childTnLst>
                    </p:cTn>
                  </p:par>
                  <p:par>
                    <p:cTn id="45" fill="hold">
                      <p:stCondLst>
                        <p:cond delay="indefinite"/>
                      </p:stCondLst>
                      <p:childTnLst>
                        <p:par>
                          <p:cTn id="50"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50"/>
                                        <p:tgtEl>
                                          <p:spTgt spid="11"/>
                                        </p:tgtEl>
                                      </p:cBhvr>
                                    </p:animEffect>
                                    <p:anim calcmode="lin" valueType="num">
                                      <p:cBhvr>
                                        <p:cTn id="49" dur="650" fill="hold"/>
                                        <p:tgtEl>
                                          <p:spTgt spid="11"/>
                                        </p:tgtEl>
                                        <p:attrNameLst>
                                          <p:attrName>ppt_y</p:attrName>
                                        </p:attrNameLst>
                                      </p:cBhvr>
                                      <p:tavLst>
                                        <p:tav tm="0">
                                          <p:val>
                                            <p:strVal val="#ppt_y+0.06"/>
                                          </p:val>
                                        </p:tav>
                                        <p:tav tm="100000">
                                          <p:val>
                                            <p:strVal val="#ppt_y"/>
                                          </p:val>
                                        </p:tav>
                                      </p:tavLst>
                                    </p:anim>
                                  </p:childTnLst>
                                </p:cTn>
                              </p:par>
                            </p:childTnLst>
                          </p:cTn>
                        </p:par>
                      </p:childTnLst>
                    </p:cTn>
                  </p:par>
                  <p:par>
                    <p:cTn id="51" fill="hold">
                      <p:stCondLst>
                        <p:cond delay="indefinite"/>
                      </p:stCondLst>
                      <p:childTnLst>
                        <p:par>
                          <p:cTn id="65"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650"/>
                                        <p:tgtEl>
                                          <p:spTgt spid="12"/>
                                        </p:tgtEl>
                                      </p:cBhvr>
                                    </p:animEffect>
                                    <p:anim calcmode="lin" valueType="num">
                                      <p:cBhvr>
                                        <p:cTn id="55" dur="650" fill="hold"/>
                                        <p:tgtEl>
                                          <p:spTgt spid="12"/>
                                        </p:tgtEl>
                                        <p:attrNameLst>
                                          <p:attrName>ppt_y</p:attrName>
                                        </p:attrNameLst>
                                      </p:cBhvr>
                                      <p:tavLst>
                                        <p:tav tm="0">
                                          <p:val>
                                            <p:strVal val="#ppt_y+0.06"/>
                                          </p:val>
                                        </p:tav>
                                        <p:tav tm="100000">
                                          <p:val>
                                            <p:strVal val="#ppt_y"/>
                                          </p:val>
                                        </p:tav>
                                      </p:tavLst>
                                    </p:anim>
                                  </p:childTnLst>
                                </p:cTn>
                              </p:par>
                              <p:par>
                                <p:cTn id="56" presetID="53" presetClass="entr" presetSubtype="16" fill="hold"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550"/>
                                        <p:tgtEl>
                                          <p:spTgt spid="13"/>
                                        </p:tgtEl>
                                      </p:cBhvr>
                                    </p:animEffect>
                                    <p:anim calcmode="lin" valueType="num">
                                      <p:cBhvr>
                                        <p:cTn id="59" dur="550" fill="hold"/>
                                        <p:tgtEl>
                                          <p:spTgt spid="13"/>
                                        </p:tgtEl>
                                        <p:attrNameLst>
                                          <p:attrName>ppt_w</p:attrName>
                                        </p:attrNameLst>
                                      </p:cBhvr>
                                      <p:tavLst>
                                        <p:tav tm="0">
                                          <p:val>
                                            <p:strVal val="#ppt_w*0.8"/>
                                          </p:val>
                                        </p:tav>
                                        <p:tav tm="100000">
                                          <p:val>
                                            <p:strVal val="#ppt_w"/>
                                          </p:val>
                                        </p:tav>
                                      </p:tavLst>
                                    </p:anim>
                                    <p:anim calcmode="lin" valueType="num">
                                      <p:cBhvr>
                                        <p:cTn id="60" dur="550" fill="hold"/>
                                        <p:tgtEl>
                                          <p:spTgt spid="13"/>
                                        </p:tgtEl>
                                        <p:attrNameLst>
                                          <p:attrName>ppt_h</p:attrName>
                                        </p:attrNameLst>
                                      </p:cBhvr>
                                      <p:tavLst>
                                        <p:tav tm="0">
                                          <p:val>
                                            <p:strVal val="#ppt_h*0.8"/>
                                          </p:val>
                                        </p:tav>
                                        <p:tav tm="100000">
                                          <p:val>
                                            <p:strVal val="#ppt_h"/>
                                          </p:val>
                                        </p:tav>
                                      </p:tavLst>
                                    </p:anim>
                                  </p:childTnLst>
                                </p:cTn>
                              </p:par>
                              <p:par>
                                <p:cTn id="61" presetID="42" presetClass="entr" presetSubtype="0" fill="hold"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50"/>
                                        <p:tgtEl>
                                          <p:spTgt spid="14"/>
                                        </p:tgtEl>
                                      </p:cBhvr>
                                    </p:animEffect>
                                    <p:anim calcmode="lin" valueType="num">
                                      <p:cBhvr>
                                        <p:cTn id="64" dur="650" fill="hold"/>
                                        <p:tgtEl>
                                          <p:spTgt spid="14"/>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kicker"/>
          <p:cNvSpPr txBox="1"/>
          <p:nvPr/>
        </p:nvSpPr>
        <p:spPr>
          <a:xfrm>
            <a:off x="685800" y="365760"/>
            <a:ext cx="6400800" cy="365760"/>
          </a:xfrm>
          <a:prstGeom prst="rect">
            <a:avLst/>
          </a:prstGeom>
          <a:noFill/>
        </p:spPr>
        <p:txBody>
          <a:bodyPr wrap="square" lIns="0" rIns="0" tIns="0" bIns="0" anchor="t">
            <a:spAutoFit/>
          </a:bodyPr>
          <a:lstStyle/>
          <a:p>
            <a:pPr algn="l">
              <a:spcAft>
                <a:spcPts val="0"/>
              </a:spcAft>
            </a:pPr>
            <a:r>
              <a:rPr sz="1100" b="0" i="0">
                <a:solidFill>
                  <a:srgbClr val="5B5F68"/>
                </a:solidFill>
                <a:latin typeface="Segoe UI"/>
              </a:rPr>
              <a:t>TRY IT YOURSELF  ·  INTERACTIVE</a:t>
            </a:r>
          </a:p>
        </p:txBody>
      </p:sp>
      <p:sp>
        <p:nvSpPr>
          <p:cNvPr id="3" name="!!dtitle"/>
          <p:cNvSpPr txBox="1"/>
          <p:nvPr/>
        </p:nvSpPr>
        <p:spPr>
          <a:xfrm>
            <a:off x="685800" y="685800"/>
            <a:ext cx="640080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BOOSTING, LIVE</a:t>
            </a:r>
          </a:p>
        </p:txBody>
      </p:sp>
      <p:cxnSp>
        <p:nvCxnSpPr>
          <p:cNvPr id="4" name="!!axis"/>
          <p:cNvCxnSpPr/>
          <p:nvPr/>
        </p:nvCxnSpPr>
        <p:spPr>
          <a:xfrm>
            <a:off x="822960" y="5577840"/>
            <a:ext cx="5852160" cy="0"/>
          </a:xfrm>
          <a:prstGeom prst="line">
            <a:avLst/>
          </a:prstGeom>
          <a:ln w="952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5" name="!!split"/>
          <p:cNvCxnSpPr/>
          <p:nvPr/>
        </p:nvCxnSpPr>
        <p:spPr>
          <a:xfrm>
            <a:off x="3703320" y="1783080"/>
            <a:ext cx="0" cy="3794760"/>
          </a:xfrm>
          <a:prstGeom prst="line">
            <a:avLst/>
          </a:prstGeom>
          <a:ln w="12700">
            <a:solidFill>
              <a:srgbClr val="B9B9B6"/>
            </a:solidFill>
            <a:prstDash val="dash"/>
          </a:ln>
        </p:spPr>
        <p:style>
          <a:lnRef idx="2">
            <a:schemeClr val="accent1"/>
          </a:lnRef>
          <a:fillRef idx="0">
            <a:schemeClr val="accent1"/>
          </a:fillRef>
          <a:effectRef idx="1">
            <a:schemeClr val="accent1"/>
          </a:effectRef>
          <a:fontRef idx="minor">
            <a:schemeClr val="tx1"/>
          </a:fontRef>
        </p:style>
      </p:cxnSp>
      <p:sp>
        <p:nvSpPr>
          <p:cNvPr id="6" name="!!leaf1lbl"/>
          <p:cNvSpPr txBox="1"/>
          <p:nvPr/>
        </p:nvSpPr>
        <p:spPr>
          <a:xfrm>
            <a:off x="914400"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1: size &lt; 100 m²</a:t>
            </a:r>
          </a:p>
        </p:txBody>
      </p:sp>
      <p:sp>
        <p:nvSpPr>
          <p:cNvPr id="7" name="!!leaf2lbl"/>
          <p:cNvSpPr txBox="1"/>
          <p:nvPr/>
        </p:nvSpPr>
        <p:spPr>
          <a:xfrm>
            <a:off x="3749039"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2: size ≥ 100 m²</a:t>
            </a:r>
          </a:p>
        </p:txBody>
      </p:sp>
      <p:cxnSp>
        <p:nvCxnSpPr>
          <p:cNvPr id="8" name="!!res0"/>
          <p:cNvCxnSpPr/>
          <p:nvPr/>
        </p:nvCxnSpPr>
        <p:spPr>
          <a:xfrm>
            <a:off x="1417320" y="3566159"/>
            <a:ext cx="0" cy="1097281"/>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9" name="!!pred0"/>
          <p:cNvSpPr/>
          <p:nvPr/>
        </p:nvSpPr>
        <p:spPr>
          <a:xfrm>
            <a:off x="978408" y="3520439"/>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e0"/>
          <p:cNvSpPr/>
          <p:nvPr/>
        </p:nvSpPr>
        <p:spPr>
          <a:xfrm>
            <a:off x="1298448" y="45445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al0"/>
          <p:cNvSpPr txBox="1"/>
          <p:nvPr/>
        </p:nvSpPr>
        <p:spPr>
          <a:xfrm>
            <a:off x="1892808" y="343814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2.20</a:t>
            </a:r>
          </a:p>
        </p:txBody>
      </p:sp>
      <p:sp>
        <p:nvSpPr>
          <p:cNvPr id="12" name="!!house0"/>
          <p:cNvSpPr txBox="1"/>
          <p:nvPr/>
        </p:nvSpPr>
        <p:spPr>
          <a:xfrm>
            <a:off x="777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A</a:t>
            </a:r>
          </a:p>
          <a:p>
            <a:pPr algn="ctr">
              <a:spcAft>
                <a:spcPts val="0"/>
              </a:spcAft>
            </a:pPr>
            <a:r>
              <a:rPr sz="1000" b="0" i="0">
                <a:solidFill>
                  <a:srgbClr val="5B5F68"/>
                </a:solidFill>
                <a:latin typeface="Segoe UI"/>
              </a:rPr>
              <a:t>70 m²</a:t>
            </a:r>
          </a:p>
        </p:txBody>
      </p:sp>
      <p:cxnSp>
        <p:nvCxnSpPr>
          <p:cNvPr id="13" name="!!res1"/>
          <p:cNvCxnSpPr/>
          <p:nvPr/>
        </p:nvCxnSpPr>
        <p:spPr>
          <a:xfrm>
            <a:off x="2606040" y="3566159"/>
            <a:ext cx="0" cy="731520"/>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4" name="!!pred1"/>
          <p:cNvSpPr/>
          <p:nvPr/>
        </p:nvSpPr>
        <p:spPr>
          <a:xfrm>
            <a:off x="2167128" y="3520439"/>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e1"/>
          <p:cNvSpPr/>
          <p:nvPr/>
        </p:nvSpPr>
        <p:spPr>
          <a:xfrm>
            <a:off x="2487168" y="4178807"/>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al1"/>
          <p:cNvSpPr txBox="1"/>
          <p:nvPr/>
        </p:nvSpPr>
        <p:spPr>
          <a:xfrm>
            <a:off x="3081528" y="343814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2.20</a:t>
            </a:r>
          </a:p>
        </p:txBody>
      </p:sp>
      <p:sp>
        <p:nvSpPr>
          <p:cNvPr id="17" name="!!house1"/>
          <p:cNvSpPr txBox="1"/>
          <p:nvPr/>
        </p:nvSpPr>
        <p:spPr>
          <a:xfrm>
            <a:off x="196596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B</a:t>
            </a:r>
          </a:p>
          <a:p>
            <a:pPr algn="ctr">
              <a:spcAft>
                <a:spcPts val="0"/>
              </a:spcAft>
            </a:pPr>
            <a:r>
              <a:rPr sz="1000" b="0" i="0">
                <a:solidFill>
                  <a:srgbClr val="5B5F68"/>
                </a:solidFill>
                <a:latin typeface="Segoe UI"/>
              </a:rPr>
              <a:t>85 m²</a:t>
            </a:r>
          </a:p>
        </p:txBody>
      </p:sp>
      <p:cxnSp>
        <p:nvCxnSpPr>
          <p:cNvPr id="18" name="!!res2"/>
          <p:cNvCxnSpPr/>
          <p:nvPr/>
        </p:nvCxnSpPr>
        <p:spPr>
          <a:xfrm flipV="1">
            <a:off x="4800600" y="2834639"/>
            <a:ext cx="0" cy="731520"/>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9" name="!!pred2"/>
          <p:cNvSpPr/>
          <p:nvPr/>
        </p:nvSpPr>
        <p:spPr>
          <a:xfrm>
            <a:off x="4361688" y="3520439"/>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e2"/>
          <p:cNvSpPr/>
          <p:nvPr/>
        </p:nvSpPr>
        <p:spPr>
          <a:xfrm>
            <a:off x="4681728" y="27157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al2"/>
          <p:cNvSpPr txBox="1"/>
          <p:nvPr/>
        </p:nvSpPr>
        <p:spPr>
          <a:xfrm>
            <a:off x="5276088" y="343814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2.20</a:t>
            </a:r>
          </a:p>
        </p:txBody>
      </p:sp>
      <p:sp>
        <p:nvSpPr>
          <p:cNvPr id="22" name="!!house2"/>
          <p:cNvSpPr txBox="1"/>
          <p:nvPr/>
        </p:nvSpPr>
        <p:spPr>
          <a:xfrm>
            <a:off x="416052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C</a:t>
            </a:r>
          </a:p>
          <a:p>
            <a:pPr algn="ctr">
              <a:spcAft>
                <a:spcPts val="0"/>
              </a:spcAft>
            </a:pPr>
            <a:r>
              <a:rPr sz="1000" b="0" i="0">
                <a:solidFill>
                  <a:srgbClr val="5B5F68"/>
                </a:solidFill>
                <a:latin typeface="Segoe UI"/>
              </a:rPr>
              <a:t>140 m²</a:t>
            </a:r>
          </a:p>
        </p:txBody>
      </p:sp>
      <p:cxnSp>
        <p:nvCxnSpPr>
          <p:cNvPr id="23" name="!!res3"/>
          <p:cNvCxnSpPr/>
          <p:nvPr/>
        </p:nvCxnSpPr>
        <p:spPr>
          <a:xfrm flipV="1">
            <a:off x="5989320" y="2468879"/>
            <a:ext cx="0" cy="1097280"/>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24" name="!!pred3"/>
          <p:cNvSpPr/>
          <p:nvPr/>
        </p:nvSpPr>
        <p:spPr>
          <a:xfrm>
            <a:off x="5550408" y="3520439"/>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e3"/>
          <p:cNvSpPr/>
          <p:nvPr/>
        </p:nvSpPr>
        <p:spPr>
          <a:xfrm>
            <a:off x="5870448" y="235000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al3"/>
          <p:cNvSpPr txBox="1"/>
          <p:nvPr/>
        </p:nvSpPr>
        <p:spPr>
          <a:xfrm>
            <a:off x="6464808" y="343814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2.20</a:t>
            </a:r>
          </a:p>
        </p:txBody>
      </p:sp>
      <p:sp>
        <p:nvSpPr>
          <p:cNvPr id="27" name="!!house3"/>
          <p:cNvSpPr txBox="1"/>
          <p:nvPr/>
        </p:nvSpPr>
        <p:spPr>
          <a:xfrm>
            <a:off x="5349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D</a:t>
            </a:r>
          </a:p>
          <a:p>
            <a:pPr algn="ctr">
              <a:spcAft>
                <a:spcPts val="0"/>
              </a:spcAft>
            </a:pPr>
            <a:r>
              <a:rPr sz="1000" b="0" i="0">
                <a:solidFill>
                  <a:srgbClr val="5B5F68"/>
                </a:solidFill>
                <a:latin typeface="Segoe UI"/>
              </a:rPr>
              <a:t>160 m²</a:t>
            </a:r>
          </a:p>
        </p:txBody>
      </p:sp>
      <p:sp>
        <p:nvSpPr>
          <p:cNvPr id="28" name="!!legend"/>
          <p:cNvSpPr txBox="1"/>
          <p:nvPr/>
        </p:nvSpPr>
        <p:spPr>
          <a:xfrm>
            <a:off x="685800" y="6355080"/>
            <a:ext cx="6035040" cy="274320"/>
          </a:xfrm>
          <a:prstGeom prst="rect">
            <a:avLst/>
          </a:prstGeom>
          <a:noFill/>
        </p:spPr>
        <p:txBody>
          <a:bodyPr wrap="square" lIns="0" rIns="0" tIns="0" bIns="0" anchor="t">
            <a:spAutoFit/>
          </a:bodyPr>
          <a:lstStyle/>
          <a:p>
            <a:pPr algn="l">
              <a:spcAft>
                <a:spcPts val="0"/>
              </a:spcAft>
            </a:pPr>
            <a:r>
              <a:rPr sz="1000" b="0" i="0">
                <a:solidFill>
                  <a:srgbClr val="B5543A"/>
                </a:solidFill>
                <a:latin typeface="Segoe UI"/>
              </a:rPr>
              <a:t>●</a:t>
            </a:r>
            <a:r>
              <a:rPr sz="1000" b="0" i="0">
                <a:solidFill>
                  <a:srgbClr val="5B5F68"/>
                </a:solidFill>
                <a:latin typeface="Segoe UI"/>
              </a:rPr>
              <a:t>  true price ($100k)     </a:t>
            </a:r>
            <a:r>
              <a:rPr sz="1000" b="0" i="0">
                <a:solidFill>
                  <a:srgbClr val="262A33"/>
                </a:solidFill>
                <a:latin typeface="Segoe UI"/>
              </a:rPr>
              <a:t>▬</a:t>
            </a:r>
            <a:r>
              <a:rPr sz="1000" b="0" i="0">
                <a:solidFill>
                  <a:srgbClr val="5B5F68"/>
                </a:solidFill>
                <a:latin typeface="Segoe UI"/>
              </a:rPr>
              <a:t>  prediction     </a:t>
            </a:r>
            <a:r>
              <a:rPr sz="1000" b="0" i="0">
                <a:solidFill>
                  <a:srgbClr val="5B5F68"/>
                </a:solidFill>
                <a:latin typeface="Segoe UI"/>
                <a:hlinkClick r:id="rId2"/>
              </a:rPr>
              <a:t>web version</a:t>
            </a:r>
          </a:p>
        </p:txBody>
      </p:sp>
      <p:sp>
        <p:nvSpPr>
          <p:cNvPr id="29" name="!!round"/>
          <p:cNvSpPr txBox="1"/>
          <p:nvPr/>
        </p:nvSpPr>
        <p:spPr>
          <a:xfrm>
            <a:off x="7406640" y="411480"/>
            <a:ext cx="420624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ROUND 0</a:t>
            </a:r>
          </a:p>
        </p:txBody>
      </p:sp>
      <p:sp>
        <p:nvSpPr>
          <p:cNvPr id="30" name="!!params"/>
          <p:cNvSpPr txBox="1"/>
          <p:nvPr/>
        </p:nvSpPr>
        <p:spPr>
          <a:xfrm>
            <a:off x="7406640" y="1143000"/>
            <a:ext cx="4206240" cy="32004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λ = 1     η = 0.5     5 trees max</a:t>
            </a:r>
          </a:p>
        </p:txBody>
      </p:sp>
      <p:sp>
        <p:nvSpPr>
          <p:cNvPr id="31" name="!!rmse"/>
          <p:cNvSpPr txBox="1"/>
          <p:nvPr/>
        </p:nvSpPr>
        <p:spPr>
          <a:xfrm>
            <a:off x="7406640" y="1508760"/>
            <a:ext cx="2011680" cy="822960"/>
          </a:xfrm>
          <a:prstGeom prst="rect">
            <a:avLst/>
          </a:prstGeom>
          <a:noFill/>
        </p:spPr>
        <p:txBody>
          <a:bodyPr wrap="square" lIns="0" rIns="0" tIns="0" bIns="0" anchor="t">
            <a:spAutoFit/>
          </a:bodyPr>
          <a:lstStyle/>
          <a:p>
            <a:pPr algn="l">
              <a:lnSpc>
                <a:spcPct val="90000"/>
              </a:lnSpc>
              <a:spcAft>
                <a:spcPts val="0"/>
              </a:spcAft>
            </a:pPr>
            <a:r>
              <a:rPr sz="4000" b="0" i="0">
                <a:solidFill>
                  <a:srgbClr val="B5543A"/>
                </a:solidFill>
                <a:latin typeface="Bahnschrift Light"/>
              </a:rPr>
              <a:t>1.02</a:t>
            </a:r>
          </a:p>
          <a:p>
            <a:pPr algn="l">
              <a:lnSpc>
                <a:spcPct val="90000"/>
              </a:lnSpc>
              <a:spcAft>
                <a:spcPts val="0"/>
              </a:spcAft>
            </a:pPr>
            <a:r>
              <a:rPr sz="1100" b="0" i="0">
                <a:solidFill>
                  <a:srgbClr val="5B5F68"/>
                </a:solidFill>
                <a:latin typeface="Segoe UI"/>
              </a:rPr>
              <a:t>error (RMSE)</a:t>
            </a:r>
          </a:p>
        </p:txBody>
      </p:sp>
      <p:sp>
        <p:nvSpPr>
          <p:cNvPr id="32" name="!!hist0"/>
          <p:cNvSpPr/>
          <p:nvPr/>
        </p:nvSpPr>
        <p:spPr>
          <a:xfrm>
            <a:off x="9555480" y="1815218"/>
            <a:ext cx="246888" cy="699381"/>
          </a:xfrm>
          <a:prstGeom prst="rect">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istlbl"/>
          <p:cNvSpPr txBox="1"/>
          <p:nvPr/>
        </p:nvSpPr>
        <p:spPr>
          <a:xfrm>
            <a:off x="9555480" y="2560320"/>
            <a:ext cx="2103120" cy="274320"/>
          </a:xfrm>
          <a:prstGeom prst="rect">
            <a:avLst/>
          </a:prstGeom>
          <a:noFill/>
        </p:spPr>
        <p:txBody>
          <a:bodyPr wrap="square" lIns="0" rIns="0" tIns="0" bIns="0" anchor="t">
            <a:spAutoFit/>
          </a:bodyPr>
          <a:lstStyle/>
          <a:p>
            <a:pPr algn="l">
              <a:spcAft>
                <a:spcPts val="0"/>
              </a:spcAft>
            </a:pPr>
            <a:r>
              <a:rPr sz="900" b="0" i="0">
                <a:solidFill>
                  <a:srgbClr val="5B5F68"/>
                </a:solidFill>
                <a:latin typeface="Segoe UI"/>
              </a:rPr>
              <a:t>error after each tree</a:t>
            </a:r>
          </a:p>
        </p:txBody>
      </p:sp>
      <p:sp>
        <p:nvSpPr>
          <p:cNvPr id="34" name="!!calc"/>
          <p:cNvSpPr txBox="1"/>
          <p:nvPr/>
        </p:nvSpPr>
        <p:spPr>
          <a:xfrm>
            <a:off x="7406640" y="3017520"/>
            <a:ext cx="4206240" cy="2377440"/>
          </a:xfrm>
          <a:prstGeom prst="rect">
            <a:avLst/>
          </a:prstGeom>
          <a:noFill/>
        </p:spPr>
        <p:txBody>
          <a:bodyPr wrap="square" lIns="0" rIns="0" tIns="0" bIns="0" anchor="t">
            <a:spAutoFit/>
          </a:bodyPr>
          <a:lstStyle/>
          <a:p>
            <a:pPr algn="l">
              <a:spcAft>
                <a:spcPts val="600"/>
              </a:spcAft>
            </a:pPr>
            <a:r>
              <a:rPr sz="1300" b="0" i="0">
                <a:solidFill>
                  <a:srgbClr val="262A33"/>
                </a:solidFill>
                <a:latin typeface="Segoe UI Semibold"/>
              </a:rPr>
              <a:t>Start</a:t>
            </a:r>
          </a:p>
          <a:p>
            <a:pPr algn="l">
              <a:spcAft>
                <a:spcPts val="600"/>
              </a:spcAft>
            </a:pPr>
            <a:r>
              <a:rPr sz="1200" b="0" i="0">
                <a:solidFill>
                  <a:srgbClr val="5B5F68"/>
                </a:solidFill>
                <a:latin typeface="Segoe UI"/>
              </a:rPr>
              <a:t>Every house gets the same first guess: the average price, 2.2.</a:t>
            </a:r>
          </a:p>
          <a:p>
            <a:pPr algn="l">
              <a:spcAft>
                <a:spcPts val="600"/>
              </a:spcAft>
            </a:pPr>
            <a:r>
              <a:rPr sz="1200" b="0" i="0">
                <a:solidFill>
                  <a:srgbClr val="5B5F68"/>
                </a:solidFill>
                <a:latin typeface="Segoe UI"/>
              </a:rPr>
              <a:t>Press ADD TREE: each new tree learns from the errors (residuals) of the current prediction.</a:t>
            </a:r>
          </a:p>
        </p:txBody>
      </p:sp>
      <p:sp>
        <p:nvSpPr>
          <p:cNvPr id="35" name="!!btn_back"/>
          <p:cNvSpPr/>
          <p:nvPr/>
        </p:nvSpPr>
        <p:spPr>
          <a:xfrm>
            <a:off x="7406640" y="5715000"/>
            <a:ext cx="960120" cy="457200"/>
          </a:xfrm>
          <a:prstGeom prst="roundRect">
            <a:avLst>
              <a:gd name="adj" fmla="val 50000"/>
            </a:avLst>
          </a:prstGeom>
          <a:noFill/>
          <a:ln w="15875">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B9B9B6"/>
                </a:solidFill>
                <a:latin typeface="Segoe UI Semibold"/>
              </a:rPr>
              <a:t>◀  BACK</a:t>
            </a:r>
          </a:p>
        </p:txBody>
      </p:sp>
      <p:sp>
        <p:nvSpPr>
          <p:cNvPr id="36" name="!!btn_next">
            <a:hlinkClick action="ppaction://hlinksldjump" r:id="rId3"/>
          </p:cNvPr>
          <p:cNvSpPr/>
          <p:nvPr/>
        </p:nvSpPr>
        <p:spPr>
          <a:xfrm>
            <a:off x="8476488" y="5715000"/>
            <a:ext cx="1463040" cy="45720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E5E4E2"/>
                </a:solidFill>
                <a:latin typeface="Segoe UI Semibold"/>
              </a:rPr>
              <a:t>ADD TREE  ▶</a:t>
            </a:r>
          </a:p>
        </p:txBody>
      </p:sp>
      <p:sp>
        <p:nvSpPr>
          <p:cNvPr id="37" name="!!btn_reset">
            <a:hlinkClick action="ppaction://hlinksldjump" r:id="rId4"/>
          </p:cNvPr>
          <p:cNvSpPr/>
          <p:nvPr/>
        </p:nvSpPr>
        <p:spPr>
          <a:xfrm>
            <a:off x="10049256" y="5715000"/>
            <a:ext cx="54864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400">
                <a:solidFill>
                  <a:srgbClr val="262A33"/>
                </a:solidFill>
                <a:latin typeface="Segoe UI Semibold"/>
              </a:rPr>
              <a:t>↺</a:t>
            </a:r>
          </a:p>
        </p:txBody>
      </p:sp>
      <p:sp>
        <p:nvSpPr>
          <p:cNvPr id="38" name="!!btn_lambda">
            <a:hlinkClick action="ppaction://hlinksldjump" r:id="rId5"/>
          </p:cNvPr>
          <p:cNvSpPr/>
          <p:nvPr/>
        </p:nvSpPr>
        <p:spPr>
          <a:xfrm>
            <a:off x="10707624" y="5715000"/>
            <a:ext cx="91440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λ = 5</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kicker"/>
          <p:cNvSpPr txBox="1"/>
          <p:nvPr/>
        </p:nvSpPr>
        <p:spPr>
          <a:xfrm>
            <a:off x="685800" y="365760"/>
            <a:ext cx="6400800" cy="365760"/>
          </a:xfrm>
          <a:prstGeom prst="rect">
            <a:avLst/>
          </a:prstGeom>
          <a:noFill/>
        </p:spPr>
        <p:txBody>
          <a:bodyPr wrap="square" lIns="0" rIns="0" tIns="0" bIns="0" anchor="t">
            <a:spAutoFit/>
          </a:bodyPr>
          <a:lstStyle/>
          <a:p>
            <a:pPr algn="l">
              <a:spcAft>
                <a:spcPts val="0"/>
              </a:spcAft>
            </a:pPr>
            <a:r>
              <a:rPr sz="1100" b="0" i="0">
                <a:solidFill>
                  <a:srgbClr val="5B5F68"/>
                </a:solidFill>
                <a:latin typeface="Segoe UI"/>
              </a:rPr>
              <a:t>TRY IT YOURSELF  ·  INTERACTIVE</a:t>
            </a:r>
          </a:p>
        </p:txBody>
      </p:sp>
      <p:sp>
        <p:nvSpPr>
          <p:cNvPr id="3" name="!!dtitle"/>
          <p:cNvSpPr txBox="1"/>
          <p:nvPr/>
        </p:nvSpPr>
        <p:spPr>
          <a:xfrm>
            <a:off x="685800" y="685800"/>
            <a:ext cx="640080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BOOSTING, LIVE</a:t>
            </a:r>
          </a:p>
        </p:txBody>
      </p:sp>
      <p:cxnSp>
        <p:nvCxnSpPr>
          <p:cNvPr id="4" name="!!axis"/>
          <p:cNvCxnSpPr/>
          <p:nvPr/>
        </p:nvCxnSpPr>
        <p:spPr>
          <a:xfrm>
            <a:off x="822960" y="5577840"/>
            <a:ext cx="5852160" cy="0"/>
          </a:xfrm>
          <a:prstGeom prst="line">
            <a:avLst/>
          </a:prstGeom>
          <a:ln w="952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5" name="!!split"/>
          <p:cNvCxnSpPr/>
          <p:nvPr/>
        </p:nvCxnSpPr>
        <p:spPr>
          <a:xfrm>
            <a:off x="3703320" y="1783080"/>
            <a:ext cx="0" cy="3794760"/>
          </a:xfrm>
          <a:prstGeom prst="line">
            <a:avLst/>
          </a:prstGeom>
          <a:ln w="12700">
            <a:solidFill>
              <a:srgbClr val="B9B9B6"/>
            </a:solidFill>
            <a:prstDash val="dash"/>
          </a:ln>
        </p:spPr>
        <p:style>
          <a:lnRef idx="2">
            <a:schemeClr val="accent1"/>
          </a:lnRef>
          <a:fillRef idx="0">
            <a:schemeClr val="accent1"/>
          </a:fillRef>
          <a:effectRef idx="1">
            <a:schemeClr val="accent1"/>
          </a:effectRef>
          <a:fontRef idx="minor">
            <a:schemeClr val="tx1"/>
          </a:fontRef>
        </p:style>
      </p:cxnSp>
      <p:sp>
        <p:nvSpPr>
          <p:cNvPr id="6" name="!!leaf1lbl"/>
          <p:cNvSpPr txBox="1"/>
          <p:nvPr/>
        </p:nvSpPr>
        <p:spPr>
          <a:xfrm>
            <a:off x="914400"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1: size &lt; 100 m²</a:t>
            </a:r>
          </a:p>
        </p:txBody>
      </p:sp>
      <p:sp>
        <p:nvSpPr>
          <p:cNvPr id="7" name="!!leaf2lbl"/>
          <p:cNvSpPr txBox="1"/>
          <p:nvPr/>
        </p:nvSpPr>
        <p:spPr>
          <a:xfrm>
            <a:off x="3749039"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2: size ≥ 100 m²</a:t>
            </a:r>
          </a:p>
        </p:txBody>
      </p:sp>
      <p:cxnSp>
        <p:nvCxnSpPr>
          <p:cNvPr id="8" name="!!res0"/>
          <p:cNvCxnSpPr/>
          <p:nvPr/>
        </p:nvCxnSpPr>
        <p:spPr>
          <a:xfrm>
            <a:off x="1417320" y="3870959"/>
            <a:ext cx="0" cy="792481"/>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9" name="!!pred0"/>
          <p:cNvSpPr/>
          <p:nvPr/>
        </p:nvSpPr>
        <p:spPr>
          <a:xfrm>
            <a:off x="978408" y="3825239"/>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e0"/>
          <p:cNvSpPr/>
          <p:nvPr/>
        </p:nvSpPr>
        <p:spPr>
          <a:xfrm>
            <a:off x="1298448" y="45445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al0"/>
          <p:cNvSpPr txBox="1"/>
          <p:nvPr/>
        </p:nvSpPr>
        <p:spPr>
          <a:xfrm>
            <a:off x="1892808" y="374294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1.87</a:t>
            </a:r>
          </a:p>
        </p:txBody>
      </p:sp>
      <p:sp>
        <p:nvSpPr>
          <p:cNvPr id="12" name="!!house0"/>
          <p:cNvSpPr txBox="1"/>
          <p:nvPr/>
        </p:nvSpPr>
        <p:spPr>
          <a:xfrm>
            <a:off x="777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A</a:t>
            </a:r>
          </a:p>
          <a:p>
            <a:pPr algn="ctr">
              <a:spcAft>
                <a:spcPts val="0"/>
              </a:spcAft>
            </a:pPr>
            <a:r>
              <a:rPr sz="1000" b="0" i="0">
                <a:solidFill>
                  <a:srgbClr val="5B5F68"/>
                </a:solidFill>
                <a:latin typeface="Segoe UI"/>
              </a:rPr>
              <a:t>70 m²</a:t>
            </a:r>
          </a:p>
        </p:txBody>
      </p:sp>
      <p:cxnSp>
        <p:nvCxnSpPr>
          <p:cNvPr id="13" name="!!res1"/>
          <p:cNvCxnSpPr/>
          <p:nvPr/>
        </p:nvCxnSpPr>
        <p:spPr>
          <a:xfrm>
            <a:off x="2606040" y="3870959"/>
            <a:ext cx="0" cy="426720"/>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4" name="!!pred1"/>
          <p:cNvSpPr/>
          <p:nvPr/>
        </p:nvSpPr>
        <p:spPr>
          <a:xfrm>
            <a:off x="2167128" y="3825239"/>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e1"/>
          <p:cNvSpPr/>
          <p:nvPr/>
        </p:nvSpPr>
        <p:spPr>
          <a:xfrm>
            <a:off x="2487168" y="4178807"/>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al1"/>
          <p:cNvSpPr txBox="1"/>
          <p:nvPr/>
        </p:nvSpPr>
        <p:spPr>
          <a:xfrm>
            <a:off x="3081528" y="374294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1.87</a:t>
            </a:r>
          </a:p>
        </p:txBody>
      </p:sp>
      <p:sp>
        <p:nvSpPr>
          <p:cNvPr id="17" name="!!house1"/>
          <p:cNvSpPr txBox="1"/>
          <p:nvPr/>
        </p:nvSpPr>
        <p:spPr>
          <a:xfrm>
            <a:off x="196596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B</a:t>
            </a:r>
          </a:p>
          <a:p>
            <a:pPr algn="ctr">
              <a:spcAft>
                <a:spcPts val="0"/>
              </a:spcAft>
            </a:pPr>
            <a:r>
              <a:rPr sz="1000" b="0" i="0">
                <a:solidFill>
                  <a:srgbClr val="5B5F68"/>
                </a:solidFill>
                <a:latin typeface="Segoe UI"/>
              </a:rPr>
              <a:t>85 m²</a:t>
            </a:r>
          </a:p>
        </p:txBody>
      </p:sp>
      <p:cxnSp>
        <p:nvCxnSpPr>
          <p:cNvPr id="18" name="!!res2"/>
          <p:cNvCxnSpPr/>
          <p:nvPr/>
        </p:nvCxnSpPr>
        <p:spPr>
          <a:xfrm flipV="1">
            <a:off x="4800600" y="2834639"/>
            <a:ext cx="0" cy="426721"/>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9" name="!!pred2"/>
          <p:cNvSpPr/>
          <p:nvPr/>
        </p:nvSpPr>
        <p:spPr>
          <a:xfrm>
            <a:off x="4361688" y="3215640"/>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e2"/>
          <p:cNvSpPr/>
          <p:nvPr/>
        </p:nvSpPr>
        <p:spPr>
          <a:xfrm>
            <a:off x="4681728" y="27157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al2"/>
          <p:cNvSpPr txBox="1"/>
          <p:nvPr/>
        </p:nvSpPr>
        <p:spPr>
          <a:xfrm>
            <a:off x="5276088" y="313334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2.53</a:t>
            </a:r>
          </a:p>
        </p:txBody>
      </p:sp>
      <p:sp>
        <p:nvSpPr>
          <p:cNvPr id="22" name="!!house2"/>
          <p:cNvSpPr txBox="1"/>
          <p:nvPr/>
        </p:nvSpPr>
        <p:spPr>
          <a:xfrm>
            <a:off x="416052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C</a:t>
            </a:r>
          </a:p>
          <a:p>
            <a:pPr algn="ctr">
              <a:spcAft>
                <a:spcPts val="0"/>
              </a:spcAft>
            </a:pPr>
            <a:r>
              <a:rPr sz="1000" b="0" i="0">
                <a:solidFill>
                  <a:srgbClr val="5B5F68"/>
                </a:solidFill>
                <a:latin typeface="Segoe UI"/>
              </a:rPr>
              <a:t>140 m²</a:t>
            </a:r>
          </a:p>
        </p:txBody>
      </p:sp>
      <p:cxnSp>
        <p:nvCxnSpPr>
          <p:cNvPr id="23" name="!!res3"/>
          <p:cNvCxnSpPr/>
          <p:nvPr/>
        </p:nvCxnSpPr>
        <p:spPr>
          <a:xfrm flipV="1">
            <a:off x="5989320" y="2468879"/>
            <a:ext cx="0" cy="792481"/>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24" name="!!pred3"/>
          <p:cNvSpPr/>
          <p:nvPr/>
        </p:nvSpPr>
        <p:spPr>
          <a:xfrm>
            <a:off x="5550408" y="3215640"/>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e3"/>
          <p:cNvSpPr/>
          <p:nvPr/>
        </p:nvSpPr>
        <p:spPr>
          <a:xfrm>
            <a:off x="5870448" y="235000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al3"/>
          <p:cNvSpPr txBox="1"/>
          <p:nvPr/>
        </p:nvSpPr>
        <p:spPr>
          <a:xfrm>
            <a:off x="6464808" y="313334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2.53</a:t>
            </a:r>
          </a:p>
        </p:txBody>
      </p:sp>
      <p:sp>
        <p:nvSpPr>
          <p:cNvPr id="27" name="!!house3"/>
          <p:cNvSpPr txBox="1"/>
          <p:nvPr/>
        </p:nvSpPr>
        <p:spPr>
          <a:xfrm>
            <a:off x="5349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D</a:t>
            </a:r>
          </a:p>
          <a:p>
            <a:pPr algn="ctr">
              <a:spcAft>
                <a:spcPts val="0"/>
              </a:spcAft>
            </a:pPr>
            <a:r>
              <a:rPr sz="1000" b="0" i="0">
                <a:solidFill>
                  <a:srgbClr val="5B5F68"/>
                </a:solidFill>
                <a:latin typeface="Segoe UI"/>
              </a:rPr>
              <a:t>160 m²</a:t>
            </a:r>
          </a:p>
        </p:txBody>
      </p:sp>
      <p:sp>
        <p:nvSpPr>
          <p:cNvPr id="28" name="!!legend"/>
          <p:cNvSpPr txBox="1"/>
          <p:nvPr/>
        </p:nvSpPr>
        <p:spPr>
          <a:xfrm>
            <a:off x="685800" y="6355080"/>
            <a:ext cx="6035040" cy="274320"/>
          </a:xfrm>
          <a:prstGeom prst="rect">
            <a:avLst/>
          </a:prstGeom>
          <a:noFill/>
        </p:spPr>
        <p:txBody>
          <a:bodyPr wrap="square" lIns="0" rIns="0" tIns="0" bIns="0" anchor="t">
            <a:spAutoFit/>
          </a:bodyPr>
          <a:lstStyle/>
          <a:p>
            <a:pPr algn="l">
              <a:spcAft>
                <a:spcPts val="0"/>
              </a:spcAft>
            </a:pPr>
            <a:r>
              <a:rPr sz="1000" b="0" i="0">
                <a:solidFill>
                  <a:srgbClr val="B5543A"/>
                </a:solidFill>
                <a:latin typeface="Segoe UI"/>
              </a:rPr>
              <a:t>●</a:t>
            </a:r>
            <a:r>
              <a:rPr sz="1000" b="0" i="0">
                <a:solidFill>
                  <a:srgbClr val="5B5F68"/>
                </a:solidFill>
                <a:latin typeface="Segoe UI"/>
              </a:rPr>
              <a:t>  true price ($100k)     </a:t>
            </a:r>
            <a:r>
              <a:rPr sz="1000" b="0" i="0">
                <a:solidFill>
                  <a:srgbClr val="262A33"/>
                </a:solidFill>
                <a:latin typeface="Segoe UI"/>
              </a:rPr>
              <a:t>▬</a:t>
            </a:r>
            <a:r>
              <a:rPr sz="1000" b="0" i="0">
                <a:solidFill>
                  <a:srgbClr val="5B5F68"/>
                </a:solidFill>
                <a:latin typeface="Segoe UI"/>
              </a:rPr>
              <a:t>  prediction     </a:t>
            </a:r>
            <a:r>
              <a:rPr sz="1000" b="0" i="0">
                <a:solidFill>
                  <a:srgbClr val="5B5F68"/>
                </a:solidFill>
                <a:latin typeface="Segoe UI"/>
                <a:hlinkClick r:id="rId2"/>
              </a:rPr>
              <a:t>web version</a:t>
            </a:r>
          </a:p>
        </p:txBody>
      </p:sp>
      <p:sp>
        <p:nvSpPr>
          <p:cNvPr id="29" name="!!round"/>
          <p:cNvSpPr txBox="1"/>
          <p:nvPr/>
        </p:nvSpPr>
        <p:spPr>
          <a:xfrm>
            <a:off x="7406640" y="411480"/>
            <a:ext cx="420624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ROUND 1</a:t>
            </a:r>
          </a:p>
        </p:txBody>
      </p:sp>
      <p:sp>
        <p:nvSpPr>
          <p:cNvPr id="30" name="!!params"/>
          <p:cNvSpPr txBox="1"/>
          <p:nvPr/>
        </p:nvSpPr>
        <p:spPr>
          <a:xfrm>
            <a:off x="7406640" y="1143000"/>
            <a:ext cx="4206240" cy="32004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λ = 1     η = 0.5     5 trees max</a:t>
            </a:r>
          </a:p>
        </p:txBody>
      </p:sp>
      <p:sp>
        <p:nvSpPr>
          <p:cNvPr id="31" name="!!rmse"/>
          <p:cNvSpPr txBox="1"/>
          <p:nvPr/>
        </p:nvSpPr>
        <p:spPr>
          <a:xfrm>
            <a:off x="7406640" y="1508760"/>
            <a:ext cx="2011680" cy="822960"/>
          </a:xfrm>
          <a:prstGeom prst="rect">
            <a:avLst/>
          </a:prstGeom>
          <a:noFill/>
        </p:spPr>
        <p:txBody>
          <a:bodyPr wrap="square" lIns="0" rIns="0" tIns="0" bIns="0" anchor="t">
            <a:spAutoFit/>
          </a:bodyPr>
          <a:lstStyle/>
          <a:p>
            <a:pPr algn="l">
              <a:lnSpc>
                <a:spcPct val="90000"/>
              </a:lnSpc>
              <a:spcAft>
                <a:spcPts val="0"/>
              </a:spcAft>
            </a:pPr>
            <a:r>
              <a:rPr sz="4000" b="0" i="0">
                <a:solidFill>
                  <a:srgbClr val="B5543A"/>
                </a:solidFill>
                <a:latin typeface="Bahnschrift Light"/>
              </a:rPr>
              <a:t>0.70</a:t>
            </a:r>
          </a:p>
          <a:p>
            <a:pPr algn="l">
              <a:lnSpc>
                <a:spcPct val="90000"/>
              </a:lnSpc>
              <a:spcAft>
                <a:spcPts val="0"/>
              </a:spcAft>
            </a:pPr>
            <a:r>
              <a:rPr sz="1100" b="0" i="0">
                <a:solidFill>
                  <a:srgbClr val="5B5F68"/>
                </a:solidFill>
                <a:latin typeface="Segoe UI"/>
              </a:rPr>
              <a:t>error (RMSE)</a:t>
            </a:r>
          </a:p>
        </p:txBody>
      </p:sp>
      <p:sp>
        <p:nvSpPr>
          <p:cNvPr id="32" name="!!hist0"/>
          <p:cNvSpPr/>
          <p:nvPr/>
        </p:nvSpPr>
        <p:spPr>
          <a:xfrm>
            <a:off x="9555480" y="1815218"/>
            <a:ext cx="246888" cy="699381"/>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ist1"/>
          <p:cNvSpPr/>
          <p:nvPr/>
        </p:nvSpPr>
        <p:spPr>
          <a:xfrm>
            <a:off x="9893807" y="2037269"/>
            <a:ext cx="246888" cy="477330"/>
          </a:xfrm>
          <a:prstGeom prst="rect">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istlbl"/>
          <p:cNvSpPr txBox="1"/>
          <p:nvPr/>
        </p:nvSpPr>
        <p:spPr>
          <a:xfrm>
            <a:off x="9555480" y="2560320"/>
            <a:ext cx="2103120" cy="274320"/>
          </a:xfrm>
          <a:prstGeom prst="rect">
            <a:avLst/>
          </a:prstGeom>
          <a:noFill/>
        </p:spPr>
        <p:txBody>
          <a:bodyPr wrap="square" lIns="0" rIns="0" tIns="0" bIns="0" anchor="t">
            <a:spAutoFit/>
          </a:bodyPr>
          <a:lstStyle/>
          <a:p>
            <a:pPr algn="l">
              <a:spcAft>
                <a:spcPts val="0"/>
              </a:spcAft>
            </a:pPr>
            <a:r>
              <a:rPr sz="900" b="0" i="0">
                <a:solidFill>
                  <a:srgbClr val="5B5F68"/>
                </a:solidFill>
                <a:latin typeface="Segoe UI"/>
              </a:rPr>
              <a:t>error after each tree</a:t>
            </a:r>
          </a:p>
        </p:txBody>
      </p:sp>
      <p:sp>
        <p:nvSpPr>
          <p:cNvPr id="35" name="!!calc"/>
          <p:cNvSpPr txBox="1"/>
          <p:nvPr/>
        </p:nvSpPr>
        <p:spPr>
          <a:xfrm>
            <a:off x="7406640" y="3017520"/>
            <a:ext cx="4206240" cy="2468880"/>
          </a:xfrm>
          <a:prstGeom prst="rect">
            <a:avLst/>
          </a:prstGeom>
          <a:noFill/>
        </p:spPr>
        <p:txBody>
          <a:bodyPr wrap="square" lIns="0" rIns="0" tIns="0" bIns="0" anchor="t">
            <a:spAutoFit/>
          </a:bodyPr>
          <a:lstStyle/>
          <a:p>
            <a:pPr algn="l">
              <a:spcAft>
                <a:spcPts val="300"/>
              </a:spcAft>
            </a:pPr>
            <a:r>
              <a:rPr sz="1200" b="0" i="0">
                <a:solidFill>
                  <a:srgbClr val="262A33"/>
                </a:solidFill>
                <a:latin typeface="Segoe UI Semibold"/>
              </a:rPr>
              <a:t>Tree 1 learns from the errors of round 0</a:t>
            </a:r>
          </a:p>
          <a:p>
            <a:pPr algn="l">
              <a:spcAft>
                <a:spcPts val="300"/>
              </a:spcAft>
            </a:pPr>
            <a:r>
              <a:rPr sz="1100" b="0" i="0">
                <a:solidFill>
                  <a:srgbClr val="262A33"/>
                </a:solidFill>
                <a:latin typeface="Segoe UI Semibold"/>
              </a:rPr>
              <a:t>Leaf 1 (houses A, B)</a:t>
            </a:r>
          </a:p>
          <a:p>
            <a:pPr algn="l">
              <a:spcAft>
                <a:spcPts val="300"/>
              </a:spcAft>
            </a:pPr>
            <a:r>
              <a:rPr sz="1100" b="0" i="0">
                <a:solidFill>
                  <a:srgbClr val="5B5F68"/>
                </a:solidFill>
                <a:latin typeface="Segoe UI"/>
              </a:rPr>
              <a:t>G = 1.20 + 0.80 = 2.00     H = 2</a:t>
            </a:r>
          </a:p>
          <a:p>
            <a:pPr algn="l">
              <a:spcAft>
                <a:spcPts val="300"/>
              </a:spcAft>
            </a:pPr>
            <a:r>
              <a:rPr sz="1100" b="0" i="0">
                <a:solidFill>
                  <a:srgbClr val="5B5F68"/>
                </a:solidFill>
                <a:latin typeface="Segoe UI"/>
              </a:rPr>
              <a:t>w = −G/(H+λ) = -0.67     change = η·w = </a:t>
            </a:r>
            <a:r>
              <a:rPr sz="1100" b="0" i="0">
                <a:solidFill>
                  <a:srgbClr val="B5543A"/>
                </a:solidFill>
                <a:latin typeface="Segoe UI Semibold"/>
              </a:rPr>
              <a:t>-0.33</a:t>
            </a:r>
          </a:p>
          <a:p>
            <a:pPr algn="l">
              <a:spcAft>
                <a:spcPts val="300"/>
              </a:spcAft>
            </a:pPr>
            <a:r>
              <a:rPr sz="1100" b="0" i="0">
                <a:solidFill>
                  <a:srgbClr val="262A33"/>
                </a:solidFill>
                <a:latin typeface="Segoe UI Semibold"/>
              </a:rPr>
              <a:t>Leaf 2 (houses C, D)</a:t>
            </a:r>
          </a:p>
          <a:p>
            <a:pPr algn="l">
              <a:spcAft>
                <a:spcPts val="300"/>
              </a:spcAft>
            </a:pPr>
            <a:r>
              <a:rPr sz="1100" b="0" i="0">
                <a:solidFill>
                  <a:srgbClr val="5B5F68"/>
                </a:solidFill>
                <a:latin typeface="Segoe UI"/>
              </a:rPr>
              <a:t>G = (-0.80) + (-1.20) = -2.00     H = 2</a:t>
            </a:r>
          </a:p>
          <a:p>
            <a:pPr algn="l">
              <a:spcAft>
                <a:spcPts val="300"/>
              </a:spcAft>
            </a:pPr>
            <a:r>
              <a:rPr sz="1100" b="0" i="0">
                <a:solidFill>
                  <a:srgbClr val="5B5F68"/>
                </a:solidFill>
                <a:latin typeface="Segoe UI"/>
              </a:rPr>
              <a:t>w = −G/(H+λ) = +0.67     change = η·w = </a:t>
            </a:r>
            <a:r>
              <a:rPr sz="1100" b="0" i="0">
                <a:solidFill>
                  <a:srgbClr val="B5543A"/>
                </a:solidFill>
                <a:latin typeface="Segoe UI Semibold"/>
              </a:rPr>
              <a:t>+0.33</a:t>
            </a:r>
          </a:p>
        </p:txBody>
      </p:sp>
      <p:sp>
        <p:nvSpPr>
          <p:cNvPr id="36" name="!!btn_back">
            <a:hlinkClick action="ppaction://hlinksldjump" r:id="rId3"/>
          </p:cNvPr>
          <p:cNvSpPr/>
          <p:nvPr/>
        </p:nvSpPr>
        <p:spPr>
          <a:xfrm>
            <a:off x="7406640" y="5715000"/>
            <a:ext cx="96012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  BACK</a:t>
            </a:r>
          </a:p>
        </p:txBody>
      </p:sp>
      <p:sp>
        <p:nvSpPr>
          <p:cNvPr id="37" name="!!btn_next">
            <a:hlinkClick action="ppaction://hlinksldjump" r:id="rId4"/>
          </p:cNvPr>
          <p:cNvSpPr/>
          <p:nvPr/>
        </p:nvSpPr>
        <p:spPr>
          <a:xfrm>
            <a:off x="8476488" y="5715000"/>
            <a:ext cx="1463040" cy="45720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E5E4E2"/>
                </a:solidFill>
                <a:latin typeface="Segoe UI Semibold"/>
              </a:rPr>
              <a:t>ADD TREE  ▶</a:t>
            </a:r>
          </a:p>
        </p:txBody>
      </p:sp>
      <p:sp>
        <p:nvSpPr>
          <p:cNvPr id="38" name="!!btn_reset">
            <a:hlinkClick action="ppaction://hlinksldjump" r:id="rId3"/>
          </p:cNvPr>
          <p:cNvSpPr/>
          <p:nvPr/>
        </p:nvSpPr>
        <p:spPr>
          <a:xfrm>
            <a:off x="10049256" y="5715000"/>
            <a:ext cx="54864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400">
                <a:solidFill>
                  <a:srgbClr val="262A33"/>
                </a:solidFill>
                <a:latin typeface="Segoe UI Semibold"/>
              </a:rPr>
              <a:t>↺</a:t>
            </a:r>
          </a:p>
        </p:txBody>
      </p:sp>
      <p:sp>
        <p:nvSpPr>
          <p:cNvPr id="39" name="!!btn_lambda">
            <a:hlinkClick action="ppaction://hlinksldjump" r:id="rId5"/>
          </p:cNvPr>
          <p:cNvSpPr/>
          <p:nvPr/>
        </p:nvSpPr>
        <p:spPr>
          <a:xfrm>
            <a:off x="10707624" y="5715000"/>
            <a:ext cx="91440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λ = 5</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kicker"/>
          <p:cNvSpPr txBox="1"/>
          <p:nvPr/>
        </p:nvSpPr>
        <p:spPr>
          <a:xfrm>
            <a:off x="685800" y="365760"/>
            <a:ext cx="6400800" cy="365760"/>
          </a:xfrm>
          <a:prstGeom prst="rect">
            <a:avLst/>
          </a:prstGeom>
          <a:noFill/>
        </p:spPr>
        <p:txBody>
          <a:bodyPr wrap="square" lIns="0" rIns="0" tIns="0" bIns="0" anchor="t">
            <a:spAutoFit/>
          </a:bodyPr>
          <a:lstStyle/>
          <a:p>
            <a:pPr algn="l">
              <a:spcAft>
                <a:spcPts val="0"/>
              </a:spcAft>
            </a:pPr>
            <a:r>
              <a:rPr sz="1100" b="0" i="0">
                <a:solidFill>
                  <a:srgbClr val="5B5F68"/>
                </a:solidFill>
                <a:latin typeface="Segoe UI"/>
              </a:rPr>
              <a:t>TRY IT YOURSELF  ·  INTERACTIVE</a:t>
            </a:r>
          </a:p>
        </p:txBody>
      </p:sp>
      <p:sp>
        <p:nvSpPr>
          <p:cNvPr id="3" name="!!dtitle"/>
          <p:cNvSpPr txBox="1"/>
          <p:nvPr/>
        </p:nvSpPr>
        <p:spPr>
          <a:xfrm>
            <a:off x="685800" y="685800"/>
            <a:ext cx="640080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BOOSTING, LIVE</a:t>
            </a:r>
          </a:p>
        </p:txBody>
      </p:sp>
      <p:cxnSp>
        <p:nvCxnSpPr>
          <p:cNvPr id="4" name="!!axis"/>
          <p:cNvCxnSpPr/>
          <p:nvPr/>
        </p:nvCxnSpPr>
        <p:spPr>
          <a:xfrm>
            <a:off x="822960" y="5577840"/>
            <a:ext cx="5852160" cy="0"/>
          </a:xfrm>
          <a:prstGeom prst="line">
            <a:avLst/>
          </a:prstGeom>
          <a:ln w="952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5" name="!!split"/>
          <p:cNvCxnSpPr/>
          <p:nvPr/>
        </p:nvCxnSpPr>
        <p:spPr>
          <a:xfrm>
            <a:off x="3703320" y="1783080"/>
            <a:ext cx="0" cy="3794760"/>
          </a:xfrm>
          <a:prstGeom prst="line">
            <a:avLst/>
          </a:prstGeom>
          <a:ln w="12700">
            <a:solidFill>
              <a:srgbClr val="B9B9B6"/>
            </a:solidFill>
            <a:prstDash val="dash"/>
          </a:ln>
        </p:spPr>
        <p:style>
          <a:lnRef idx="2">
            <a:schemeClr val="accent1"/>
          </a:lnRef>
          <a:fillRef idx="0">
            <a:schemeClr val="accent1"/>
          </a:fillRef>
          <a:effectRef idx="1">
            <a:schemeClr val="accent1"/>
          </a:effectRef>
          <a:fontRef idx="minor">
            <a:schemeClr val="tx1"/>
          </a:fontRef>
        </p:style>
      </p:cxnSp>
      <p:sp>
        <p:nvSpPr>
          <p:cNvPr id="6" name="!!leaf1lbl"/>
          <p:cNvSpPr txBox="1"/>
          <p:nvPr/>
        </p:nvSpPr>
        <p:spPr>
          <a:xfrm>
            <a:off x="914400"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1: size &lt; 100 m²</a:t>
            </a:r>
          </a:p>
        </p:txBody>
      </p:sp>
      <p:sp>
        <p:nvSpPr>
          <p:cNvPr id="7" name="!!leaf2lbl"/>
          <p:cNvSpPr txBox="1"/>
          <p:nvPr/>
        </p:nvSpPr>
        <p:spPr>
          <a:xfrm>
            <a:off x="3749039"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2: size ≥ 100 m²</a:t>
            </a:r>
          </a:p>
        </p:txBody>
      </p:sp>
      <p:cxnSp>
        <p:nvCxnSpPr>
          <p:cNvPr id="8" name="!!res0"/>
          <p:cNvCxnSpPr/>
          <p:nvPr/>
        </p:nvCxnSpPr>
        <p:spPr>
          <a:xfrm>
            <a:off x="1417320" y="4074160"/>
            <a:ext cx="0" cy="589280"/>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9" name="!!pred0"/>
          <p:cNvSpPr/>
          <p:nvPr/>
        </p:nvSpPr>
        <p:spPr>
          <a:xfrm>
            <a:off x="978408" y="4028440"/>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e0"/>
          <p:cNvSpPr/>
          <p:nvPr/>
        </p:nvSpPr>
        <p:spPr>
          <a:xfrm>
            <a:off x="1298448" y="45445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al0"/>
          <p:cNvSpPr txBox="1"/>
          <p:nvPr/>
        </p:nvSpPr>
        <p:spPr>
          <a:xfrm>
            <a:off x="1892808" y="3946144"/>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1.64</a:t>
            </a:r>
          </a:p>
        </p:txBody>
      </p:sp>
      <p:sp>
        <p:nvSpPr>
          <p:cNvPr id="12" name="!!house0"/>
          <p:cNvSpPr txBox="1"/>
          <p:nvPr/>
        </p:nvSpPr>
        <p:spPr>
          <a:xfrm>
            <a:off x="777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A</a:t>
            </a:r>
          </a:p>
          <a:p>
            <a:pPr algn="ctr">
              <a:spcAft>
                <a:spcPts val="0"/>
              </a:spcAft>
            </a:pPr>
            <a:r>
              <a:rPr sz="1000" b="0" i="0">
                <a:solidFill>
                  <a:srgbClr val="5B5F68"/>
                </a:solidFill>
                <a:latin typeface="Segoe UI"/>
              </a:rPr>
              <a:t>70 m²</a:t>
            </a:r>
          </a:p>
        </p:txBody>
      </p:sp>
      <p:cxnSp>
        <p:nvCxnSpPr>
          <p:cNvPr id="13" name="!!res1"/>
          <p:cNvCxnSpPr/>
          <p:nvPr/>
        </p:nvCxnSpPr>
        <p:spPr>
          <a:xfrm>
            <a:off x="2606040" y="4074160"/>
            <a:ext cx="0" cy="223519"/>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4" name="!!pred1"/>
          <p:cNvSpPr/>
          <p:nvPr/>
        </p:nvSpPr>
        <p:spPr>
          <a:xfrm>
            <a:off x="2167128" y="4028440"/>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e1"/>
          <p:cNvSpPr/>
          <p:nvPr/>
        </p:nvSpPr>
        <p:spPr>
          <a:xfrm>
            <a:off x="2487168" y="4178807"/>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al1"/>
          <p:cNvSpPr txBox="1"/>
          <p:nvPr/>
        </p:nvSpPr>
        <p:spPr>
          <a:xfrm>
            <a:off x="3081528" y="3946144"/>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1.64</a:t>
            </a:r>
          </a:p>
        </p:txBody>
      </p:sp>
      <p:sp>
        <p:nvSpPr>
          <p:cNvPr id="17" name="!!house1"/>
          <p:cNvSpPr txBox="1"/>
          <p:nvPr/>
        </p:nvSpPr>
        <p:spPr>
          <a:xfrm>
            <a:off x="196596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B</a:t>
            </a:r>
          </a:p>
          <a:p>
            <a:pPr algn="ctr">
              <a:spcAft>
                <a:spcPts val="0"/>
              </a:spcAft>
            </a:pPr>
            <a:r>
              <a:rPr sz="1000" b="0" i="0">
                <a:solidFill>
                  <a:srgbClr val="5B5F68"/>
                </a:solidFill>
                <a:latin typeface="Segoe UI"/>
              </a:rPr>
              <a:t>85 m²</a:t>
            </a:r>
          </a:p>
        </p:txBody>
      </p:sp>
      <p:cxnSp>
        <p:nvCxnSpPr>
          <p:cNvPr id="18" name="!!res2"/>
          <p:cNvCxnSpPr/>
          <p:nvPr/>
        </p:nvCxnSpPr>
        <p:spPr>
          <a:xfrm flipV="1">
            <a:off x="4800600" y="2834639"/>
            <a:ext cx="0" cy="223520"/>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9" name="!!pred2"/>
          <p:cNvSpPr/>
          <p:nvPr/>
        </p:nvSpPr>
        <p:spPr>
          <a:xfrm>
            <a:off x="4361688" y="3012440"/>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e2"/>
          <p:cNvSpPr/>
          <p:nvPr/>
        </p:nvSpPr>
        <p:spPr>
          <a:xfrm>
            <a:off x="4681728" y="27157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al2"/>
          <p:cNvSpPr txBox="1"/>
          <p:nvPr/>
        </p:nvSpPr>
        <p:spPr>
          <a:xfrm>
            <a:off x="5276088" y="293014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2.76</a:t>
            </a:r>
          </a:p>
        </p:txBody>
      </p:sp>
      <p:sp>
        <p:nvSpPr>
          <p:cNvPr id="22" name="!!house2"/>
          <p:cNvSpPr txBox="1"/>
          <p:nvPr/>
        </p:nvSpPr>
        <p:spPr>
          <a:xfrm>
            <a:off x="416052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C</a:t>
            </a:r>
          </a:p>
          <a:p>
            <a:pPr algn="ctr">
              <a:spcAft>
                <a:spcPts val="0"/>
              </a:spcAft>
            </a:pPr>
            <a:r>
              <a:rPr sz="1000" b="0" i="0">
                <a:solidFill>
                  <a:srgbClr val="5B5F68"/>
                </a:solidFill>
                <a:latin typeface="Segoe UI"/>
              </a:rPr>
              <a:t>140 m²</a:t>
            </a:r>
          </a:p>
        </p:txBody>
      </p:sp>
      <p:cxnSp>
        <p:nvCxnSpPr>
          <p:cNvPr id="23" name="!!res3"/>
          <p:cNvCxnSpPr/>
          <p:nvPr/>
        </p:nvCxnSpPr>
        <p:spPr>
          <a:xfrm flipV="1">
            <a:off x="5989320" y="2468879"/>
            <a:ext cx="0" cy="589280"/>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24" name="!!pred3"/>
          <p:cNvSpPr/>
          <p:nvPr/>
        </p:nvSpPr>
        <p:spPr>
          <a:xfrm>
            <a:off x="5550408" y="3012440"/>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e3"/>
          <p:cNvSpPr/>
          <p:nvPr/>
        </p:nvSpPr>
        <p:spPr>
          <a:xfrm>
            <a:off x="5870448" y="235000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al3"/>
          <p:cNvSpPr txBox="1"/>
          <p:nvPr/>
        </p:nvSpPr>
        <p:spPr>
          <a:xfrm>
            <a:off x="6464808" y="293014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2.76</a:t>
            </a:r>
          </a:p>
        </p:txBody>
      </p:sp>
      <p:sp>
        <p:nvSpPr>
          <p:cNvPr id="27" name="!!house3"/>
          <p:cNvSpPr txBox="1"/>
          <p:nvPr/>
        </p:nvSpPr>
        <p:spPr>
          <a:xfrm>
            <a:off x="5349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D</a:t>
            </a:r>
          </a:p>
          <a:p>
            <a:pPr algn="ctr">
              <a:spcAft>
                <a:spcPts val="0"/>
              </a:spcAft>
            </a:pPr>
            <a:r>
              <a:rPr sz="1000" b="0" i="0">
                <a:solidFill>
                  <a:srgbClr val="5B5F68"/>
                </a:solidFill>
                <a:latin typeface="Segoe UI"/>
              </a:rPr>
              <a:t>160 m²</a:t>
            </a:r>
          </a:p>
        </p:txBody>
      </p:sp>
      <p:sp>
        <p:nvSpPr>
          <p:cNvPr id="28" name="!!legend"/>
          <p:cNvSpPr txBox="1"/>
          <p:nvPr/>
        </p:nvSpPr>
        <p:spPr>
          <a:xfrm>
            <a:off x="685800" y="6355080"/>
            <a:ext cx="6035040" cy="274320"/>
          </a:xfrm>
          <a:prstGeom prst="rect">
            <a:avLst/>
          </a:prstGeom>
          <a:noFill/>
        </p:spPr>
        <p:txBody>
          <a:bodyPr wrap="square" lIns="0" rIns="0" tIns="0" bIns="0" anchor="t">
            <a:spAutoFit/>
          </a:bodyPr>
          <a:lstStyle/>
          <a:p>
            <a:pPr algn="l">
              <a:spcAft>
                <a:spcPts val="0"/>
              </a:spcAft>
            </a:pPr>
            <a:r>
              <a:rPr sz="1000" b="0" i="0">
                <a:solidFill>
                  <a:srgbClr val="B5543A"/>
                </a:solidFill>
                <a:latin typeface="Segoe UI"/>
              </a:rPr>
              <a:t>●</a:t>
            </a:r>
            <a:r>
              <a:rPr sz="1000" b="0" i="0">
                <a:solidFill>
                  <a:srgbClr val="5B5F68"/>
                </a:solidFill>
                <a:latin typeface="Segoe UI"/>
              </a:rPr>
              <a:t>  true price ($100k)     </a:t>
            </a:r>
            <a:r>
              <a:rPr sz="1000" b="0" i="0">
                <a:solidFill>
                  <a:srgbClr val="262A33"/>
                </a:solidFill>
                <a:latin typeface="Segoe UI"/>
              </a:rPr>
              <a:t>▬</a:t>
            </a:r>
            <a:r>
              <a:rPr sz="1000" b="0" i="0">
                <a:solidFill>
                  <a:srgbClr val="5B5F68"/>
                </a:solidFill>
                <a:latin typeface="Segoe UI"/>
              </a:rPr>
              <a:t>  prediction     </a:t>
            </a:r>
            <a:r>
              <a:rPr sz="1000" b="0" i="0">
                <a:solidFill>
                  <a:srgbClr val="5B5F68"/>
                </a:solidFill>
                <a:latin typeface="Segoe UI"/>
                <a:hlinkClick r:id="rId2"/>
              </a:rPr>
              <a:t>web version</a:t>
            </a:r>
          </a:p>
        </p:txBody>
      </p:sp>
      <p:sp>
        <p:nvSpPr>
          <p:cNvPr id="29" name="!!round"/>
          <p:cNvSpPr txBox="1"/>
          <p:nvPr/>
        </p:nvSpPr>
        <p:spPr>
          <a:xfrm>
            <a:off x="7406640" y="411480"/>
            <a:ext cx="420624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ROUND 2</a:t>
            </a:r>
          </a:p>
        </p:txBody>
      </p:sp>
      <p:sp>
        <p:nvSpPr>
          <p:cNvPr id="30" name="!!params"/>
          <p:cNvSpPr txBox="1"/>
          <p:nvPr/>
        </p:nvSpPr>
        <p:spPr>
          <a:xfrm>
            <a:off x="7406640" y="1143000"/>
            <a:ext cx="4206240" cy="32004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λ = 1     η = 0.5     5 trees max</a:t>
            </a:r>
          </a:p>
        </p:txBody>
      </p:sp>
      <p:sp>
        <p:nvSpPr>
          <p:cNvPr id="31" name="!!rmse"/>
          <p:cNvSpPr txBox="1"/>
          <p:nvPr/>
        </p:nvSpPr>
        <p:spPr>
          <a:xfrm>
            <a:off x="7406640" y="1508760"/>
            <a:ext cx="2011680" cy="822960"/>
          </a:xfrm>
          <a:prstGeom prst="rect">
            <a:avLst/>
          </a:prstGeom>
          <a:noFill/>
        </p:spPr>
        <p:txBody>
          <a:bodyPr wrap="square" lIns="0" rIns="0" tIns="0" bIns="0" anchor="t">
            <a:spAutoFit/>
          </a:bodyPr>
          <a:lstStyle/>
          <a:p>
            <a:pPr algn="l">
              <a:lnSpc>
                <a:spcPct val="90000"/>
              </a:lnSpc>
              <a:spcAft>
                <a:spcPts val="0"/>
              </a:spcAft>
            </a:pPr>
            <a:r>
              <a:rPr sz="4000" b="0" i="0">
                <a:solidFill>
                  <a:srgbClr val="B5543A"/>
                </a:solidFill>
                <a:latin typeface="Bahnschrift Light"/>
              </a:rPr>
              <a:t>0.49</a:t>
            </a:r>
          </a:p>
          <a:p>
            <a:pPr algn="l">
              <a:lnSpc>
                <a:spcPct val="90000"/>
              </a:lnSpc>
              <a:spcAft>
                <a:spcPts val="0"/>
              </a:spcAft>
            </a:pPr>
            <a:r>
              <a:rPr sz="1100" b="0" i="0">
                <a:solidFill>
                  <a:srgbClr val="5B5F68"/>
                </a:solidFill>
                <a:latin typeface="Segoe UI"/>
              </a:rPr>
              <a:t>error (RMSE)</a:t>
            </a:r>
          </a:p>
        </p:txBody>
      </p:sp>
      <p:sp>
        <p:nvSpPr>
          <p:cNvPr id="32" name="!!hist0"/>
          <p:cNvSpPr/>
          <p:nvPr/>
        </p:nvSpPr>
        <p:spPr>
          <a:xfrm>
            <a:off x="9555480" y="1815218"/>
            <a:ext cx="246888" cy="699381"/>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ist1"/>
          <p:cNvSpPr/>
          <p:nvPr/>
        </p:nvSpPr>
        <p:spPr>
          <a:xfrm>
            <a:off x="9893807" y="2037269"/>
            <a:ext cx="246888" cy="477330"/>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ist2"/>
          <p:cNvSpPr/>
          <p:nvPr/>
        </p:nvSpPr>
        <p:spPr>
          <a:xfrm>
            <a:off x="10232136" y="2180360"/>
            <a:ext cx="246888" cy="334239"/>
          </a:xfrm>
          <a:prstGeom prst="rect">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istlbl"/>
          <p:cNvSpPr txBox="1"/>
          <p:nvPr/>
        </p:nvSpPr>
        <p:spPr>
          <a:xfrm>
            <a:off x="9555480" y="2560320"/>
            <a:ext cx="2103120" cy="274320"/>
          </a:xfrm>
          <a:prstGeom prst="rect">
            <a:avLst/>
          </a:prstGeom>
          <a:noFill/>
        </p:spPr>
        <p:txBody>
          <a:bodyPr wrap="square" lIns="0" rIns="0" tIns="0" bIns="0" anchor="t">
            <a:spAutoFit/>
          </a:bodyPr>
          <a:lstStyle/>
          <a:p>
            <a:pPr algn="l">
              <a:spcAft>
                <a:spcPts val="0"/>
              </a:spcAft>
            </a:pPr>
            <a:r>
              <a:rPr sz="900" b="0" i="0">
                <a:solidFill>
                  <a:srgbClr val="5B5F68"/>
                </a:solidFill>
                <a:latin typeface="Segoe UI"/>
              </a:rPr>
              <a:t>error after each tree</a:t>
            </a:r>
          </a:p>
        </p:txBody>
      </p:sp>
      <p:sp>
        <p:nvSpPr>
          <p:cNvPr id="36" name="!!calc"/>
          <p:cNvSpPr txBox="1"/>
          <p:nvPr/>
        </p:nvSpPr>
        <p:spPr>
          <a:xfrm>
            <a:off x="7406640" y="3017520"/>
            <a:ext cx="4206240" cy="2468880"/>
          </a:xfrm>
          <a:prstGeom prst="rect">
            <a:avLst/>
          </a:prstGeom>
          <a:noFill/>
        </p:spPr>
        <p:txBody>
          <a:bodyPr wrap="square" lIns="0" rIns="0" tIns="0" bIns="0" anchor="t">
            <a:spAutoFit/>
          </a:bodyPr>
          <a:lstStyle/>
          <a:p>
            <a:pPr algn="l">
              <a:spcAft>
                <a:spcPts val="300"/>
              </a:spcAft>
            </a:pPr>
            <a:r>
              <a:rPr sz="1200" b="0" i="0">
                <a:solidFill>
                  <a:srgbClr val="262A33"/>
                </a:solidFill>
                <a:latin typeface="Segoe UI Semibold"/>
              </a:rPr>
              <a:t>Tree 2 learns from the errors of round 1</a:t>
            </a:r>
          </a:p>
          <a:p>
            <a:pPr algn="l">
              <a:spcAft>
                <a:spcPts val="300"/>
              </a:spcAft>
            </a:pPr>
            <a:r>
              <a:rPr sz="1100" b="0" i="0">
                <a:solidFill>
                  <a:srgbClr val="262A33"/>
                </a:solidFill>
                <a:latin typeface="Segoe UI Semibold"/>
              </a:rPr>
              <a:t>Leaf 1 (houses A, B)</a:t>
            </a:r>
          </a:p>
          <a:p>
            <a:pPr algn="l">
              <a:spcAft>
                <a:spcPts val="300"/>
              </a:spcAft>
            </a:pPr>
            <a:r>
              <a:rPr sz="1100" b="0" i="0">
                <a:solidFill>
                  <a:srgbClr val="5B5F68"/>
                </a:solidFill>
                <a:latin typeface="Segoe UI"/>
              </a:rPr>
              <a:t>G = 0.87 + 0.47 = 1.33     H = 2</a:t>
            </a:r>
          </a:p>
          <a:p>
            <a:pPr algn="l">
              <a:spcAft>
                <a:spcPts val="300"/>
              </a:spcAft>
            </a:pPr>
            <a:r>
              <a:rPr sz="1100" b="0" i="0">
                <a:solidFill>
                  <a:srgbClr val="5B5F68"/>
                </a:solidFill>
                <a:latin typeface="Segoe UI"/>
              </a:rPr>
              <a:t>w = −G/(H+λ) = -0.44     change = η·w = </a:t>
            </a:r>
            <a:r>
              <a:rPr sz="1100" b="0" i="0">
                <a:solidFill>
                  <a:srgbClr val="B5543A"/>
                </a:solidFill>
                <a:latin typeface="Segoe UI Semibold"/>
              </a:rPr>
              <a:t>-0.22</a:t>
            </a:r>
          </a:p>
          <a:p>
            <a:pPr algn="l">
              <a:spcAft>
                <a:spcPts val="300"/>
              </a:spcAft>
            </a:pPr>
            <a:r>
              <a:rPr sz="1100" b="0" i="0">
                <a:solidFill>
                  <a:srgbClr val="262A33"/>
                </a:solidFill>
                <a:latin typeface="Segoe UI Semibold"/>
              </a:rPr>
              <a:t>Leaf 2 (houses C, D)</a:t>
            </a:r>
          </a:p>
          <a:p>
            <a:pPr algn="l">
              <a:spcAft>
                <a:spcPts val="300"/>
              </a:spcAft>
            </a:pPr>
            <a:r>
              <a:rPr sz="1100" b="0" i="0">
                <a:solidFill>
                  <a:srgbClr val="5B5F68"/>
                </a:solidFill>
                <a:latin typeface="Segoe UI"/>
              </a:rPr>
              <a:t>G = (-0.47) + (-0.87) = -1.33     H = 2</a:t>
            </a:r>
          </a:p>
          <a:p>
            <a:pPr algn="l">
              <a:spcAft>
                <a:spcPts val="300"/>
              </a:spcAft>
            </a:pPr>
            <a:r>
              <a:rPr sz="1100" b="0" i="0">
                <a:solidFill>
                  <a:srgbClr val="5B5F68"/>
                </a:solidFill>
                <a:latin typeface="Segoe UI"/>
              </a:rPr>
              <a:t>w = −G/(H+λ) = +0.44     change = η·w = </a:t>
            </a:r>
            <a:r>
              <a:rPr sz="1100" b="0" i="0">
                <a:solidFill>
                  <a:srgbClr val="B5543A"/>
                </a:solidFill>
                <a:latin typeface="Segoe UI Semibold"/>
              </a:rPr>
              <a:t>+0.22</a:t>
            </a:r>
          </a:p>
        </p:txBody>
      </p:sp>
      <p:sp>
        <p:nvSpPr>
          <p:cNvPr id="37" name="!!btn_back">
            <a:hlinkClick action="ppaction://hlinksldjump" r:id="rId3"/>
          </p:cNvPr>
          <p:cNvSpPr/>
          <p:nvPr/>
        </p:nvSpPr>
        <p:spPr>
          <a:xfrm>
            <a:off x="7406640" y="5715000"/>
            <a:ext cx="96012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  BACK</a:t>
            </a:r>
          </a:p>
        </p:txBody>
      </p:sp>
      <p:sp>
        <p:nvSpPr>
          <p:cNvPr id="38" name="!!btn_next">
            <a:hlinkClick action="ppaction://hlinksldjump" r:id="rId4"/>
          </p:cNvPr>
          <p:cNvSpPr/>
          <p:nvPr/>
        </p:nvSpPr>
        <p:spPr>
          <a:xfrm>
            <a:off x="8476488" y="5715000"/>
            <a:ext cx="1463040" cy="45720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E5E4E2"/>
                </a:solidFill>
                <a:latin typeface="Segoe UI Semibold"/>
              </a:rPr>
              <a:t>ADD TREE  ▶</a:t>
            </a:r>
          </a:p>
        </p:txBody>
      </p:sp>
      <p:sp>
        <p:nvSpPr>
          <p:cNvPr id="39" name="!!btn_reset">
            <a:hlinkClick action="ppaction://hlinksldjump" r:id="rId5"/>
          </p:cNvPr>
          <p:cNvSpPr/>
          <p:nvPr/>
        </p:nvSpPr>
        <p:spPr>
          <a:xfrm>
            <a:off x="10049256" y="5715000"/>
            <a:ext cx="54864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400">
                <a:solidFill>
                  <a:srgbClr val="262A33"/>
                </a:solidFill>
                <a:latin typeface="Segoe UI Semibold"/>
              </a:rPr>
              <a:t>↺</a:t>
            </a:r>
          </a:p>
        </p:txBody>
      </p:sp>
      <p:sp>
        <p:nvSpPr>
          <p:cNvPr id="40" name="!!btn_lambda">
            <a:hlinkClick action="ppaction://hlinksldjump" r:id="rId6"/>
          </p:cNvPr>
          <p:cNvSpPr/>
          <p:nvPr/>
        </p:nvSpPr>
        <p:spPr>
          <a:xfrm>
            <a:off x="10707624" y="5715000"/>
            <a:ext cx="91440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λ = 5</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kicker"/>
          <p:cNvSpPr txBox="1"/>
          <p:nvPr/>
        </p:nvSpPr>
        <p:spPr>
          <a:xfrm>
            <a:off x="685800" y="365760"/>
            <a:ext cx="6400800" cy="365760"/>
          </a:xfrm>
          <a:prstGeom prst="rect">
            <a:avLst/>
          </a:prstGeom>
          <a:noFill/>
        </p:spPr>
        <p:txBody>
          <a:bodyPr wrap="square" lIns="0" rIns="0" tIns="0" bIns="0" anchor="t">
            <a:spAutoFit/>
          </a:bodyPr>
          <a:lstStyle/>
          <a:p>
            <a:pPr algn="l">
              <a:spcAft>
                <a:spcPts val="0"/>
              </a:spcAft>
            </a:pPr>
            <a:r>
              <a:rPr sz="1100" b="0" i="0">
                <a:solidFill>
                  <a:srgbClr val="5B5F68"/>
                </a:solidFill>
                <a:latin typeface="Segoe UI"/>
              </a:rPr>
              <a:t>TRY IT YOURSELF  ·  INTERACTIVE</a:t>
            </a:r>
          </a:p>
        </p:txBody>
      </p:sp>
      <p:sp>
        <p:nvSpPr>
          <p:cNvPr id="3" name="!!dtitle"/>
          <p:cNvSpPr txBox="1"/>
          <p:nvPr/>
        </p:nvSpPr>
        <p:spPr>
          <a:xfrm>
            <a:off x="685800" y="685800"/>
            <a:ext cx="640080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BOOSTING, LIVE</a:t>
            </a:r>
          </a:p>
        </p:txBody>
      </p:sp>
      <p:cxnSp>
        <p:nvCxnSpPr>
          <p:cNvPr id="4" name="!!axis"/>
          <p:cNvCxnSpPr/>
          <p:nvPr/>
        </p:nvCxnSpPr>
        <p:spPr>
          <a:xfrm>
            <a:off x="822960" y="5577840"/>
            <a:ext cx="5852160" cy="0"/>
          </a:xfrm>
          <a:prstGeom prst="line">
            <a:avLst/>
          </a:prstGeom>
          <a:ln w="952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5" name="!!split"/>
          <p:cNvCxnSpPr/>
          <p:nvPr/>
        </p:nvCxnSpPr>
        <p:spPr>
          <a:xfrm>
            <a:off x="3703320" y="1783080"/>
            <a:ext cx="0" cy="3794760"/>
          </a:xfrm>
          <a:prstGeom prst="line">
            <a:avLst/>
          </a:prstGeom>
          <a:ln w="12700">
            <a:solidFill>
              <a:srgbClr val="B9B9B6"/>
            </a:solidFill>
            <a:prstDash val="dash"/>
          </a:ln>
        </p:spPr>
        <p:style>
          <a:lnRef idx="2">
            <a:schemeClr val="accent1"/>
          </a:lnRef>
          <a:fillRef idx="0">
            <a:schemeClr val="accent1"/>
          </a:fillRef>
          <a:effectRef idx="1">
            <a:schemeClr val="accent1"/>
          </a:effectRef>
          <a:fontRef idx="minor">
            <a:schemeClr val="tx1"/>
          </a:fontRef>
        </p:style>
      </p:cxnSp>
      <p:sp>
        <p:nvSpPr>
          <p:cNvPr id="6" name="!!leaf1lbl"/>
          <p:cNvSpPr txBox="1"/>
          <p:nvPr/>
        </p:nvSpPr>
        <p:spPr>
          <a:xfrm>
            <a:off x="914400"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1: size &lt; 100 m²</a:t>
            </a:r>
          </a:p>
        </p:txBody>
      </p:sp>
      <p:sp>
        <p:nvSpPr>
          <p:cNvPr id="7" name="!!leaf2lbl"/>
          <p:cNvSpPr txBox="1"/>
          <p:nvPr/>
        </p:nvSpPr>
        <p:spPr>
          <a:xfrm>
            <a:off x="3749039"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2: size ≥ 100 m²</a:t>
            </a:r>
          </a:p>
        </p:txBody>
      </p:sp>
      <p:cxnSp>
        <p:nvCxnSpPr>
          <p:cNvPr id="8" name="!!res0"/>
          <p:cNvCxnSpPr/>
          <p:nvPr/>
        </p:nvCxnSpPr>
        <p:spPr>
          <a:xfrm>
            <a:off x="1417320" y="4209626"/>
            <a:ext cx="0" cy="453814"/>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9" name="!!pred0"/>
          <p:cNvSpPr/>
          <p:nvPr/>
        </p:nvSpPr>
        <p:spPr>
          <a:xfrm>
            <a:off x="978408" y="4163906"/>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e0"/>
          <p:cNvSpPr/>
          <p:nvPr/>
        </p:nvSpPr>
        <p:spPr>
          <a:xfrm>
            <a:off x="1298448" y="45445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al0"/>
          <p:cNvSpPr txBox="1"/>
          <p:nvPr/>
        </p:nvSpPr>
        <p:spPr>
          <a:xfrm>
            <a:off x="1892808" y="4081610"/>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1.50</a:t>
            </a:r>
          </a:p>
        </p:txBody>
      </p:sp>
      <p:sp>
        <p:nvSpPr>
          <p:cNvPr id="12" name="!!house0"/>
          <p:cNvSpPr txBox="1"/>
          <p:nvPr/>
        </p:nvSpPr>
        <p:spPr>
          <a:xfrm>
            <a:off x="777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A</a:t>
            </a:r>
          </a:p>
          <a:p>
            <a:pPr algn="ctr">
              <a:spcAft>
                <a:spcPts val="0"/>
              </a:spcAft>
            </a:pPr>
            <a:r>
              <a:rPr sz="1000" b="0" i="0">
                <a:solidFill>
                  <a:srgbClr val="5B5F68"/>
                </a:solidFill>
                <a:latin typeface="Segoe UI"/>
              </a:rPr>
              <a:t>70 m²</a:t>
            </a:r>
          </a:p>
        </p:txBody>
      </p:sp>
      <p:cxnSp>
        <p:nvCxnSpPr>
          <p:cNvPr id="13" name="!!res1"/>
          <p:cNvCxnSpPr/>
          <p:nvPr/>
        </p:nvCxnSpPr>
        <p:spPr>
          <a:xfrm>
            <a:off x="2606040" y="4209626"/>
            <a:ext cx="0" cy="88053"/>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4" name="!!pred1"/>
          <p:cNvSpPr/>
          <p:nvPr/>
        </p:nvSpPr>
        <p:spPr>
          <a:xfrm>
            <a:off x="2167128" y="4163906"/>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e1"/>
          <p:cNvSpPr/>
          <p:nvPr/>
        </p:nvSpPr>
        <p:spPr>
          <a:xfrm>
            <a:off x="2487168" y="4178807"/>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al1"/>
          <p:cNvSpPr txBox="1"/>
          <p:nvPr/>
        </p:nvSpPr>
        <p:spPr>
          <a:xfrm>
            <a:off x="3081528" y="4081610"/>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1.50</a:t>
            </a:r>
          </a:p>
        </p:txBody>
      </p:sp>
      <p:sp>
        <p:nvSpPr>
          <p:cNvPr id="17" name="!!house1"/>
          <p:cNvSpPr txBox="1"/>
          <p:nvPr/>
        </p:nvSpPr>
        <p:spPr>
          <a:xfrm>
            <a:off x="196596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B</a:t>
            </a:r>
          </a:p>
          <a:p>
            <a:pPr algn="ctr">
              <a:spcAft>
                <a:spcPts val="0"/>
              </a:spcAft>
            </a:pPr>
            <a:r>
              <a:rPr sz="1000" b="0" i="0">
                <a:solidFill>
                  <a:srgbClr val="5B5F68"/>
                </a:solidFill>
                <a:latin typeface="Segoe UI"/>
              </a:rPr>
              <a:t>85 m²</a:t>
            </a:r>
          </a:p>
        </p:txBody>
      </p:sp>
      <p:cxnSp>
        <p:nvCxnSpPr>
          <p:cNvPr id="18" name="!!res2"/>
          <p:cNvCxnSpPr/>
          <p:nvPr/>
        </p:nvCxnSpPr>
        <p:spPr>
          <a:xfrm flipV="1">
            <a:off x="4800600" y="2834639"/>
            <a:ext cx="0" cy="88054"/>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9" name="!!pred2"/>
          <p:cNvSpPr/>
          <p:nvPr/>
        </p:nvSpPr>
        <p:spPr>
          <a:xfrm>
            <a:off x="4361688" y="2876973"/>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e2"/>
          <p:cNvSpPr/>
          <p:nvPr/>
        </p:nvSpPr>
        <p:spPr>
          <a:xfrm>
            <a:off x="4681728" y="27157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al2"/>
          <p:cNvSpPr txBox="1"/>
          <p:nvPr/>
        </p:nvSpPr>
        <p:spPr>
          <a:xfrm>
            <a:off x="5276088" y="2794677"/>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2.90</a:t>
            </a:r>
          </a:p>
        </p:txBody>
      </p:sp>
      <p:sp>
        <p:nvSpPr>
          <p:cNvPr id="22" name="!!house2"/>
          <p:cNvSpPr txBox="1"/>
          <p:nvPr/>
        </p:nvSpPr>
        <p:spPr>
          <a:xfrm>
            <a:off x="416052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C</a:t>
            </a:r>
          </a:p>
          <a:p>
            <a:pPr algn="ctr">
              <a:spcAft>
                <a:spcPts val="0"/>
              </a:spcAft>
            </a:pPr>
            <a:r>
              <a:rPr sz="1000" b="0" i="0">
                <a:solidFill>
                  <a:srgbClr val="5B5F68"/>
                </a:solidFill>
                <a:latin typeface="Segoe UI"/>
              </a:rPr>
              <a:t>140 m²</a:t>
            </a:r>
          </a:p>
        </p:txBody>
      </p:sp>
      <p:cxnSp>
        <p:nvCxnSpPr>
          <p:cNvPr id="23" name="!!res3"/>
          <p:cNvCxnSpPr/>
          <p:nvPr/>
        </p:nvCxnSpPr>
        <p:spPr>
          <a:xfrm flipV="1">
            <a:off x="5989320" y="2468879"/>
            <a:ext cx="0" cy="453814"/>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24" name="!!pred3"/>
          <p:cNvSpPr/>
          <p:nvPr/>
        </p:nvSpPr>
        <p:spPr>
          <a:xfrm>
            <a:off x="5550408" y="2876973"/>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e3"/>
          <p:cNvSpPr/>
          <p:nvPr/>
        </p:nvSpPr>
        <p:spPr>
          <a:xfrm>
            <a:off x="5870448" y="235000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al3"/>
          <p:cNvSpPr txBox="1"/>
          <p:nvPr/>
        </p:nvSpPr>
        <p:spPr>
          <a:xfrm>
            <a:off x="6464808" y="2794677"/>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2.90</a:t>
            </a:r>
          </a:p>
        </p:txBody>
      </p:sp>
      <p:sp>
        <p:nvSpPr>
          <p:cNvPr id="27" name="!!house3"/>
          <p:cNvSpPr txBox="1"/>
          <p:nvPr/>
        </p:nvSpPr>
        <p:spPr>
          <a:xfrm>
            <a:off x="5349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D</a:t>
            </a:r>
          </a:p>
          <a:p>
            <a:pPr algn="ctr">
              <a:spcAft>
                <a:spcPts val="0"/>
              </a:spcAft>
            </a:pPr>
            <a:r>
              <a:rPr sz="1000" b="0" i="0">
                <a:solidFill>
                  <a:srgbClr val="5B5F68"/>
                </a:solidFill>
                <a:latin typeface="Segoe UI"/>
              </a:rPr>
              <a:t>160 m²</a:t>
            </a:r>
          </a:p>
        </p:txBody>
      </p:sp>
      <p:sp>
        <p:nvSpPr>
          <p:cNvPr id="28" name="!!legend"/>
          <p:cNvSpPr txBox="1"/>
          <p:nvPr/>
        </p:nvSpPr>
        <p:spPr>
          <a:xfrm>
            <a:off x="685800" y="6355080"/>
            <a:ext cx="6035040" cy="274320"/>
          </a:xfrm>
          <a:prstGeom prst="rect">
            <a:avLst/>
          </a:prstGeom>
          <a:noFill/>
        </p:spPr>
        <p:txBody>
          <a:bodyPr wrap="square" lIns="0" rIns="0" tIns="0" bIns="0" anchor="t">
            <a:spAutoFit/>
          </a:bodyPr>
          <a:lstStyle/>
          <a:p>
            <a:pPr algn="l">
              <a:spcAft>
                <a:spcPts val="0"/>
              </a:spcAft>
            </a:pPr>
            <a:r>
              <a:rPr sz="1000" b="0" i="0">
                <a:solidFill>
                  <a:srgbClr val="B5543A"/>
                </a:solidFill>
                <a:latin typeface="Segoe UI"/>
              </a:rPr>
              <a:t>●</a:t>
            </a:r>
            <a:r>
              <a:rPr sz="1000" b="0" i="0">
                <a:solidFill>
                  <a:srgbClr val="5B5F68"/>
                </a:solidFill>
                <a:latin typeface="Segoe UI"/>
              </a:rPr>
              <a:t>  true price ($100k)     </a:t>
            </a:r>
            <a:r>
              <a:rPr sz="1000" b="0" i="0">
                <a:solidFill>
                  <a:srgbClr val="262A33"/>
                </a:solidFill>
                <a:latin typeface="Segoe UI"/>
              </a:rPr>
              <a:t>▬</a:t>
            </a:r>
            <a:r>
              <a:rPr sz="1000" b="0" i="0">
                <a:solidFill>
                  <a:srgbClr val="5B5F68"/>
                </a:solidFill>
                <a:latin typeface="Segoe UI"/>
              </a:rPr>
              <a:t>  prediction     </a:t>
            </a:r>
            <a:r>
              <a:rPr sz="1000" b="0" i="0">
                <a:solidFill>
                  <a:srgbClr val="5B5F68"/>
                </a:solidFill>
                <a:latin typeface="Segoe UI"/>
                <a:hlinkClick r:id="rId2"/>
              </a:rPr>
              <a:t>web version</a:t>
            </a:r>
          </a:p>
        </p:txBody>
      </p:sp>
      <p:sp>
        <p:nvSpPr>
          <p:cNvPr id="29" name="!!round"/>
          <p:cNvSpPr txBox="1"/>
          <p:nvPr/>
        </p:nvSpPr>
        <p:spPr>
          <a:xfrm>
            <a:off x="7406640" y="411480"/>
            <a:ext cx="420624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ROUND 3</a:t>
            </a:r>
          </a:p>
        </p:txBody>
      </p:sp>
      <p:sp>
        <p:nvSpPr>
          <p:cNvPr id="30" name="!!params"/>
          <p:cNvSpPr txBox="1"/>
          <p:nvPr/>
        </p:nvSpPr>
        <p:spPr>
          <a:xfrm>
            <a:off x="7406640" y="1143000"/>
            <a:ext cx="4206240" cy="32004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λ = 1     η = 0.5     5 trees max</a:t>
            </a:r>
          </a:p>
        </p:txBody>
      </p:sp>
      <p:sp>
        <p:nvSpPr>
          <p:cNvPr id="31" name="!!rmse"/>
          <p:cNvSpPr txBox="1"/>
          <p:nvPr/>
        </p:nvSpPr>
        <p:spPr>
          <a:xfrm>
            <a:off x="7406640" y="1508760"/>
            <a:ext cx="2011680" cy="822960"/>
          </a:xfrm>
          <a:prstGeom prst="rect">
            <a:avLst/>
          </a:prstGeom>
          <a:noFill/>
        </p:spPr>
        <p:txBody>
          <a:bodyPr wrap="square" lIns="0" rIns="0" tIns="0" bIns="0" anchor="t">
            <a:spAutoFit/>
          </a:bodyPr>
          <a:lstStyle/>
          <a:p>
            <a:pPr algn="l">
              <a:lnSpc>
                <a:spcPct val="90000"/>
              </a:lnSpc>
              <a:spcAft>
                <a:spcPts val="0"/>
              </a:spcAft>
            </a:pPr>
            <a:r>
              <a:rPr sz="4000" b="0" i="0">
                <a:solidFill>
                  <a:srgbClr val="B5543A"/>
                </a:solidFill>
                <a:latin typeface="Bahnschrift Light"/>
              </a:rPr>
              <a:t>0.36</a:t>
            </a:r>
          </a:p>
          <a:p>
            <a:pPr algn="l">
              <a:lnSpc>
                <a:spcPct val="90000"/>
              </a:lnSpc>
              <a:spcAft>
                <a:spcPts val="0"/>
              </a:spcAft>
            </a:pPr>
            <a:r>
              <a:rPr sz="1100" b="0" i="0">
                <a:solidFill>
                  <a:srgbClr val="5B5F68"/>
                </a:solidFill>
                <a:latin typeface="Segoe UI"/>
              </a:rPr>
              <a:t>error (RMSE)</a:t>
            </a:r>
          </a:p>
        </p:txBody>
      </p:sp>
      <p:sp>
        <p:nvSpPr>
          <p:cNvPr id="32" name="!!hist0"/>
          <p:cNvSpPr/>
          <p:nvPr/>
        </p:nvSpPr>
        <p:spPr>
          <a:xfrm>
            <a:off x="9555480" y="1815218"/>
            <a:ext cx="246888" cy="699381"/>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ist1"/>
          <p:cNvSpPr/>
          <p:nvPr/>
        </p:nvSpPr>
        <p:spPr>
          <a:xfrm>
            <a:off x="9893807" y="2037269"/>
            <a:ext cx="246888" cy="477330"/>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ist2"/>
          <p:cNvSpPr/>
          <p:nvPr/>
        </p:nvSpPr>
        <p:spPr>
          <a:xfrm>
            <a:off x="10232136" y="2180360"/>
            <a:ext cx="246888" cy="334239"/>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ist3"/>
          <p:cNvSpPr/>
          <p:nvPr/>
        </p:nvSpPr>
        <p:spPr>
          <a:xfrm>
            <a:off x="10570463" y="2269440"/>
            <a:ext cx="246888" cy="245159"/>
          </a:xfrm>
          <a:prstGeom prst="rect">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istlbl"/>
          <p:cNvSpPr txBox="1"/>
          <p:nvPr/>
        </p:nvSpPr>
        <p:spPr>
          <a:xfrm>
            <a:off x="9555480" y="2560320"/>
            <a:ext cx="2103120" cy="274320"/>
          </a:xfrm>
          <a:prstGeom prst="rect">
            <a:avLst/>
          </a:prstGeom>
          <a:noFill/>
        </p:spPr>
        <p:txBody>
          <a:bodyPr wrap="square" lIns="0" rIns="0" tIns="0" bIns="0" anchor="t">
            <a:spAutoFit/>
          </a:bodyPr>
          <a:lstStyle/>
          <a:p>
            <a:pPr algn="l">
              <a:spcAft>
                <a:spcPts val="0"/>
              </a:spcAft>
            </a:pPr>
            <a:r>
              <a:rPr sz="900" b="0" i="0">
                <a:solidFill>
                  <a:srgbClr val="5B5F68"/>
                </a:solidFill>
                <a:latin typeface="Segoe UI"/>
              </a:rPr>
              <a:t>error after each tree</a:t>
            </a:r>
          </a:p>
        </p:txBody>
      </p:sp>
      <p:sp>
        <p:nvSpPr>
          <p:cNvPr id="37" name="!!calc"/>
          <p:cNvSpPr txBox="1"/>
          <p:nvPr/>
        </p:nvSpPr>
        <p:spPr>
          <a:xfrm>
            <a:off x="7406640" y="3017520"/>
            <a:ext cx="4206240" cy="2468880"/>
          </a:xfrm>
          <a:prstGeom prst="rect">
            <a:avLst/>
          </a:prstGeom>
          <a:noFill/>
        </p:spPr>
        <p:txBody>
          <a:bodyPr wrap="square" lIns="0" rIns="0" tIns="0" bIns="0" anchor="t">
            <a:spAutoFit/>
          </a:bodyPr>
          <a:lstStyle/>
          <a:p>
            <a:pPr algn="l">
              <a:spcAft>
                <a:spcPts val="300"/>
              </a:spcAft>
            </a:pPr>
            <a:r>
              <a:rPr sz="1200" b="0" i="0">
                <a:solidFill>
                  <a:srgbClr val="262A33"/>
                </a:solidFill>
                <a:latin typeface="Segoe UI Semibold"/>
              </a:rPr>
              <a:t>Tree 3 learns from the errors of round 2</a:t>
            </a:r>
          </a:p>
          <a:p>
            <a:pPr algn="l">
              <a:spcAft>
                <a:spcPts val="300"/>
              </a:spcAft>
            </a:pPr>
            <a:r>
              <a:rPr sz="1100" b="0" i="0">
                <a:solidFill>
                  <a:srgbClr val="262A33"/>
                </a:solidFill>
                <a:latin typeface="Segoe UI Semibold"/>
              </a:rPr>
              <a:t>Leaf 1 (houses A, B)</a:t>
            </a:r>
          </a:p>
          <a:p>
            <a:pPr algn="l">
              <a:spcAft>
                <a:spcPts val="300"/>
              </a:spcAft>
            </a:pPr>
            <a:r>
              <a:rPr sz="1100" b="0" i="0">
                <a:solidFill>
                  <a:srgbClr val="5B5F68"/>
                </a:solidFill>
                <a:latin typeface="Segoe UI"/>
              </a:rPr>
              <a:t>G = 0.64 + 0.24 = 0.89     H = 2</a:t>
            </a:r>
          </a:p>
          <a:p>
            <a:pPr algn="l">
              <a:spcAft>
                <a:spcPts val="300"/>
              </a:spcAft>
            </a:pPr>
            <a:r>
              <a:rPr sz="1100" b="0" i="0">
                <a:solidFill>
                  <a:srgbClr val="5B5F68"/>
                </a:solidFill>
                <a:latin typeface="Segoe UI"/>
              </a:rPr>
              <a:t>w = −G/(H+λ) = -0.30     change = η·w = </a:t>
            </a:r>
            <a:r>
              <a:rPr sz="1100" b="0" i="0">
                <a:solidFill>
                  <a:srgbClr val="B5543A"/>
                </a:solidFill>
                <a:latin typeface="Segoe UI Semibold"/>
              </a:rPr>
              <a:t>-0.15</a:t>
            </a:r>
          </a:p>
          <a:p>
            <a:pPr algn="l">
              <a:spcAft>
                <a:spcPts val="300"/>
              </a:spcAft>
            </a:pPr>
            <a:r>
              <a:rPr sz="1100" b="0" i="0">
                <a:solidFill>
                  <a:srgbClr val="262A33"/>
                </a:solidFill>
                <a:latin typeface="Segoe UI Semibold"/>
              </a:rPr>
              <a:t>Leaf 2 (houses C, D)</a:t>
            </a:r>
          </a:p>
          <a:p>
            <a:pPr algn="l">
              <a:spcAft>
                <a:spcPts val="300"/>
              </a:spcAft>
            </a:pPr>
            <a:r>
              <a:rPr sz="1100" b="0" i="0">
                <a:solidFill>
                  <a:srgbClr val="5B5F68"/>
                </a:solidFill>
                <a:latin typeface="Segoe UI"/>
              </a:rPr>
              <a:t>G = (-0.24) + (-0.64) = -0.89     H = 2</a:t>
            </a:r>
          </a:p>
          <a:p>
            <a:pPr algn="l">
              <a:spcAft>
                <a:spcPts val="300"/>
              </a:spcAft>
            </a:pPr>
            <a:r>
              <a:rPr sz="1100" b="0" i="0">
                <a:solidFill>
                  <a:srgbClr val="5B5F68"/>
                </a:solidFill>
                <a:latin typeface="Segoe UI"/>
              </a:rPr>
              <a:t>w = −G/(H+λ) = +0.30     change = η·w = </a:t>
            </a:r>
            <a:r>
              <a:rPr sz="1100" b="0" i="0">
                <a:solidFill>
                  <a:srgbClr val="B5543A"/>
                </a:solidFill>
                <a:latin typeface="Segoe UI Semibold"/>
              </a:rPr>
              <a:t>+0.15</a:t>
            </a:r>
          </a:p>
        </p:txBody>
      </p:sp>
      <p:sp>
        <p:nvSpPr>
          <p:cNvPr id="38" name="!!btn_back">
            <a:hlinkClick action="ppaction://hlinksldjump" r:id="rId3"/>
          </p:cNvPr>
          <p:cNvSpPr/>
          <p:nvPr/>
        </p:nvSpPr>
        <p:spPr>
          <a:xfrm>
            <a:off x="7406640" y="5715000"/>
            <a:ext cx="96012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  BACK</a:t>
            </a:r>
          </a:p>
        </p:txBody>
      </p:sp>
      <p:sp>
        <p:nvSpPr>
          <p:cNvPr id="39" name="!!btn_next">
            <a:hlinkClick action="ppaction://hlinksldjump" r:id="rId4"/>
          </p:cNvPr>
          <p:cNvSpPr/>
          <p:nvPr/>
        </p:nvSpPr>
        <p:spPr>
          <a:xfrm>
            <a:off x="8476488" y="5715000"/>
            <a:ext cx="1463040" cy="45720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E5E4E2"/>
                </a:solidFill>
                <a:latin typeface="Segoe UI Semibold"/>
              </a:rPr>
              <a:t>ADD TREE  ▶</a:t>
            </a:r>
          </a:p>
        </p:txBody>
      </p:sp>
      <p:sp>
        <p:nvSpPr>
          <p:cNvPr id="40" name="!!btn_reset">
            <a:hlinkClick action="ppaction://hlinksldjump" r:id="rId5"/>
          </p:cNvPr>
          <p:cNvSpPr/>
          <p:nvPr/>
        </p:nvSpPr>
        <p:spPr>
          <a:xfrm>
            <a:off x="10049256" y="5715000"/>
            <a:ext cx="54864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400">
                <a:solidFill>
                  <a:srgbClr val="262A33"/>
                </a:solidFill>
                <a:latin typeface="Segoe UI Semibold"/>
              </a:rPr>
              <a:t>↺</a:t>
            </a:r>
          </a:p>
        </p:txBody>
      </p:sp>
      <p:sp>
        <p:nvSpPr>
          <p:cNvPr id="41" name="!!btn_lambda">
            <a:hlinkClick action="ppaction://hlinksldjump" r:id="rId6"/>
          </p:cNvPr>
          <p:cNvSpPr/>
          <p:nvPr/>
        </p:nvSpPr>
        <p:spPr>
          <a:xfrm>
            <a:off x="10707624" y="5715000"/>
            <a:ext cx="91440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λ = 5</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kicker"/>
          <p:cNvSpPr txBox="1"/>
          <p:nvPr/>
        </p:nvSpPr>
        <p:spPr>
          <a:xfrm>
            <a:off x="685800" y="365760"/>
            <a:ext cx="6400800" cy="365760"/>
          </a:xfrm>
          <a:prstGeom prst="rect">
            <a:avLst/>
          </a:prstGeom>
          <a:noFill/>
        </p:spPr>
        <p:txBody>
          <a:bodyPr wrap="square" lIns="0" rIns="0" tIns="0" bIns="0" anchor="t">
            <a:spAutoFit/>
          </a:bodyPr>
          <a:lstStyle/>
          <a:p>
            <a:pPr algn="l">
              <a:spcAft>
                <a:spcPts val="0"/>
              </a:spcAft>
            </a:pPr>
            <a:r>
              <a:rPr sz="1100" b="0" i="0">
                <a:solidFill>
                  <a:srgbClr val="5B5F68"/>
                </a:solidFill>
                <a:latin typeface="Segoe UI"/>
              </a:rPr>
              <a:t>TRY IT YOURSELF  ·  INTERACTIVE</a:t>
            </a:r>
          </a:p>
        </p:txBody>
      </p:sp>
      <p:sp>
        <p:nvSpPr>
          <p:cNvPr id="3" name="!!dtitle"/>
          <p:cNvSpPr txBox="1"/>
          <p:nvPr/>
        </p:nvSpPr>
        <p:spPr>
          <a:xfrm>
            <a:off x="685800" y="685800"/>
            <a:ext cx="640080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BOOSTING, LIVE</a:t>
            </a:r>
          </a:p>
        </p:txBody>
      </p:sp>
      <p:cxnSp>
        <p:nvCxnSpPr>
          <p:cNvPr id="4" name="!!axis"/>
          <p:cNvCxnSpPr/>
          <p:nvPr/>
        </p:nvCxnSpPr>
        <p:spPr>
          <a:xfrm>
            <a:off x="822960" y="5577840"/>
            <a:ext cx="5852160" cy="0"/>
          </a:xfrm>
          <a:prstGeom prst="line">
            <a:avLst/>
          </a:prstGeom>
          <a:ln w="952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5" name="!!split"/>
          <p:cNvCxnSpPr/>
          <p:nvPr/>
        </p:nvCxnSpPr>
        <p:spPr>
          <a:xfrm>
            <a:off x="3703320" y="1783080"/>
            <a:ext cx="0" cy="3794760"/>
          </a:xfrm>
          <a:prstGeom prst="line">
            <a:avLst/>
          </a:prstGeom>
          <a:ln w="12700">
            <a:solidFill>
              <a:srgbClr val="B9B9B6"/>
            </a:solidFill>
            <a:prstDash val="dash"/>
          </a:ln>
        </p:spPr>
        <p:style>
          <a:lnRef idx="2">
            <a:schemeClr val="accent1"/>
          </a:lnRef>
          <a:fillRef idx="0">
            <a:schemeClr val="accent1"/>
          </a:fillRef>
          <a:effectRef idx="1">
            <a:schemeClr val="accent1"/>
          </a:effectRef>
          <a:fontRef idx="minor">
            <a:schemeClr val="tx1"/>
          </a:fontRef>
        </p:style>
      </p:cxnSp>
      <p:sp>
        <p:nvSpPr>
          <p:cNvPr id="6" name="!!leaf1lbl"/>
          <p:cNvSpPr txBox="1"/>
          <p:nvPr/>
        </p:nvSpPr>
        <p:spPr>
          <a:xfrm>
            <a:off x="914400"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1: size &lt; 100 m²</a:t>
            </a:r>
          </a:p>
        </p:txBody>
      </p:sp>
      <p:sp>
        <p:nvSpPr>
          <p:cNvPr id="7" name="!!leaf2lbl"/>
          <p:cNvSpPr txBox="1"/>
          <p:nvPr/>
        </p:nvSpPr>
        <p:spPr>
          <a:xfrm>
            <a:off x="3749039"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2: size ≥ 100 m²</a:t>
            </a:r>
          </a:p>
        </p:txBody>
      </p:sp>
      <p:cxnSp>
        <p:nvCxnSpPr>
          <p:cNvPr id="8" name="!!res0"/>
          <p:cNvCxnSpPr/>
          <p:nvPr/>
        </p:nvCxnSpPr>
        <p:spPr>
          <a:xfrm>
            <a:off x="1417320" y="4299937"/>
            <a:ext cx="0" cy="363503"/>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9" name="!!pred0"/>
          <p:cNvSpPr/>
          <p:nvPr/>
        </p:nvSpPr>
        <p:spPr>
          <a:xfrm>
            <a:off x="978408" y="4254217"/>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e0"/>
          <p:cNvSpPr/>
          <p:nvPr/>
        </p:nvSpPr>
        <p:spPr>
          <a:xfrm>
            <a:off x="1298448" y="45445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al0"/>
          <p:cNvSpPr txBox="1"/>
          <p:nvPr/>
        </p:nvSpPr>
        <p:spPr>
          <a:xfrm>
            <a:off x="1892808" y="4171921"/>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1.40</a:t>
            </a:r>
          </a:p>
        </p:txBody>
      </p:sp>
      <p:sp>
        <p:nvSpPr>
          <p:cNvPr id="12" name="!!house0"/>
          <p:cNvSpPr txBox="1"/>
          <p:nvPr/>
        </p:nvSpPr>
        <p:spPr>
          <a:xfrm>
            <a:off x="777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A</a:t>
            </a:r>
          </a:p>
          <a:p>
            <a:pPr algn="ctr">
              <a:spcAft>
                <a:spcPts val="0"/>
              </a:spcAft>
            </a:pPr>
            <a:r>
              <a:rPr sz="1000" b="0" i="0">
                <a:solidFill>
                  <a:srgbClr val="5B5F68"/>
                </a:solidFill>
                <a:latin typeface="Segoe UI"/>
              </a:rPr>
              <a:t>70 m²</a:t>
            </a:r>
          </a:p>
        </p:txBody>
      </p:sp>
      <p:cxnSp>
        <p:nvCxnSpPr>
          <p:cNvPr id="13" name="!!res1"/>
          <p:cNvCxnSpPr/>
          <p:nvPr/>
        </p:nvCxnSpPr>
        <p:spPr>
          <a:xfrm flipV="1">
            <a:off x="2606040" y="4297679"/>
            <a:ext cx="0" cy="2258"/>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4" name="!!pred1"/>
          <p:cNvSpPr/>
          <p:nvPr/>
        </p:nvSpPr>
        <p:spPr>
          <a:xfrm>
            <a:off x="2167128" y="4254217"/>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e1"/>
          <p:cNvSpPr/>
          <p:nvPr/>
        </p:nvSpPr>
        <p:spPr>
          <a:xfrm>
            <a:off x="2487168" y="4178807"/>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al1"/>
          <p:cNvSpPr txBox="1"/>
          <p:nvPr/>
        </p:nvSpPr>
        <p:spPr>
          <a:xfrm>
            <a:off x="3081528" y="4171921"/>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1.40</a:t>
            </a:r>
          </a:p>
        </p:txBody>
      </p:sp>
      <p:sp>
        <p:nvSpPr>
          <p:cNvPr id="17" name="!!house1"/>
          <p:cNvSpPr txBox="1"/>
          <p:nvPr/>
        </p:nvSpPr>
        <p:spPr>
          <a:xfrm>
            <a:off x="196596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B</a:t>
            </a:r>
          </a:p>
          <a:p>
            <a:pPr algn="ctr">
              <a:spcAft>
                <a:spcPts val="0"/>
              </a:spcAft>
            </a:pPr>
            <a:r>
              <a:rPr sz="1000" b="0" i="0">
                <a:solidFill>
                  <a:srgbClr val="5B5F68"/>
                </a:solidFill>
                <a:latin typeface="Segoe UI"/>
              </a:rPr>
              <a:t>85 m²</a:t>
            </a:r>
          </a:p>
        </p:txBody>
      </p:sp>
      <p:cxnSp>
        <p:nvCxnSpPr>
          <p:cNvPr id="18" name="!!res2"/>
          <p:cNvCxnSpPr/>
          <p:nvPr/>
        </p:nvCxnSpPr>
        <p:spPr>
          <a:xfrm>
            <a:off x="4800600" y="2832382"/>
            <a:ext cx="0" cy="2257"/>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9" name="!!pred2"/>
          <p:cNvSpPr/>
          <p:nvPr/>
        </p:nvSpPr>
        <p:spPr>
          <a:xfrm>
            <a:off x="4361688" y="2786662"/>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e2"/>
          <p:cNvSpPr/>
          <p:nvPr/>
        </p:nvSpPr>
        <p:spPr>
          <a:xfrm>
            <a:off x="4681728" y="27157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al2"/>
          <p:cNvSpPr txBox="1"/>
          <p:nvPr/>
        </p:nvSpPr>
        <p:spPr>
          <a:xfrm>
            <a:off x="5276088" y="2704366"/>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3.00</a:t>
            </a:r>
          </a:p>
        </p:txBody>
      </p:sp>
      <p:sp>
        <p:nvSpPr>
          <p:cNvPr id="22" name="!!house2"/>
          <p:cNvSpPr txBox="1"/>
          <p:nvPr/>
        </p:nvSpPr>
        <p:spPr>
          <a:xfrm>
            <a:off x="416052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C</a:t>
            </a:r>
          </a:p>
          <a:p>
            <a:pPr algn="ctr">
              <a:spcAft>
                <a:spcPts val="0"/>
              </a:spcAft>
            </a:pPr>
            <a:r>
              <a:rPr sz="1000" b="0" i="0">
                <a:solidFill>
                  <a:srgbClr val="5B5F68"/>
                </a:solidFill>
                <a:latin typeface="Segoe UI"/>
              </a:rPr>
              <a:t>140 m²</a:t>
            </a:r>
          </a:p>
        </p:txBody>
      </p:sp>
      <p:cxnSp>
        <p:nvCxnSpPr>
          <p:cNvPr id="23" name="!!res3"/>
          <p:cNvCxnSpPr/>
          <p:nvPr/>
        </p:nvCxnSpPr>
        <p:spPr>
          <a:xfrm flipV="1">
            <a:off x="5989320" y="2468879"/>
            <a:ext cx="0" cy="363503"/>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24" name="!!pred3"/>
          <p:cNvSpPr/>
          <p:nvPr/>
        </p:nvSpPr>
        <p:spPr>
          <a:xfrm>
            <a:off x="5550408" y="2786662"/>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e3"/>
          <p:cNvSpPr/>
          <p:nvPr/>
        </p:nvSpPr>
        <p:spPr>
          <a:xfrm>
            <a:off x="5870448" y="235000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al3"/>
          <p:cNvSpPr txBox="1"/>
          <p:nvPr/>
        </p:nvSpPr>
        <p:spPr>
          <a:xfrm>
            <a:off x="6464808" y="2704366"/>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3.00</a:t>
            </a:r>
          </a:p>
        </p:txBody>
      </p:sp>
      <p:sp>
        <p:nvSpPr>
          <p:cNvPr id="27" name="!!house3"/>
          <p:cNvSpPr txBox="1"/>
          <p:nvPr/>
        </p:nvSpPr>
        <p:spPr>
          <a:xfrm>
            <a:off x="5349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D</a:t>
            </a:r>
          </a:p>
          <a:p>
            <a:pPr algn="ctr">
              <a:spcAft>
                <a:spcPts val="0"/>
              </a:spcAft>
            </a:pPr>
            <a:r>
              <a:rPr sz="1000" b="0" i="0">
                <a:solidFill>
                  <a:srgbClr val="5B5F68"/>
                </a:solidFill>
                <a:latin typeface="Segoe UI"/>
              </a:rPr>
              <a:t>160 m²</a:t>
            </a:r>
          </a:p>
        </p:txBody>
      </p:sp>
      <p:sp>
        <p:nvSpPr>
          <p:cNvPr id="28" name="!!legend"/>
          <p:cNvSpPr txBox="1"/>
          <p:nvPr/>
        </p:nvSpPr>
        <p:spPr>
          <a:xfrm>
            <a:off x="685800" y="6355080"/>
            <a:ext cx="6035040" cy="274320"/>
          </a:xfrm>
          <a:prstGeom prst="rect">
            <a:avLst/>
          </a:prstGeom>
          <a:noFill/>
        </p:spPr>
        <p:txBody>
          <a:bodyPr wrap="square" lIns="0" rIns="0" tIns="0" bIns="0" anchor="t">
            <a:spAutoFit/>
          </a:bodyPr>
          <a:lstStyle/>
          <a:p>
            <a:pPr algn="l">
              <a:spcAft>
                <a:spcPts val="0"/>
              </a:spcAft>
            </a:pPr>
            <a:r>
              <a:rPr sz="1000" b="0" i="0">
                <a:solidFill>
                  <a:srgbClr val="B5543A"/>
                </a:solidFill>
                <a:latin typeface="Segoe UI"/>
              </a:rPr>
              <a:t>●</a:t>
            </a:r>
            <a:r>
              <a:rPr sz="1000" b="0" i="0">
                <a:solidFill>
                  <a:srgbClr val="5B5F68"/>
                </a:solidFill>
                <a:latin typeface="Segoe UI"/>
              </a:rPr>
              <a:t>  true price ($100k)     </a:t>
            </a:r>
            <a:r>
              <a:rPr sz="1000" b="0" i="0">
                <a:solidFill>
                  <a:srgbClr val="262A33"/>
                </a:solidFill>
                <a:latin typeface="Segoe UI"/>
              </a:rPr>
              <a:t>▬</a:t>
            </a:r>
            <a:r>
              <a:rPr sz="1000" b="0" i="0">
                <a:solidFill>
                  <a:srgbClr val="5B5F68"/>
                </a:solidFill>
                <a:latin typeface="Segoe UI"/>
              </a:rPr>
              <a:t>  prediction     </a:t>
            </a:r>
            <a:r>
              <a:rPr sz="1000" b="0" i="0">
                <a:solidFill>
                  <a:srgbClr val="5B5F68"/>
                </a:solidFill>
                <a:latin typeface="Segoe UI"/>
                <a:hlinkClick r:id="rId2"/>
              </a:rPr>
              <a:t>web version</a:t>
            </a:r>
          </a:p>
        </p:txBody>
      </p:sp>
      <p:sp>
        <p:nvSpPr>
          <p:cNvPr id="29" name="!!round"/>
          <p:cNvSpPr txBox="1"/>
          <p:nvPr/>
        </p:nvSpPr>
        <p:spPr>
          <a:xfrm>
            <a:off x="7406640" y="411480"/>
            <a:ext cx="420624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ROUND 4</a:t>
            </a:r>
          </a:p>
        </p:txBody>
      </p:sp>
      <p:sp>
        <p:nvSpPr>
          <p:cNvPr id="30" name="!!params"/>
          <p:cNvSpPr txBox="1"/>
          <p:nvPr/>
        </p:nvSpPr>
        <p:spPr>
          <a:xfrm>
            <a:off x="7406640" y="1143000"/>
            <a:ext cx="4206240" cy="32004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λ = 1     η = 0.5     5 trees max</a:t>
            </a:r>
          </a:p>
        </p:txBody>
      </p:sp>
      <p:sp>
        <p:nvSpPr>
          <p:cNvPr id="31" name="!!rmse"/>
          <p:cNvSpPr txBox="1"/>
          <p:nvPr/>
        </p:nvSpPr>
        <p:spPr>
          <a:xfrm>
            <a:off x="7406640" y="1508760"/>
            <a:ext cx="2011680" cy="822960"/>
          </a:xfrm>
          <a:prstGeom prst="rect">
            <a:avLst/>
          </a:prstGeom>
          <a:noFill/>
        </p:spPr>
        <p:txBody>
          <a:bodyPr wrap="square" lIns="0" rIns="0" tIns="0" bIns="0" anchor="t">
            <a:spAutoFit/>
          </a:bodyPr>
          <a:lstStyle/>
          <a:p>
            <a:pPr algn="l">
              <a:lnSpc>
                <a:spcPct val="90000"/>
              </a:lnSpc>
              <a:spcAft>
                <a:spcPts val="0"/>
              </a:spcAft>
            </a:pPr>
            <a:r>
              <a:rPr sz="4000" b="0" i="0">
                <a:solidFill>
                  <a:srgbClr val="B5543A"/>
                </a:solidFill>
                <a:latin typeface="Bahnschrift Light"/>
              </a:rPr>
              <a:t>0.28</a:t>
            </a:r>
          </a:p>
          <a:p>
            <a:pPr algn="l">
              <a:lnSpc>
                <a:spcPct val="90000"/>
              </a:lnSpc>
              <a:spcAft>
                <a:spcPts val="0"/>
              </a:spcAft>
            </a:pPr>
            <a:r>
              <a:rPr sz="1100" b="0" i="0">
                <a:solidFill>
                  <a:srgbClr val="5B5F68"/>
                </a:solidFill>
                <a:latin typeface="Segoe UI"/>
              </a:rPr>
              <a:t>error (RMSE)</a:t>
            </a:r>
          </a:p>
        </p:txBody>
      </p:sp>
      <p:sp>
        <p:nvSpPr>
          <p:cNvPr id="32" name="!!hist0"/>
          <p:cNvSpPr/>
          <p:nvPr/>
        </p:nvSpPr>
        <p:spPr>
          <a:xfrm>
            <a:off x="9555480" y="1815218"/>
            <a:ext cx="246888" cy="699381"/>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ist1"/>
          <p:cNvSpPr/>
          <p:nvPr/>
        </p:nvSpPr>
        <p:spPr>
          <a:xfrm>
            <a:off x="9893807" y="2037269"/>
            <a:ext cx="246888" cy="477330"/>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ist2"/>
          <p:cNvSpPr/>
          <p:nvPr/>
        </p:nvSpPr>
        <p:spPr>
          <a:xfrm>
            <a:off x="10232136" y="2180360"/>
            <a:ext cx="246888" cy="334239"/>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ist3"/>
          <p:cNvSpPr/>
          <p:nvPr/>
        </p:nvSpPr>
        <p:spPr>
          <a:xfrm>
            <a:off x="10570463" y="2269440"/>
            <a:ext cx="246888" cy="245159"/>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ist4"/>
          <p:cNvSpPr/>
          <p:nvPr/>
        </p:nvSpPr>
        <p:spPr>
          <a:xfrm>
            <a:off x="10908792" y="2321820"/>
            <a:ext cx="246888" cy="192779"/>
          </a:xfrm>
          <a:prstGeom prst="rect">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histlbl"/>
          <p:cNvSpPr txBox="1"/>
          <p:nvPr/>
        </p:nvSpPr>
        <p:spPr>
          <a:xfrm>
            <a:off x="9555480" y="2560320"/>
            <a:ext cx="2103120" cy="274320"/>
          </a:xfrm>
          <a:prstGeom prst="rect">
            <a:avLst/>
          </a:prstGeom>
          <a:noFill/>
        </p:spPr>
        <p:txBody>
          <a:bodyPr wrap="square" lIns="0" rIns="0" tIns="0" bIns="0" anchor="t">
            <a:spAutoFit/>
          </a:bodyPr>
          <a:lstStyle/>
          <a:p>
            <a:pPr algn="l">
              <a:spcAft>
                <a:spcPts val="0"/>
              </a:spcAft>
            </a:pPr>
            <a:r>
              <a:rPr sz="900" b="0" i="0">
                <a:solidFill>
                  <a:srgbClr val="5B5F68"/>
                </a:solidFill>
                <a:latin typeface="Segoe UI"/>
              </a:rPr>
              <a:t>error after each tree</a:t>
            </a:r>
          </a:p>
        </p:txBody>
      </p:sp>
      <p:sp>
        <p:nvSpPr>
          <p:cNvPr id="38" name="!!calc"/>
          <p:cNvSpPr txBox="1"/>
          <p:nvPr/>
        </p:nvSpPr>
        <p:spPr>
          <a:xfrm>
            <a:off x="7406640" y="3017520"/>
            <a:ext cx="4206240" cy="2468880"/>
          </a:xfrm>
          <a:prstGeom prst="rect">
            <a:avLst/>
          </a:prstGeom>
          <a:noFill/>
        </p:spPr>
        <p:txBody>
          <a:bodyPr wrap="square" lIns="0" rIns="0" tIns="0" bIns="0" anchor="t">
            <a:spAutoFit/>
          </a:bodyPr>
          <a:lstStyle/>
          <a:p>
            <a:pPr algn="l">
              <a:spcAft>
                <a:spcPts val="300"/>
              </a:spcAft>
            </a:pPr>
            <a:r>
              <a:rPr sz="1200" b="0" i="0">
                <a:solidFill>
                  <a:srgbClr val="262A33"/>
                </a:solidFill>
                <a:latin typeface="Segoe UI Semibold"/>
              </a:rPr>
              <a:t>Tree 4 learns from the errors of round 3</a:t>
            </a:r>
          </a:p>
          <a:p>
            <a:pPr algn="l">
              <a:spcAft>
                <a:spcPts val="300"/>
              </a:spcAft>
            </a:pPr>
            <a:r>
              <a:rPr sz="1100" b="0" i="0">
                <a:solidFill>
                  <a:srgbClr val="262A33"/>
                </a:solidFill>
                <a:latin typeface="Segoe UI Semibold"/>
              </a:rPr>
              <a:t>Leaf 1 (houses A, B)</a:t>
            </a:r>
          </a:p>
          <a:p>
            <a:pPr algn="l">
              <a:spcAft>
                <a:spcPts val="300"/>
              </a:spcAft>
            </a:pPr>
            <a:r>
              <a:rPr sz="1100" b="0" i="0">
                <a:solidFill>
                  <a:srgbClr val="5B5F68"/>
                </a:solidFill>
                <a:latin typeface="Segoe UI"/>
              </a:rPr>
              <a:t>G = 0.50 + 0.10 = 0.59     H = 2</a:t>
            </a:r>
          </a:p>
          <a:p>
            <a:pPr algn="l">
              <a:spcAft>
                <a:spcPts val="300"/>
              </a:spcAft>
            </a:pPr>
            <a:r>
              <a:rPr sz="1100" b="0" i="0">
                <a:solidFill>
                  <a:srgbClr val="5B5F68"/>
                </a:solidFill>
                <a:latin typeface="Segoe UI"/>
              </a:rPr>
              <a:t>w = −G/(H+λ) = -0.20     change = η·w = </a:t>
            </a:r>
            <a:r>
              <a:rPr sz="1100" b="0" i="0">
                <a:solidFill>
                  <a:srgbClr val="B5543A"/>
                </a:solidFill>
                <a:latin typeface="Segoe UI Semibold"/>
              </a:rPr>
              <a:t>-0.10</a:t>
            </a:r>
          </a:p>
          <a:p>
            <a:pPr algn="l">
              <a:spcAft>
                <a:spcPts val="300"/>
              </a:spcAft>
            </a:pPr>
            <a:r>
              <a:rPr sz="1100" b="0" i="0">
                <a:solidFill>
                  <a:srgbClr val="262A33"/>
                </a:solidFill>
                <a:latin typeface="Segoe UI Semibold"/>
              </a:rPr>
              <a:t>Leaf 2 (houses C, D)</a:t>
            </a:r>
          </a:p>
          <a:p>
            <a:pPr algn="l">
              <a:spcAft>
                <a:spcPts val="300"/>
              </a:spcAft>
            </a:pPr>
            <a:r>
              <a:rPr sz="1100" b="0" i="0">
                <a:solidFill>
                  <a:srgbClr val="5B5F68"/>
                </a:solidFill>
                <a:latin typeface="Segoe UI"/>
              </a:rPr>
              <a:t>G = (-0.10) + (-0.50) = -0.59     H = 2</a:t>
            </a:r>
          </a:p>
          <a:p>
            <a:pPr algn="l">
              <a:spcAft>
                <a:spcPts val="300"/>
              </a:spcAft>
            </a:pPr>
            <a:r>
              <a:rPr sz="1100" b="0" i="0">
                <a:solidFill>
                  <a:srgbClr val="5B5F68"/>
                </a:solidFill>
                <a:latin typeface="Segoe UI"/>
              </a:rPr>
              <a:t>w = −G/(H+λ) = +0.20     change = η·w = </a:t>
            </a:r>
            <a:r>
              <a:rPr sz="1100" b="0" i="0">
                <a:solidFill>
                  <a:srgbClr val="B5543A"/>
                </a:solidFill>
                <a:latin typeface="Segoe UI Semibold"/>
              </a:rPr>
              <a:t>+0.10</a:t>
            </a:r>
          </a:p>
        </p:txBody>
      </p:sp>
      <p:sp>
        <p:nvSpPr>
          <p:cNvPr id="39" name="!!btn_back">
            <a:hlinkClick action="ppaction://hlinksldjump" r:id="rId3"/>
          </p:cNvPr>
          <p:cNvSpPr/>
          <p:nvPr/>
        </p:nvSpPr>
        <p:spPr>
          <a:xfrm>
            <a:off x="7406640" y="5715000"/>
            <a:ext cx="96012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  BACK</a:t>
            </a:r>
          </a:p>
        </p:txBody>
      </p:sp>
      <p:sp>
        <p:nvSpPr>
          <p:cNvPr id="40" name="!!btn_next">
            <a:hlinkClick action="ppaction://hlinksldjump" r:id="rId4"/>
          </p:cNvPr>
          <p:cNvSpPr/>
          <p:nvPr/>
        </p:nvSpPr>
        <p:spPr>
          <a:xfrm>
            <a:off x="8476488" y="5715000"/>
            <a:ext cx="1463040" cy="45720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E5E4E2"/>
                </a:solidFill>
                <a:latin typeface="Segoe UI Semibold"/>
              </a:rPr>
              <a:t>ADD TREE  ▶</a:t>
            </a:r>
          </a:p>
        </p:txBody>
      </p:sp>
      <p:sp>
        <p:nvSpPr>
          <p:cNvPr id="41" name="!!btn_reset">
            <a:hlinkClick action="ppaction://hlinksldjump" r:id="rId5"/>
          </p:cNvPr>
          <p:cNvSpPr/>
          <p:nvPr/>
        </p:nvSpPr>
        <p:spPr>
          <a:xfrm>
            <a:off x="10049256" y="5715000"/>
            <a:ext cx="54864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400">
                <a:solidFill>
                  <a:srgbClr val="262A33"/>
                </a:solidFill>
                <a:latin typeface="Segoe UI Semibold"/>
              </a:rPr>
              <a:t>↺</a:t>
            </a:r>
          </a:p>
        </p:txBody>
      </p:sp>
      <p:sp>
        <p:nvSpPr>
          <p:cNvPr id="42" name="!!btn_lambda">
            <a:hlinkClick action="ppaction://hlinksldjump" r:id="rId6"/>
          </p:cNvPr>
          <p:cNvSpPr/>
          <p:nvPr/>
        </p:nvSpPr>
        <p:spPr>
          <a:xfrm>
            <a:off x="10707624" y="5715000"/>
            <a:ext cx="91440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λ = 5</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kicker"/>
          <p:cNvSpPr txBox="1"/>
          <p:nvPr/>
        </p:nvSpPr>
        <p:spPr>
          <a:xfrm>
            <a:off x="685800" y="365760"/>
            <a:ext cx="6400800" cy="365760"/>
          </a:xfrm>
          <a:prstGeom prst="rect">
            <a:avLst/>
          </a:prstGeom>
          <a:noFill/>
        </p:spPr>
        <p:txBody>
          <a:bodyPr wrap="square" lIns="0" rIns="0" tIns="0" bIns="0" anchor="t">
            <a:spAutoFit/>
          </a:bodyPr>
          <a:lstStyle/>
          <a:p>
            <a:pPr algn="l">
              <a:spcAft>
                <a:spcPts val="0"/>
              </a:spcAft>
            </a:pPr>
            <a:r>
              <a:rPr sz="1100" b="0" i="0">
                <a:solidFill>
                  <a:srgbClr val="5B5F68"/>
                </a:solidFill>
                <a:latin typeface="Segoe UI"/>
              </a:rPr>
              <a:t>TRY IT YOURSELF  ·  INTERACTIVE</a:t>
            </a:r>
          </a:p>
        </p:txBody>
      </p:sp>
      <p:sp>
        <p:nvSpPr>
          <p:cNvPr id="3" name="!!dtitle"/>
          <p:cNvSpPr txBox="1"/>
          <p:nvPr/>
        </p:nvSpPr>
        <p:spPr>
          <a:xfrm>
            <a:off x="685800" y="685800"/>
            <a:ext cx="640080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BOOSTING, LIVE</a:t>
            </a:r>
          </a:p>
        </p:txBody>
      </p:sp>
      <p:cxnSp>
        <p:nvCxnSpPr>
          <p:cNvPr id="4" name="!!axis"/>
          <p:cNvCxnSpPr/>
          <p:nvPr/>
        </p:nvCxnSpPr>
        <p:spPr>
          <a:xfrm>
            <a:off x="822960" y="5577840"/>
            <a:ext cx="5852160" cy="0"/>
          </a:xfrm>
          <a:prstGeom prst="line">
            <a:avLst/>
          </a:prstGeom>
          <a:ln w="952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5" name="!!split"/>
          <p:cNvCxnSpPr/>
          <p:nvPr/>
        </p:nvCxnSpPr>
        <p:spPr>
          <a:xfrm>
            <a:off x="3703320" y="1783080"/>
            <a:ext cx="0" cy="3794760"/>
          </a:xfrm>
          <a:prstGeom prst="line">
            <a:avLst/>
          </a:prstGeom>
          <a:ln w="12700">
            <a:solidFill>
              <a:srgbClr val="B9B9B6"/>
            </a:solidFill>
            <a:prstDash val="dash"/>
          </a:ln>
        </p:spPr>
        <p:style>
          <a:lnRef idx="2">
            <a:schemeClr val="accent1"/>
          </a:lnRef>
          <a:fillRef idx="0">
            <a:schemeClr val="accent1"/>
          </a:fillRef>
          <a:effectRef idx="1">
            <a:schemeClr val="accent1"/>
          </a:effectRef>
          <a:fontRef idx="minor">
            <a:schemeClr val="tx1"/>
          </a:fontRef>
        </p:style>
      </p:cxnSp>
      <p:sp>
        <p:nvSpPr>
          <p:cNvPr id="6" name="!!leaf1lbl"/>
          <p:cNvSpPr txBox="1"/>
          <p:nvPr/>
        </p:nvSpPr>
        <p:spPr>
          <a:xfrm>
            <a:off x="914400"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1: size &lt; 100 m²</a:t>
            </a:r>
          </a:p>
        </p:txBody>
      </p:sp>
      <p:sp>
        <p:nvSpPr>
          <p:cNvPr id="7" name="!!leaf2lbl"/>
          <p:cNvSpPr txBox="1"/>
          <p:nvPr/>
        </p:nvSpPr>
        <p:spPr>
          <a:xfrm>
            <a:off x="3749039"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2: size ≥ 100 m²</a:t>
            </a:r>
          </a:p>
        </p:txBody>
      </p:sp>
      <p:cxnSp>
        <p:nvCxnSpPr>
          <p:cNvPr id="8" name="!!res0"/>
          <p:cNvCxnSpPr/>
          <p:nvPr/>
        </p:nvCxnSpPr>
        <p:spPr>
          <a:xfrm>
            <a:off x="1417320" y="4360145"/>
            <a:ext cx="0" cy="303295"/>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9" name="!!pred0"/>
          <p:cNvSpPr/>
          <p:nvPr/>
        </p:nvSpPr>
        <p:spPr>
          <a:xfrm>
            <a:off x="978408" y="4314425"/>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e0"/>
          <p:cNvSpPr/>
          <p:nvPr/>
        </p:nvSpPr>
        <p:spPr>
          <a:xfrm>
            <a:off x="1298448" y="45445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al0"/>
          <p:cNvSpPr txBox="1"/>
          <p:nvPr/>
        </p:nvSpPr>
        <p:spPr>
          <a:xfrm>
            <a:off x="1892808" y="4232129"/>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1.33</a:t>
            </a:r>
          </a:p>
        </p:txBody>
      </p:sp>
      <p:sp>
        <p:nvSpPr>
          <p:cNvPr id="12" name="!!house0"/>
          <p:cNvSpPr txBox="1"/>
          <p:nvPr/>
        </p:nvSpPr>
        <p:spPr>
          <a:xfrm>
            <a:off x="777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A</a:t>
            </a:r>
          </a:p>
          <a:p>
            <a:pPr algn="ctr">
              <a:spcAft>
                <a:spcPts val="0"/>
              </a:spcAft>
            </a:pPr>
            <a:r>
              <a:rPr sz="1000" b="0" i="0">
                <a:solidFill>
                  <a:srgbClr val="5B5F68"/>
                </a:solidFill>
                <a:latin typeface="Segoe UI"/>
              </a:rPr>
              <a:t>70 m²</a:t>
            </a:r>
          </a:p>
        </p:txBody>
      </p:sp>
      <p:cxnSp>
        <p:nvCxnSpPr>
          <p:cNvPr id="13" name="!!res1"/>
          <p:cNvCxnSpPr/>
          <p:nvPr/>
        </p:nvCxnSpPr>
        <p:spPr>
          <a:xfrm flipV="1">
            <a:off x="2606040" y="4297679"/>
            <a:ext cx="0" cy="62466"/>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4" name="!!pred1"/>
          <p:cNvSpPr/>
          <p:nvPr/>
        </p:nvSpPr>
        <p:spPr>
          <a:xfrm>
            <a:off x="2167128" y="4314425"/>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e1"/>
          <p:cNvSpPr/>
          <p:nvPr/>
        </p:nvSpPr>
        <p:spPr>
          <a:xfrm>
            <a:off x="2487168" y="4178807"/>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al1"/>
          <p:cNvSpPr txBox="1"/>
          <p:nvPr/>
        </p:nvSpPr>
        <p:spPr>
          <a:xfrm>
            <a:off x="3081528" y="4232129"/>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1.33</a:t>
            </a:r>
          </a:p>
        </p:txBody>
      </p:sp>
      <p:sp>
        <p:nvSpPr>
          <p:cNvPr id="17" name="!!house1"/>
          <p:cNvSpPr txBox="1"/>
          <p:nvPr/>
        </p:nvSpPr>
        <p:spPr>
          <a:xfrm>
            <a:off x="196596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B</a:t>
            </a:r>
          </a:p>
          <a:p>
            <a:pPr algn="ctr">
              <a:spcAft>
                <a:spcPts val="0"/>
              </a:spcAft>
            </a:pPr>
            <a:r>
              <a:rPr sz="1000" b="0" i="0">
                <a:solidFill>
                  <a:srgbClr val="5B5F68"/>
                </a:solidFill>
                <a:latin typeface="Segoe UI"/>
              </a:rPr>
              <a:t>85 m²</a:t>
            </a:r>
          </a:p>
        </p:txBody>
      </p:sp>
      <p:cxnSp>
        <p:nvCxnSpPr>
          <p:cNvPr id="18" name="!!res2"/>
          <p:cNvCxnSpPr/>
          <p:nvPr/>
        </p:nvCxnSpPr>
        <p:spPr>
          <a:xfrm>
            <a:off x="4800600" y="2772174"/>
            <a:ext cx="0" cy="62465"/>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9" name="!!pred2"/>
          <p:cNvSpPr/>
          <p:nvPr/>
        </p:nvSpPr>
        <p:spPr>
          <a:xfrm>
            <a:off x="4361688" y="2726454"/>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e2"/>
          <p:cNvSpPr/>
          <p:nvPr/>
        </p:nvSpPr>
        <p:spPr>
          <a:xfrm>
            <a:off x="4681728" y="27157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al2"/>
          <p:cNvSpPr txBox="1"/>
          <p:nvPr/>
        </p:nvSpPr>
        <p:spPr>
          <a:xfrm>
            <a:off x="5276088" y="2644158"/>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3.07</a:t>
            </a:r>
          </a:p>
        </p:txBody>
      </p:sp>
      <p:sp>
        <p:nvSpPr>
          <p:cNvPr id="22" name="!!house2"/>
          <p:cNvSpPr txBox="1"/>
          <p:nvPr/>
        </p:nvSpPr>
        <p:spPr>
          <a:xfrm>
            <a:off x="416052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C</a:t>
            </a:r>
          </a:p>
          <a:p>
            <a:pPr algn="ctr">
              <a:spcAft>
                <a:spcPts val="0"/>
              </a:spcAft>
            </a:pPr>
            <a:r>
              <a:rPr sz="1000" b="0" i="0">
                <a:solidFill>
                  <a:srgbClr val="5B5F68"/>
                </a:solidFill>
                <a:latin typeface="Segoe UI"/>
              </a:rPr>
              <a:t>140 m²</a:t>
            </a:r>
          </a:p>
        </p:txBody>
      </p:sp>
      <p:cxnSp>
        <p:nvCxnSpPr>
          <p:cNvPr id="23" name="!!res3"/>
          <p:cNvCxnSpPr/>
          <p:nvPr/>
        </p:nvCxnSpPr>
        <p:spPr>
          <a:xfrm flipV="1">
            <a:off x="5989320" y="2468879"/>
            <a:ext cx="0" cy="303295"/>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24" name="!!pred3"/>
          <p:cNvSpPr/>
          <p:nvPr/>
        </p:nvSpPr>
        <p:spPr>
          <a:xfrm>
            <a:off x="5550408" y="2726454"/>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e3"/>
          <p:cNvSpPr/>
          <p:nvPr/>
        </p:nvSpPr>
        <p:spPr>
          <a:xfrm>
            <a:off x="5870448" y="235000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al3"/>
          <p:cNvSpPr txBox="1"/>
          <p:nvPr/>
        </p:nvSpPr>
        <p:spPr>
          <a:xfrm>
            <a:off x="6464808" y="2644158"/>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3.07</a:t>
            </a:r>
          </a:p>
        </p:txBody>
      </p:sp>
      <p:sp>
        <p:nvSpPr>
          <p:cNvPr id="27" name="!!house3"/>
          <p:cNvSpPr txBox="1"/>
          <p:nvPr/>
        </p:nvSpPr>
        <p:spPr>
          <a:xfrm>
            <a:off x="5349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D</a:t>
            </a:r>
          </a:p>
          <a:p>
            <a:pPr algn="ctr">
              <a:spcAft>
                <a:spcPts val="0"/>
              </a:spcAft>
            </a:pPr>
            <a:r>
              <a:rPr sz="1000" b="0" i="0">
                <a:solidFill>
                  <a:srgbClr val="5B5F68"/>
                </a:solidFill>
                <a:latin typeface="Segoe UI"/>
              </a:rPr>
              <a:t>160 m²</a:t>
            </a:r>
          </a:p>
        </p:txBody>
      </p:sp>
      <p:sp>
        <p:nvSpPr>
          <p:cNvPr id="28" name="!!legend"/>
          <p:cNvSpPr txBox="1"/>
          <p:nvPr/>
        </p:nvSpPr>
        <p:spPr>
          <a:xfrm>
            <a:off x="685800" y="6355080"/>
            <a:ext cx="6035040" cy="274320"/>
          </a:xfrm>
          <a:prstGeom prst="rect">
            <a:avLst/>
          </a:prstGeom>
          <a:noFill/>
        </p:spPr>
        <p:txBody>
          <a:bodyPr wrap="square" lIns="0" rIns="0" tIns="0" bIns="0" anchor="t">
            <a:spAutoFit/>
          </a:bodyPr>
          <a:lstStyle/>
          <a:p>
            <a:pPr algn="l">
              <a:spcAft>
                <a:spcPts val="0"/>
              </a:spcAft>
            </a:pPr>
            <a:r>
              <a:rPr sz="1000" b="0" i="0">
                <a:solidFill>
                  <a:srgbClr val="B5543A"/>
                </a:solidFill>
                <a:latin typeface="Segoe UI"/>
              </a:rPr>
              <a:t>●</a:t>
            </a:r>
            <a:r>
              <a:rPr sz="1000" b="0" i="0">
                <a:solidFill>
                  <a:srgbClr val="5B5F68"/>
                </a:solidFill>
                <a:latin typeface="Segoe UI"/>
              </a:rPr>
              <a:t>  true price ($100k)     </a:t>
            </a:r>
            <a:r>
              <a:rPr sz="1000" b="0" i="0">
                <a:solidFill>
                  <a:srgbClr val="262A33"/>
                </a:solidFill>
                <a:latin typeface="Segoe UI"/>
              </a:rPr>
              <a:t>▬</a:t>
            </a:r>
            <a:r>
              <a:rPr sz="1000" b="0" i="0">
                <a:solidFill>
                  <a:srgbClr val="5B5F68"/>
                </a:solidFill>
                <a:latin typeface="Segoe UI"/>
              </a:rPr>
              <a:t>  prediction     </a:t>
            </a:r>
            <a:r>
              <a:rPr sz="1000" b="0" i="0">
                <a:solidFill>
                  <a:srgbClr val="5B5F68"/>
                </a:solidFill>
                <a:latin typeface="Segoe UI"/>
                <a:hlinkClick r:id="rId2"/>
              </a:rPr>
              <a:t>web version</a:t>
            </a:r>
          </a:p>
        </p:txBody>
      </p:sp>
      <p:sp>
        <p:nvSpPr>
          <p:cNvPr id="29" name="!!round"/>
          <p:cNvSpPr txBox="1"/>
          <p:nvPr/>
        </p:nvSpPr>
        <p:spPr>
          <a:xfrm>
            <a:off x="7406640" y="411480"/>
            <a:ext cx="420624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ROUND 5</a:t>
            </a:r>
          </a:p>
        </p:txBody>
      </p:sp>
      <p:sp>
        <p:nvSpPr>
          <p:cNvPr id="30" name="!!params"/>
          <p:cNvSpPr txBox="1"/>
          <p:nvPr/>
        </p:nvSpPr>
        <p:spPr>
          <a:xfrm>
            <a:off x="7406640" y="1143000"/>
            <a:ext cx="4206240" cy="32004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λ = 1     η = 0.5     5 trees max</a:t>
            </a:r>
          </a:p>
        </p:txBody>
      </p:sp>
      <p:sp>
        <p:nvSpPr>
          <p:cNvPr id="31" name="!!rmse"/>
          <p:cNvSpPr txBox="1"/>
          <p:nvPr/>
        </p:nvSpPr>
        <p:spPr>
          <a:xfrm>
            <a:off x="7406640" y="1508760"/>
            <a:ext cx="2011680" cy="822960"/>
          </a:xfrm>
          <a:prstGeom prst="rect">
            <a:avLst/>
          </a:prstGeom>
          <a:noFill/>
        </p:spPr>
        <p:txBody>
          <a:bodyPr wrap="square" lIns="0" rIns="0" tIns="0" bIns="0" anchor="t">
            <a:spAutoFit/>
          </a:bodyPr>
          <a:lstStyle/>
          <a:p>
            <a:pPr algn="l">
              <a:lnSpc>
                <a:spcPct val="90000"/>
              </a:lnSpc>
              <a:spcAft>
                <a:spcPts val="0"/>
              </a:spcAft>
            </a:pPr>
            <a:r>
              <a:rPr sz="4000" b="0" i="0">
                <a:solidFill>
                  <a:srgbClr val="B5543A"/>
                </a:solidFill>
                <a:latin typeface="Bahnschrift Light"/>
              </a:rPr>
              <a:t>0.24</a:t>
            </a:r>
          </a:p>
          <a:p>
            <a:pPr algn="l">
              <a:lnSpc>
                <a:spcPct val="90000"/>
              </a:lnSpc>
              <a:spcAft>
                <a:spcPts val="0"/>
              </a:spcAft>
            </a:pPr>
            <a:r>
              <a:rPr sz="1100" b="0" i="0">
                <a:solidFill>
                  <a:srgbClr val="5B5F68"/>
                </a:solidFill>
                <a:latin typeface="Segoe UI"/>
              </a:rPr>
              <a:t>error (RMSE)</a:t>
            </a:r>
          </a:p>
        </p:txBody>
      </p:sp>
      <p:sp>
        <p:nvSpPr>
          <p:cNvPr id="32" name="!!hist0"/>
          <p:cNvSpPr/>
          <p:nvPr/>
        </p:nvSpPr>
        <p:spPr>
          <a:xfrm>
            <a:off x="9555480" y="1815218"/>
            <a:ext cx="246888" cy="699381"/>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ist1"/>
          <p:cNvSpPr/>
          <p:nvPr/>
        </p:nvSpPr>
        <p:spPr>
          <a:xfrm>
            <a:off x="9893807" y="2037269"/>
            <a:ext cx="246888" cy="477330"/>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ist2"/>
          <p:cNvSpPr/>
          <p:nvPr/>
        </p:nvSpPr>
        <p:spPr>
          <a:xfrm>
            <a:off x="10232136" y="2180360"/>
            <a:ext cx="246888" cy="334239"/>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ist3"/>
          <p:cNvSpPr/>
          <p:nvPr/>
        </p:nvSpPr>
        <p:spPr>
          <a:xfrm>
            <a:off x="10570463" y="2269440"/>
            <a:ext cx="246888" cy="245159"/>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ist4"/>
          <p:cNvSpPr/>
          <p:nvPr/>
        </p:nvSpPr>
        <p:spPr>
          <a:xfrm>
            <a:off x="10908792" y="2321820"/>
            <a:ext cx="246888" cy="192779"/>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hist5"/>
          <p:cNvSpPr/>
          <p:nvPr/>
        </p:nvSpPr>
        <p:spPr>
          <a:xfrm>
            <a:off x="11247119" y="2350377"/>
            <a:ext cx="246888" cy="164222"/>
          </a:xfrm>
          <a:prstGeom prst="rect">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histlbl"/>
          <p:cNvSpPr txBox="1"/>
          <p:nvPr/>
        </p:nvSpPr>
        <p:spPr>
          <a:xfrm>
            <a:off x="9555480" y="2560320"/>
            <a:ext cx="2103120" cy="274320"/>
          </a:xfrm>
          <a:prstGeom prst="rect">
            <a:avLst/>
          </a:prstGeom>
          <a:noFill/>
        </p:spPr>
        <p:txBody>
          <a:bodyPr wrap="square" lIns="0" rIns="0" tIns="0" bIns="0" anchor="t">
            <a:spAutoFit/>
          </a:bodyPr>
          <a:lstStyle/>
          <a:p>
            <a:pPr algn="l">
              <a:spcAft>
                <a:spcPts val="0"/>
              </a:spcAft>
            </a:pPr>
            <a:r>
              <a:rPr sz="900" b="0" i="0">
                <a:solidFill>
                  <a:srgbClr val="5B5F68"/>
                </a:solidFill>
                <a:latin typeface="Segoe UI"/>
              </a:rPr>
              <a:t>error after each tree</a:t>
            </a:r>
          </a:p>
        </p:txBody>
      </p:sp>
      <p:sp>
        <p:nvSpPr>
          <p:cNvPr id="39" name="!!calc"/>
          <p:cNvSpPr txBox="1"/>
          <p:nvPr/>
        </p:nvSpPr>
        <p:spPr>
          <a:xfrm>
            <a:off x="7406640" y="3017520"/>
            <a:ext cx="4206240" cy="2468880"/>
          </a:xfrm>
          <a:prstGeom prst="rect">
            <a:avLst/>
          </a:prstGeom>
          <a:noFill/>
        </p:spPr>
        <p:txBody>
          <a:bodyPr wrap="square" lIns="0" rIns="0" tIns="0" bIns="0" anchor="t">
            <a:spAutoFit/>
          </a:bodyPr>
          <a:lstStyle/>
          <a:p>
            <a:pPr algn="l">
              <a:spcAft>
                <a:spcPts val="300"/>
              </a:spcAft>
            </a:pPr>
            <a:r>
              <a:rPr sz="1200" b="0" i="0">
                <a:solidFill>
                  <a:srgbClr val="262A33"/>
                </a:solidFill>
                <a:latin typeface="Segoe UI Semibold"/>
              </a:rPr>
              <a:t>Tree 5 learns from the errors of round 4</a:t>
            </a:r>
          </a:p>
          <a:p>
            <a:pPr algn="l">
              <a:spcAft>
                <a:spcPts val="300"/>
              </a:spcAft>
            </a:pPr>
            <a:r>
              <a:rPr sz="1100" b="0" i="0">
                <a:solidFill>
                  <a:srgbClr val="262A33"/>
                </a:solidFill>
                <a:latin typeface="Segoe UI Semibold"/>
              </a:rPr>
              <a:t>Leaf 1 (houses A, B)</a:t>
            </a:r>
          </a:p>
          <a:p>
            <a:pPr algn="l">
              <a:spcAft>
                <a:spcPts val="300"/>
              </a:spcAft>
            </a:pPr>
            <a:r>
              <a:rPr sz="1100" b="0" i="0">
                <a:solidFill>
                  <a:srgbClr val="5B5F68"/>
                </a:solidFill>
                <a:latin typeface="Segoe UI"/>
              </a:rPr>
              <a:t>G = 0.40 + (-0.00) = 0.40     H = 2</a:t>
            </a:r>
          </a:p>
          <a:p>
            <a:pPr algn="l">
              <a:spcAft>
                <a:spcPts val="300"/>
              </a:spcAft>
            </a:pPr>
            <a:r>
              <a:rPr sz="1100" b="0" i="0">
                <a:solidFill>
                  <a:srgbClr val="5B5F68"/>
                </a:solidFill>
                <a:latin typeface="Segoe UI"/>
              </a:rPr>
              <a:t>w = −G/(H+λ) = -0.13     change = η·w = </a:t>
            </a:r>
            <a:r>
              <a:rPr sz="1100" b="0" i="0">
                <a:solidFill>
                  <a:srgbClr val="B5543A"/>
                </a:solidFill>
                <a:latin typeface="Segoe UI Semibold"/>
              </a:rPr>
              <a:t>-0.07</a:t>
            </a:r>
          </a:p>
          <a:p>
            <a:pPr algn="l">
              <a:spcAft>
                <a:spcPts val="300"/>
              </a:spcAft>
            </a:pPr>
            <a:r>
              <a:rPr sz="1100" b="0" i="0">
                <a:solidFill>
                  <a:srgbClr val="262A33"/>
                </a:solidFill>
                <a:latin typeface="Segoe UI Semibold"/>
              </a:rPr>
              <a:t>Leaf 2 (houses C, D)</a:t>
            </a:r>
          </a:p>
          <a:p>
            <a:pPr algn="l">
              <a:spcAft>
                <a:spcPts val="300"/>
              </a:spcAft>
            </a:pPr>
            <a:r>
              <a:rPr sz="1100" b="0" i="0">
                <a:solidFill>
                  <a:srgbClr val="5B5F68"/>
                </a:solidFill>
                <a:latin typeface="Segoe UI"/>
              </a:rPr>
              <a:t>G = 0.00 + (-0.40) = -0.40     H = 2</a:t>
            </a:r>
          </a:p>
          <a:p>
            <a:pPr algn="l">
              <a:spcAft>
                <a:spcPts val="300"/>
              </a:spcAft>
            </a:pPr>
            <a:r>
              <a:rPr sz="1100" b="0" i="0">
                <a:solidFill>
                  <a:srgbClr val="5B5F68"/>
                </a:solidFill>
                <a:latin typeface="Segoe UI"/>
              </a:rPr>
              <a:t>w = −G/(H+λ) = +0.13     change = η·w = </a:t>
            </a:r>
            <a:r>
              <a:rPr sz="1100" b="0" i="0">
                <a:solidFill>
                  <a:srgbClr val="B5543A"/>
                </a:solidFill>
                <a:latin typeface="Segoe UI Semibold"/>
              </a:rPr>
              <a:t>+0.07</a:t>
            </a:r>
          </a:p>
        </p:txBody>
      </p:sp>
      <p:sp>
        <p:nvSpPr>
          <p:cNvPr id="40" name="!!btn_back">
            <a:hlinkClick action="ppaction://hlinksldjump" r:id="rId3"/>
          </p:cNvPr>
          <p:cNvSpPr/>
          <p:nvPr/>
        </p:nvSpPr>
        <p:spPr>
          <a:xfrm>
            <a:off x="7406640" y="5715000"/>
            <a:ext cx="96012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  BACK</a:t>
            </a:r>
          </a:p>
        </p:txBody>
      </p:sp>
      <p:sp>
        <p:nvSpPr>
          <p:cNvPr id="41" name="!!btn_next"/>
          <p:cNvSpPr/>
          <p:nvPr/>
        </p:nvSpPr>
        <p:spPr>
          <a:xfrm>
            <a:off x="8476488" y="5715000"/>
            <a:ext cx="1463040" cy="457200"/>
          </a:xfrm>
          <a:prstGeom prst="roundRect">
            <a:avLst>
              <a:gd name="adj" fmla="val 50000"/>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E5E4E2"/>
                </a:solidFill>
                <a:latin typeface="Segoe UI Semibold"/>
              </a:rPr>
              <a:t>ADD TREE  ▶</a:t>
            </a:r>
          </a:p>
        </p:txBody>
      </p:sp>
      <p:sp>
        <p:nvSpPr>
          <p:cNvPr id="42" name="!!btn_reset">
            <a:hlinkClick action="ppaction://hlinksldjump" r:id="rId4"/>
          </p:cNvPr>
          <p:cNvSpPr/>
          <p:nvPr/>
        </p:nvSpPr>
        <p:spPr>
          <a:xfrm>
            <a:off x="10049256" y="5715000"/>
            <a:ext cx="54864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400">
                <a:solidFill>
                  <a:srgbClr val="262A33"/>
                </a:solidFill>
                <a:latin typeface="Segoe UI Semibold"/>
              </a:rPr>
              <a:t>↺</a:t>
            </a:r>
          </a:p>
        </p:txBody>
      </p:sp>
      <p:sp>
        <p:nvSpPr>
          <p:cNvPr id="43" name="!!btn_lambda">
            <a:hlinkClick action="ppaction://hlinksldjump" r:id="rId5"/>
          </p:cNvPr>
          <p:cNvSpPr/>
          <p:nvPr/>
        </p:nvSpPr>
        <p:spPr>
          <a:xfrm>
            <a:off x="10707624" y="5715000"/>
            <a:ext cx="91440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λ = 5</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5E4E2"/>
        </a:solidFill>
        <a:effectLst/>
      </p:bgPr>
    </p:bg>
    <p:spTree>
      <p:nvGrpSpPr>
        <p:cNvPr id="1" name=""/>
        <p:cNvGrpSpPr/>
        <p:nvPr/>
      </p:nvGrpSpPr>
      <p:grpSpPr/>
      <p:sp>
        <p:nvSpPr>
          <p:cNvPr id="2" name="!!kicker"/>
          <p:cNvSpPr txBox="1"/>
          <p:nvPr/>
        </p:nvSpPr>
        <p:spPr>
          <a:xfrm>
            <a:off x="685800" y="365760"/>
            <a:ext cx="6400800" cy="365760"/>
          </a:xfrm>
          <a:prstGeom prst="rect">
            <a:avLst/>
          </a:prstGeom>
          <a:noFill/>
        </p:spPr>
        <p:txBody>
          <a:bodyPr wrap="square" lIns="0" rIns="0" tIns="0" bIns="0" anchor="t">
            <a:spAutoFit/>
          </a:bodyPr>
          <a:lstStyle/>
          <a:p>
            <a:pPr algn="l">
              <a:spcAft>
                <a:spcPts val="0"/>
              </a:spcAft>
            </a:pPr>
            <a:r>
              <a:rPr sz="1100" b="0" i="0">
                <a:solidFill>
                  <a:srgbClr val="5B5F68"/>
                </a:solidFill>
                <a:latin typeface="Segoe UI"/>
              </a:rPr>
              <a:t>TRY IT YOURSELF  ·  INTERACTIVE</a:t>
            </a:r>
          </a:p>
        </p:txBody>
      </p:sp>
      <p:sp>
        <p:nvSpPr>
          <p:cNvPr id="3" name="!!dtitle"/>
          <p:cNvSpPr txBox="1"/>
          <p:nvPr/>
        </p:nvSpPr>
        <p:spPr>
          <a:xfrm>
            <a:off x="685800" y="685800"/>
            <a:ext cx="640080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BOOSTING, LIVE</a:t>
            </a:r>
          </a:p>
        </p:txBody>
      </p:sp>
      <p:cxnSp>
        <p:nvCxnSpPr>
          <p:cNvPr id="4" name="!!axis"/>
          <p:cNvCxnSpPr/>
          <p:nvPr/>
        </p:nvCxnSpPr>
        <p:spPr>
          <a:xfrm>
            <a:off x="822960" y="5577840"/>
            <a:ext cx="5852160" cy="0"/>
          </a:xfrm>
          <a:prstGeom prst="line">
            <a:avLst/>
          </a:prstGeom>
          <a:ln w="952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5" name="!!split"/>
          <p:cNvCxnSpPr/>
          <p:nvPr/>
        </p:nvCxnSpPr>
        <p:spPr>
          <a:xfrm>
            <a:off x="3703320" y="1783080"/>
            <a:ext cx="0" cy="3794760"/>
          </a:xfrm>
          <a:prstGeom prst="line">
            <a:avLst/>
          </a:prstGeom>
          <a:ln w="12700">
            <a:solidFill>
              <a:srgbClr val="B9B9B6"/>
            </a:solidFill>
            <a:prstDash val="dash"/>
          </a:ln>
        </p:spPr>
        <p:style>
          <a:lnRef idx="2">
            <a:schemeClr val="accent1"/>
          </a:lnRef>
          <a:fillRef idx="0">
            <a:schemeClr val="accent1"/>
          </a:fillRef>
          <a:effectRef idx="1">
            <a:schemeClr val="accent1"/>
          </a:effectRef>
          <a:fontRef idx="minor">
            <a:schemeClr val="tx1"/>
          </a:fontRef>
        </p:style>
      </p:cxnSp>
      <p:sp>
        <p:nvSpPr>
          <p:cNvPr id="6" name="!!leaf1lbl"/>
          <p:cNvSpPr txBox="1"/>
          <p:nvPr/>
        </p:nvSpPr>
        <p:spPr>
          <a:xfrm>
            <a:off x="914400"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1: size &lt; 100 m²</a:t>
            </a:r>
          </a:p>
        </p:txBody>
      </p:sp>
      <p:sp>
        <p:nvSpPr>
          <p:cNvPr id="7" name="!!leaf2lbl"/>
          <p:cNvSpPr txBox="1"/>
          <p:nvPr/>
        </p:nvSpPr>
        <p:spPr>
          <a:xfrm>
            <a:off x="3749039"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2: size ≥ 100 m²</a:t>
            </a:r>
          </a:p>
        </p:txBody>
      </p:sp>
      <p:cxnSp>
        <p:nvCxnSpPr>
          <p:cNvPr id="8" name="!!res0"/>
          <p:cNvCxnSpPr/>
          <p:nvPr/>
        </p:nvCxnSpPr>
        <p:spPr>
          <a:xfrm>
            <a:off x="1417320" y="3566159"/>
            <a:ext cx="0" cy="1097281"/>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9" name="!!pred0"/>
          <p:cNvSpPr/>
          <p:nvPr/>
        </p:nvSpPr>
        <p:spPr>
          <a:xfrm>
            <a:off x="978408" y="3520439"/>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e0"/>
          <p:cNvSpPr/>
          <p:nvPr/>
        </p:nvSpPr>
        <p:spPr>
          <a:xfrm>
            <a:off x="1298448" y="45445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al0"/>
          <p:cNvSpPr txBox="1"/>
          <p:nvPr/>
        </p:nvSpPr>
        <p:spPr>
          <a:xfrm>
            <a:off x="1892808" y="343814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2.20</a:t>
            </a:r>
          </a:p>
        </p:txBody>
      </p:sp>
      <p:sp>
        <p:nvSpPr>
          <p:cNvPr id="12" name="!!house0"/>
          <p:cNvSpPr txBox="1"/>
          <p:nvPr/>
        </p:nvSpPr>
        <p:spPr>
          <a:xfrm>
            <a:off x="777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A</a:t>
            </a:r>
          </a:p>
          <a:p>
            <a:pPr algn="ctr">
              <a:spcAft>
                <a:spcPts val="0"/>
              </a:spcAft>
            </a:pPr>
            <a:r>
              <a:rPr sz="1000" b="0" i="0">
                <a:solidFill>
                  <a:srgbClr val="5B5F68"/>
                </a:solidFill>
                <a:latin typeface="Segoe UI"/>
              </a:rPr>
              <a:t>70 m²</a:t>
            </a:r>
          </a:p>
        </p:txBody>
      </p:sp>
      <p:cxnSp>
        <p:nvCxnSpPr>
          <p:cNvPr id="13" name="!!res1"/>
          <p:cNvCxnSpPr/>
          <p:nvPr/>
        </p:nvCxnSpPr>
        <p:spPr>
          <a:xfrm>
            <a:off x="2606040" y="3566159"/>
            <a:ext cx="0" cy="731520"/>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4" name="!!pred1"/>
          <p:cNvSpPr/>
          <p:nvPr/>
        </p:nvSpPr>
        <p:spPr>
          <a:xfrm>
            <a:off x="2167128" y="3520439"/>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e1"/>
          <p:cNvSpPr/>
          <p:nvPr/>
        </p:nvSpPr>
        <p:spPr>
          <a:xfrm>
            <a:off x="2487168" y="4178807"/>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al1"/>
          <p:cNvSpPr txBox="1"/>
          <p:nvPr/>
        </p:nvSpPr>
        <p:spPr>
          <a:xfrm>
            <a:off x="3081528" y="343814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2.20</a:t>
            </a:r>
          </a:p>
        </p:txBody>
      </p:sp>
      <p:sp>
        <p:nvSpPr>
          <p:cNvPr id="17" name="!!house1"/>
          <p:cNvSpPr txBox="1"/>
          <p:nvPr/>
        </p:nvSpPr>
        <p:spPr>
          <a:xfrm>
            <a:off x="196596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B</a:t>
            </a:r>
          </a:p>
          <a:p>
            <a:pPr algn="ctr">
              <a:spcAft>
                <a:spcPts val="0"/>
              </a:spcAft>
            </a:pPr>
            <a:r>
              <a:rPr sz="1000" b="0" i="0">
                <a:solidFill>
                  <a:srgbClr val="5B5F68"/>
                </a:solidFill>
                <a:latin typeface="Segoe UI"/>
              </a:rPr>
              <a:t>85 m²</a:t>
            </a:r>
          </a:p>
        </p:txBody>
      </p:sp>
      <p:cxnSp>
        <p:nvCxnSpPr>
          <p:cNvPr id="18" name="!!res2"/>
          <p:cNvCxnSpPr/>
          <p:nvPr/>
        </p:nvCxnSpPr>
        <p:spPr>
          <a:xfrm flipV="1">
            <a:off x="4800600" y="2834639"/>
            <a:ext cx="0" cy="731520"/>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9" name="!!pred2"/>
          <p:cNvSpPr/>
          <p:nvPr/>
        </p:nvSpPr>
        <p:spPr>
          <a:xfrm>
            <a:off x="4361688" y="3520439"/>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e2"/>
          <p:cNvSpPr/>
          <p:nvPr/>
        </p:nvSpPr>
        <p:spPr>
          <a:xfrm>
            <a:off x="4681728" y="27157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al2"/>
          <p:cNvSpPr txBox="1"/>
          <p:nvPr/>
        </p:nvSpPr>
        <p:spPr>
          <a:xfrm>
            <a:off x="5276088" y="343814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2.20</a:t>
            </a:r>
          </a:p>
        </p:txBody>
      </p:sp>
      <p:sp>
        <p:nvSpPr>
          <p:cNvPr id="22" name="!!house2"/>
          <p:cNvSpPr txBox="1"/>
          <p:nvPr/>
        </p:nvSpPr>
        <p:spPr>
          <a:xfrm>
            <a:off x="416052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C</a:t>
            </a:r>
          </a:p>
          <a:p>
            <a:pPr algn="ctr">
              <a:spcAft>
                <a:spcPts val="0"/>
              </a:spcAft>
            </a:pPr>
            <a:r>
              <a:rPr sz="1000" b="0" i="0">
                <a:solidFill>
                  <a:srgbClr val="5B5F68"/>
                </a:solidFill>
                <a:latin typeface="Segoe UI"/>
              </a:rPr>
              <a:t>140 m²</a:t>
            </a:r>
          </a:p>
        </p:txBody>
      </p:sp>
      <p:cxnSp>
        <p:nvCxnSpPr>
          <p:cNvPr id="23" name="!!res3"/>
          <p:cNvCxnSpPr/>
          <p:nvPr/>
        </p:nvCxnSpPr>
        <p:spPr>
          <a:xfrm flipV="1">
            <a:off x="5989320" y="2468879"/>
            <a:ext cx="0" cy="1097280"/>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24" name="!!pred3"/>
          <p:cNvSpPr/>
          <p:nvPr/>
        </p:nvSpPr>
        <p:spPr>
          <a:xfrm>
            <a:off x="5550408" y="3520439"/>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e3"/>
          <p:cNvSpPr/>
          <p:nvPr/>
        </p:nvSpPr>
        <p:spPr>
          <a:xfrm>
            <a:off x="5870448" y="235000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al3"/>
          <p:cNvSpPr txBox="1"/>
          <p:nvPr/>
        </p:nvSpPr>
        <p:spPr>
          <a:xfrm>
            <a:off x="6464808" y="343814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2.20</a:t>
            </a:r>
          </a:p>
        </p:txBody>
      </p:sp>
      <p:sp>
        <p:nvSpPr>
          <p:cNvPr id="27" name="!!house3"/>
          <p:cNvSpPr txBox="1"/>
          <p:nvPr/>
        </p:nvSpPr>
        <p:spPr>
          <a:xfrm>
            <a:off x="5349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D</a:t>
            </a:r>
          </a:p>
          <a:p>
            <a:pPr algn="ctr">
              <a:spcAft>
                <a:spcPts val="0"/>
              </a:spcAft>
            </a:pPr>
            <a:r>
              <a:rPr sz="1000" b="0" i="0">
                <a:solidFill>
                  <a:srgbClr val="5B5F68"/>
                </a:solidFill>
                <a:latin typeface="Segoe UI"/>
              </a:rPr>
              <a:t>160 m²</a:t>
            </a:r>
          </a:p>
        </p:txBody>
      </p:sp>
      <p:sp>
        <p:nvSpPr>
          <p:cNvPr id="28" name="!!legend"/>
          <p:cNvSpPr txBox="1"/>
          <p:nvPr/>
        </p:nvSpPr>
        <p:spPr>
          <a:xfrm>
            <a:off x="685800" y="6355080"/>
            <a:ext cx="6035040" cy="274320"/>
          </a:xfrm>
          <a:prstGeom prst="rect">
            <a:avLst/>
          </a:prstGeom>
          <a:noFill/>
        </p:spPr>
        <p:txBody>
          <a:bodyPr wrap="square" lIns="0" rIns="0" tIns="0" bIns="0" anchor="t">
            <a:spAutoFit/>
          </a:bodyPr>
          <a:lstStyle/>
          <a:p>
            <a:pPr algn="l">
              <a:spcAft>
                <a:spcPts val="0"/>
              </a:spcAft>
            </a:pPr>
            <a:r>
              <a:rPr sz="1000" b="0" i="0">
                <a:solidFill>
                  <a:srgbClr val="B5543A"/>
                </a:solidFill>
                <a:latin typeface="Segoe UI"/>
              </a:rPr>
              <a:t>●</a:t>
            </a:r>
            <a:r>
              <a:rPr sz="1000" b="0" i="0">
                <a:solidFill>
                  <a:srgbClr val="5B5F68"/>
                </a:solidFill>
                <a:latin typeface="Segoe UI"/>
              </a:rPr>
              <a:t>  true price ($100k)     </a:t>
            </a:r>
            <a:r>
              <a:rPr sz="1000" b="0" i="0">
                <a:solidFill>
                  <a:srgbClr val="262A33"/>
                </a:solidFill>
                <a:latin typeface="Segoe UI"/>
              </a:rPr>
              <a:t>▬</a:t>
            </a:r>
            <a:r>
              <a:rPr sz="1000" b="0" i="0">
                <a:solidFill>
                  <a:srgbClr val="5B5F68"/>
                </a:solidFill>
                <a:latin typeface="Segoe UI"/>
              </a:rPr>
              <a:t>  prediction     </a:t>
            </a:r>
            <a:r>
              <a:rPr sz="1000" b="0" i="0">
                <a:solidFill>
                  <a:srgbClr val="5B5F68"/>
                </a:solidFill>
                <a:latin typeface="Segoe UI"/>
                <a:hlinkClick r:id="rId2"/>
              </a:rPr>
              <a:t>web version</a:t>
            </a:r>
          </a:p>
        </p:txBody>
      </p:sp>
      <p:sp>
        <p:nvSpPr>
          <p:cNvPr id="29" name="!!round"/>
          <p:cNvSpPr txBox="1"/>
          <p:nvPr/>
        </p:nvSpPr>
        <p:spPr>
          <a:xfrm>
            <a:off x="7406640" y="411480"/>
            <a:ext cx="420624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ROUND 0</a:t>
            </a:r>
          </a:p>
        </p:txBody>
      </p:sp>
      <p:sp>
        <p:nvSpPr>
          <p:cNvPr id="30" name="!!params"/>
          <p:cNvSpPr txBox="1"/>
          <p:nvPr/>
        </p:nvSpPr>
        <p:spPr>
          <a:xfrm>
            <a:off x="7406640" y="1143000"/>
            <a:ext cx="4206240" cy="32004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λ = 5     η = 0.5     5 trees max</a:t>
            </a:r>
          </a:p>
        </p:txBody>
      </p:sp>
      <p:sp>
        <p:nvSpPr>
          <p:cNvPr id="31" name="!!rmse"/>
          <p:cNvSpPr txBox="1"/>
          <p:nvPr/>
        </p:nvSpPr>
        <p:spPr>
          <a:xfrm>
            <a:off x="7406640" y="1508760"/>
            <a:ext cx="2011680" cy="822960"/>
          </a:xfrm>
          <a:prstGeom prst="rect">
            <a:avLst/>
          </a:prstGeom>
          <a:noFill/>
        </p:spPr>
        <p:txBody>
          <a:bodyPr wrap="square" lIns="0" rIns="0" tIns="0" bIns="0" anchor="t">
            <a:spAutoFit/>
          </a:bodyPr>
          <a:lstStyle/>
          <a:p>
            <a:pPr algn="l">
              <a:lnSpc>
                <a:spcPct val="90000"/>
              </a:lnSpc>
              <a:spcAft>
                <a:spcPts val="0"/>
              </a:spcAft>
            </a:pPr>
            <a:r>
              <a:rPr sz="4000" b="0" i="0">
                <a:solidFill>
                  <a:srgbClr val="B5543A"/>
                </a:solidFill>
                <a:latin typeface="Bahnschrift Light"/>
              </a:rPr>
              <a:t>1.02</a:t>
            </a:r>
          </a:p>
          <a:p>
            <a:pPr algn="l">
              <a:lnSpc>
                <a:spcPct val="90000"/>
              </a:lnSpc>
              <a:spcAft>
                <a:spcPts val="0"/>
              </a:spcAft>
            </a:pPr>
            <a:r>
              <a:rPr sz="1100" b="0" i="0">
                <a:solidFill>
                  <a:srgbClr val="5B5F68"/>
                </a:solidFill>
                <a:latin typeface="Segoe UI"/>
              </a:rPr>
              <a:t>error (RMSE)</a:t>
            </a:r>
          </a:p>
        </p:txBody>
      </p:sp>
      <p:sp>
        <p:nvSpPr>
          <p:cNvPr id="32" name="!!hist0"/>
          <p:cNvSpPr/>
          <p:nvPr/>
        </p:nvSpPr>
        <p:spPr>
          <a:xfrm>
            <a:off x="9555480" y="1815218"/>
            <a:ext cx="246888" cy="699381"/>
          </a:xfrm>
          <a:prstGeom prst="rect">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istlbl"/>
          <p:cNvSpPr txBox="1"/>
          <p:nvPr/>
        </p:nvSpPr>
        <p:spPr>
          <a:xfrm>
            <a:off x="9555480" y="2560320"/>
            <a:ext cx="2103120" cy="274320"/>
          </a:xfrm>
          <a:prstGeom prst="rect">
            <a:avLst/>
          </a:prstGeom>
          <a:noFill/>
        </p:spPr>
        <p:txBody>
          <a:bodyPr wrap="square" lIns="0" rIns="0" tIns="0" bIns="0" anchor="t">
            <a:spAutoFit/>
          </a:bodyPr>
          <a:lstStyle/>
          <a:p>
            <a:pPr algn="l">
              <a:spcAft>
                <a:spcPts val="0"/>
              </a:spcAft>
            </a:pPr>
            <a:r>
              <a:rPr sz="900" b="0" i="0">
                <a:solidFill>
                  <a:srgbClr val="5B5F68"/>
                </a:solidFill>
                <a:latin typeface="Segoe UI"/>
              </a:rPr>
              <a:t>error after each tree</a:t>
            </a:r>
          </a:p>
        </p:txBody>
      </p:sp>
      <p:sp>
        <p:nvSpPr>
          <p:cNvPr id="34" name="!!calc"/>
          <p:cNvSpPr txBox="1"/>
          <p:nvPr/>
        </p:nvSpPr>
        <p:spPr>
          <a:xfrm>
            <a:off x="7406640" y="3017520"/>
            <a:ext cx="4206240" cy="2377440"/>
          </a:xfrm>
          <a:prstGeom prst="rect">
            <a:avLst/>
          </a:prstGeom>
          <a:noFill/>
        </p:spPr>
        <p:txBody>
          <a:bodyPr wrap="square" lIns="0" rIns="0" tIns="0" bIns="0" anchor="t">
            <a:spAutoFit/>
          </a:bodyPr>
          <a:lstStyle/>
          <a:p>
            <a:pPr algn="l">
              <a:spcAft>
                <a:spcPts val="600"/>
              </a:spcAft>
            </a:pPr>
            <a:r>
              <a:rPr sz="1300" b="0" i="0">
                <a:solidFill>
                  <a:srgbClr val="262A33"/>
                </a:solidFill>
                <a:latin typeface="Segoe UI Semibold"/>
              </a:rPr>
              <a:t>Start</a:t>
            </a:r>
          </a:p>
          <a:p>
            <a:pPr algn="l">
              <a:spcAft>
                <a:spcPts val="600"/>
              </a:spcAft>
            </a:pPr>
            <a:r>
              <a:rPr sz="1200" b="0" i="0">
                <a:solidFill>
                  <a:srgbClr val="5B5F68"/>
                </a:solidFill>
                <a:latin typeface="Segoe UI"/>
              </a:rPr>
              <a:t>Every house gets the same first guess: the average price, 2.2.</a:t>
            </a:r>
          </a:p>
          <a:p>
            <a:pPr algn="l">
              <a:spcAft>
                <a:spcPts val="600"/>
              </a:spcAft>
            </a:pPr>
            <a:r>
              <a:rPr sz="1200" b="0" i="0">
                <a:solidFill>
                  <a:srgbClr val="5B5F68"/>
                </a:solidFill>
                <a:latin typeface="Segoe UI"/>
              </a:rPr>
              <a:t>Press ADD TREE: each new tree learns from the errors (residuals) of the current prediction.</a:t>
            </a:r>
          </a:p>
        </p:txBody>
      </p:sp>
      <p:sp>
        <p:nvSpPr>
          <p:cNvPr id="35" name="!!btn_back"/>
          <p:cNvSpPr/>
          <p:nvPr/>
        </p:nvSpPr>
        <p:spPr>
          <a:xfrm>
            <a:off x="7406640" y="5715000"/>
            <a:ext cx="960120" cy="457200"/>
          </a:xfrm>
          <a:prstGeom prst="roundRect">
            <a:avLst>
              <a:gd name="adj" fmla="val 50000"/>
            </a:avLst>
          </a:prstGeom>
          <a:noFill/>
          <a:ln w="15875">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B9B9B6"/>
                </a:solidFill>
                <a:latin typeface="Segoe UI Semibold"/>
              </a:rPr>
              <a:t>◀  BACK</a:t>
            </a:r>
          </a:p>
        </p:txBody>
      </p:sp>
      <p:sp>
        <p:nvSpPr>
          <p:cNvPr id="36" name="!!btn_next">
            <a:hlinkClick action="ppaction://hlinksldjump" r:id="rId3"/>
          </p:cNvPr>
          <p:cNvSpPr/>
          <p:nvPr/>
        </p:nvSpPr>
        <p:spPr>
          <a:xfrm>
            <a:off x="8476488" y="5715000"/>
            <a:ext cx="1463040" cy="45720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E5E4E2"/>
                </a:solidFill>
                <a:latin typeface="Segoe UI Semibold"/>
              </a:rPr>
              <a:t>ADD TREE  ▶</a:t>
            </a:r>
          </a:p>
        </p:txBody>
      </p:sp>
      <p:sp>
        <p:nvSpPr>
          <p:cNvPr id="37" name="!!btn_reset">
            <a:hlinkClick action="ppaction://hlinksldjump" r:id="rId4"/>
          </p:cNvPr>
          <p:cNvSpPr/>
          <p:nvPr/>
        </p:nvSpPr>
        <p:spPr>
          <a:xfrm>
            <a:off x="10049256" y="5715000"/>
            <a:ext cx="54864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400">
                <a:solidFill>
                  <a:srgbClr val="262A33"/>
                </a:solidFill>
                <a:latin typeface="Segoe UI Semibold"/>
              </a:rPr>
              <a:t>↺</a:t>
            </a:r>
          </a:p>
        </p:txBody>
      </p:sp>
      <p:sp>
        <p:nvSpPr>
          <p:cNvPr id="38" name="!!btn_lambda">
            <a:hlinkClick action="ppaction://hlinksldjump" r:id="rId5"/>
          </p:cNvPr>
          <p:cNvSpPr/>
          <p:nvPr/>
        </p:nvSpPr>
        <p:spPr>
          <a:xfrm>
            <a:off x="10707624" y="5715000"/>
            <a:ext cx="91440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λ = 1</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5E4E2"/>
        </a:solidFill>
        <a:effectLst/>
      </p:bgPr>
    </p:bg>
    <p:spTree>
      <p:nvGrpSpPr>
        <p:cNvPr id="1" name=""/>
        <p:cNvGrpSpPr/>
        <p:nvPr/>
      </p:nvGrpSpPr>
      <p:grpSpPr/>
      <p:sp>
        <p:nvSpPr>
          <p:cNvPr id="2" name="!!kicker"/>
          <p:cNvSpPr txBox="1"/>
          <p:nvPr/>
        </p:nvSpPr>
        <p:spPr>
          <a:xfrm>
            <a:off x="685800" y="365760"/>
            <a:ext cx="6400800" cy="365760"/>
          </a:xfrm>
          <a:prstGeom prst="rect">
            <a:avLst/>
          </a:prstGeom>
          <a:noFill/>
        </p:spPr>
        <p:txBody>
          <a:bodyPr wrap="square" lIns="0" rIns="0" tIns="0" bIns="0" anchor="t">
            <a:spAutoFit/>
          </a:bodyPr>
          <a:lstStyle/>
          <a:p>
            <a:pPr algn="l">
              <a:spcAft>
                <a:spcPts val="0"/>
              </a:spcAft>
            </a:pPr>
            <a:r>
              <a:rPr sz="1100" b="0" i="0">
                <a:solidFill>
                  <a:srgbClr val="5B5F68"/>
                </a:solidFill>
                <a:latin typeface="Segoe UI"/>
              </a:rPr>
              <a:t>TRY IT YOURSELF  ·  INTERACTIVE</a:t>
            </a:r>
          </a:p>
        </p:txBody>
      </p:sp>
      <p:sp>
        <p:nvSpPr>
          <p:cNvPr id="3" name="!!dtitle"/>
          <p:cNvSpPr txBox="1"/>
          <p:nvPr/>
        </p:nvSpPr>
        <p:spPr>
          <a:xfrm>
            <a:off x="685800" y="685800"/>
            <a:ext cx="640080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BOOSTING, LIVE</a:t>
            </a:r>
          </a:p>
        </p:txBody>
      </p:sp>
      <p:cxnSp>
        <p:nvCxnSpPr>
          <p:cNvPr id="4" name="!!axis"/>
          <p:cNvCxnSpPr/>
          <p:nvPr/>
        </p:nvCxnSpPr>
        <p:spPr>
          <a:xfrm>
            <a:off x="822960" y="5577840"/>
            <a:ext cx="5852160" cy="0"/>
          </a:xfrm>
          <a:prstGeom prst="line">
            <a:avLst/>
          </a:prstGeom>
          <a:ln w="952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5" name="!!split"/>
          <p:cNvCxnSpPr/>
          <p:nvPr/>
        </p:nvCxnSpPr>
        <p:spPr>
          <a:xfrm>
            <a:off x="3703320" y="1783080"/>
            <a:ext cx="0" cy="3794760"/>
          </a:xfrm>
          <a:prstGeom prst="line">
            <a:avLst/>
          </a:prstGeom>
          <a:ln w="12700">
            <a:solidFill>
              <a:srgbClr val="B9B9B6"/>
            </a:solidFill>
            <a:prstDash val="dash"/>
          </a:ln>
        </p:spPr>
        <p:style>
          <a:lnRef idx="2">
            <a:schemeClr val="accent1"/>
          </a:lnRef>
          <a:fillRef idx="0">
            <a:schemeClr val="accent1"/>
          </a:fillRef>
          <a:effectRef idx="1">
            <a:schemeClr val="accent1"/>
          </a:effectRef>
          <a:fontRef idx="minor">
            <a:schemeClr val="tx1"/>
          </a:fontRef>
        </p:style>
      </p:cxnSp>
      <p:sp>
        <p:nvSpPr>
          <p:cNvPr id="6" name="!!leaf1lbl"/>
          <p:cNvSpPr txBox="1"/>
          <p:nvPr/>
        </p:nvSpPr>
        <p:spPr>
          <a:xfrm>
            <a:off x="914400"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1: size &lt; 100 m²</a:t>
            </a:r>
          </a:p>
        </p:txBody>
      </p:sp>
      <p:sp>
        <p:nvSpPr>
          <p:cNvPr id="7" name="!!leaf2lbl"/>
          <p:cNvSpPr txBox="1"/>
          <p:nvPr/>
        </p:nvSpPr>
        <p:spPr>
          <a:xfrm>
            <a:off x="3749039"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2: size ≥ 100 m²</a:t>
            </a:r>
          </a:p>
        </p:txBody>
      </p:sp>
      <p:cxnSp>
        <p:nvCxnSpPr>
          <p:cNvPr id="8" name="!!res0"/>
          <p:cNvCxnSpPr/>
          <p:nvPr/>
        </p:nvCxnSpPr>
        <p:spPr>
          <a:xfrm>
            <a:off x="1417320" y="3696788"/>
            <a:ext cx="0" cy="966652"/>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9" name="!!pred0"/>
          <p:cNvSpPr/>
          <p:nvPr/>
        </p:nvSpPr>
        <p:spPr>
          <a:xfrm>
            <a:off x="978408" y="3651068"/>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e0"/>
          <p:cNvSpPr/>
          <p:nvPr/>
        </p:nvSpPr>
        <p:spPr>
          <a:xfrm>
            <a:off x="1298448" y="45445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al0"/>
          <p:cNvSpPr txBox="1"/>
          <p:nvPr/>
        </p:nvSpPr>
        <p:spPr>
          <a:xfrm>
            <a:off x="1892808" y="3568772"/>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2.06</a:t>
            </a:r>
          </a:p>
        </p:txBody>
      </p:sp>
      <p:sp>
        <p:nvSpPr>
          <p:cNvPr id="12" name="!!house0"/>
          <p:cNvSpPr txBox="1"/>
          <p:nvPr/>
        </p:nvSpPr>
        <p:spPr>
          <a:xfrm>
            <a:off x="777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A</a:t>
            </a:r>
          </a:p>
          <a:p>
            <a:pPr algn="ctr">
              <a:spcAft>
                <a:spcPts val="0"/>
              </a:spcAft>
            </a:pPr>
            <a:r>
              <a:rPr sz="1000" b="0" i="0">
                <a:solidFill>
                  <a:srgbClr val="5B5F68"/>
                </a:solidFill>
                <a:latin typeface="Segoe UI"/>
              </a:rPr>
              <a:t>70 m²</a:t>
            </a:r>
          </a:p>
        </p:txBody>
      </p:sp>
      <p:cxnSp>
        <p:nvCxnSpPr>
          <p:cNvPr id="13" name="!!res1"/>
          <p:cNvCxnSpPr/>
          <p:nvPr/>
        </p:nvCxnSpPr>
        <p:spPr>
          <a:xfrm>
            <a:off x="2606040" y="3696788"/>
            <a:ext cx="0" cy="600891"/>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4" name="!!pred1"/>
          <p:cNvSpPr/>
          <p:nvPr/>
        </p:nvSpPr>
        <p:spPr>
          <a:xfrm>
            <a:off x="2167128" y="3651068"/>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e1"/>
          <p:cNvSpPr/>
          <p:nvPr/>
        </p:nvSpPr>
        <p:spPr>
          <a:xfrm>
            <a:off x="2487168" y="4178807"/>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al1"/>
          <p:cNvSpPr txBox="1"/>
          <p:nvPr/>
        </p:nvSpPr>
        <p:spPr>
          <a:xfrm>
            <a:off x="3081528" y="3568772"/>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2.06</a:t>
            </a:r>
          </a:p>
        </p:txBody>
      </p:sp>
      <p:sp>
        <p:nvSpPr>
          <p:cNvPr id="17" name="!!house1"/>
          <p:cNvSpPr txBox="1"/>
          <p:nvPr/>
        </p:nvSpPr>
        <p:spPr>
          <a:xfrm>
            <a:off x="196596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B</a:t>
            </a:r>
          </a:p>
          <a:p>
            <a:pPr algn="ctr">
              <a:spcAft>
                <a:spcPts val="0"/>
              </a:spcAft>
            </a:pPr>
            <a:r>
              <a:rPr sz="1000" b="0" i="0">
                <a:solidFill>
                  <a:srgbClr val="5B5F68"/>
                </a:solidFill>
                <a:latin typeface="Segoe UI"/>
              </a:rPr>
              <a:t>85 m²</a:t>
            </a:r>
          </a:p>
        </p:txBody>
      </p:sp>
      <p:cxnSp>
        <p:nvCxnSpPr>
          <p:cNvPr id="18" name="!!res2"/>
          <p:cNvCxnSpPr/>
          <p:nvPr/>
        </p:nvCxnSpPr>
        <p:spPr>
          <a:xfrm flipV="1">
            <a:off x="4800600" y="2834639"/>
            <a:ext cx="0" cy="600892"/>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9" name="!!pred2"/>
          <p:cNvSpPr/>
          <p:nvPr/>
        </p:nvSpPr>
        <p:spPr>
          <a:xfrm>
            <a:off x="4361688" y="3389811"/>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e2"/>
          <p:cNvSpPr/>
          <p:nvPr/>
        </p:nvSpPr>
        <p:spPr>
          <a:xfrm>
            <a:off x="4681728" y="27157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al2"/>
          <p:cNvSpPr txBox="1"/>
          <p:nvPr/>
        </p:nvSpPr>
        <p:spPr>
          <a:xfrm>
            <a:off x="5276088" y="3307515"/>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2.34</a:t>
            </a:r>
          </a:p>
        </p:txBody>
      </p:sp>
      <p:sp>
        <p:nvSpPr>
          <p:cNvPr id="22" name="!!house2"/>
          <p:cNvSpPr txBox="1"/>
          <p:nvPr/>
        </p:nvSpPr>
        <p:spPr>
          <a:xfrm>
            <a:off x="416052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C</a:t>
            </a:r>
          </a:p>
          <a:p>
            <a:pPr algn="ctr">
              <a:spcAft>
                <a:spcPts val="0"/>
              </a:spcAft>
            </a:pPr>
            <a:r>
              <a:rPr sz="1000" b="0" i="0">
                <a:solidFill>
                  <a:srgbClr val="5B5F68"/>
                </a:solidFill>
                <a:latin typeface="Segoe UI"/>
              </a:rPr>
              <a:t>140 m²</a:t>
            </a:r>
          </a:p>
        </p:txBody>
      </p:sp>
      <p:cxnSp>
        <p:nvCxnSpPr>
          <p:cNvPr id="23" name="!!res3"/>
          <p:cNvCxnSpPr/>
          <p:nvPr/>
        </p:nvCxnSpPr>
        <p:spPr>
          <a:xfrm flipV="1">
            <a:off x="5989320" y="2468879"/>
            <a:ext cx="0" cy="966652"/>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24" name="!!pred3"/>
          <p:cNvSpPr/>
          <p:nvPr/>
        </p:nvSpPr>
        <p:spPr>
          <a:xfrm>
            <a:off x="5550408" y="3389811"/>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e3"/>
          <p:cNvSpPr/>
          <p:nvPr/>
        </p:nvSpPr>
        <p:spPr>
          <a:xfrm>
            <a:off x="5870448" y="235000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al3"/>
          <p:cNvSpPr txBox="1"/>
          <p:nvPr/>
        </p:nvSpPr>
        <p:spPr>
          <a:xfrm>
            <a:off x="6464808" y="3307515"/>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2.34</a:t>
            </a:r>
          </a:p>
        </p:txBody>
      </p:sp>
      <p:sp>
        <p:nvSpPr>
          <p:cNvPr id="27" name="!!house3"/>
          <p:cNvSpPr txBox="1"/>
          <p:nvPr/>
        </p:nvSpPr>
        <p:spPr>
          <a:xfrm>
            <a:off x="5349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D</a:t>
            </a:r>
          </a:p>
          <a:p>
            <a:pPr algn="ctr">
              <a:spcAft>
                <a:spcPts val="0"/>
              </a:spcAft>
            </a:pPr>
            <a:r>
              <a:rPr sz="1000" b="0" i="0">
                <a:solidFill>
                  <a:srgbClr val="5B5F68"/>
                </a:solidFill>
                <a:latin typeface="Segoe UI"/>
              </a:rPr>
              <a:t>160 m²</a:t>
            </a:r>
          </a:p>
        </p:txBody>
      </p:sp>
      <p:sp>
        <p:nvSpPr>
          <p:cNvPr id="28" name="!!legend"/>
          <p:cNvSpPr txBox="1"/>
          <p:nvPr/>
        </p:nvSpPr>
        <p:spPr>
          <a:xfrm>
            <a:off x="685800" y="6355080"/>
            <a:ext cx="6035040" cy="274320"/>
          </a:xfrm>
          <a:prstGeom prst="rect">
            <a:avLst/>
          </a:prstGeom>
          <a:noFill/>
        </p:spPr>
        <p:txBody>
          <a:bodyPr wrap="square" lIns="0" rIns="0" tIns="0" bIns="0" anchor="t">
            <a:spAutoFit/>
          </a:bodyPr>
          <a:lstStyle/>
          <a:p>
            <a:pPr algn="l">
              <a:spcAft>
                <a:spcPts val="0"/>
              </a:spcAft>
            </a:pPr>
            <a:r>
              <a:rPr sz="1000" b="0" i="0">
                <a:solidFill>
                  <a:srgbClr val="B5543A"/>
                </a:solidFill>
                <a:latin typeface="Segoe UI"/>
              </a:rPr>
              <a:t>●</a:t>
            </a:r>
            <a:r>
              <a:rPr sz="1000" b="0" i="0">
                <a:solidFill>
                  <a:srgbClr val="5B5F68"/>
                </a:solidFill>
                <a:latin typeface="Segoe UI"/>
              </a:rPr>
              <a:t>  true price ($100k)     </a:t>
            </a:r>
            <a:r>
              <a:rPr sz="1000" b="0" i="0">
                <a:solidFill>
                  <a:srgbClr val="262A33"/>
                </a:solidFill>
                <a:latin typeface="Segoe UI"/>
              </a:rPr>
              <a:t>▬</a:t>
            </a:r>
            <a:r>
              <a:rPr sz="1000" b="0" i="0">
                <a:solidFill>
                  <a:srgbClr val="5B5F68"/>
                </a:solidFill>
                <a:latin typeface="Segoe UI"/>
              </a:rPr>
              <a:t>  prediction     </a:t>
            </a:r>
            <a:r>
              <a:rPr sz="1000" b="0" i="0">
                <a:solidFill>
                  <a:srgbClr val="5B5F68"/>
                </a:solidFill>
                <a:latin typeface="Segoe UI"/>
                <a:hlinkClick r:id="rId2"/>
              </a:rPr>
              <a:t>web version</a:t>
            </a:r>
          </a:p>
        </p:txBody>
      </p:sp>
      <p:sp>
        <p:nvSpPr>
          <p:cNvPr id="29" name="!!round"/>
          <p:cNvSpPr txBox="1"/>
          <p:nvPr/>
        </p:nvSpPr>
        <p:spPr>
          <a:xfrm>
            <a:off x="7406640" y="411480"/>
            <a:ext cx="420624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ROUND 1</a:t>
            </a:r>
          </a:p>
        </p:txBody>
      </p:sp>
      <p:sp>
        <p:nvSpPr>
          <p:cNvPr id="30" name="!!params"/>
          <p:cNvSpPr txBox="1"/>
          <p:nvPr/>
        </p:nvSpPr>
        <p:spPr>
          <a:xfrm>
            <a:off x="7406640" y="1143000"/>
            <a:ext cx="4206240" cy="32004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λ = 5     η = 0.5     5 trees max</a:t>
            </a:r>
          </a:p>
        </p:txBody>
      </p:sp>
      <p:sp>
        <p:nvSpPr>
          <p:cNvPr id="31" name="!!rmse"/>
          <p:cNvSpPr txBox="1"/>
          <p:nvPr/>
        </p:nvSpPr>
        <p:spPr>
          <a:xfrm>
            <a:off x="7406640" y="1508760"/>
            <a:ext cx="2011680" cy="822960"/>
          </a:xfrm>
          <a:prstGeom prst="rect">
            <a:avLst/>
          </a:prstGeom>
          <a:noFill/>
        </p:spPr>
        <p:txBody>
          <a:bodyPr wrap="square" lIns="0" rIns="0" tIns="0" bIns="0" anchor="t">
            <a:spAutoFit/>
          </a:bodyPr>
          <a:lstStyle/>
          <a:p>
            <a:pPr algn="l">
              <a:lnSpc>
                <a:spcPct val="90000"/>
              </a:lnSpc>
              <a:spcAft>
                <a:spcPts val="0"/>
              </a:spcAft>
            </a:pPr>
            <a:r>
              <a:rPr sz="4000" b="0" i="0">
                <a:solidFill>
                  <a:srgbClr val="B5543A"/>
                </a:solidFill>
                <a:latin typeface="Bahnschrift Light"/>
              </a:rPr>
              <a:t>0.88</a:t>
            </a:r>
          </a:p>
          <a:p>
            <a:pPr algn="l">
              <a:lnSpc>
                <a:spcPct val="90000"/>
              </a:lnSpc>
              <a:spcAft>
                <a:spcPts val="0"/>
              </a:spcAft>
            </a:pPr>
            <a:r>
              <a:rPr sz="1100" b="0" i="0">
                <a:solidFill>
                  <a:srgbClr val="5B5F68"/>
                </a:solidFill>
                <a:latin typeface="Segoe UI"/>
              </a:rPr>
              <a:t>error (RMSE)</a:t>
            </a:r>
          </a:p>
        </p:txBody>
      </p:sp>
      <p:sp>
        <p:nvSpPr>
          <p:cNvPr id="32" name="!!hist0"/>
          <p:cNvSpPr/>
          <p:nvPr/>
        </p:nvSpPr>
        <p:spPr>
          <a:xfrm>
            <a:off x="9555480" y="1815218"/>
            <a:ext cx="246888" cy="699381"/>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ist1"/>
          <p:cNvSpPr/>
          <p:nvPr/>
        </p:nvSpPr>
        <p:spPr>
          <a:xfrm>
            <a:off x="9893807" y="1910981"/>
            <a:ext cx="246888" cy="603618"/>
          </a:xfrm>
          <a:prstGeom prst="rect">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istlbl"/>
          <p:cNvSpPr txBox="1"/>
          <p:nvPr/>
        </p:nvSpPr>
        <p:spPr>
          <a:xfrm>
            <a:off x="9555480" y="2560320"/>
            <a:ext cx="2103120" cy="274320"/>
          </a:xfrm>
          <a:prstGeom prst="rect">
            <a:avLst/>
          </a:prstGeom>
          <a:noFill/>
        </p:spPr>
        <p:txBody>
          <a:bodyPr wrap="square" lIns="0" rIns="0" tIns="0" bIns="0" anchor="t">
            <a:spAutoFit/>
          </a:bodyPr>
          <a:lstStyle/>
          <a:p>
            <a:pPr algn="l">
              <a:spcAft>
                <a:spcPts val="0"/>
              </a:spcAft>
            </a:pPr>
            <a:r>
              <a:rPr sz="900" b="0" i="0">
                <a:solidFill>
                  <a:srgbClr val="5B5F68"/>
                </a:solidFill>
                <a:latin typeface="Segoe UI"/>
              </a:rPr>
              <a:t>error after each tree</a:t>
            </a:r>
          </a:p>
        </p:txBody>
      </p:sp>
      <p:sp>
        <p:nvSpPr>
          <p:cNvPr id="35" name="!!calc"/>
          <p:cNvSpPr txBox="1"/>
          <p:nvPr/>
        </p:nvSpPr>
        <p:spPr>
          <a:xfrm>
            <a:off x="7406640" y="3017520"/>
            <a:ext cx="4206240" cy="2468880"/>
          </a:xfrm>
          <a:prstGeom prst="rect">
            <a:avLst/>
          </a:prstGeom>
          <a:noFill/>
        </p:spPr>
        <p:txBody>
          <a:bodyPr wrap="square" lIns="0" rIns="0" tIns="0" bIns="0" anchor="t">
            <a:spAutoFit/>
          </a:bodyPr>
          <a:lstStyle/>
          <a:p>
            <a:pPr algn="l">
              <a:spcAft>
                <a:spcPts val="300"/>
              </a:spcAft>
            </a:pPr>
            <a:r>
              <a:rPr sz="1200" b="0" i="0">
                <a:solidFill>
                  <a:srgbClr val="262A33"/>
                </a:solidFill>
                <a:latin typeface="Segoe UI Semibold"/>
              </a:rPr>
              <a:t>Tree 1 learns from the errors of round 0</a:t>
            </a:r>
          </a:p>
          <a:p>
            <a:pPr algn="l">
              <a:spcAft>
                <a:spcPts val="300"/>
              </a:spcAft>
            </a:pPr>
            <a:r>
              <a:rPr sz="1100" b="0" i="0">
                <a:solidFill>
                  <a:srgbClr val="262A33"/>
                </a:solidFill>
                <a:latin typeface="Segoe UI Semibold"/>
              </a:rPr>
              <a:t>Leaf 1 (houses A, B)</a:t>
            </a:r>
          </a:p>
          <a:p>
            <a:pPr algn="l">
              <a:spcAft>
                <a:spcPts val="300"/>
              </a:spcAft>
            </a:pPr>
            <a:r>
              <a:rPr sz="1100" b="0" i="0">
                <a:solidFill>
                  <a:srgbClr val="5B5F68"/>
                </a:solidFill>
                <a:latin typeface="Segoe UI"/>
              </a:rPr>
              <a:t>G = 1.20 + 0.80 = 2.00     H = 2</a:t>
            </a:r>
          </a:p>
          <a:p>
            <a:pPr algn="l">
              <a:spcAft>
                <a:spcPts val="300"/>
              </a:spcAft>
            </a:pPr>
            <a:r>
              <a:rPr sz="1100" b="0" i="0">
                <a:solidFill>
                  <a:srgbClr val="5B5F68"/>
                </a:solidFill>
                <a:latin typeface="Segoe UI"/>
              </a:rPr>
              <a:t>w = −G/(H+λ) = -0.29     change = η·w = </a:t>
            </a:r>
            <a:r>
              <a:rPr sz="1100" b="0" i="0">
                <a:solidFill>
                  <a:srgbClr val="B5543A"/>
                </a:solidFill>
                <a:latin typeface="Segoe UI Semibold"/>
              </a:rPr>
              <a:t>-0.14</a:t>
            </a:r>
          </a:p>
          <a:p>
            <a:pPr algn="l">
              <a:spcAft>
                <a:spcPts val="300"/>
              </a:spcAft>
            </a:pPr>
            <a:r>
              <a:rPr sz="1100" b="0" i="0">
                <a:solidFill>
                  <a:srgbClr val="262A33"/>
                </a:solidFill>
                <a:latin typeface="Segoe UI Semibold"/>
              </a:rPr>
              <a:t>Leaf 2 (houses C, D)</a:t>
            </a:r>
          </a:p>
          <a:p>
            <a:pPr algn="l">
              <a:spcAft>
                <a:spcPts val="300"/>
              </a:spcAft>
            </a:pPr>
            <a:r>
              <a:rPr sz="1100" b="0" i="0">
                <a:solidFill>
                  <a:srgbClr val="5B5F68"/>
                </a:solidFill>
                <a:latin typeface="Segoe UI"/>
              </a:rPr>
              <a:t>G = (-0.80) + (-1.20) = -2.00     H = 2</a:t>
            </a:r>
          </a:p>
          <a:p>
            <a:pPr algn="l">
              <a:spcAft>
                <a:spcPts val="300"/>
              </a:spcAft>
            </a:pPr>
            <a:r>
              <a:rPr sz="1100" b="0" i="0">
                <a:solidFill>
                  <a:srgbClr val="5B5F68"/>
                </a:solidFill>
                <a:latin typeface="Segoe UI"/>
              </a:rPr>
              <a:t>w = −G/(H+λ) = +0.29     change = η·w = </a:t>
            </a:r>
            <a:r>
              <a:rPr sz="1100" b="0" i="0">
                <a:solidFill>
                  <a:srgbClr val="B5543A"/>
                </a:solidFill>
                <a:latin typeface="Segoe UI Semibold"/>
              </a:rPr>
              <a:t>+0.14</a:t>
            </a:r>
          </a:p>
        </p:txBody>
      </p:sp>
      <p:sp>
        <p:nvSpPr>
          <p:cNvPr id="36" name="!!btn_back">
            <a:hlinkClick action="ppaction://hlinksldjump" r:id="rId3"/>
          </p:cNvPr>
          <p:cNvSpPr/>
          <p:nvPr/>
        </p:nvSpPr>
        <p:spPr>
          <a:xfrm>
            <a:off x="7406640" y="5715000"/>
            <a:ext cx="96012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  BACK</a:t>
            </a:r>
          </a:p>
        </p:txBody>
      </p:sp>
      <p:sp>
        <p:nvSpPr>
          <p:cNvPr id="37" name="!!btn_next">
            <a:hlinkClick action="ppaction://hlinksldjump" r:id="rId4"/>
          </p:cNvPr>
          <p:cNvSpPr/>
          <p:nvPr/>
        </p:nvSpPr>
        <p:spPr>
          <a:xfrm>
            <a:off x="8476488" y="5715000"/>
            <a:ext cx="1463040" cy="45720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E5E4E2"/>
                </a:solidFill>
                <a:latin typeface="Segoe UI Semibold"/>
              </a:rPr>
              <a:t>ADD TREE  ▶</a:t>
            </a:r>
          </a:p>
        </p:txBody>
      </p:sp>
      <p:sp>
        <p:nvSpPr>
          <p:cNvPr id="38" name="!!btn_reset">
            <a:hlinkClick action="ppaction://hlinksldjump" r:id="rId3"/>
          </p:cNvPr>
          <p:cNvSpPr/>
          <p:nvPr/>
        </p:nvSpPr>
        <p:spPr>
          <a:xfrm>
            <a:off x="10049256" y="5715000"/>
            <a:ext cx="54864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400">
                <a:solidFill>
                  <a:srgbClr val="262A33"/>
                </a:solidFill>
                <a:latin typeface="Segoe UI Semibold"/>
              </a:rPr>
              <a:t>↺</a:t>
            </a:r>
          </a:p>
        </p:txBody>
      </p:sp>
      <p:sp>
        <p:nvSpPr>
          <p:cNvPr id="39" name="!!btn_lambda">
            <a:hlinkClick action="ppaction://hlinksldjump" r:id="rId5"/>
          </p:cNvPr>
          <p:cNvSpPr/>
          <p:nvPr/>
        </p:nvSpPr>
        <p:spPr>
          <a:xfrm>
            <a:off x="10707624" y="5715000"/>
            <a:ext cx="91440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λ = 1</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5E4E2"/>
        </a:solidFill>
        <a:effectLst/>
      </p:bgPr>
    </p:bg>
    <p:spTree>
      <p:nvGrpSpPr>
        <p:cNvPr id="1" name=""/>
        <p:cNvGrpSpPr/>
        <p:nvPr/>
      </p:nvGrpSpPr>
      <p:grpSpPr/>
      <p:sp>
        <p:nvSpPr>
          <p:cNvPr id="2" name="!!kicker"/>
          <p:cNvSpPr txBox="1"/>
          <p:nvPr/>
        </p:nvSpPr>
        <p:spPr>
          <a:xfrm>
            <a:off x="685800" y="365760"/>
            <a:ext cx="6400800" cy="365760"/>
          </a:xfrm>
          <a:prstGeom prst="rect">
            <a:avLst/>
          </a:prstGeom>
          <a:noFill/>
        </p:spPr>
        <p:txBody>
          <a:bodyPr wrap="square" lIns="0" rIns="0" tIns="0" bIns="0" anchor="t">
            <a:spAutoFit/>
          </a:bodyPr>
          <a:lstStyle/>
          <a:p>
            <a:pPr algn="l">
              <a:spcAft>
                <a:spcPts val="0"/>
              </a:spcAft>
            </a:pPr>
            <a:r>
              <a:rPr sz="1100" b="0" i="0">
                <a:solidFill>
                  <a:srgbClr val="5B5F68"/>
                </a:solidFill>
                <a:latin typeface="Segoe UI"/>
              </a:rPr>
              <a:t>TRY IT YOURSELF  ·  INTERACTIVE</a:t>
            </a:r>
          </a:p>
        </p:txBody>
      </p:sp>
      <p:sp>
        <p:nvSpPr>
          <p:cNvPr id="3" name="!!dtitle"/>
          <p:cNvSpPr txBox="1"/>
          <p:nvPr/>
        </p:nvSpPr>
        <p:spPr>
          <a:xfrm>
            <a:off x="685800" y="685800"/>
            <a:ext cx="640080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BOOSTING, LIVE</a:t>
            </a:r>
          </a:p>
        </p:txBody>
      </p:sp>
      <p:cxnSp>
        <p:nvCxnSpPr>
          <p:cNvPr id="4" name="!!axis"/>
          <p:cNvCxnSpPr/>
          <p:nvPr/>
        </p:nvCxnSpPr>
        <p:spPr>
          <a:xfrm>
            <a:off x="822960" y="5577840"/>
            <a:ext cx="5852160" cy="0"/>
          </a:xfrm>
          <a:prstGeom prst="line">
            <a:avLst/>
          </a:prstGeom>
          <a:ln w="952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5" name="!!split"/>
          <p:cNvCxnSpPr/>
          <p:nvPr/>
        </p:nvCxnSpPr>
        <p:spPr>
          <a:xfrm>
            <a:off x="3703320" y="1783080"/>
            <a:ext cx="0" cy="3794760"/>
          </a:xfrm>
          <a:prstGeom prst="line">
            <a:avLst/>
          </a:prstGeom>
          <a:ln w="12700">
            <a:solidFill>
              <a:srgbClr val="B9B9B6"/>
            </a:solidFill>
            <a:prstDash val="dash"/>
          </a:ln>
        </p:spPr>
        <p:style>
          <a:lnRef idx="2">
            <a:schemeClr val="accent1"/>
          </a:lnRef>
          <a:fillRef idx="0">
            <a:schemeClr val="accent1"/>
          </a:fillRef>
          <a:effectRef idx="1">
            <a:schemeClr val="accent1"/>
          </a:effectRef>
          <a:fontRef idx="minor">
            <a:schemeClr val="tx1"/>
          </a:fontRef>
        </p:style>
      </p:cxnSp>
      <p:sp>
        <p:nvSpPr>
          <p:cNvPr id="6" name="!!leaf1lbl"/>
          <p:cNvSpPr txBox="1"/>
          <p:nvPr/>
        </p:nvSpPr>
        <p:spPr>
          <a:xfrm>
            <a:off x="914400"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1: size &lt; 100 m²</a:t>
            </a:r>
          </a:p>
        </p:txBody>
      </p:sp>
      <p:sp>
        <p:nvSpPr>
          <p:cNvPr id="7" name="!!leaf2lbl"/>
          <p:cNvSpPr txBox="1"/>
          <p:nvPr/>
        </p:nvSpPr>
        <p:spPr>
          <a:xfrm>
            <a:off x="3749039"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2: size ≥ 100 m²</a:t>
            </a:r>
          </a:p>
        </p:txBody>
      </p:sp>
      <p:cxnSp>
        <p:nvCxnSpPr>
          <p:cNvPr id="8" name="!!res0"/>
          <p:cNvCxnSpPr/>
          <p:nvPr/>
        </p:nvCxnSpPr>
        <p:spPr>
          <a:xfrm>
            <a:off x="1417320" y="3808755"/>
            <a:ext cx="0" cy="854685"/>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9" name="!!pred0"/>
          <p:cNvSpPr/>
          <p:nvPr/>
        </p:nvSpPr>
        <p:spPr>
          <a:xfrm>
            <a:off x="978408" y="3763035"/>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e0"/>
          <p:cNvSpPr/>
          <p:nvPr/>
        </p:nvSpPr>
        <p:spPr>
          <a:xfrm>
            <a:off x="1298448" y="45445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al0"/>
          <p:cNvSpPr txBox="1"/>
          <p:nvPr/>
        </p:nvSpPr>
        <p:spPr>
          <a:xfrm>
            <a:off x="1892808" y="3680739"/>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1.93</a:t>
            </a:r>
          </a:p>
        </p:txBody>
      </p:sp>
      <p:sp>
        <p:nvSpPr>
          <p:cNvPr id="12" name="!!house0"/>
          <p:cNvSpPr txBox="1"/>
          <p:nvPr/>
        </p:nvSpPr>
        <p:spPr>
          <a:xfrm>
            <a:off x="777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A</a:t>
            </a:r>
          </a:p>
          <a:p>
            <a:pPr algn="ctr">
              <a:spcAft>
                <a:spcPts val="0"/>
              </a:spcAft>
            </a:pPr>
            <a:r>
              <a:rPr sz="1000" b="0" i="0">
                <a:solidFill>
                  <a:srgbClr val="5B5F68"/>
                </a:solidFill>
                <a:latin typeface="Segoe UI"/>
              </a:rPr>
              <a:t>70 m²</a:t>
            </a:r>
          </a:p>
        </p:txBody>
      </p:sp>
      <p:cxnSp>
        <p:nvCxnSpPr>
          <p:cNvPr id="13" name="!!res1"/>
          <p:cNvCxnSpPr/>
          <p:nvPr/>
        </p:nvCxnSpPr>
        <p:spPr>
          <a:xfrm>
            <a:off x="2606040" y="3808755"/>
            <a:ext cx="0" cy="488924"/>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4" name="!!pred1"/>
          <p:cNvSpPr/>
          <p:nvPr/>
        </p:nvSpPr>
        <p:spPr>
          <a:xfrm>
            <a:off x="2167128" y="3763035"/>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e1"/>
          <p:cNvSpPr/>
          <p:nvPr/>
        </p:nvSpPr>
        <p:spPr>
          <a:xfrm>
            <a:off x="2487168" y="4178807"/>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al1"/>
          <p:cNvSpPr txBox="1"/>
          <p:nvPr/>
        </p:nvSpPr>
        <p:spPr>
          <a:xfrm>
            <a:off x="3081528" y="3680739"/>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1.93</a:t>
            </a:r>
          </a:p>
        </p:txBody>
      </p:sp>
      <p:sp>
        <p:nvSpPr>
          <p:cNvPr id="17" name="!!house1"/>
          <p:cNvSpPr txBox="1"/>
          <p:nvPr/>
        </p:nvSpPr>
        <p:spPr>
          <a:xfrm>
            <a:off x="196596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B</a:t>
            </a:r>
          </a:p>
          <a:p>
            <a:pPr algn="ctr">
              <a:spcAft>
                <a:spcPts val="0"/>
              </a:spcAft>
            </a:pPr>
            <a:r>
              <a:rPr sz="1000" b="0" i="0">
                <a:solidFill>
                  <a:srgbClr val="5B5F68"/>
                </a:solidFill>
                <a:latin typeface="Segoe UI"/>
              </a:rPr>
              <a:t>85 m²</a:t>
            </a:r>
          </a:p>
        </p:txBody>
      </p:sp>
      <p:cxnSp>
        <p:nvCxnSpPr>
          <p:cNvPr id="18" name="!!res2"/>
          <p:cNvCxnSpPr/>
          <p:nvPr/>
        </p:nvCxnSpPr>
        <p:spPr>
          <a:xfrm flipV="1">
            <a:off x="4800600" y="2834639"/>
            <a:ext cx="0" cy="488925"/>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9" name="!!pred2"/>
          <p:cNvSpPr/>
          <p:nvPr/>
        </p:nvSpPr>
        <p:spPr>
          <a:xfrm>
            <a:off x="4361688" y="3277844"/>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e2"/>
          <p:cNvSpPr/>
          <p:nvPr/>
        </p:nvSpPr>
        <p:spPr>
          <a:xfrm>
            <a:off x="4681728" y="27157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al2"/>
          <p:cNvSpPr txBox="1"/>
          <p:nvPr/>
        </p:nvSpPr>
        <p:spPr>
          <a:xfrm>
            <a:off x="5276088" y="3195548"/>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2.47</a:t>
            </a:r>
          </a:p>
        </p:txBody>
      </p:sp>
      <p:sp>
        <p:nvSpPr>
          <p:cNvPr id="22" name="!!house2"/>
          <p:cNvSpPr txBox="1"/>
          <p:nvPr/>
        </p:nvSpPr>
        <p:spPr>
          <a:xfrm>
            <a:off x="416052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C</a:t>
            </a:r>
          </a:p>
          <a:p>
            <a:pPr algn="ctr">
              <a:spcAft>
                <a:spcPts val="0"/>
              </a:spcAft>
            </a:pPr>
            <a:r>
              <a:rPr sz="1000" b="0" i="0">
                <a:solidFill>
                  <a:srgbClr val="5B5F68"/>
                </a:solidFill>
                <a:latin typeface="Segoe UI"/>
              </a:rPr>
              <a:t>140 m²</a:t>
            </a:r>
          </a:p>
        </p:txBody>
      </p:sp>
      <p:cxnSp>
        <p:nvCxnSpPr>
          <p:cNvPr id="23" name="!!res3"/>
          <p:cNvCxnSpPr/>
          <p:nvPr/>
        </p:nvCxnSpPr>
        <p:spPr>
          <a:xfrm flipV="1">
            <a:off x="5989320" y="2468879"/>
            <a:ext cx="0" cy="854685"/>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24" name="!!pred3"/>
          <p:cNvSpPr/>
          <p:nvPr/>
        </p:nvSpPr>
        <p:spPr>
          <a:xfrm>
            <a:off x="5550408" y="3277844"/>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e3"/>
          <p:cNvSpPr/>
          <p:nvPr/>
        </p:nvSpPr>
        <p:spPr>
          <a:xfrm>
            <a:off x="5870448" y="235000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al3"/>
          <p:cNvSpPr txBox="1"/>
          <p:nvPr/>
        </p:nvSpPr>
        <p:spPr>
          <a:xfrm>
            <a:off x="6464808" y="3195548"/>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2.47</a:t>
            </a:r>
          </a:p>
        </p:txBody>
      </p:sp>
      <p:sp>
        <p:nvSpPr>
          <p:cNvPr id="27" name="!!house3"/>
          <p:cNvSpPr txBox="1"/>
          <p:nvPr/>
        </p:nvSpPr>
        <p:spPr>
          <a:xfrm>
            <a:off x="5349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D</a:t>
            </a:r>
          </a:p>
          <a:p>
            <a:pPr algn="ctr">
              <a:spcAft>
                <a:spcPts val="0"/>
              </a:spcAft>
            </a:pPr>
            <a:r>
              <a:rPr sz="1000" b="0" i="0">
                <a:solidFill>
                  <a:srgbClr val="5B5F68"/>
                </a:solidFill>
                <a:latin typeface="Segoe UI"/>
              </a:rPr>
              <a:t>160 m²</a:t>
            </a:r>
          </a:p>
        </p:txBody>
      </p:sp>
      <p:sp>
        <p:nvSpPr>
          <p:cNvPr id="28" name="!!legend"/>
          <p:cNvSpPr txBox="1"/>
          <p:nvPr/>
        </p:nvSpPr>
        <p:spPr>
          <a:xfrm>
            <a:off x="685800" y="6355080"/>
            <a:ext cx="6035040" cy="274320"/>
          </a:xfrm>
          <a:prstGeom prst="rect">
            <a:avLst/>
          </a:prstGeom>
          <a:noFill/>
        </p:spPr>
        <p:txBody>
          <a:bodyPr wrap="square" lIns="0" rIns="0" tIns="0" bIns="0" anchor="t">
            <a:spAutoFit/>
          </a:bodyPr>
          <a:lstStyle/>
          <a:p>
            <a:pPr algn="l">
              <a:spcAft>
                <a:spcPts val="0"/>
              </a:spcAft>
            </a:pPr>
            <a:r>
              <a:rPr sz="1000" b="0" i="0">
                <a:solidFill>
                  <a:srgbClr val="B5543A"/>
                </a:solidFill>
                <a:latin typeface="Segoe UI"/>
              </a:rPr>
              <a:t>●</a:t>
            </a:r>
            <a:r>
              <a:rPr sz="1000" b="0" i="0">
                <a:solidFill>
                  <a:srgbClr val="5B5F68"/>
                </a:solidFill>
                <a:latin typeface="Segoe UI"/>
              </a:rPr>
              <a:t>  true price ($100k)     </a:t>
            </a:r>
            <a:r>
              <a:rPr sz="1000" b="0" i="0">
                <a:solidFill>
                  <a:srgbClr val="262A33"/>
                </a:solidFill>
                <a:latin typeface="Segoe UI"/>
              </a:rPr>
              <a:t>▬</a:t>
            </a:r>
            <a:r>
              <a:rPr sz="1000" b="0" i="0">
                <a:solidFill>
                  <a:srgbClr val="5B5F68"/>
                </a:solidFill>
                <a:latin typeface="Segoe UI"/>
              </a:rPr>
              <a:t>  prediction     </a:t>
            </a:r>
            <a:r>
              <a:rPr sz="1000" b="0" i="0">
                <a:solidFill>
                  <a:srgbClr val="5B5F68"/>
                </a:solidFill>
                <a:latin typeface="Segoe UI"/>
                <a:hlinkClick r:id="rId2"/>
              </a:rPr>
              <a:t>web version</a:t>
            </a:r>
          </a:p>
        </p:txBody>
      </p:sp>
      <p:sp>
        <p:nvSpPr>
          <p:cNvPr id="29" name="!!round"/>
          <p:cNvSpPr txBox="1"/>
          <p:nvPr/>
        </p:nvSpPr>
        <p:spPr>
          <a:xfrm>
            <a:off x="7406640" y="411480"/>
            <a:ext cx="420624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ROUND 2</a:t>
            </a:r>
          </a:p>
        </p:txBody>
      </p:sp>
      <p:sp>
        <p:nvSpPr>
          <p:cNvPr id="30" name="!!params"/>
          <p:cNvSpPr txBox="1"/>
          <p:nvPr/>
        </p:nvSpPr>
        <p:spPr>
          <a:xfrm>
            <a:off x="7406640" y="1143000"/>
            <a:ext cx="4206240" cy="32004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λ = 5     η = 0.5     5 trees max</a:t>
            </a:r>
          </a:p>
        </p:txBody>
      </p:sp>
      <p:sp>
        <p:nvSpPr>
          <p:cNvPr id="31" name="!!rmse"/>
          <p:cNvSpPr txBox="1"/>
          <p:nvPr/>
        </p:nvSpPr>
        <p:spPr>
          <a:xfrm>
            <a:off x="7406640" y="1508760"/>
            <a:ext cx="2011680" cy="822960"/>
          </a:xfrm>
          <a:prstGeom prst="rect">
            <a:avLst/>
          </a:prstGeom>
          <a:noFill/>
        </p:spPr>
        <p:txBody>
          <a:bodyPr wrap="square" lIns="0" rIns="0" tIns="0" bIns="0" anchor="t">
            <a:spAutoFit/>
          </a:bodyPr>
          <a:lstStyle/>
          <a:p>
            <a:pPr algn="l">
              <a:lnSpc>
                <a:spcPct val="90000"/>
              </a:lnSpc>
              <a:spcAft>
                <a:spcPts val="0"/>
              </a:spcAft>
            </a:pPr>
            <a:r>
              <a:rPr sz="4000" b="0" i="0">
                <a:solidFill>
                  <a:srgbClr val="B5543A"/>
                </a:solidFill>
                <a:latin typeface="Bahnschrift Light"/>
              </a:rPr>
              <a:t>0.76</a:t>
            </a:r>
          </a:p>
          <a:p>
            <a:pPr algn="l">
              <a:lnSpc>
                <a:spcPct val="90000"/>
              </a:lnSpc>
              <a:spcAft>
                <a:spcPts val="0"/>
              </a:spcAft>
            </a:pPr>
            <a:r>
              <a:rPr sz="1100" b="0" i="0">
                <a:solidFill>
                  <a:srgbClr val="5B5F68"/>
                </a:solidFill>
                <a:latin typeface="Segoe UI"/>
              </a:rPr>
              <a:t>error (RMSE)</a:t>
            </a:r>
          </a:p>
        </p:txBody>
      </p:sp>
      <p:sp>
        <p:nvSpPr>
          <p:cNvPr id="32" name="!!hist0"/>
          <p:cNvSpPr/>
          <p:nvPr/>
        </p:nvSpPr>
        <p:spPr>
          <a:xfrm>
            <a:off x="9555480" y="1815218"/>
            <a:ext cx="246888" cy="699381"/>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ist1"/>
          <p:cNvSpPr/>
          <p:nvPr/>
        </p:nvSpPr>
        <p:spPr>
          <a:xfrm>
            <a:off x="9893807" y="1910981"/>
            <a:ext cx="246888" cy="603618"/>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ist2"/>
          <p:cNvSpPr/>
          <p:nvPr/>
        </p:nvSpPr>
        <p:spPr>
          <a:xfrm>
            <a:off x="10232136" y="1992411"/>
            <a:ext cx="246888" cy="522188"/>
          </a:xfrm>
          <a:prstGeom prst="rect">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istlbl"/>
          <p:cNvSpPr txBox="1"/>
          <p:nvPr/>
        </p:nvSpPr>
        <p:spPr>
          <a:xfrm>
            <a:off x="9555480" y="2560320"/>
            <a:ext cx="2103120" cy="274320"/>
          </a:xfrm>
          <a:prstGeom prst="rect">
            <a:avLst/>
          </a:prstGeom>
          <a:noFill/>
        </p:spPr>
        <p:txBody>
          <a:bodyPr wrap="square" lIns="0" rIns="0" tIns="0" bIns="0" anchor="t">
            <a:spAutoFit/>
          </a:bodyPr>
          <a:lstStyle/>
          <a:p>
            <a:pPr algn="l">
              <a:spcAft>
                <a:spcPts val="0"/>
              </a:spcAft>
            </a:pPr>
            <a:r>
              <a:rPr sz="900" b="0" i="0">
                <a:solidFill>
                  <a:srgbClr val="5B5F68"/>
                </a:solidFill>
                <a:latin typeface="Segoe UI"/>
              </a:rPr>
              <a:t>error after each tree</a:t>
            </a:r>
          </a:p>
        </p:txBody>
      </p:sp>
      <p:sp>
        <p:nvSpPr>
          <p:cNvPr id="36" name="!!calc"/>
          <p:cNvSpPr txBox="1"/>
          <p:nvPr/>
        </p:nvSpPr>
        <p:spPr>
          <a:xfrm>
            <a:off x="7406640" y="3017520"/>
            <a:ext cx="4206240" cy="2468880"/>
          </a:xfrm>
          <a:prstGeom prst="rect">
            <a:avLst/>
          </a:prstGeom>
          <a:noFill/>
        </p:spPr>
        <p:txBody>
          <a:bodyPr wrap="square" lIns="0" rIns="0" tIns="0" bIns="0" anchor="t">
            <a:spAutoFit/>
          </a:bodyPr>
          <a:lstStyle/>
          <a:p>
            <a:pPr algn="l">
              <a:spcAft>
                <a:spcPts val="300"/>
              </a:spcAft>
            </a:pPr>
            <a:r>
              <a:rPr sz="1200" b="0" i="0">
                <a:solidFill>
                  <a:srgbClr val="262A33"/>
                </a:solidFill>
                <a:latin typeface="Segoe UI Semibold"/>
              </a:rPr>
              <a:t>Tree 2 learns from the errors of round 1</a:t>
            </a:r>
          </a:p>
          <a:p>
            <a:pPr algn="l">
              <a:spcAft>
                <a:spcPts val="300"/>
              </a:spcAft>
            </a:pPr>
            <a:r>
              <a:rPr sz="1100" b="0" i="0">
                <a:solidFill>
                  <a:srgbClr val="262A33"/>
                </a:solidFill>
                <a:latin typeface="Segoe UI Semibold"/>
              </a:rPr>
              <a:t>Leaf 1 (houses A, B)</a:t>
            </a:r>
          </a:p>
          <a:p>
            <a:pPr algn="l">
              <a:spcAft>
                <a:spcPts val="300"/>
              </a:spcAft>
            </a:pPr>
            <a:r>
              <a:rPr sz="1100" b="0" i="0">
                <a:solidFill>
                  <a:srgbClr val="5B5F68"/>
                </a:solidFill>
                <a:latin typeface="Segoe UI"/>
              </a:rPr>
              <a:t>G = 1.06 + 0.66 = 1.71     H = 2</a:t>
            </a:r>
          </a:p>
          <a:p>
            <a:pPr algn="l">
              <a:spcAft>
                <a:spcPts val="300"/>
              </a:spcAft>
            </a:pPr>
            <a:r>
              <a:rPr sz="1100" b="0" i="0">
                <a:solidFill>
                  <a:srgbClr val="5B5F68"/>
                </a:solidFill>
                <a:latin typeface="Segoe UI"/>
              </a:rPr>
              <a:t>w = −G/(H+λ) = -0.24     change = η·w = </a:t>
            </a:r>
            <a:r>
              <a:rPr sz="1100" b="0" i="0">
                <a:solidFill>
                  <a:srgbClr val="B5543A"/>
                </a:solidFill>
                <a:latin typeface="Segoe UI Semibold"/>
              </a:rPr>
              <a:t>-0.12</a:t>
            </a:r>
          </a:p>
          <a:p>
            <a:pPr algn="l">
              <a:spcAft>
                <a:spcPts val="300"/>
              </a:spcAft>
            </a:pPr>
            <a:r>
              <a:rPr sz="1100" b="0" i="0">
                <a:solidFill>
                  <a:srgbClr val="262A33"/>
                </a:solidFill>
                <a:latin typeface="Segoe UI Semibold"/>
              </a:rPr>
              <a:t>Leaf 2 (houses C, D)</a:t>
            </a:r>
          </a:p>
          <a:p>
            <a:pPr algn="l">
              <a:spcAft>
                <a:spcPts val="300"/>
              </a:spcAft>
            </a:pPr>
            <a:r>
              <a:rPr sz="1100" b="0" i="0">
                <a:solidFill>
                  <a:srgbClr val="5B5F68"/>
                </a:solidFill>
                <a:latin typeface="Segoe UI"/>
              </a:rPr>
              <a:t>G = (-0.66) + (-1.06) = -1.71     H = 2</a:t>
            </a:r>
          </a:p>
          <a:p>
            <a:pPr algn="l">
              <a:spcAft>
                <a:spcPts val="300"/>
              </a:spcAft>
            </a:pPr>
            <a:r>
              <a:rPr sz="1100" b="0" i="0">
                <a:solidFill>
                  <a:srgbClr val="5B5F68"/>
                </a:solidFill>
                <a:latin typeface="Segoe UI"/>
              </a:rPr>
              <a:t>w = −G/(H+λ) = +0.24     change = η·w = </a:t>
            </a:r>
            <a:r>
              <a:rPr sz="1100" b="0" i="0">
                <a:solidFill>
                  <a:srgbClr val="B5543A"/>
                </a:solidFill>
                <a:latin typeface="Segoe UI Semibold"/>
              </a:rPr>
              <a:t>+0.12</a:t>
            </a:r>
          </a:p>
        </p:txBody>
      </p:sp>
      <p:sp>
        <p:nvSpPr>
          <p:cNvPr id="37" name="!!btn_back">
            <a:hlinkClick action="ppaction://hlinksldjump" r:id="rId3"/>
          </p:cNvPr>
          <p:cNvSpPr/>
          <p:nvPr/>
        </p:nvSpPr>
        <p:spPr>
          <a:xfrm>
            <a:off x="7406640" y="5715000"/>
            <a:ext cx="96012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  BACK</a:t>
            </a:r>
          </a:p>
        </p:txBody>
      </p:sp>
      <p:sp>
        <p:nvSpPr>
          <p:cNvPr id="38" name="!!btn_next">
            <a:hlinkClick action="ppaction://hlinksldjump" r:id="rId4"/>
          </p:cNvPr>
          <p:cNvSpPr/>
          <p:nvPr/>
        </p:nvSpPr>
        <p:spPr>
          <a:xfrm>
            <a:off x="8476488" y="5715000"/>
            <a:ext cx="1463040" cy="45720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E5E4E2"/>
                </a:solidFill>
                <a:latin typeface="Segoe UI Semibold"/>
              </a:rPr>
              <a:t>ADD TREE  ▶</a:t>
            </a:r>
          </a:p>
        </p:txBody>
      </p:sp>
      <p:sp>
        <p:nvSpPr>
          <p:cNvPr id="39" name="!!btn_reset">
            <a:hlinkClick action="ppaction://hlinksldjump" r:id="rId5"/>
          </p:cNvPr>
          <p:cNvSpPr/>
          <p:nvPr/>
        </p:nvSpPr>
        <p:spPr>
          <a:xfrm>
            <a:off x="10049256" y="5715000"/>
            <a:ext cx="54864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400">
                <a:solidFill>
                  <a:srgbClr val="262A33"/>
                </a:solidFill>
                <a:latin typeface="Segoe UI Semibold"/>
              </a:rPr>
              <a:t>↺</a:t>
            </a:r>
          </a:p>
        </p:txBody>
      </p:sp>
      <p:sp>
        <p:nvSpPr>
          <p:cNvPr id="40" name="!!btn_lambda">
            <a:hlinkClick action="ppaction://hlinksldjump" r:id="rId6"/>
          </p:cNvPr>
          <p:cNvSpPr/>
          <p:nvPr/>
        </p:nvSpPr>
        <p:spPr>
          <a:xfrm>
            <a:off x="10707624" y="5715000"/>
            <a:ext cx="91440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λ = 1</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E5E4E2"/>
        </a:solidFill>
        <a:effectLst/>
      </p:bgPr>
    </p:bg>
    <p:spTree>
      <p:nvGrpSpPr>
        <p:cNvPr id="1" name=""/>
        <p:cNvGrpSpPr/>
        <p:nvPr/>
      </p:nvGrpSpPr>
      <p:grpSpPr/>
      <p:sp>
        <p:nvSpPr>
          <p:cNvPr id="2" name="!!kicker"/>
          <p:cNvSpPr txBox="1"/>
          <p:nvPr/>
        </p:nvSpPr>
        <p:spPr>
          <a:xfrm>
            <a:off x="685800" y="365760"/>
            <a:ext cx="6400800" cy="365760"/>
          </a:xfrm>
          <a:prstGeom prst="rect">
            <a:avLst/>
          </a:prstGeom>
          <a:noFill/>
        </p:spPr>
        <p:txBody>
          <a:bodyPr wrap="square" lIns="0" rIns="0" tIns="0" bIns="0" anchor="t">
            <a:spAutoFit/>
          </a:bodyPr>
          <a:lstStyle/>
          <a:p>
            <a:pPr algn="l">
              <a:spcAft>
                <a:spcPts val="0"/>
              </a:spcAft>
            </a:pPr>
            <a:r>
              <a:rPr sz="1100" b="0" i="0">
                <a:solidFill>
                  <a:srgbClr val="5B5F68"/>
                </a:solidFill>
                <a:latin typeface="Segoe UI"/>
              </a:rPr>
              <a:t>TRY IT YOURSELF  ·  INTERACTIVE</a:t>
            </a:r>
          </a:p>
        </p:txBody>
      </p:sp>
      <p:sp>
        <p:nvSpPr>
          <p:cNvPr id="3" name="!!dtitle"/>
          <p:cNvSpPr txBox="1"/>
          <p:nvPr/>
        </p:nvSpPr>
        <p:spPr>
          <a:xfrm>
            <a:off x="685800" y="685800"/>
            <a:ext cx="640080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BOOSTING, LIVE</a:t>
            </a:r>
          </a:p>
        </p:txBody>
      </p:sp>
      <p:cxnSp>
        <p:nvCxnSpPr>
          <p:cNvPr id="4" name="!!axis"/>
          <p:cNvCxnSpPr/>
          <p:nvPr/>
        </p:nvCxnSpPr>
        <p:spPr>
          <a:xfrm>
            <a:off x="822960" y="5577840"/>
            <a:ext cx="5852160" cy="0"/>
          </a:xfrm>
          <a:prstGeom prst="line">
            <a:avLst/>
          </a:prstGeom>
          <a:ln w="952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5" name="!!split"/>
          <p:cNvCxnSpPr/>
          <p:nvPr/>
        </p:nvCxnSpPr>
        <p:spPr>
          <a:xfrm>
            <a:off x="3703320" y="1783080"/>
            <a:ext cx="0" cy="3794760"/>
          </a:xfrm>
          <a:prstGeom prst="line">
            <a:avLst/>
          </a:prstGeom>
          <a:ln w="12700">
            <a:solidFill>
              <a:srgbClr val="B9B9B6"/>
            </a:solidFill>
            <a:prstDash val="dash"/>
          </a:ln>
        </p:spPr>
        <p:style>
          <a:lnRef idx="2">
            <a:schemeClr val="accent1"/>
          </a:lnRef>
          <a:fillRef idx="0">
            <a:schemeClr val="accent1"/>
          </a:fillRef>
          <a:effectRef idx="1">
            <a:schemeClr val="accent1"/>
          </a:effectRef>
          <a:fontRef idx="minor">
            <a:schemeClr val="tx1"/>
          </a:fontRef>
        </p:style>
      </p:cxnSp>
      <p:sp>
        <p:nvSpPr>
          <p:cNvPr id="6" name="!!leaf1lbl"/>
          <p:cNvSpPr txBox="1"/>
          <p:nvPr/>
        </p:nvSpPr>
        <p:spPr>
          <a:xfrm>
            <a:off x="914400"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1: size &lt; 100 m²</a:t>
            </a:r>
          </a:p>
        </p:txBody>
      </p:sp>
      <p:sp>
        <p:nvSpPr>
          <p:cNvPr id="7" name="!!leaf2lbl"/>
          <p:cNvSpPr txBox="1"/>
          <p:nvPr/>
        </p:nvSpPr>
        <p:spPr>
          <a:xfrm>
            <a:off x="3749039"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2: size ≥ 100 m²</a:t>
            </a:r>
          </a:p>
        </p:txBody>
      </p:sp>
      <p:cxnSp>
        <p:nvCxnSpPr>
          <p:cNvPr id="8" name="!!res0"/>
          <p:cNvCxnSpPr/>
          <p:nvPr/>
        </p:nvCxnSpPr>
        <p:spPr>
          <a:xfrm>
            <a:off x="1417320" y="3904727"/>
            <a:ext cx="0" cy="758713"/>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9" name="!!pred0"/>
          <p:cNvSpPr/>
          <p:nvPr/>
        </p:nvSpPr>
        <p:spPr>
          <a:xfrm>
            <a:off x="978408" y="3859007"/>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e0"/>
          <p:cNvSpPr/>
          <p:nvPr/>
        </p:nvSpPr>
        <p:spPr>
          <a:xfrm>
            <a:off x="1298448" y="45445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al0"/>
          <p:cNvSpPr txBox="1"/>
          <p:nvPr/>
        </p:nvSpPr>
        <p:spPr>
          <a:xfrm>
            <a:off x="1892808" y="3776711"/>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1.83</a:t>
            </a:r>
          </a:p>
        </p:txBody>
      </p:sp>
      <p:sp>
        <p:nvSpPr>
          <p:cNvPr id="12" name="!!house0"/>
          <p:cNvSpPr txBox="1"/>
          <p:nvPr/>
        </p:nvSpPr>
        <p:spPr>
          <a:xfrm>
            <a:off x="777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A</a:t>
            </a:r>
          </a:p>
          <a:p>
            <a:pPr algn="ctr">
              <a:spcAft>
                <a:spcPts val="0"/>
              </a:spcAft>
            </a:pPr>
            <a:r>
              <a:rPr sz="1000" b="0" i="0">
                <a:solidFill>
                  <a:srgbClr val="5B5F68"/>
                </a:solidFill>
                <a:latin typeface="Segoe UI"/>
              </a:rPr>
              <a:t>70 m²</a:t>
            </a:r>
          </a:p>
        </p:txBody>
      </p:sp>
      <p:cxnSp>
        <p:nvCxnSpPr>
          <p:cNvPr id="13" name="!!res1"/>
          <p:cNvCxnSpPr/>
          <p:nvPr/>
        </p:nvCxnSpPr>
        <p:spPr>
          <a:xfrm>
            <a:off x="2606040" y="3904727"/>
            <a:ext cx="0" cy="392952"/>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4" name="!!pred1"/>
          <p:cNvSpPr/>
          <p:nvPr/>
        </p:nvSpPr>
        <p:spPr>
          <a:xfrm>
            <a:off x="2167128" y="3859007"/>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e1"/>
          <p:cNvSpPr/>
          <p:nvPr/>
        </p:nvSpPr>
        <p:spPr>
          <a:xfrm>
            <a:off x="2487168" y="4178807"/>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al1"/>
          <p:cNvSpPr txBox="1"/>
          <p:nvPr/>
        </p:nvSpPr>
        <p:spPr>
          <a:xfrm>
            <a:off x="3081528" y="3776711"/>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1.83</a:t>
            </a:r>
          </a:p>
        </p:txBody>
      </p:sp>
      <p:sp>
        <p:nvSpPr>
          <p:cNvPr id="17" name="!!house1"/>
          <p:cNvSpPr txBox="1"/>
          <p:nvPr/>
        </p:nvSpPr>
        <p:spPr>
          <a:xfrm>
            <a:off x="196596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B</a:t>
            </a:r>
          </a:p>
          <a:p>
            <a:pPr algn="ctr">
              <a:spcAft>
                <a:spcPts val="0"/>
              </a:spcAft>
            </a:pPr>
            <a:r>
              <a:rPr sz="1000" b="0" i="0">
                <a:solidFill>
                  <a:srgbClr val="5B5F68"/>
                </a:solidFill>
                <a:latin typeface="Segoe UI"/>
              </a:rPr>
              <a:t>85 m²</a:t>
            </a:r>
          </a:p>
        </p:txBody>
      </p:sp>
      <p:cxnSp>
        <p:nvCxnSpPr>
          <p:cNvPr id="18" name="!!res2"/>
          <p:cNvCxnSpPr/>
          <p:nvPr/>
        </p:nvCxnSpPr>
        <p:spPr>
          <a:xfrm flipV="1">
            <a:off x="4800600" y="2834639"/>
            <a:ext cx="0" cy="392953"/>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9" name="!!pred2"/>
          <p:cNvSpPr/>
          <p:nvPr/>
        </p:nvSpPr>
        <p:spPr>
          <a:xfrm>
            <a:off x="4361688" y="3181872"/>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e2"/>
          <p:cNvSpPr/>
          <p:nvPr/>
        </p:nvSpPr>
        <p:spPr>
          <a:xfrm>
            <a:off x="4681728" y="27157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al2"/>
          <p:cNvSpPr txBox="1"/>
          <p:nvPr/>
        </p:nvSpPr>
        <p:spPr>
          <a:xfrm>
            <a:off x="5276088" y="3099576"/>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2.57</a:t>
            </a:r>
          </a:p>
        </p:txBody>
      </p:sp>
      <p:sp>
        <p:nvSpPr>
          <p:cNvPr id="22" name="!!house2"/>
          <p:cNvSpPr txBox="1"/>
          <p:nvPr/>
        </p:nvSpPr>
        <p:spPr>
          <a:xfrm>
            <a:off x="416052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C</a:t>
            </a:r>
          </a:p>
          <a:p>
            <a:pPr algn="ctr">
              <a:spcAft>
                <a:spcPts val="0"/>
              </a:spcAft>
            </a:pPr>
            <a:r>
              <a:rPr sz="1000" b="0" i="0">
                <a:solidFill>
                  <a:srgbClr val="5B5F68"/>
                </a:solidFill>
                <a:latin typeface="Segoe UI"/>
              </a:rPr>
              <a:t>140 m²</a:t>
            </a:r>
          </a:p>
        </p:txBody>
      </p:sp>
      <p:cxnSp>
        <p:nvCxnSpPr>
          <p:cNvPr id="23" name="!!res3"/>
          <p:cNvCxnSpPr/>
          <p:nvPr/>
        </p:nvCxnSpPr>
        <p:spPr>
          <a:xfrm flipV="1">
            <a:off x="5989320" y="2468879"/>
            <a:ext cx="0" cy="758713"/>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24" name="!!pred3"/>
          <p:cNvSpPr/>
          <p:nvPr/>
        </p:nvSpPr>
        <p:spPr>
          <a:xfrm>
            <a:off x="5550408" y="3181872"/>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e3"/>
          <p:cNvSpPr/>
          <p:nvPr/>
        </p:nvSpPr>
        <p:spPr>
          <a:xfrm>
            <a:off x="5870448" y="235000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al3"/>
          <p:cNvSpPr txBox="1"/>
          <p:nvPr/>
        </p:nvSpPr>
        <p:spPr>
          <a:xfrm>
            <a:off x="6464808" y="3099576"/>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2.57</a:t>
            </a:r>
          </a:p>
        </p:txBody>
      </p:sp>
      <p:sp>
        <p:nvSpPr>
          <p:cNvPr id="27" name="!!house3"/>
          <p:cNvSpPr txBox="1"/>
          <p:nvPr/>
        </p:nvSpPr>
        <p:spPr>
          <a:xfrm>
            <a:off x="5349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D</a:t>
            </a:r>
          </a:p>
          <a:p>
            <a:pPr algn="ctr">
              <a:spcAft>
                <a:spcPts val="0"/>
              </a:spcAft>
            </a:pPr>
            <a:r>
              <a:rPr sz="1000" b="0" i="0">
                <a:solidFill>
                  <a:srgbClr val="5B5F68"/>
                </a:solidFill>
                <a:latin typeface="Segoe UI"/>
              </a:rPr>
              <a:t>160 m²</a:t>
            </a:r>
          </a:p>
        </p:txBody>
      </p:sp>
      <p:sp>
        <p:nvSpPr>
          <p:cNvPr id="28" name="!!legend"/>
          <p:cNvSpPr txBox="1"/>
          <p:nvPr/>
        </p:nvSpPr>
        <p:spPr>
          <a:xfrm>
            <a:off x="685800" y="6355080"/>
            <a:ext cx="6035040" cy="274320"/>
          </a:xfrm>
          <a:prstGeom prst="rect">
            <a:avLst/>
          </a:prstGeom>
          <a:noFill/>
        </p:spPr>
        <p:txBody>
          <a:bodyPr wrap="square" lIns="0" rIns="0" tIns="0" bIns="0" anchor="t">
            <a:spAutoFit/>
          </a:bodyPr>
          <a:lstStyle/>
          <a:p>
            <a:pPr algn="l">
              <a:spcAft>
                <a:spcPts val="0"/>
              </a:spcAft>
            </a:pPr>
            <a:r>
              <a:rPr sz="1000" b="0" i="0">
                <a:solidFill>
                  <a:srgbClr val="B5543A"/>
                </a:solidFill>
                <a:latin typeface="Segoe UI"/>
              </a:rPr>
              <a:t>●</a:t>
            </a:r>
            <a:r>
              <a:rPr sz="1000" b="0" i="0">
                <a:solidFill>
                  <a:srgbClr val="5B5F68"/>
                </a:solidFill>
                <a:latin typeface="Segoe UI"/>
              </a:rPr>
              <a:t>  true price ($100k)     </a:t>
            </a:r>
            <a:r>
              <a:rPr sz="1000" b="0" i="0">
                <a:solidFill>
                  <a:srgbClr val="262A33"/>
                </a:solidFill>
                <a:latin typeface="Segoe UI"/>
              </a:rPr>
              <a:t>▬</a:t>
            </a:r>
            <a:r>
              <a:rPr sz="1000" b="0" i="0">
                <a:solidFill>
                  <a:srgbClr val="5B5F68"/>
                </a:solidFill>
                <a:latin typeface="Segoe UI"/>
              </a:rPr>
              <a:t>  prediction     </a:t>
            </a:r>
            <a:r>
              <a:rPr sz="1000" b="0" i="0">
                <a:solidFill>
                  <a:srgbClr val="5B5F68"/>
                </a:solidFill>
                <a:latin typeface="Segoe UI"/>
                <a:hlinkClick r:id="rId2"/>
              </a:rPr>
              <a:t>web version</a:t>
            </a:r>
          </a:p>
        </p:txBody>
      </p:sp>
      <p:sp>
        <p:nvSpPr>
          <p:cNvPr id="29" name="!!round"/>
          <p:cNvSpPr txBox="1"/>
          <p:nvPr/>
        </p:nvSpPr>
        <p:spPr>
          <a:xfrm>
            <a:off x="7406640" y="411480"/>
            <a:ext cx="420624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ROUND 3</a:t>
            </a:r>
          </a:p>
        </p:txBody>
      </p:sp>
      <p:sp>
        <p:nvSpPr>
          <p:cNvPr id="30" name="!!params"/>
          <p:cNvSpPr txBox="1"/>
          <p:nvPr/>
        </p:nvSpPr>
        <p:spPr>
          <a:xfrm>
            <a:off x="7406640" y="1143000"/>
            <a:ext cx="4206240" cy="32004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λ = 5     η = 0.5     5 trees max</a:t>
            </a:r>
          </a:p>
        </p:txBody>
      </p:sp>
      <p:sp>
        <p:nvSpPr>
          <p:cNvPr id="31" name="!!rmse"/>
          <p:cNvSpPr txBox="1"/>
          <p:nvPr/>
        </p:nvSpPr>
        <p:spPr>
          <a:xfrm>
            <a:off x="7406640" y="1508760"/>
            <a:ext cx="2011680" cy="822960"/>
          </a:xfrm>
          <a:prstGeom prst="rect">
            <a:avLst/>
          </a:prstGeom>
          <a:noFill/>
        </p:spPr>
        <p:txBody>
          <a:bodyPr wrap="square" lIns="0" rIns="0" tIns="0" bIns="0" anchor="t">
            <a:spAutoFit/>
          </a:bodyPr>
          <a:lstStyle/>
          <a:p>
            <a:pPr algn="l">
              <a:lnSpc>
                <a:spcPct val="90000"/>
              </a:lnSpc>
              <a:spcAft>
                <a:spcPts val="0"/>
              </a:spcAft>
            </a:pPr>
            <a:r>
              <a:rPr sz="4000" b="0" i="0">
                <a:solidFill>
                  <a:srgbClr val="B5543A"/>
                </a:solidFill>
                <a:latin typeface="Bahnschrift Light"/>
              </a:rPr>
              <a:t>0.66</a:t>
            </a:r>
          </a:p>
          <a:p>
            <a:pPr algn="l">
              <a:lnSpc>
                <a:spcPct val="90000"/>
              </a:lnSpc>
              <a:spcAft>
                <a:spcPts val="0"/>
              </a:spcAft>
            </a:pPr>
            <a:r>
              <a:rPr sz="1100" b="0" i="0">
                <a:solidFill>
                  <a:srgbClr val="5B5F68"/>
                </a:solidFill>
                <a:latin typeface="Segoe UI"/>
              </a:rPr>
              <a:t>error (RMSE)</a:t>
            </a:r>
          </a:p>
        </p:txBody>
      </p:sp>
      <p:sp>
        <p:nvSpPr>
          <p:cNvPr id="32" name="!!hist0"/>
          <p:cNvSpPr/>
          <p:nvPr/>
        </p:nvSpPr>
        <p:spPr>
          <a:xfrm>
            <a:off x="9555480" y="1815218"/>
            <a:ext cx="246888" cy="699381"/>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ist1"/>
          <p:cNvSpPr/>
          <p:nvPr/>
        </p:nvSpPr>
        <p:spPr>
          <a:xfrm>
            <a:off x="9893807" y="1910981"/>
            <a:ext cx="246888" cy="603618"/>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ist2"/>
          <p:cNvSpPr/>
          <p:nvPr/>
        </p:nvSpPr>
        <p:spPr>
          <a:xfrm>
            <a:off x="10232136" y="1992411"/>
            <a:ext cx="246888" cy="522188"/>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ist3"/>
          <p:cNvSpPr/>
          <p:nvPr/>
        </p:nvSpPr>
        <p:spPr>
          <a:xfrm>
            <a:off x="10570463" y="2061468"/>
            <a:ext cx="246888" cy="453131"/>
          </a:xfrm>
          <a:prstGeom prst="rect">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istlbl"/>
          <p:cNvSpPr txBox="1"/>
          <p:nvPr/>
        </p:nvSpPr>
        <p:spPr>
          <a:xfrm>
            <a:off x="9555480" y="2560320"/>
            <a:ext cx="2103120" cy="274320"/>
          </a:xfrm>
          <a:prstGeom prst="rect">
            <a:avLst/>
          </a:prstGeom>
          <a:noFill/>
        </p:spPr>
        <p:txBody>
          <a:bodyPr wrap="square" lIns="0" rIns="0" tIns="0" bIns="0" anchor="t">
            <a:spAutoFit/>
          </a:bodyPr>
          <a:lstStyle/>
          <a:p>
            <a:pPr algn="l">
              <a:spcAft>
                <a:spcPts val="0"/>
              </a:spcAft>
            </a:pPr>
            <a:r>
              <a:rPr sz="900" b="0" i="0">
                <a:solidFill>
                  <a:srgbClr val="5B5F68"/>
                </a:solidFill>
                <a:latin typeface="Segoe UI"/>
              </a:rPr>
              <a:t>error after each tree</a:t>
            </a:r>
          </a:p>
        </p:txBody>
      </p:sp>
      <p:sp>
        <p:nvSpPr>
          <p:cNvPr id="37" name="!!calc"/>
          <p:cNvSpPr txBox="1"/>
          <p:nvPr/>
        </p:nvSpPr>
        <p:spPr>
          <a:xfrm>
            <a:off x="7406640" y="3017520"/>
            <a:ext cx="4206240" cy="2468880"/>
          </a:xfrm>
          <a:prstGeom prst="rect">
            <a:avLst/>
          </a:prstGeom>
          <a:noFill/>
        </p:spPr>
        <p:txBody>
          <a:bodyPr wrap="square" lIns="0" rIns="0" tIns="0" bIns="0" anchor="t">
            <a:spAutoFit/>
          </a:bodyPr>
          <a:lstStyle/>
          <a:p>
            <a:pPr algn="l">
              <a:spcAft>
                <a:spcPts val="300"/>
              </a:spcAft>
            </a:pPr>
            <a:r>
              <a:rPr sz="1200" b="0" i="0">
                <a:solidFill>
                  <a:srgbClr val="262A33"/>
                </a:solidFill>
                <a:latin typeface="Segoe UI Semibold"/>
              </a:rPr>
              <a:t>Tree 3 learns from the errors of round 2</a:t>
            </a:r>
          </a:p>
          <a:p>
            <a:pPr algn="l">
              <a:spcAft>
                <a:spcPts val="300"/>
              </a:spcAft>
            </a:pPr>
            <a:r>
              <a:rPr sz="1100" b="0" i="0">
                <a:solidFill>
                  <a:srgbClr val="262A33"/>
                </a:solidFill>
                <a:latin typeface="Segoe UI Semibold"/>
              </a:rPr>
              <a:t>Leaf 1 (houses A, B)</a:t>
            </a:r>
          </a:p>
          <a:p>
            <a:pPr algn="l">
              <a:spcAft>
                <a:spcPts val="300"/>
              </a:spcAft>
            </a:pPr>
            <a:r>
              <a:rPr sz="1100" b="0" i="0">
                <a:solidFill>
                  <a:srgbClr val="5B5F68"/>
                </a:solidFill>
                <a:latin typeface="Segoe UI"/>
              </a:rPr>
              <a:t>G = 0.93 + 0.53 = 1.47     H = 2</a:t>
            </a:r>
          </a:p>
          <a:p>
            <a:pPr algn="l">
              <a:spcAft>
                <a:spcPts val="300"/>
              </a:spcAft>
            </a:pPr>
            <a:r>
              <a:rPr sz="1100" b="0" i="0">
                <a:solidFill>
                  <a:srgbClr val="5B5F68"/>
                </a:solidFill>
                <a:latin typeface="Segoe UI"/>
              </a:rPr>
              <a:t>w = −G/(H+λ) = -0.21     change = η·w = </a:t>
            </a:r>
            <a:r>
              <a:rPr sz="1100" b="0" i="0">
                <a:solidFill>
                  <a:srgbClr val="B5543A"/>
                </a:solidFill>
                <a:latin typeface="Segoe UI Semibold"/>
              </a:rPr>
              <a:t>-0.10</a:t>
            </a:r>
          </a:p>
          <a:p>
            <a:pPr algn="l">
              <a:spcAft>
                <a:spcPts val="300"/>
              </a:spcAft>
            </a:pPr>
            <a:r>
              <a:rPr sz="1100" b="0" i="0">
                <a:solidFill>
                  <a:srgbClr val="262A33"/>
                </a:solidFill>
                <a:latin typeface="Segoe UI Semibold"/>
              </a:rPr>
              <a:t>Leaf 2 (houses C, D)</a:t>
            </a:r>
          </a:p>
          <a:p>
            <a:pPr algn="l">
              <a:spcAft>
                <a:spcPts val="300"/>
              </a:spcAft>
            </a:pPr>
            <a:r>
              <a:rPr sz="1100" b="0" i="0">
                <a:solidFill>
                  <a:srgbClr val="5B5F68"/>
                </a:solidFill>
                <a:latin typeface="Segoe UI"/>
              </a:rPr>
              <a:t>G = (-0.53) + (-0.93) = -1.47     H = 2</a:t>
            </a:r>
          </a:p>
          <a:p>
            <a:pPr algn="l">
              <a:spcAft>
                <a:spcPts val="300"/>
              </a:spcAft>
            </a:pPr>
            <a:r>
              <a:rPr sz="1100" b="0" i="0">
                <a:solidFill>
                  <a:srgbClr val="5B5F68"/>
                </a:solidFill>
                <a:latin typeface="Segoe UI"/>
              </a:rPr>
              <a:t>w = −G/(H+λ) = +0.21     change = η·w = </a:t>
            </a:r>
            <a:r>
              <a:rPr sz="1100" b="0" i="0">
                <a:solidFill>
                  <a:srgbClr val="B5543A"/>
                </a:solidFill>
                <a:latin typeface="Segoe UI Semibold"/>
              </a:rPr>
              <a:t>+0.10</a:t>
            </a:r>
          </a:p>
        </p:txBody>
      </p:sp>
      <p:sp>
        <p:nvSpPr>
          <p:cNvPr id="38" name="!!btn_back">
            <a:hlinkClick action="ppaction://hlinksldjump" r:id="rId3"/>
          </p:cNvPr>
          <p:cNvSpPr/>
          <p:nvPr/>
        </p:nvSpPr>
        <p:spPr>
          <a:xfrm>
            <a:off x="7406640" y="5715000"/>
            <a:ext cx="96012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  BACK</a:t>
            </a:r>
          </a:p>
        </p:txBody>
      </p:sp>
      <p:sp>
        <p:nvSpPr>
          <p:cNvPr id="39" name="!!btn_next">
            <a:hlinkClick action="ppaction://hlinksldjump" r:id="rId4"/>
          </p:cNvPr>
          <p:cNvSpPr/>
          <p:nvPr/>
        </p:nvSpPr>
        <p:spPr>
          <a:xfrm>
            <a:off x="8476488" y="5715000"/>
            <a:ext cx="1463040" cy="45720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E5E4E2"/>
                </a:solidFill>
                <a:latin typeface="Segoe UI Semibold"/>
              </a:rPr>
              <a:t>ADD TREE  ▶</a:t>
            </a:r>
          </a:p>
        </p:txBody>
      </p:sp>
      <p:sp>
        <p:nvSpPr>
          <p:cNvPr id="40" name="!!btn_reset">
            <a:hlinkClick action="ppaction://hlinksldjump" r:id="rId5"/>
          </p:cNvPr>
          <p:cNvSpPr/>
          <p:nvPr/>
        </p:nvSpPr>
        <p:spPr>
          <a:xfrm>
            <a:off x="10049256" y="5715000"/>
            <a:ext cx="54864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400">
                <a:solidFill>
                  <a:srgbClr val="262A33"/>
                </a:solidFill>
                <a:latin typeface="Segoe UI Semibold"/>
              </a:rPr>
              <a:t>↺</a:t>
            </a:r>
          </a:p>
        </p:txBody>
      </p:sp>
      <p:sp>
        <p:nvSpPr>
          <p:cNvPr id="41" name="!!btn_lambda">
            <a:hlinkClick action="ppaction://hlinksldjump" r:id="rId6"/>
          </p:cNvPr>
          <p:cNvSpPr/>
          <p:nvPr/>
        </p:nvSpPr>
        <p:spPr>
          <a:xfrm>
            <a:off x="10707624" y="5715000"/>
            <a:ext cx="91440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λ = 1</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E5E4E2"/>
        </a:solidFill>
        <a:effectLst/>
      </p:bgPr>
    </p:bg>
    <p:spTree>
      <p:nvGrpSpPr>
        <p:cNvPr id="1" name=""/>
        <p:cNvGrpSpPr/>
        <p:nvPr/>
      </p:nvGrpSpPr>
      <p:grpSpPr/>
      <p:sp>
        <p:nvSpPr>
          <p:cNvPr id="2" name="!!kicker"/>
          <p:cNvSpPr txBox="1"/>
          <p:nvPr/>
        </p:nvSpPr>
        <p:spPr>
          <a:xfrm>
            <a:off x="685800" y="365760"/>
            <a:ext cx="6400800" cy="365760"/>
          </a:xfrm>
          <a:prstGeom prst="rect">
            <a:avLst/>
          </a:prstGeom>
          <a:noFill/>
        </p:spPr>
        <p:txBody>
          <a:bodyPr wrap="square" lIns="0" rIns="0" tIns="0" bIns="0" anchor="t">
            <a:spAutoFit/>
          </a:bodyPr>
          <a:lstStyle/>
          <a:p>
            <a:pPr algn="l">
              <a:spcAft>
                <a:spcPts val="0"/>
              </a:spcAft>
            </a:pPr>
            <a:r>
              <a:rPr sz="1100" b="0" i="0">
                <a:solidFill>
                  <a:srgbClr val="5B5F68"/>
                </a:solidFill>
                <a:latin typeface="Segoe UI"/>
              </a:rPr>
              <a:t>TRY IT YOURSELF  ·  INTERACTIVE</a:t>
            </a:r>
          </a:p>
        </p:txBody>
      </p:sp>
      <p:sp>
        <p:nvSpPr>
          <p:cNvPr id="3" name="!!dtitle"/>
          <p:cNvSpPr txBox="1"/>
          <p:nvPr/>
        </p:nvSpPr>
        <p:spPr>
          <a:xfrm>
            <a:off x="685800" y="685800"/>
            <a:ext cx="640080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BOOSTING, LIVE</a:t>
            </a:r>
          </a:p>
        </p:txBody>
      </p:sp>
      <p:cxnSp>
        <p:nvCxnSpPr>
          <p:cNvPr id="4" name="!!axis"/>
          <p:cNvCxnSpPr/>
          <p:nvPr/>
        </p:nvCxnSpPr>
        <p:spPr>
          <a:xfrm>
            <a:off x="822960" y="5577840"/>
            <a:ext cx="5852160" cy="0"/>
          </a:xfrm>
          <a:prstGeom prst="line">
            <a:avLst/>
          </a:prstGeom>
          <a:ln w="952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5" name="!!split"/>
          <p:cNvCxnSpPr/>
          <p:nvPr/>
        </p:nvCxnSpPr>
        <p:spPr>
          <a:xfrm>
            <a:off x="3703320" y="1783080"/>
            <a:ext cx="0" cy="3794760"/>
          </a:xfrm>
          <a:prstGeom prst="line">
            <a:avLst/>
          </a:prstGeom>
          <a:ln w="12700">
            <a:solidFill>
              <a:srgbClr val="B9B9B6"/>
            </a:solidFill>
            <a:prstDash val="dash"/>
          </a:ln>
        </p:spPr>
        <p:style>
          <a:lnRef idx="2">
            <a:schemeClr val="accent1"/>
          </a:lnRef>
          <a:fillRef idx="0">
            <a:schemeClr val="accent1"/>
          </a:fillRef>
          <a:effectRef idx="1">
            <a:schemeClr val="accent1"/>
          </a:effectRef>
          <a:fontRef idx="minor">
            <a:schemeClr val="tx1"/>
          </a:fontRef>
        </p:style>
      </p:cxnSp>
      <p:sp>
        <p:nvSpPr>
          <p:cNvPr id="6" name="!!leaf1lbl"/>
          <p:cNvSpPr txBox="1"/>
          <p:nvPr/>
        </p:nvSpPr>
        <p:spPr>
          <a:xfrm>
            <a:off x="914400"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1: size &lt; 100 m²</a:t>
            </a:r>
          </a:p>
        </p:txBody>
      </p:sp>
      <p:sp>
        <p:nvSpPr>
          <p:cNvPr id="7" name="!!leaf2lbl"/>
          <p:cNvSpPr txBox="1"/>
          <p:nvPr/>
        </p:nvSpPr>
        <p:spPr>
          <a:xfrm>
            <a:off x="3749039"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2: size ≥ 100 m²</a:t>
            </a:r>
          </a:p>
        </p:txBody>
      </p:sp>
      <p:cxnSp>
        <p:nvCxnSpPr>
          <p:cNvPr id="8" name="!!res0"/>
          <p:cNvCxnSpPr/>
          <p:nvPr/>
        </p:nvCxnSpPr>
        <p:spPr>
          <a:xfrm>
            <a:off x="1417320" y="3986989"/>
            <a:ext cx="0" cy="676451"/>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9" name="!!pred0"/>
          <p:cNvSpPr/>
          <p:nvPr/>
        </p:nvSpPr>
        <p:spPr>
          <a:xfrm>
            <a:off x="978408" y="3941269"/>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e0"/>
          <p:cNvSpPr/>
          <p:nvPr/>
        </p:nvSpPr>
        <p:spPr>
          <a:xfrm>
            <a:off x="1298448" y="45445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al0"/>
          <p:cNvSpPr txBox="1"/>
          <p:nvPr/>
        </p:nvSpPr>
        <p:spPr>
          <a:xfrm>
            <a:off x="1892808" y="385897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1.74</a:t>
            </a:r>
          </a:p>
        </p:txBody>
      </p:sp>
      <p:sp>
        <p:nvSpPr>
          <p:cNvPr id="12" name="!!house0"/>
          <p:cNvSpPr txBox="1"/>
          <p:nvPr/>
        </p:nvSpPr>
        <p:spPr>
          <a:xfrm>
            <a:off x="777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A</a:t>
            </a:r>
          </a:p>
          <a:p>
            <a:pPr algn="ctr">
              <a:spcAft>
                <a:spcPts val="0"/>
              </a:spcAft>
            </a:pPr>
            <a:r>
              <a:rPr sz="1000" b="0" i="0">
                <a:solidFill>
                  <a:srgbClr val="5B5F68"/>
                </a:solidFill>
                <a:latin typeface="Segoe UI"/>
              </a:rPr>
              <a:t>70 m²</a:t>
            </a:r>
          </a:p>
        </p:txBody>
      </p:sp>
      <p:cxnSp>
        <p:nvCxnSpPr>
          <p:cNvPr id="13" name="!!res1"/>
          <p:cNvCxnSpPr/>
          <p:nvPr/>
        </p:nvCxnSpPr>
        <p:spPr>
          <a:xfrm>
            <a:off x="2606040" y="3986989"/>
            <a:ext cx="0" cy="310690"/>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4" name="!!pred1"/>
          <p:cNvSpPr/>
          <p:nvPr/>
        </p:nvSpPr>
        <p:spPr>
          <a:xfrm>
            <a:off x="2167128" y="3941269"/>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e1"/>
          <p:cNvSpPr/>
          <p:nvPr/>
        </p:nvSpPr>
        <p:spPr>
          <a:xfrm>
            <a:off x="2487168" y="4178807"/>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al1"/>
          <p:cNvSpPr txBox="1"/>
          <p:nvPr/>
        </p:nvSpPr>
        <p:spPr>
          <a:xfrm>
            <a:off x="3081528" y="385897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1.74</a:t>
            </a:r>
          </a:p>
        </p:txBody>
      </p:sp>
      <p:sp>
        <p:nvSpPr>
          <p:cNvPr id="17" name="!!house1"/>
          <p:cNvSpPr txBox="1"/>
          <p:nvPr/>
        </p:nvSpPr>
        <p:spPr>
          <a:xfrm>
            <a:off x="196596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B</a:t>
            </a:r>
          </a:p>
          <a:p>
            <a:pPr algn="ctr">
              <a:spcAft>
                <a:spcPts val="0"/>
              </a:spcAft>
            </a:pPr>
            <a:r>
              <a:rPr sz="1000" b="0" i="0">
                <a:solidFill>
                  <a:srgbClr val="5B5F68"/>
                </a:solidFill>
                <a:latin typeface="Segoe UI"/>
              </a:rPr>
              <a:t>85 m²</a:t>
            </a:r>
          </a:p>
        </p:txBody>
      </p:sp>
      <p:cxnSp>
        <p:nvCxnSpPr>
          <p:cNvPr id="18" name="!!res2"/>
          <p:cNvCxnSpPr/>
          <p:nvPr/>
        </p:nvCxnSpPr>
        <p:spPr>
          <a:xfrm flipV="1">
            <a:off x="4800600" y="2834639"/>
            <a:ext cx="0" cy="310691"/>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9" name="!!pred2"/>
          <p:cNvSpPr/>
          <p:nvPr/>
        </p:nvSpPr>
        <p:spPr>
          <a:xfrm>
            <a:off x="4361688" y="3099610"/>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e2"/>
          <p:cNvSpPr/>
          <p:nvPr/>
        </p:nvSpPr>
        <p:spPr>
          <a:xfrm>
            <a:off x="4681728" y="27157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al2"/>
          <p:cNvSpPr txBox="1"/>
          <p:nvPr/>
        </p:nvSpPr>
        <p:spPr>
          <a:xfrm>
            <a:off x="5276088" y="3017314"/>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2.66</a:t>
            </a:r>
          </a:p>
        </p:txBody>
      </p:sp>
      <p:sp>
        <p:nvSpPr>
          <p:cNvPr id="22" name="!!house2"/>
          <p:cNvSpPr txBox="1"/>
          <p:nvPr/>
        </p:nvSpPr>
        <p:spPr>
          <a:xfrm>
            <a:off x="416052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C</a:t>
            </a:r>
          </a:p>
          <a:p>
            <a:pPr algn="ctr">
              <a:spcAft>
                <a:spcPts val="0"/>
              </a:spcAft>
            </a:pPr>
            <a:r>
              <a:rPr sz="1000" b="0" i="0">
                <a:solidFill>
                  <a:srgbClr val="5B5F68"/>
                </a:solidFill>
                <a:latin typeface="Segoe UI"/>
              </a:rPr>
              <a:t>140 m²</a:t>
            </a:r>
          </a:p>
        </p:txBody>
      </p:sp>
      <p:cxnSp>
        <p:nvCxnSpPr>
          <p:cNvPr id="23" name="!!res3"/>
          <p:cNvCxnSpPr/>
          <p:nvPr/>
        </p:nvCxnSpPr>
        <p:spPr>
          <a:xfrm flipV="1">
            <a:off x="5989320" y="2468879"/>
            <a:ext cx="0" cy="676451"/>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24" name="!!pred3"/>
          <p:cNvSpPr/>
          <p:nvPr/>
        </p:nvSpPr>
        <p:spPr>
          <a:xfrm>
            <a:off x="5550408" y="3099610"/>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e3"/>
          <p:cNvSpPr/>
          <p:nvPr/>
        </p:nvSpPr>
        <p:spPr>
          <a:xfrm>
            <a:off x="5870448" y="235000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al3"/>
          <p:cNvSpPr txBox="1"/>
          <p:nvPr/>
        </p:nvSpPr>
        <p:spPr>
          <a:xfrm>
            <a:off x="6464808" y="3017314"/>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2.66</a:t>
            </a:r>
          </a:p>
        </p:txBody>
      </p:sp>
      <p:sp>
        <p:nvSpPr>
          <p:cNvPr id="27" name="!!house3"/>
          <p:cNvSpPr txBox="1"/>
          <p:nvPr/>
        </p:nvSpPr>
        <p:spPr>
          <a:xfrm>
            <a:off x="5349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D</a:t>
            </a:r>
          </a:p>
          <a:p>
            <a:pPr algn="ctr">
              <a:spcAft>
                <a:spcPts val="0"/>
              </a:spcAft>
            </a:pPr>
            <a:r>
              <a:rPr sz="1000" b="0" i="0">
                <a:solidFill>
                  <a:srgbClr val="5B5F68"/>
                </a:solidFill>
                <a:latin typeface="Segoe UI"/>
              </a:rPr>
              <a:t>160 m²</a:t>
            </a:r>
          </a:p>
        </p:txBody>
      </p:sp>
      <p:sp>
        <p:nvSpPr>
          <p:cNvPr id="28" name="!!legend"/>
          <p:cNvSpPr txBox="1"/>
          <p:nvPr/>
        </p:nvSpPr>
        <p:spPr>
          <a:xfrm>
            <a:off x="685800" y="6355080"/>
            <a:ext cx="6035040" cy="274320"/>
          </a:xfrm>
          <a:prstGeom prst="rect">
            <a:avLst/>
          </a:prstGeom>
          <a:noFill/>
        </p:spPr>
        <p:txBody>
          <a:bodyPr wrap="square" lIns="0" rIns="0" tIns="0" bIns="0" anchor="t">
            <a:spAutoFit/>
          </a:bodyPr>
          <a:lstStyle/>
          <a:p>
            <a:pPr algn="l">
              <a:spcAft>
                <a:spcPts val="0"/>
              </a:spcAft>
            </a:pPr>
            <a:r>
              <a:rPr sz="1000" b="0" i="0">
                <a:solidFill>
                  <a:srgbClr val="B5543A"/>
                </a:solidFill>
                <a:latin typeface="Segoe UI"/>
              </a:rPr>
              <a:t>●</a:t>
            </a:r>
            <a:r>
              <a:rPr sz="1000" b="0" i="0">
                <a:solidFill>
                  <a:srgbClr val="5B5F68"/>
                </a:solidFill>
                <a:latin typeface="Segoe UI"/>
              </a:rPr>
              <a:t>  true price ($100k)     </a:t>
            </a:r>
            <a:r>
              <a:rPr sz="1000" b="0" i="0">
                <a:solidFill>
                  <a:srgbClr val="262A33"/>
                </a:solidFill>
                <a:latin typeface="Segoe UI"/>
              </a:rPr>
              <a:t>▬</a:t>
            </a:r>
            <a:r>
              <a:rPr sz="1000" b="0" i="0">
                <a:solidFill>
                  <a:srgbClr val="5B5F68"/>
                </a:solidFill>
                <a:latin typeface="Segoe UI"/>
              </a:rPr>
              <a:t>  prediction     </a:t>
            </a:r>
            <a:r>
              <a:rPr sz="1000" b="0" i="0">
                <a:solidFill>
                  <a:srgbClr val="5B5F68"/>
                </a:solidFill>
                <a:latin typeface="Segoe UI"/>
                <a:hlinkClick r:id="rId2"/>
              </a:rPr>
              <a:t>web version</a:t>
            </a:r>
          </a:p>
        </p:txBody>
      </p:sp>
      <p:sp>
        <p:nvSpPr>
          <p:cNvPr id="29" name="!!round"/>
          <p:cNvSpPr txBox="1"/>
          <p:nvPr/>
        </p:nvSpPr>
        <p:spPr>
          <a:xfrm>
            <a:off x="7406640" y="411480"/>
            <a:ext cx="420624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ROUND 4</a:t>
            </a:r>
          </a:p>
        </p:txBody>
      </p:sp>
      <p:sp>
        <p:nvSpPr>
          <p:cNvPr id="30" name="!!params"/>
          <p:cNvSpPr txBox="1"/>
          <p:nvPr/>
        </p:nvSpPr>
        <p:spPr>
          <a:xfrm>
            <a:off x="7406640" y="1143000"/>
            <a:ext cx="4206240" cy="32004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λ = 5     η = 0.5     5 trees max</a:t>
            </a:r>
          </a:p>
        </p:txBody>
      </p:sp>
      <p:sp>
        <p:nvSpPr>
          <p:cNvPr id="31" name="!!rmse"/>
          <p:cNvSpPr txBox="1"/>
          <p:nvPr/>
        </p:nvSpPr>
        <p:spPr>
          <a:xfrm>
            <a:off x="7406640" y="1508760"/>
            <a:ext cx="2011680" cy="822960"/>
          </a:xfrm>
          <a:prstGeom prst="rect">
            <a:avLst/>
          </a:prstGeom>
          <a:noFill/>
        </p:spPr>
        <p:txBody>
          <a:bodyPr wrap="square" lIns="0" rIns="0" tIns="0" bIns="0" anchor="t">
            <a:spAutoFit/>
          </a:bodyPr>
          <a:lstStyle/>
          <a:p>
            <a:pPr algn="l">
              <a:lnSpc>
                <a:spcPct val="90000"/>
              </a:lnSpc>
              <a:spcAft>
                <a:spcPts val="0"/>
              </a:spcAft>
            </a:pPr>
            <a:r>
              <a:rPr sz="4000" b="0" i="0">
                <a:solidFill>
                  <a:srgbClr val="B5543A"/>
                </a:solidFill>
                <a:latin typeface="Bahnschrift Light"/>
              </a:rPr>
              <a:t>0.58</a:t>
            </a:r>
          </a:p>
          <a:p>
            <a:pPr algn="l">
              <a:lnSpc>
                <a:spcPct val="90000"/>
              </a:lnSpc>
              <a:spcAft>
                <a:spcPts val="0"/>
              </a:spcAft>
            </a:pPr>
            <a:r>
              <a:rPr sz="1100" b="0" i="0">
                <a:solidFill>
                  <a:srgbClr val="5B5F68"/>
                </a:solidFill>
                <a:latin typeface="Segoe UI"/>
              </a:rPr>
              <a:t>error (RMSE)</a:t>
            </a:r>
          </a:p>
        </p:txBody>
      </p:sp>
      <p:sp>
        <p:nvSpPr>
          <p:cNvPr id="32" name="!!hist0"/>
          <p:cNvSpPr/>
          <p:nvPr/>
        </p:nvSpPr>
        <p:spPr>
          <a:xfrm>
            <a:off x="9555480" y="1815218"/>
            <a:ext cx="246888" cy="699381"/>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ist1"/>
          <p:cNvSpPr/>
          <p:nvPr/>
        </p:nvSpPr>
        <p:spPr>
          <a:xfrm>
            <a:off x="9893807" y="1910981"/>
            <a:ext cx="246888" cy="603618"/>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ist2"/>
          <p:cNvSpPr/>
          <p:nvPr/>
        </p:nvSpPr>
        <p:spPr>
          <a:xfrm>
            <a:off x="10232136" y="1992411"/>
            <a:ext cx="246888" cy="522188"/>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ist3"/>
          <p:cNvSpPr/>
          <p:nvPr/>
        </p:nvSpPr>
        <p:spPr>
          <a:xfrm>
            <a:off x="10570463" y="2061468"/>
            <a:ext cx="246888" cy="453131"/>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ist4"/>
          <p:cNvSpPr/>
          <p:nvPr/>
        </p:nvSpPr>
        <p:spPr>
          <a:xfrm>
            <a:off x="10908792" y="2119828"/>
            <a:ext cx="246888" cy="394771"/>
          </a:xfrm>
          <a:prstGeom prst="rect">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histlbl"/>
          <p:cNvSpPr txBox="1"/>
          <p:nvPr/>
        </p:nvSpPr>
        <p:spPr>
          <a:xfrm>
            <a:off x="9555480" y="2560320"/>
            <a:ext cx="2103120" cy="274320"/>
          </a:xfrm>
          <a:prstGeom prst="rect">
            <a:avLst/>
          </a:prstGeom>
          <a:noFill/>
        </p:spPr>
        <p:txBody>
          <a:bodyPr wrap="square" lIns="0" rIns="0" tIns="0" bIns="0" anchor="t">
            <a:spAutoFit/>
          </a:bodyPr>
          <a:lstStyle/>
          <a:p>
            <a:pPr algn="l">
              <a:spcAft>
                <a:spcPts val="0"/>
              </a:spcAft>
            </a:pPr>
            <a:r>
              <a:rPr sz="900" b="0" i="0">
                <a:solidFill>
                  <a:srgbClr val="5B5F68"/>
                </a:solidFill>
                <a:latin typeface="Segoe UI"/>
              </a:rPr>
              <a:t>error after each tree</a:t>
            </a:r>
          </a:p>
        </p:txBody>
      </p:sp>
      <p:sp>
        <p:nvSpPr>
          <p:cNvPr id="38" name="!!calc"/>
          <p:cNvSpPr txBox="1"/>
          <p:nvPr/>
        </p:nvSpPr>
        <p:spPr>
          <a:xfrm>
            <a:off x="7406640" y="3017520"/>
            <a:ext cx="4206240" cy="2468880"/>
          </a:xfrm>
          <a:prstGeom prst="rect">
            <a:avLst/>
          </a:prstGeom>
          <a:noFill/>
        </p:spPr>
        <p:txBody>
          <a:bodyPr wrap="square" lIns="0" rIns="0" tIns="0" bIns="0" anchor="t">
            <a:spAutoFit/>
          </a:bodyPr>
          <a:lstStyle/>
          <a:p>
            <a:pPr algn="l">
              <a:spcAft>
                <a:spcPts val="300"/>
              </a:spcAft>
            </a:pPr>
            <a:r>
              <a:rPr sz="1200" b="0" i="0">
                <a:solidFill>
                  <a:srgbClr val="262A33"/>
                </a:solidFill>
                <a:latin typeface="Segoe UI Semibold"/>
              </a:rPr>
              <a:t>Tree 4 learns from the errors of round 3</a:t>
            </a:r>
          </a:p>
          <a:p>
            <a:pPr algn="l">
              <a:spcAft>
                <a:spcPts val="300"/>
              </a:spcAft>
            </a:pPr>
            <a:r>
              <a:rPr sz="1100" b="0" i="0">
                <a:solidFill>
                  <a:srgbClr val="262A33"/>
                </a:solidFill>
                <a:latin typeface="Segoe UI Semibold"/>
              </a:rPr>
              <a:t>Leaf 1 (houses A, B)</a:t>
            </a:r>
          </a:p>
          <a:p>
            <a:pPr algn="l">
              <a:spcAft>
                <a:spcPts val="300"/>
              </a:spcAft>
            </a:pPr>
            <a:r>
              <a:rPr sz="1100" b="0" i="0">
                <a:solidFill>
                  <a:srgbClr val="5B5F68"/>
                </a:solidFill>
                <a:latin typeface="Segoe UI"/>
              </a:rPr>
              <a:t>G = 0.83 + 0.43 = 1.26     H = 2</a:t>
            </a:r>
          </a:p>
          <a:p>
            <a:pPr algn="l">
              <a:spcAft>
                <a:spcPts val="300"/>
              </a:spcAft>
            </a:pPr>
            <a:r>
              <a:rPr sz="1100" b="0" i="0">
                <a:solidFill>
                  <a:srgbClr val="5B5F68"/>
                </a:solidFill>
                <a:latin typeface="Segoe UI"/>
              </a:rPr>
              <a:t>w = −G/(H+λ) = -0.18     change = η·w = </a:t>
            </a:r>
            <a:r>
              <a:rPr sz="1100" b="0" i="0">
                <a:solidFill>
                  <a:srgbClr val="B5543A"/>
                </a:solidFill>
                <a:latin typeface="Segoe UI Semibold"/>
              </a:rPr>
              <a:t>-0.09</a:t>
            </a:r>
          </a:p>
          <a:p>
            <a:pPr algn="l">
              <a:spcAft>
                <a:spcPts val="300"/>
              </a:spcAft>
            </a:pPr>
            <a:r>
              <a:rPr sz="1100" b="0" i="0">
                <a:solidFill>
                  <a:srgbClr val="262A33"/>
                </a:solidFill>
                <a:latin typeface="Segoe UI Semibold"/>
              </a:rPr>
              <a:t>Leaf 2 (houses C, D)</a:t>
            </a:r>
          </a:p>
          <a:p>
            <a:pPr algn="l">
              <a:spcAft>
                <a:spcPts val="300"/>
              </a:spcAft>
            </a:pPr>
            <a:r>
              <a:rPr sz="1100" b="0" i="0">
                <a:solidFill>
                  <a:srgbClr val="5B5F68"/>
                </a:solidFill>
                <a:latin typeface="Segoe UI"/>
              </a:rPr>
              <a:t>G = (-0.43) + (-0.83) = -1.26     H = 2</a:t>
            </a:r>
          </a:p>
          <a:p>
            <a:pPr algn="l">
              <a:spcAft>
                <a:spcPts val="300"/>
              </a:spcAft>
            </a:pPr>
            <a:r>
              <a:rPr sz="1100" b="0" i="0">
                <a:solidFill>
                  <a:srgbClr val="5B5F68"/>
                </a:solidFill>
                <a:latin typeface="Segoe UI"/>
              </a:rPr>
              <a:t>w = −G/(H+λ) = +0.18     change = η·w = </a:t>
            </a:r>
            <a:r>
              <a:rPr sz="1100" b="0" i="0">
                <a:solidFill>
                  <a:srgbClr val="B5543A"/>
                </a:solidFill>
                <a:latin typeface="Segoe UI Semibold"/>
              </a:rPr>
              <a:t>+0.09</a:t>
            </a:r>
          </a:p>
        </p:txBody>
      </p:sp>
      <p:sp>
        <p:nvSpPr>
          <p:cNvPr id="39" name="!!btn_back">
            <a:hlinkClick action="ppaction://hlinksldjump" r:id="rId3"/>
          </p:cNvPr>
          <p:cNvSpPr/>
          <p:nvPr/>
        </p:nvSpPr>
        <p:spPr>
          <a:xfrm>
            <a:off x="7406640" y="5715000"/>
            <a:ext cx="96012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  BACK</a:t>
            </a:r>
          </a:p>
        </p:txBody>
      </p:sp>
      <p:sp>
        <p:nvSpPr>
          <p:cNvPr id="40" name="!!btn_next">
            <a:hlinkClick action="ppaction://hlinksldjump" r:id="rId4"/>
          </p:cNvPr>
          <p:cNvSpPr/>
          <p:nvPr/>
        </p:nvSpPr>
        <p:spPr>
          <a:xfrm>
            <a:off x="8476488" y="5715000"/>
            <a:ext cx="1463040" cy="45720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E5E4E2"/>
                </a:solidFill>
                <a:latin typeface="Segoe UI Semibold"/>
              </a:rPr>
              <a:t>ADD TREE  ▶</a:t>
            </a:r>
          </a:p>
        </p:txBody>
      </p:sp>
      <p:sp>
        <p:nvSpPr>
          <p:cNvPr id="41" name="!!btn_reset">
            <a:hlinkClick action="ppaction://hlinksldjump" r:id="rId5"/>
          </p:cNvPr>
          <p:cNvSpPr/>
          <p:nvPr/>
        </p:nvSpPr>
        <p:spPr>
          <a:xfrm>
            <a:off x="10049256" y="5715000"/>
            <a:ext cx="54864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400">
                <a:solidFill>
                  <a:srgbClr val="262A33"/>
                </a:solidFill>
                <a:latin typeface="Segoe UI Semibold"/>
              </a:rPr>
              <a:t>↺</a:t>
            </a:r>
          </a:p>
        </p:txBody>
      </p:sp>
      <p:sp>
        <p:nvSpPr>
          <p:cNvPr id="42" name="!!btn_lambda">
            <a:hlinkClick action="ppaction://hlinksldjump" r:id="rId6"/>
          </p:cNvPr>
          <p:cNvSpPr/>
          <p:nvPr/>
        </p:nvSpPr>
        <p:spPr>
          <a:xfrm>
            <a:off x="10707624" y="5715000"/>
            <a:ext cx="91440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λ = 1</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E5E4E2"/>
        </a:solidFill>
        <a:effectLst/>
      </p:bgPr>
    </p:bg>
    <p:spTree>
      <p:nvGrpSpPr>
        <p:cNvPr id="1" name=""/>
        <p:cNvGrpSpPr/>
        <p:nvPr/>
      </p:nvGrpSpPr>
      <p:grpSpPr/>
      <p:sp>
        <p:nvSpPr>
          <p:cNvPr id="2" name="!!kicker"/>
          <p:cNvSpPr txBox="1"/>
          <p:nvPr/>
        </p:nvSpPr>
        <p:spPr>
          <a:xfrm>
            <a:off x="685800" y="365760"/>
            <a:ext cx="6400800" cy="365760"/>
          </a:xfrm>
          <a:prstGeom prst="rect">
            <a:avLst/>
          </a:prstGeom>
          <a:noFill/>
        </p:spPr>
        <p:txBody>
          <a:bodyPr wrap="square" lIns="0" rIns="0" tIns="0" bIns="0" anchor="t">
            <a:spAutoFit/>
          </a:bodyPr>
          <a:lstStyle/>
          <a:p>
            <a:pPr algn="l">
              <a:spcAft>
                <a:spcPts val="0"/>
              </a:spcAft>
            </a:pPr>
            <a:r>
              <a:rPr sz="1100" b="0" i="0">
                <a:solidFill>
                  <a:srgbClr val="5B5F68"/>
                </a:solidFill>
                <a:latin typeface="Segoe UI"/>
              </a:rPr>
              <a:t>TRY IT YOURSELF  ·  INTERACTIVE</a:t>
            </a:r>
          </a:p>
        </p:txBody>
      </p:sp>
      <p:sp>
        <p:nvSpPr>
          <p:cNvPr id="3" name="!!dtitle"/>
          <p:cNvSpPr txBox="1"/>
          <p:nvPr/>
        </p:nvSpPr>
        <p:spPr>
          <a:xfrm>
            <a:off x="685800" y="685800"/>
            <a:ext cx="640080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BOOSTING, LIVE</a:t>
            </a:r>
          </a:p>
        </p:txBody>
      </p:sp>
      <p:cxnSp>
        <p:nvCxnSpPr>
          <p:cNvPr id="4" name="!!axis"/>
          <p:cNvCxnSpPr/>
          <p:nvPr/>
        </p:nvCxnSpPr>
        <p:spPr>
          <a:xfrm>
            <a:off x="822960" y="5577840"/>
            <a:ext cx="5852160" cy="0"/>
          </a:xfrm>
          <a:prstGeom prst="line">
            <a:avLst/>
          </a:prstGeom>
          <a:ln w="952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5" name="!!split"/>
          <p:cNvCxnSpPr/>
          <p:nvPr/>
        </p:nvCxnSpPr>
        <p:spPr>
          <a:xfrm>
            <a:off x="3703320" y="1783080"/>
            <a:ext cx="0" cy="3794760"/>
          </a:xfrm>
          <a:prstGeom prst="line">
            <a:avLst/>
          </a:prstGeom>
          <a:ln w="12700">
            <a:solidFill>
              <a:srgbClr val="B9B9B6"/>
            </a:solidFill>
            <a:prstDash val="dash"/>
          </a:ln>
        </p:spPr>
        <p:style>
          <a:lnRef idx="2">
            <a:schemeClr val="accent1"/>
          </a:lnRef>
          <a:fillRef idx="0">
            <a:schemeClr val="accent1"/>
          </a:fillRef>
          <a:effectRef idx="1">
            <a:schemeClr val="accent1"/>
          </a:effectRef>
          <a:fontRef idx="minor">
            <a:schemeClr val="tx1"/>
          </a:fontRef>
        </p:style>
      </p:cxnSp>
      <p:sp>
        <p:nvSpPr>
          <p:cNvPr id="6" name="!!leaf1lbl"/>
          <p:cNvSpPr txBox="1"/>
          <p:nvPr/>
        </p:nvSpPr>
        <p:spPr>
          <a:xfrm>
            <a:off x="914400"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1: size &lt; 100 m²</a:t>
            </a:r>
          </a:p>
        </p:txBody>
      </p:sp>
      <p:sp>
        <p:nvSpPr>
          <p:cNvPr id="7" name="!!leaf2lbl"/>
          <p:cNvSpPr txBox="1"/>
          <p:nvPr/>
        </p:nvSpPr>
        <p:spPr>
          <a:xfrm>
            <a:off x="3749039" y="1600200"/>
            <a:ext cx="2743200" cy="27432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Leaf 2: size ≥ 100 m²</a:t>
            </a:r>
          </a:p>
        </p:txBody>
      </p:sp>
      <p:cxnSp>
        <p:nvCxnSpPr>
          <p:cNvPr id="8" name="!!res0"/>
          <p:cNvCxnSpPr/>
          <p:nvPr/>
        </p:nvCxnSpPr>
        <p:spPr>
          <a:xfrm>
            <a:off x="1417320" y="4057499"/>
            <a:ext cx="0" cy="605941"/>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9" name="!!pred0"/>
          <p:cNvSpPr/>
          <p:nvPr/>
        </p:nvSpPr>
        <p:spPr>
          <a:xfrm>
            <a:off x="978408" y="4011779"/>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e0"/>
          <p:cNvSpPr/>
          <p:nvPr/>
        </p:nvSpPr>
        <p:spPr>
          <a:xfrm>
            <a:off x="1298448" y="45445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al0"/>
          <p:cNvSpPr txBox="1"/>
          <p:nvPr/>
        </p:nvSpPr>
        <p:spPr>
          <a:xfrm>
            <a:off x="1892808" y="392948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1.66</a:t>
            </a:r>
          </a:p>
        </p:txBody>
      </p:sp>
      <p:sp>
        <p:nvSpPr>
          <p:cNvPr id="12" name="!!house0"/>
          <p:cNvSpPr txBox="1"/>
          <p:nvPr/>
        </p:nvSpPr>
        <p:spPr>
          <a:xfrm>
            <a:off x="777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A</a:t>
            </a:r>
          </a:p>
          <a:p>
            <a:pPr algn="ctr">
              <a:spcAft>
                <a:spcPts val="0"/>
              </a:spcAft>
            </a:pPr>
            <a:r>
              <a:rPr sz="1000" b="0" i="0">
                <a:solidFill>
                  <a:srgbClr val="5B5F68"/>
                </a:solidFill>
                <a:latin typeface="Segoe UI"/>
              </a:rPr>
              <a:t>70 m²</a:t>
            </a:r>
          </a:p>
        </p:txBody>
      </p:sp>
      <p:cxnSp>
        <p:nvCxnSpPr>
          <p:cNvPr id="13" name="!!res1"/>
          <p:cNvCxnSpPr/>
          <p:nvPr/>
        </p:nvCxnSpPr>
        <p:spPr>
          <a:xfrm>
            <a:off x="2606040" y="4057499"/>
            <a:ext cx="0" cy="240180"/>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4" name="!!pred1"/>
          <p:cNvSpPr/>
          <p:nvPr/>
        </p:nvSpPr>
        <p:spPr>
          <a:xfrm>
            <a:off x="2167128" y="4011779"/>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e1"/>
          <p:cNvSpPr/>
          <p:nvPr/>
        </p:nvSpPr>
        <p:spPr>
          <a:xfrm>
            <a:off x="2487168" y="4178807"/>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al1"/>
          <p:cNvSpPr txBox="1"/>
          <p:nvPr/>
        </p:nvSpPr>
        <p:spPr>
          <a:xfrm>
            <a:off x="3081528" y="3929483"/>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1.66</a:t>
            </a:r>
          </a:p>
        </p:txBody>
      </p:sp>
      <p:sp>
        <p:nvSpPr>
          <p:cNvPr id="17" name="!!house1"/>
          <p:cNvSpPr txBox="1"/>
          <p:nvPr/>
        </p:nvSpPr>
        <p:spPr>
          <a:xfrm>
            <a:off x="196596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B</a:t>
            </a:r>
          </a:p>
          <a:p>
            <a:pPr algn="ctr">
              <a:spcAft>
                <a:spcPts val="0"/>
              </a:spcAft>
            </a:pPr>
            <a:r>
              <a:rPr sz="1000" b="0" i="0">
                <a:solidFill>
                  <a:srgbClr val="5B5F68"/>
                </a:solidFill>
                <a:latin typeface="Segoe UI"/>
              </a:rPr>
              <a:t>85 m²</a:t>
            </a:r>
          </a:p>
        </p:txBody>
      </p:sp>
      <p:cxnSp>
        <p:nvCxnSpPr>
          <p:cNvPr id="18" name="!!res2"/>
          <p:cNvCxnSpPr/>
          <p:nvPr/>
        </p:nvCxnSpPr>
        <p:spPr>
          <a:xfrm flipV="1">
            <a:off x="4800600" y="2834639"/>
            <a:ext cx="0" cy="240181"/>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19" name="!!pred2"/>
          <p:cNvSpPr/>
          <p:nvPr/>
        </p:nvSpPr>
        <p:spPr>
          <a:xfrm>
            <a:off x="4361688" y="3029100"/>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e2"/>
          <p:cNvSpPr/>
          <p:nvPr/>
        </p:nvSpPr>
        <p:spPr>
          <a:xfrm>
            <a:off x="4681728" y="271576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al2"/>
          <p:cNvSpPr txBox="1"/>
          <p:nvPr/>
        </p:nvSpPr>
        <p:spPr>
          <a:xfrm>
            <a:off x="5276088" y="2946804"/>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2.74</a:t>
            </a:r>
          </a:p>
        </p:txBody>
      </p:sp>
      <p:sp>
        <p:nvSpPr>
          <p:cNvPr id="22" name="!!house2"/>
          <p:cNvSpPr txBox="1"/>
          <p:nvPr/>
        </p:nvSpPr>
        <p:spPr>
          <a:xfrm>
            <a:off x="416052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C</a:t>
            </a:r>
          </a:p>
          <a:p>
            <a:pPr algn="ctr">
              <a:spcAft>
                <a:spcPts val="0"/>
              </a:spcAft>
            </a:pPr>
            <a:r>
              <a:rPr sz="1000" b="0" i="0">
                <a:solidFill>
                  <a:srgbClr val="5B5F68"/>
                </a:solidFill>
                <a:latin typeface="Segoe UI"/>
              </a:rPr>
              <a:t>140 m²</a:t>
            </a:r>
          </a:p>
        </p:txBody>
      </p:sp>
      <p:cxnSp>
        <p:nvCxnSpPr>
          <p:cNvPr id="23" name="!!res3"/>
          <p:cNvCxnSpPr/>
          <p:nvPr/>
        </p:nvCxnSpPr>
        <p:spPr>
          <a:xfrm flipV="1">
            <a:off x="5989320" y="2468879"/>
            <a:ext cx="0" cy="605941"/>
          </a:xfrm>
          <a:prstGeom prst="line">
            <a:avLst/>
          </a:prstGeom>
          <a:ln w="19050">
            <a:solidFill>
              <a:srgbClr val="B9B9B6"/>
            </a:solidFill>
            <a:prstDash val="sysDot"/>
          </a:ln>
        </p:spPr>
        <p:style>
          <a:lnRef idx="2">
            <a:schemeClr val="accent1"/>
          </a:lnRef>
          <a:fillRef idx="0">
            <a:schemeClr val="accent1"/>
          </a:fillRef>
          <a:effectRef idx="1">
            <a:schemeClr val="accent1"/>
          </a:effectRef>
          <a:fontRef idx="minor">
            <a:schemeClr val="tx1"/>
          </a:fontRef>
        </p:style>
      </p:cxnSp>
      <p:sp>
        <p:nvSpPr>
          <p:cNvPr id="24" name="!!pred3"/>
          <p:cNvSpPr/>
          <p:nvPr/>
        </p:nvSpPr>
        <p:spPr>
          <a:xfrm>
            <a:off x="5550408" y="3029100"/>
            <a:ext cx="877824" cy="9144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e3"/>
          <p:cNvSpPr/>
          <p:nvPr/>
        </p:nvSpPr>
        <p:spPr>
          <a:xfrm>
            <a:off x="5870448" y="2350008"/>
            <a:ext cx="237744" cy="23774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al3"/>
          <p:cNvSpPr txBox="1"/>
          <p:nvPr/>
        </p:nvSpPr>
        <p:spPr>
          <a:xfrm>
            <a:off x="6464808" y="2946804"/>
            <a:ext cx="640080" cy="274320"/>
          </a:xfrm>
          <a:prstGeom prst="rect">
            <a:avLst/>
          </a:prstGeom>
          <a:noFill/>
        </p:spPr>
        <p:txBody>
          <a:bodyPr wrap="square" lIns="0" rIns="0" tIns="0" bIns="0" anchor="t">
            <a:spAutoFit/>
          </a:bodyPr>
          <a:lstStyle/>
          <a:p>
            <a:pPr algn="l">
              <a:spcAft>
                <a:spcPts val="0"/>
              </a:spcAft>
            </a:pPr>
            <a:r>
              <a:rPr sz="1100" b="0" i="0">
                <a:solidFill>
                  <a:srgbClr val="262A33"/>
                </a:solidFill>
                <a:latin typeface="Segoe UI"/>
              </a:rPr>
              <a:t>2.74</a:t>
            </a:r>
          </a:p>
        </p:txBody>
      </p:sp>
      <p:sp>
        <p:nvSpPr>
          <p:cNvPr id="27" name="!!house3"/>
          <p:cNvSpPr txBox="1"/>
          <p:nvPr/>
        </p:nvSpPr>
        <p:spPr>
          <a:xfrm>
            <a:off x="5349240" y="5650992"/>
            <a:ext cx="1280160" cy="502920"/>
          </a:xfrm>
          <a:prstGeom prst="rect">
            <a:avLst/>
          </a:prstGeom>
          <a:noFill/>
        </p:spPr>
        <p:txBody>
          <a:bodyPr wrap="square" lIns="0" rIns="0" tIns="0" bIns="0" anchor="t">
            <a:spAutoFit/>
          </a:bodyPr>
          <a:lstStyle/>
          <a:p>
            <a:pPr algn="ctr">
              <a:spcAft>
                <a:spcPts val="0"/>
              </a:spcAft>
            </a:pPr>
            <a:r>
              <a:rPr sz="1200" b="0" i="0">
                <a:solidFill>
                  <a:srgbClr val="262A33"/>
                </a:solidFill>
                <a:latin typeface="Segoe UI"/>
              </a:rPr>
              <a:t>House D</a:t>
            </a:r>
          </a:p>
          <a:p>
            <a:pPr algn="ctr">
              <a:spcAft>
                <a:spcPts val="0"/>
              </a:spcAft>
            </a:pPr>
            <a:r>
              <a:rPr sz="1000" b="0" i="0">
                <a:solidFill>
                  <a:srgbClr val="5B5F68"/>
                </a:solidFill>
                <a:latin typeface="Segoe UI"/>
              </a:rPr>
              <a:t>160 m²</a:t>
            </a:r>
          </a:p>
        </p:txBody>
      </p:sp>
      <p:sp>
        <p:nvSpPr>
          <p:cNvPr id="28" name="!!legend"/>
          <p:cNvSpPr txBox="1"/>
          <p:nvPr/>
        </p:nvSpPr>
        <p:spPr>
          <a:xfrm>
            <a:off x="685800" y="6355080"/>
            <a:ext cx="6035040" cy="274320"/>
          </a:xfrm>
          <a:prstGeom prst="rect">
            <a:avLst/>
          </a:prstGeom>
          <a:noFill/>
        </p:spPr>
        <p:txBody>
          <a:bodyPr wrap="square" lIns="0" rIns="0" tIns="0" bIns="0" anchor="t">
            <a:spAutoFit/>
          </a:bodyPr>
          <a:lstStyle/>
          <a:p>
            <a:pPr algn="l">
              <a:spcAft>
                <a:spcPts val="0"/>
              </a:spcAft>
            </a:pPr>
            <a:r>
              <a:rPr sz="1000" b="0" i="0">
                <a:solidFill>
                  <a:srgbClr val="B5543A"/>
                </a:solidFill>
                <a:latin typeface="Segoe UI"/>
              </a:rPr>
              <a:t>●</a:t>
            </a:r>
            <a:r>
              <a:rPr sz="1000" b="0" i="0">
                <a:solidFill>
                  <a:srgbClr val="5B5F68"/>
                </a:solidFill>
                <a:latin typeface="Segoe UI"/>
              </a:rPr>
              <a:t>  true price ($100k)     </a:t>
            </a:r>
            <a:r>
              <a:rPr sz="1000" b="0" i="0">
                <a:solidFill>
                  <a:srgbClr val="262A33"/>
                </a:solidFill>
                <a:latin typeface="Segoe UI"/>
              </a:rPr>
              <a:t>▬</a:t>
            </a:r>
            <a:r>
              <a:rPr sz="1000" b="0" i="0">
                <a:solidFill>
                  <a:srgbClr val="5B5F68"/>
                </a:solidFill>
                <a:latin typeface="Segoe UI"/>
              </a:rPr>
              <a:t>  prediction     </a:t>
            </a:r>
            <a:r>
              <a:rPr sz="1000" b="0" i="0">
                <a:solidFill>
                  <a:srgbClr val="5B5F68"/>
                </a:solidFill>
                <a:latin typeface="Segoe UI"/>
                <a:hlinkClick r:id="rId2"/>
              </a:rPr>
              <a:t>web version</a:t>
            </a:r>
          </a:p>
        </p:txBody>
      </p:sp>
      <p:sp>
        <p:nvSpPr>
          <p:cNvPr id="29" name="!!round"/>
          <p:cNvSpPr txBox="1"/>
          <p:nvPr/>
        </p:nvSpPr>
        <p:spPr>
          <a:xfrm>
            <a:off x="7406640" y="411480"/>
            <a:ext cx="4206240" cy="731520"/>
          </a:xfrm>
          <a:prstGeom prst="rect">
            <a:avLst/>
          </a:prstGeom>
          <a:noFill/>
        </p:spPr>
        <p:txBody>
          <a:bodyPr wrap="square" lIns="0" rIns="0" tIns="0" bIns="0" anchor="t">
            <a:spAutoFit/>
          </a:bodyPr>
          <a:lstStyle/>
          <a:p>
            <a:pPr algn="l">
              <a:spcAft>
                <a:spcPts val="0"/>
              </a:spcAft>
            </a:pPr>
            <a:r>
              <a:rPr sz="4000" b="0" i="0">
                <a:solidFill>
                  <a:srgbClr val="262A33"/>
                </a:solidFill>
                <a:latin typeface="Bahnschrift Light"/>
              </a:rPr>
              <a:t>ROUND 5</a:t>
            </a:r>
          </a:p>
        </p:txBody>
      </p:sp>
      <p:sp>
        <p:nvSpPr>
          <p:cNvPr id="30" name="!!params"/>
          <p:cNvSpPr txBox="1"/>
          <p:nvPr/>
        </p:nvSpPr>
        <p:spPr>
          <a:xfrm>
            <a:off x="7406640" y="1143000"/>
            <a:ext cx="4206240" cy="32004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λ = 5     η = 0.5     5 trees max</a:t>
            </a:r>
          </a:p>
        </p:txBody>
      </p:sp>
      <p:sp>
        <p:nvSpPr>
          <p:cNvPr id="31" name="!!rmse"/>
          <p:cNvSpPr txBox="1"/>
          <p:nvPr/>
        </p:nvSpPr>
        <p:spPr>
          <a:xfrm>
            <a:off x="7406640" y="1508760"/>
            <a:ext cx="2011680" cy="822960"/>
          </a:xfrm>
          <a:prstGeom prst="rect">
            <a:avLst/>
          </a:prstGeom>
          <a:noFill/>
        </p:spPr>
        <p:txBody>
          <a:bodyPr wrap="square" lIns="0" rIns="0" tIns="0" bIns="0" anchor="t">
            <a:spAutoFit/>
          </a:bodyPr>
          <a:lstStyle/>
          <a:p>
            <a:pPr algn="l">
              <a:lnSpc>
                <a:spcPct val="90000"/>
              </a:lnSpc>
              <a:spcAft>
                <a:spcPts val="0"/>
              </a:spcAft>
            </a:pPr>
            <a:r>
              <a:rPr sz="4000" b="0" i="0">
                <a:solidFill>
                  <a:srgbClr val="B5543A"/>
                </a:solidFill>
                <a:latin typeface="Bahnschrift Light"/>
              </a:rPr>
              <a:t>0.50</a:t>
            </a:r>
          </a:p>
          <a:p>
            <a:pPr algn="l">
              <a:lnSpc>
                <a:spcPct val="90000"/>
              </a:lnSpc>
              <a:spcAft>
                <a:spcPts val="0"/>
              </a:spcAft>
            </a:pPr>
            <a:r>
              <a:rPr sz="1100" b="0" i="0">
                <a:solidFill>
                  <a:srgbClr val="5B5F68"/>
                </a:solidFill>
                <a:latin typeface="Segoe UI"/>
              </a:rPr>
              <a:t>error (RMSE)</a:t>
            </a:r>
          </a:p>
        </p:txBody>
      </p:sp>
      <p:sp>
        <p:nvSpPr>
          <p:cNvPr id="32" name="!!hist0"/>
          <p:cNvSpPr/>
          <p:nvPr/>
        </p:nvSpPr>
        <p:spPr>
          <a:xfrm>
            <a:off x="9555480" y="1815218"/>
            <a:ext cx="246888" cy="699381"/>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ist1"/>
          <p:cNvSpPr/>
          <p:nvPr/>
        </p:nvSpPr>
        <p:spPr>
          <a:xfrm>
            <a:off x="9893807" y="1910981"/>
            <a:ext cx="246888" cy="603618"/>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ist2"/>
          <p:cNvSpPr/>
          <p:nvPr/>
        </p:nvSpPr>
        <p:spPr>
          <a:xfrm>
            <a:off x="10232136" y="1992411"/>
            <a:ext cx="246888" cy="522188"/>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ist3"/>
          <p:cNvSpPr/>
          <p:nvPr/>
        </p:nvSpPr>
        <p:spPr>
          <a:xfrm>
            <a:off x="10570463" y="2061468"/>
            <a:ext cx="246888" cy="453131"/>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ist4"/>
          <p:cNvSpPr/>
          <p:nvPr/>
        </p:nvSpPr>
        <p:spPr>
          <a:xfrm>
            <a:off x="10908792" y="2119828"/>
            <a:ext cx="246888" cy="394771"/>
          </a:xfrm>
          <a:prstGeom prst="rect">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hist5"/>
          <p:cNvSpPr/>
          <p:nvPr/>
        </p:nvSpPr>
        <p:spPr>
          <a:xfrm>
            <a:off x="11247119" y="2168928"/>
            <a:ext cx="246888" cy="345671"/>
          </a:xfrm>
          <a:prstGeom prst="rect">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histlbl"/>
          <p:cNvSpPr txBox="1"/>
          <p:nvPr/>
        </p:nvSpPr>
        <p:spPr>
          <a:xfrm>
            <a:off x="9555480" y="2560320"/>
            <a:ext cx="2103120" cy="274320"/>
          </a:xfrm>
          <a:prstGeom prst="rect">
            <a:avLst/>
          </a:prstGeom>
          <a:noFill/>
        </p:spPr>
        <p:txBody>
          <a:bodyPr wrap="square" lIns="0" rIns="0" tIns="0" bIns="0" anchor="t">
            <a:spAutoFit/>
          </a:bodyPr>
          <a:lstStyle/>
          <a:p>
            <a:pPr algn="l">
              <a:spcAft>
                <a:spcPts val="0"/>
              </a:spcAft>
            </a:pPr>
            <a:r>
              <a:rPr sz="900" b="0" i="0">
                <a:solidFill>
                  <a:srgbClr val="5B5F68"/>
                </a:solidFill>
                <a:latin typeface="Segoe UI"/>
              </a:rPr>
              <a:t>error after each tree</a:t>
            </a:r>
          </a:p>
        </p:txBody>
      </p:sp>
      <p:sp>
        <p:nvSpPr>
          <p:cNvPr id="39" name="!!calc"/>
          <p:cNvSpPr txBox="1"/>
          <p:nvPr/>
        </p:nvSpPr>
        <p:spPr>
          <a:xfrm>
            <a:off x="7406640" y="3017520"/>
            <a:ext cx="4206240" cy="2468880"/>
          </a:xfrm>
          <a:prstGeom prst="rect">
            <a:avLst/>
          </a:prstGeom>
          <a:noFill/>
        </p:spPr>
        <p:txBody>
          <a:bodyPr wrap="square" lIns="0" rIns="0" tIns="0" bIns="0" anchor="t">
            <a:spAutoFit/>
          </a:bodyPr>
          <a:lstStyle/>
          <a:p>
            <a:pPr algn="l">
              <a:spcAft>
                <a:spcPts val="300"/>
              </a:spcAft>
            </a:pPr>
            <a:r>
              <a:rPr sz="1200" b="0" i="0">
                <a:solidFill>
                  <a:srgbClr val="262A33"/>
                </a:solidFill>
                <a:latin typeface="Segoe UI Semibold"/>
              </a:rPr>
              <a:t>Tree 5 learns from the errors of round 4</a:t>
            </a:r>
          </a:p>
          <a:p>
            <a:pPr algn="l">
              <a:spcAft>
                <a:spcPts val="300"/>
              </a:spcAft>
            </a:pPr>
            <a:r>
              <a:rPr sz="1100" b="0" i="0">
                <a:solidFill>
                  <a:srgbClr val="262A33"/>
                </a:solidFill>
                <a:latin typeface="Segoe UI Semibold"/>
              </a:rPr>
              <a:t>Leaf 1 (houses A, B)</a:t>
            </a:r>
          </a:p>
          <a:p>
            <a:pPr algn="l">
              <a:spcAft>
                <a:spcPts val="300"/>
              </a:spcAft>
            </a:pPr>
            <a:r>
              <a:rPr sz="1100" b="0" i="0">
                <a:solidFill>
                  <a:srgbClr val="5B5F68"/>
                </a:solidFill>
                <a:latin typeface="Segoe UI"/>
              </a:rPr>
              <a:t>G = 0.74 + 0.34 = 1.08     H = 2</a:t>
            </a:r>
          </a:p>
          <a:p>
            <a:pPr algn="l">
              <a:spcAft>
                <a:spcPts val="300"/>
              </a:spcAft>
            </a:pPr>
            <a:r>
              <a:rPr sz="1100" b="0" i="0">
                <a:solidFill>
                  <a:srgbClr val="5B5F68"/>
                </a:solidFill>
                <a:latin typeface="Segoe UI"/>
              </a:rPr>
              <a:t>w = −G/(H+λ) = -0.15     change = η·w = </a:t>
            </a:r>
            <a:r>
              <a:rPr sz="1100" b="0" i="0">
                <a:solidFill>
                  <a:srgbClr val="B5543A"/>
                </a:solidFill>
                <a:latin typeface="Segoe UI Semibold"/>
              </a:rPr>
              <a:t>-0.08</a:t>
            </a:r>
          </a:p>
          <a:p>
            <a:pPr algn="l">
              <a:spcAft>
                <a:spcPts val="300"/>
              </a:spcAft>
            </a:pPr>
            <a:r>
              <a:rPr sz="1100" b="0" i="0">
                <a:solidFill>
                  <a:srgbClr val="262A33"/>
                </a:solidFill>
                <a:latin typeface="Segoe UI Semibold"/>
              </a:rPr>
              <a:t>Leaf 2 (houses C, D)</a:t>
            </a:r>
          </a:p>
          <a:p>
            <a:pPr algn="l">
              <a:spcAft>
                <a:spcPts val="300"/>
              </a:spcAft>
            </a:pPr>
            <a:r>
              <a:rPr sz="1100" b="0" i="0">
                <a:solidFill>
                  <a:srgbClr val="5B5F68"/>
                </a:solidFill>
                <a:latin typeface="Segoe UI"/>
              </a:rPr>
              <a:t>G = (-0.34) + (-0.74) = -1.08     H = 2</a:t>
            </a:r>
          </a:p>
          <a:p>
            <a:pPr algn="l">
              <a:spcAft>
                <a:spcPts val="300"/>
              </a:spcAft>
            </a:pPr>
            <a:r>
              <a:rPr sz="1100" b="0" i="0">
                <a:solidFill>
                  <a:srgbClr val="5B5F68"/>
                </a:solidFill>
                <a:latin typeface="Segoe UI"/>
              </a:rPr>
              <a:t>w = −G/(H+λ) = +0.15     change = η·w = </a:t>
            </a:r>
            <a:r>
              <a:rPr sz="1100" b="0" i="0">
                <a:solidFill>
                  <a:srgbClr val="B5543A"/>
                </a:solidFill>
                <a:latin typeface="Segoe UI Semibold"/>
              </a:rPr>
              <a:t>+0.08</a:t>
            </a:r>
          </a:p>
        </p:txBody>
      </p:sp>
      <p:sp>
        <p:nvSpPr>
          <p:cNvPr id="40" name="!!btn_back">
            <a:hlinkClick action="ppaction://hlinksldjump" r:id="rId3"/>
          </p:cNvPr>
          <p:cNvSpPr/>
          <p:nvPr/>
        </p:nvSpPr>
        <p:spPr>
          <a:xfrm>
            <a:off x="7406640" y="5715000"/>
            <a:ext cx="96012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  BACK</a:t>
            </a:r>
          </a:p>
        </p:txBody>
      </p:sp>
      <p:sp>
        <p:nvSpPr>
          <p:cNvPr id="41" name="!!btn_next"/>
          <p:cNvSpPr/>
          <p:nvPr/>
        </p:nvSpPr>
        <p:spPr>
          <a:xfrm>
            <a:off x="8476488" y="5715000"/>
            <a:ext cx="1463040" cy="457200"/>
          </a:xfrm>
          <a:prstGeom prst="roundRect">
            <a:avLst>
              <a:gd name="adj" fmla="val 50000"/>
            </a:avLst>
          </a:prstGeom>
          <a:solidFill>
            <a:srgbClr val="B9B9B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E5E4E2"/>
                </a:solidFill>
                <a:latin typeface="Segoe UI Semibold"/>
              </a:rPr>
              <a:t>ADD TREE  ▶</a:t>
            </a:r>
          </a:p>
        </p:txBody>
      </p:sp>
      <p:sp>
        <p:nvSpPr>
          <p:cNvPr id="42" name="!!btn_reset">
            <a:hlinkClick action="ppaction://hlinksldjump" r:id="rId4"/>
          </p:cNvPr>
          <p:cNvSpPr/>
          <p:nvPr/>
        </p:nvSpPr>
        <p:spPr>
          <a:xfrm>
            <a:off x="10049256" y="5715000"/>
            <a:ext cx="54864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400">
                <a:solidFill>
                  <a:srgbClr val="262A33"/>
                </a:solidFill>
                <a:latin typeface="Segoe UI Semibold"/>
              </a:rPr>
              <a:t>↺</a:t>
            </a:r>
          </a:p>
        </p:txBody>
      </p:sp>
      <p:sp>
        <p:nvSpPr>
          <p:cNvPr id="43" name="!!btn_lambda">
            <a:hlinkClick action="ppaction://hlinksldjump" r:id="rId5"/>
          </p:cNvPr>
          <p:cNvSpPr/>
          <p:nvPr/>
        </p:nvSpPr>
        <p:spPr>
          <a:xfrm>
            <a:off x="10707624" y="5715000"/>
            <a:ext cx="914400" cy="457200"/>
          </a:xfrm>
          <a:prstGeom prst="roundRect">
            <a:avLst>
              <a:gd name="adj" fmla="val 50000"/>
            </a:avLst>
          </a:prstGeom>
          <a:noFill/>
          <a:ln w="15875">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200">
                <a:solidFill>
                  <a:srgbClr val="262A33"/>
                </a:solidFill>
                <a:latin typeface="Segoe UI Semibold"/>
              </a:rPr>
              <a:t>λ = 1</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502920"/>
            <a:ext cx="4572000" cy="54864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Slope, curvature and one formula</a:t>
            </a:r>
          </a:p>
        </p:txBody>
      </p:sp>
      <p:pic>
        <p:nvPicPr>
          <p:cNvPr id="3" name="Picture 2" descr="taylor.png"/>
          <p:cNvPicPr>
            <a:picLocks noChangeAspect="1"/>
          </p:cNvPicPr>
          <p:nvPr/>
        </p:nvPicPr>
        <p:blipFill>
          <a:blip r:embed="rId2"/>
          <a:stretch>
            <a:fillRect/>
          </a:stretch>
        </p:blipFill>
        <p:spPr>
          <a:xfrm>
            <a:off x="502920" y="2044700"/>
            <a:ext cx="4846320" cy="3500119"/>
          </a:xfrm>
          <a:prstGeom prst="rect">
            <a:avLst/>
          </a:prstGeom>
        </p:spPr>
      </p:pic>
      <p:sp>
        <p:nvSpPr>
          <p:cNvPr id="4" name="TextBox 3"/>
          <p:cNvSpPr txBox="1"/>
          <p:nvPr/>
        </p:nvSpPr>
        <p:spPr>
          <a:xfrm>
            <a:off x="5806440" y="548640"/>
            <a:ext cx="6035040" cy="914400"/>
          </a:xfrm>
          <a:prstGeom prst="rect">
            <a:avLst/>
          </a:prstGeom>
          <a:noFill/>
        </p:spPr>
        <p:txBody>
          <a:bodyPr wrap="square" lIns="0" rIns="0" tIns="0" bIns="0" anchor="t">
            <a:spAutoFit/>
          </a:bodyPr>
          <a:lstStyle/>
          <a:p>
            <a:pPr algn="l">
              <a:lnSpc>
                <a:spcPct val="88000"/>
              </a:lnSpc>
              <a:spcAft>
                <a:spcPts val="0"/>
              </a:spcAft>
            </a:pPr>
            <a:r>
              <a:rPr sz="4600" b="0" i="0">
                <a:solidFill>
                  <a:srgbClr val="262A33"/>
                </a:solidFill>
                <a:latin typeface="Bahnschrift Light"/>
              </a:rPr>
              <a:t>THE MATH BEHIND IT</a:t>
            </a:r>
          </a:p>
        </p:txBody>
      </p:sp>
      <p:sp>
        <p:nvSpPr>
          <p:cNvPr id="5" name="TextBox 4"/>
          <p:cNvSpPr txBox="1"/>
          <p:nvPr/>
        </p:nvSpPr>
        <p:spPr>
          <a:xfrm>
            <a:off x="5852160" y="1463040"/>
            <a:ext cx="5760720" cy="274320"/>
          </a:xfrm>
          <a:prstGeom prst="rect">
            <a:avLst/>
          </a:prstGeom>
          <a:noFill/>
        </p:spPr>
        <p:txBody>
          <a:bodyPr wrap="square" lIns="0" rIns="0" tIns="0" bIns="0" anchor="t">
            <a:spAutoFit/>
          </a:bodyPr>
          <a:lstStyle/>
          <a:p>
            <a:pPr algn="l">
              <a:spcAft>
                <a:spcPts val="0"/>
              </a:spcAft>
            </a:pPr>
            <a:r>
              <a:rPr sz="1600" b="0" i="0">
                <a:solidFill>
                  <a:srgbClr val="B5543A"/>
                </a:solidFill>
                <a:latin typeface="Bahnschrift Light"/>
              </a:rPr>
              <a:t>1  </a:t>
            </a:r>
            <a:r>
              <a:rPr sz="1200" b="0" i="0">
                <a:solidFill>
                  <a:srgbClr val="262A33"/>
                </a:solidFill>
                <a:latin typeface="Segoe UI Semibold"/>
              </a:rPr>
              <a:t>Objective = loss + penalty</a:t>
            </a:r>
          </a:p>
        </p:txBody>
      </p:sp>
      <p:pic>
        <p:nvPicPr>
          <p:cNvPr id="6" name="Picture 5" descr="objective.png"/>
          <p:cNvPicPr>
            <a:picLocks noChangeAspect="1"/>
          </p:cNvPicPr>
          <p:nvPr/>
        </p:nvPicPr>
        <p:blipFill>
          <a:blip r:embed="rId3"/>
          <a:stretch>
            <a:fillRect/>
          </a:stretch>
        </p:blipFill>
        <p:spPr>
          <a:xfrm>
            <a:off x="6172200" y="1792224"/>
            <a:ext cx="1913083" cy="438912"/>
          </a:xfrm>
          <a:prstGeom prst="rect">
            <a:avLst/>
          </a:prstGeom>
        </p:spPr>
      </p:pic>
      <p:pic>
        <p:nvPicPr>
          <p:cNvPr id="7" name="Picture 6" descr="omega.png"/>
          <p:cNvPicPr>
            <a:picLocks noChangeAspect="1"/>
          </p:cNvPicPr>
          <p:nvPr/>
        </p:nvPicPr>
        <p:blipFill>
          <a:blip r:embed="rId4"/>
          <a:stretch>
            <a:fillRect/>
          </a:stretch>
        </p:blipFill>
        <p:spPr>
          <a:xfrm>
            <a:off x="6172200" y="2340864"/>
            <a:ext cx="1393516" cy="438912"/>
          </a:xfrm>
          <a:prstGeom prst="rect">
            <a:avLst/>
          </a:prstGeom>
        </p:spPr>
      </p:pic>
      <p:sp>
        <p:nvSpPr>
          <p:cNvPr id="8" name="TextBox 7"/>
          <p:cNvSpPr txBox="1"/>
          <p:nvPr/>
        </p:nvSpPr>
        <p:spPr>
          <a:xfrm>
            <a:off x="5852160" y="2889504"/>
            <a:ext cx="5760720" cy="274320"/>
          </a:xfrm>
          <a:prstGeom prst="rect">
            <a:avLst/>
          </a:prstGeom>
          <a:noFill/>
        </p:spPr>
        <p:txBody>
          <a:bodyPr wrap="square" lIns="0" rIns="0" tIns="0" bIns="0" anchor="t">
            <a:spAutoFit/>
          </a:bodyPr>
          <a:lstStyle/>
          <a:p>
            <a:pPr algn="l">
              <a:spcAft>
                <a:spcPts val="0"/>
              </a:spcAft>
            </a:pPr>
            <a:r>
              <a:rPr sz="1600" b="0" i="0">
                <a:solidFill>
                  <a:srgbClr val="B5543A"/>
                </a:solidFill>
                <a:latin typeface="Bahnschrift Light"/>
              </a:rPr>
              <a:t>2  </a:t>
            </a:r>
            <a:r>
              <a:rPr sz="1200" b="0" i="0">
                <a:solidFill>
                  <a:srgbClr val="262A33"/>
                </a:solidFill>
                <a:latin typeface="Segoe UI Semibold"/>
              </a:rPr>
              <a:t>Taylor: replace the loss by a parabola</a:t>
            </a:r>
          </a:p>
        </p:txBody>
      </p:sp>
      <p:pic>
        <p:nvPicPr>
          <p:cNvPr id="9" name="Picture 8" descr="taylor.png"/>
          <p:cNvPicPr>
            <a:picLocks noChangeAspect="1"/>
          </p:cNvPicPr>
          <p:nvPr/>
        </p:nvPicPr>
        <p:blipFill>
          <a:blip r:embed="rId5"/>
          <a:stretch>
            <a:fillRect/>
          </a:stretch>
        </p:blipFill>
        <p:spPr>
          <a:xfrm>
            <a:off x="6172200" y="3218688"/>
            <a:ext cx="3575207" cy="457200"/>
          </a:xfrm>
          <a:prstGeom prst="rect">
            <a:avLst/>
          </a:prstGeom>
        </p:spPr>
      </p:pic>
      <p:pic>
        <p:nvPicPr>
          <p:cNvPr id="10" name="Picture 9" descr="gh.png"/>
          <p:cNvPicPr>
            <a:picLocks noChangeAspect="1"/>
          </p:cNvPicPr>
          <p:nvPr/>
        </p:nvPicPr>
        <p:blipFill>
          <a:blip r:embed="rId6"/>
          <a:stretch>
            <a:fillRect/>
          </a:stretch>
        </p:blipFill>
        <p:spPr>
          <a:xfrm>
            <a:off x="6172200" y="3785615"/>
            <a:ext cx="2720806" cy="457200"/>
          </a:xfrm>
          <a:prstGeom prst="rect">
            <a:avLst/>
          </a:prstGeom>
        </p:spPr>
      </p:pic>
      <p:sp>
        <p:nvSpPr>
          <p:cNvPr id="11" name="TextBox 10"/>
          <p:cNvSpPr txBox="1"/>
          <p:nvPr/>
        </p:nvSpPr>
        <p:spPr>
          <a:xfrm>
            <a:off x="5852160" y="4352544"/>
            <a:ext cx="5760720" cy="274320"/>
          </a:xfrm>
          <a:prstGeom prst="rect">
            <a:avLst/>
          </a:prstGeom>
          <a:noFill/>
        </p:spPr>
        <p:txBody>
          <a:bodyPr wrap="square" lIns="0" rIns="0" tIns="0" bIns="0" anchor="t">
            <a:spAutoFit/>
          </a:bodyPr>
          <a:lstStyle/>
          <a:p>
            <a:pPr algn="l">
              <a:spcAft>
                <a:spcPts val="0"/>
              </a:spcAft>
            </a:pPr>
            <a:r>
              <a:rPr sz="1600" b="0" i="0">
                <a:solidFill>
                  <a:srgbClr val="B5543A"/>
                </a:solidFill>
                <a:latin typeface="Bahnschrift Light"/>
              </a:rPr>
              <a:t>3  </a:t>
            </a:r>
            <a:r>
              <a:rPr sz="1200" b="0" i="0">
                <a:solidFill>
                  <a:srgbClr val="262A33"/>
                </a:solidFill>
                <a:latin typeface="Segoe UI Semibold"/>
              </a:rPr>
              <a:t>Best value for every leaf</a:t>
            </a:r>
          </a:p>
        </p:txBody>
      </p:sp>
      <p:pic>
        <p:nvPicPr>
          <p:cNvPr id="12" name="Picture 11" descr="weight.png"/>
          <p:cNvPicPr>
            <a:picLocks noChangeAspect="1"/>
          </p:cNvPicPr>
          <p:nvPr/>
        </p:nvPicPr>
        <p:blipFill>
          <a:blip r:embed="rId7"/>
          <a:stretch>
            <a:fillRect/>
          </a:stretch>
        </p:blipFill>
        <p:spPr>
          <a:xfrm>
            <a:off x="6172200" y="4681728"/>
            <a:ext cx="1828470" cy="566928"/>
          </a:xfrm>
          <a:prstGeom prst="rect">
            <a:avLst/>
          </a:prstGeom>
        </p:spPr>
      </p:pic>
      <p:sp>
        <p:nvSpPr>
          <p:cNvPr id="13" name="TextBox 12"/>
          <p:cNvSpPr txBox="1"/>
          <p:nvPr/>
        </p:nvSpPr>
        <p:spPr>
          <a:xfrm>
            <a:off x="5852160" y="5358384"/>
            <a:ext cx="5760720" cy="274320"/>
          </a:xfrm>
          <a:prstGeom prst="rect">
            <a:avLst/>
          </a:prstGeom>
          <a:noFill/>
        </p:spPr>
        <p:txBody>
          <a:bodyPr wrap="square" lIns="0" rIns="0" tIns="0" bIns="0" anchor="t">
            <a:spAutoFit/>
          </a:bodyPr>
          <a:lstStyle/>
          <a:p>
            <a:pPr algn="l">
              <a:spcAft>
                <a:spcPts val="0"/>
              </a:spcAft>
            </a:pPr>
            <a:r>
              <a:rPr sz="1600" b="0" i="0">
                <a:solidFill>
                  <a:srgbClr val="B5543A"/>
                </a:solidFill>
                <a:latin typeface="Bahnschrift Light"/>
              </a:rPr>
              <a:t>4  </a:t>
            </a:r>
            <a:r>
              <a:rPr sz="1200" b="0" i="0">
                <a:solidFill>
                  <a:srgbClr val="262A33"/>
                </a:solidFill>
                <a:latin typeface="Segoe UI Semibold"/>
              </a:rPr>
              <a:t>Keep a split only if it gains enough</a:t>
            </a:r>
          </a:p>
        </p:txBody>
      </p:sp>
      <p:pic>
        <p:nvPicPr>
          <p:cNvPr id="14" name="Picture 13" descr="gain.png"/>
          <p:cNvPicPr>
            <a:picLocks noChangeAspect="1"/>
          </p:cNvPicPr>
          <p:nvPr/>
        </p:nvPicPr>
        <p:blipFill>
          <a:blip r:embed="rId8"/>
          <a:stretch>
            <a:fillRect/>
          </a:stretch>
        </p:blipFill>
        <p:spPr>
          <a:xfrm>
            <a:off x="6172200" y="5687568"/>
            <a:ext cx="4408286" cy="4572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3" fill="hold">
                            <p:stCondLst>
                              <p:cond delay="150"/>
                            </p:stCondLst>
                            <p:childTnLst>
                              <p:par>
                                <p:cTn id="8" presetID="53" presetClass="entr" presetSubtype="16"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50"/>
                                        <p:tgtEl>
                                          <p:spTgt spid="3"/>
                                        </p:tgtEl>
                                      </p:cBhvr>
                                    </p:animEffect>
                                    <p:anim calcmode="lin" valueType="num">
                                      <p:cBhvr>
                                        <p:cTn id="11" dur="550" fill="hold"/>
                                        <p:tgtEl>
                                          <p:spTgt spid="3"/>
                                        </p:tgtEl>
                                        <p:attrNameLst>
                                          <p:attrName>ppt_w</p:attrName>
                                        </p:attrNameLst>
                                      </p:cBhvr>
                                      <p:tavLst>
                                        <p:tav tm="0">
                                          <p:val>
                                            <p:strVal val="#ppt_w*0.8"/>
                                          </p:val>
                                        </p:tav>
                                        <p:tav tm="100000">
                                          <p:val>
                                            <p:strVal val="#ppt_w"/>
                                          </p:val>
                                        </p:tav>
                                      </p:tavLst>
                                    </p:anim>
                                    <p:anim calcmode="lin" valueType="num">
                                      <p:cBhvr>
                                        <p:cTn id="12" dur="550" fill="hold"/>
                                        <p:tgtEl>
                                          <p:spTgt spid="3"/>
                                        </p:tgtEl>
                                        <p:attrNameLst>
                                          <p:attrName>ppt_h</p:attrName>
                                        </p:attrNameLst>
                                      </p:cBhvr>
                                      <p:tavLst>
                                        <p:tav tm="0">
                                          <p:val>
                                            <p:strVal val="#ppt_h*0.8"/>
                                          </p:val>
                                        </p:tav>
                                        <p:tav tm="100000">
                                          <p:val>
                                            <p:strVal val="#ppt_h"/>
                                          </p:val>
                                        </p:tav>
                                      </p:tavLst>
                                    </p:anim>
                                  </p:childTnLst>
                                </p:cTn>
                              </p:par>
                            </p:childTnLst>
                          </p:cTn>
                        </p:par>
                        <p:par>
                          <p:cTn id="17" fill="hold">
                            <p:stCondLst>
                              <p:cond delay="450"/>
                            </p:stCondLst>
                            <p:childTnLst>
                              <p:par>
                                <p:cTn id="14" presetID="22" presetClass="entr" presetSubtype="8"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700"/>
                                        <p:tgtEl>
                                          <p:spTgt spid="4"/>
                                        </p:tgtEl>
                                      </p:cBhvr>
                                    </p:animEffect>
                                  </p:childTnLst>
                                </p:cTn>
                              </p:par>
                            </p:childTnLst>
                          </p:cTn>
                        </p:par>
                      </p:childTnLst>
                    </p:cTn>
                  </p:par>
                  <p:par>
                    <p:cTn id="18" fill="hold">
                      <p:stCondLst>
                        <p:cond delay="indefinite"/>
                      </p:stCondLst>
                      <p:childTnLst>
                        <p:par>
                          <p:cTn id="23"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50"/>
                                        <p:tgtEl>
                                          <p:spTgt spid="5"/>
                                        </p:tgtEl>
                                      </p:cBhvr>
                                    </p:animEffect>
                                    <p:anim calcmode="lin" valueType="num">
                                      <p:cBhvr>
                                        <p:cTn id="22" dur="650" fill="hold"/>
                                        <p:tgtEl>
                                          <p:spTgt spid="5"/>
                                        </p:tgtEl>
                                        <p:attrNameLst>
                                          <p:attrName>ppt_y</p:attrName>
                                        </p:attrNameLst>
                                      </p:cBhvr>
                                      <p:tavLst>
                                        <p:tav tm="0">
                                          <p:val>
                                            <p:strVal val="#ppt_y+0.06"/>
                                          </p:val>
                                        </p:tav>
                                        <p:tav tm="100000">
                                          <p:val>
                                            <p:strVal val="#ppt_y"/>
                                          </p:val>
                                        </p:tav>
                                      </p:tavLst>
                                    </p:anim>
                                  </p:childTnLst>
                                </p:cTn>
                              </p:par>
                            </p:childTnLst>
                          </p:cTn>
                        </p:par>
                        <p:par>
                          <p:cTn id="27" fill="hold">
                            <p:stCondLst>
                              <p:cond delay="650"/>
                            </p:stCondLst>
                            <p:childTnLst>
                              <p:par>
                                <p:cTn id="24" presetID="22" presetClass="entr" presetSubtype="8"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700"/>
                                        <p:tgtEl>
                                          <p:spTgt spid="6"/>
                                        </p:tgtEl>
                                      </p:cBhvr>
                                    </p:animEffect>
                                  </p:childTnLst>
                                </p:cTn>
                              </p:par>
                            </p:childTnLst>
                          </p:cTn>
                        </p:par>
                        <p:par>
                          <p:cTn id="31" fill="hold">
                            <p:stCondLst>
                              <p:cond delay="1350"/>
                            </p:stCondLst>
                            <p:childTnLst>
                              <p:par>
                                <p:cTn id="28" presetID="22" presetClass="entr" presetSubtype="8" fill="hold"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700"/>
                                        <p:tgtEl>
                                          <p:spTgt spid="7"/>
                                        </p:tgtEl>
                                      </p:cBhvr>
                                    </p:animEffect>
                                  </p:childTnLst>
                                </p:cTn>
                              </p:par>
                            </p:childTnLst>
                          </p:cTn>
                        </p:par>
                      </p:childTnLst>
                    </p:cTn>
                  </p:par>
                  <p:par>
                    <p:cTn id="32" fill="hold">
                      <p:stCondLst>
                        <p:cond delay="indefinite"/>
                      </p:stCondLst>
                      <p:childTnLst>
                        <p:par>
                          <p:cTn id="37"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650"/>
                                        <p:tgtEl>
                                          <p:spTgt spid="8"/>
                                        </p:tgtEl>
                                      </p:cBhvr>
                                    </p:animEffect>
                                    <p:anim calcmode="lin" valueType="num">
                                      <p:cBhvr>
                                        <p:cTn id="36" dur="650" fill="hold"/>
                                        <p:tgtEl>
                                          <p:spTgt spid="8"/>
                                        </p:tgtEl>
                                        <p:attrNameLst>
                                          <p:attrName>ppt_y</p:attrName>
                                        </p:attrNameLst>
                                      </p:cBhvr>
                                      <p:tavLst>
                                        <p:tav tm="0">
                                          <p:val>
                                            <p:strVal val="#ppt_y+0.06"/>
                                          </p:val>
                                        </p:tav>
                                        <p:tav tm="100000">
                                          <p:val>
                                            <p:strVal val="#ppt_y"/>
                                          </p:val>
                                        </p:tav>
                                      </p:tavLst>
                                    </p:anim>
                                  </p:childTnLst>
                                </p:cTn>
                              </p:par>
                            </p:childTnLst>
                          </p:cTn>
                        </p:par>
                        <p:par>
                          <p:cTn id="41" fill="hold">
                            <p:stCondLst>
                              <p:cond delay="650"/>
                            </p:stCondLst>
                            <p:childTnLst>
                              <p:par>
                                <p:cTn id="38" presetID="22" presetClass="entr" presetSubtype="8" fill="hold" nodeType="after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700"/>
                                        <p:tgtEl>
                                          <p:spTgt spid="9"/>
                                        </p:tgtEl>
                                      </p:cBhvr>
                                    </p:animEffect>
                                  </p:childTnLst>
                                </p:cTn>
                              </p:par>
                            </p:childTnLst>
                          </p:cTn>
                        </p:par>
                        <p:par>
                          <p:cTn id="45" fill="hold">
                            <p:stCondLst>
                              <p:cond delay="1350"/>
                            </p:stCondLst>
                            <p:childTnLst>
                              <p:par>
                                <p:cTn id="42" presetID="22" presetClass="entr" presetSubtype="8"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700"/>
                                        <p:tgtEl>
                                          <p:spTgt spid="10"/>
                                        </p:tgtEl>
                                      </p:cBhvr>
                                    </p:animEffect>
                                  </p:childTnLst>
                                </p:cTn>
                              </p:par>
                            </p:childTnLst>
                          </p:cTn>
                        </p:par>
                      </p:childTnLst>
                    </p:cTn>
                  </p:par>
                  <p:par>
                    <p:cTn id="46" fill="hold">
                      <p:stCondLst>
                        <p:cond delay="indefinite"/>
                      </p:stCondLst>
                      <p:childTnLst>
                        <p:par>
                          <p:cTn id="51"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650"/>
                                        <p:tgtEl>
                                          <p:spTgt spid="11"/>
                                        </p:tgtEl>
                                      </p:cBhvr>
                                    </p:animEffect>
                                    <p:anim calcmode="lin" valueType="num">
                                      <p:cBhvr>
                                        <p:cTn id="50" dur="650" fill="hold"/>
                                        <p:tgtEl>
                                          <p:spTgt spid="11"/>
                                        </p:tgtEl>
                                        <p:attrNameLst>
                                          <p:attrName>ppt_y</p:attrName>
                                        </p:attrNameLst>
                                      </p:cBhvr>
                                      <p:tavLst>
                                        <p:tav tm="0">
                                          <p:val>
                                            <p:strVal val="#ppt_y+0.06"/>
                                          </p:val>
                                        </p:tav>
                                        <p:tav tm="100000">
                                          <p:val>
                                            <p:strVal val="#ppt_y"/>
                                          </p:val>
                                        </p:tav>
                                      </p:tavLst>
                                    </p:anim>
                                  </p:childTnLst>
                                </p:cTn>
                              </p:par>
                            </p:childTnLst>
                          </p:cTn>
                        </p:par>
                        <p:par>
                          <p:cTn id="55" fill="hold">
                            <p:stCondLst>
                              <p:cond delay="650"/>
                            </p:stCondLst>
                            <p:childTnLst>
                              <p:par>
                                <p:cTn id="52" presetID="22" presetClass="entr" presetSubtype="8" fill="hold" nodeType="after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wipe(left)">
                                      <p:cBhvr>
                                        <p:cTn id="54" dur="700"/>
                                        <p:tgtEl>
                                          <p:spTgt spid="12"/>
                                        </p:tgtEl>
                                      </p:cBhvr>
                                    </p:animEffect>
                                  </p:childTnLst>
                                </p:cTn>
                              </p:par>
                            </p:childTnLst>
                          </p:cTn>
                        </p:par>
                      </p:childTnLst>
                    </p:cTn>
                  </p:par>
                  <p:par>
                    <p:cTn id="56" fill="hold">
                      <p:stCondLst>
                        <p:cond delay="indefinite"/>
                      </p:stCondLst>
                      <p:childTnLst>
                        <p:par>
                          <p:cTn id="61"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650"/>
                                        <p:tgtEl>
                                          <p:spTgt spid="13"/>
                                        </p:tgtEl>
                                      </p:cBhvr>
                                    </p:animEffect>
                                    <p:anim calcmode="lin" valueType="num">
                                      <p:cBhvr>
                                        <p:cTn id="60" dur="650" fill="hold"/>
                                        <p:tgtEl>
                                          <p:spTgt spid="13"/>
                                        </p:tgtEl>
                                        <p:attrNameLst>
                                          <p:attrName>ppt_y</p:attrName>
                                        </p:attrNameLst>
                                      </p:cBhvr>
                                      <p:tavLst>
                                        <p:tav tm="0">
                                          <p:val>
                                            <p:strVal val="#ppt_y+0.06"/>
                                          </p:val>
                                        </p:tav>
                                        <p:tav tm="100000">
                                          <p:val>
                                            <p:strVal val="#ppt_y"/>
                                          </p:val>
                                        </p:tav>
                                      </p:tavLst>
                                    </p:anim>
                                  </p:childTnLst>
                                </p:cTn>
                              </p:par>
                            </p:childTnLst>
                          </p:cTn>
                        </p:par>
                        <p:par>
                          <p:cTn id="65" fill="hold">
                            <p:stCondLst>
                              <p:cond delay="650"/>
                            </p:stCondLst>
                            <p:childTnLst>
                              <p:par>
                                <p:cTn id="62" presetID="22" presetClass="entr" presetSubtype="8" fill="hold"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ipe(left)">
                                      <p:cBhvr>
                                        <p:cTn id="64" dur="7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pic>
        <p:nvPicPr>
          <p:cNvPr id="2" name="Picture 1" descr="dots.png"/>
          <p:cNvPicPr>
            <a:picLocks noChangeAspect="1"/>
          </p:cNvPicPr>
          <p:nvPr/>
        </p:nvPicPr>
        <p:blipFill>
          <a:blip r:embed="rId2"/>
          <a:stretch>
            <a:fillRect/>
          </a:stretch>
        </p:blipFill>
        <p:spPr>
          <a:xfrm>
            <a:off x="4206240" y="548640"/>
            <a:ext cx="1645920" cy="868680"/>
          </a:xfrm>
          <a:prstGeom prst="rect">
            <a:avLst/>
          </a:prstGeom>
        </p:spPr>
      </p:pic>
      <p:sp>
        <p:nvSpPr>
          <p:cNvPr id="3" name="TextBox 2"/>
          <p:cNvSpPr txBox="1"/>
          <p:nvPr/>
        </p:nvSpPr>
        <p:spPr>
          <a:xfrm>
            <a:off x="685800" y="1097280"/>
            <a:ext cx="6858000" cy="2377440"/>
          </a:xfrm>
          <a:prstGeom prst="rect">
            <a:avLst/>
          </a:prstGeom>
          <a:noFill/>
        </p:spPr>
        <p:txBody>
          <a:bodyPr wrap="square" lIns="0" rIns="0" tIns="0" bIns="0" anchor="b">
            <a:spAutoFit/>
          </a:bodyPr>
          <a:lstStyle/>
          <a:p>
            <a:pPr algn="l">
              <a:lnSpc>
                <a:spcPct val="88000"/>
              </a:lnSpc>
              <a:spcAft>
                <a:spcPts val="0"/>
              </a:spcAft>
            </a:pPr>
            <a:r>
              <a:rPr sz="6000" b="0" i="0">
                <a:solidFill>
                  <a:srgbClr val="262A33"/>
                </a:solidFill>
                <a:latin typeface="Bahnschrift Light"/>
              </a:rPr>
              <a:t>THEORY,</a:t>
            </a:r>
          </a:p>
          <a:p>
            <a:pPr algn="l">
              <a:lnSpc>
                <a:spcPct val="88000"/>
              </a:lnSpc>
              <a:spcAft>
                <a:spcPts val="0"/>
              </a:spcAft>
            </a:pPr>
            <a:r>
              <a:rPr sz="6000" b="0" i="0">
                <a:solidFill>
                  <a:srgbClr val="262A33"/>
                </a:solidFill>
                <a:latin typeface="Bahnschrift Light"/>
              </a:rPr>
              <a:t>CHECKED IN CODE</a:t>
            </a:r>
          </a:p>
        </p:txBody>
      </p:sp>
      <p:sp>
        <p:nvSpPr>
          <p:cNvPr id="4" name="TextBox 3"/>
          <p:cNvSpPr txBox="1"/>
          <p:nvPr/>
        </p:nvSpPr>
        <p:spPr>
          <a:xfrm>
            <a:off x="7498079" y="2377440"/>
            <a:ext cx="4023360" cy="109728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We trained a tiny model (1 tree, depth 2) and computed its numbers by hand.</a:t>
            </a:r>
          </a:p>
        </p:txBody>
      </p:sp>
      <p:sp>
        <p:nvSpPr>
          <p:cNvPr id="5" name="Rectangle 4"/>
          <p:cNvSpPr/>
          <p:nvPr/>
        </p:nvSpPr>
        <p:spPr>
          <a:xfrm>
            <a:off x="685800" y="4114800"/>
            <a:ext cx="5120640" cy="2194560"/>
          </a:xfrm>
          <a:prstGeom prst="rect">
            <a:avLst/>
          </a:prstGeom>
          <a:noFill/>
          <a:ln w="11430">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eaf_check.png"/>
          <p:cNvPicPr>
            <a:picLocks noChangeAspect="1"/>
          </p:cNvPicPr>
          <p:nvPr/>
        </p:nvPicPr>
        <p:blipFill>
          <a:blip r:embed="rId3"/>
          <a:stretch>
            <a:fillRect/>
          </a:stretch>
        </p:blipFill>
        <p:spPr>
          <a:xfrm>
            <a:off x="914400" y="4224528"/>
            <a:ext cx="1950720" cy="457200"/>
          </a:xfrm>
          <a:prstGeom prst="rect">
            <a:avLst/>
          </a:prstGeom>
        </p:spPr>
      </p:pic>
      <p:sp>
        <p:nvSpPr>
          <p:cNvPr id="7" name="TextBox 6"/>
          <p:cNvSpPr txBox="1"/>
          <p:nvPr/>
        </p:nvSpPr>
        <p:spPr>
          <a:xfrm>
            <a:off x="914400" y="4754880"/>
            <a:ext cx="4663440" cy="1463040"/>
          </a:xfrm>
          <a:prstGeom prst="rect">
            <a:avLst/>
          </a:prstGeom>
          <a:noFill/>
        </p:spPr>
        <p:txBody>
          <a:bodyPr wrap="square" lIns="0" rIns="0" tIns="0" bIns="0" anchor="t">
            <a:spAutoFit/>
          </a:bodyPr>
          <a:lstStyle/>
          <a:p>
            <a:pPr algn="l">
              <a:spcAft>
                <a:spcPts val="200"/>
              </a:spcAft>
            </a:pPr>
            <a:r>
              <a:rPr sz="1200" b="0" i="0">
                <a:solidFill>
                  <a:srgbClr val="5B5F68"/>
                </a:solidFill>
                <a:latin typeface="Consolas"/>
              </a:rPr>
              <a:t>leaf      our formula      XGBoost</a:t>
            </a:r>
          </a:p>
          <a:p>
            <a:pPr algn="l">
              <a:spcAft>
                <a:spcPts val="200"/>
              </a:spcAft>
            </a:pPr>
            <a:r>
              <a:rPr sz="1300" b="0" i="0">
                <a:solidFill>
                  <a:srgbClr val="262A33"/>
                </a:solidFill>
                <a:latin typeface="Consolas"/>
              </a:rPr>
              <a:t>0-3        −0.35336       −0.35336</a:t>
            </a:r>
          </a:p>
          <a:p>
            <a:pPr algn="l">
              <a:spcAft>
                <a:spcPts val="200"/>
              </a:spcAft>
            </a:pPr>
            <a:r>
              <a:rPr sz="1300" b="0" i="0">
                <a:solidFill>
                  <a:srgbClr val="262A33"/>
                </a:solidFill>
                <a:latin typeface="Consolas"/>
              </a:rPr>
              <a:t>0-4        −0.15231       −0.15231</a:t>
            </a:r>
          </a:p>
          <a:p>
            <a:pPr algn="l">
              <a:spcAft>
                <a:spcPts val="200"/>
              </a:spcAft>
            </a:pPr>
            <a:r>
              <a:rPr sz="1300" b="0" i="0">
                <a:solidFill>
                  <a:srgbClr val="262A33"/>
                </a:solidFill>
                <a:latin typeface="Consolas"/>
              </a:rPr>
              <a:t>0-5        +0.41832       +0.41832</a:t>
            </a:r>
          </a:p>
          <a:p>
            <a:pPr algn="l">
              <a:spcAft>
                <a:spcPts val="200"/>
              </a:spcAft>
            </a:pPr>
            <a:r>
              <a:rPr sz="1300" b="0" i="0">
                <a:solidFill>
                  <a:srgbClr val="262A33"/>
                </a:solidFill>
                <a:latin typeface="Consolas"/>
              </a:rPr>
              <a:t>0-6        −0.11985       −0.11985</a:t>
            </a:r>
          </a:p>
        </p:txBody>
      </p:sp>
      <p:sp>
        <p:nvSpPr>
          <p:cNvPr id="8" name="Rectangle 7"/>
          <p:cNvSpPr/>
          <p:nvPr/>
        </p:nvSpPr>
        <p:spPr>
          <a:xfrm>
            <a:off x="6172200" y="4114800"/>
            <a:ext cx="5349240" cy="2194560"/>
          </a:xfrm>
          <a:prstGeom prst="rect">
            <a:avLst/>
          </a:prstGeom>
          <a:noFill/>
          <a:ln w="11430">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4251960"/>
            <a:ext cx="4937760" cy="320040"/>
          </a:xfrm>
          <a:prstGeom prst="rect">
            <a:avLst/>
          </a:prstGeom>
          <a:noFill/>
        </p:spPr>
        <p:txBody>
          <a:bodyPr wrap="square" lIns="0" rIns="0" tIns="0" bIns="0" anchor="t">
            <a:spAutoFit/>
          </a:bodyPr>
          <a:lstStyle/>
          <a:p>
            <a:pPr algn="l">
              <a:spcAft>
                <a:spcPts val="0"/>
              </a:spcAft>
            </a:pPr>
            <a:r>
              <a:rPr sz="1400" b="0" i="0">
                <a:solidFill>
                  <a:srgbClr val="262A33"/>
                </a:solidFill>
                <a:latin typeface="Segoe UI Semibold"/>
              </a:rPr>
              <a:t>Split gain of the root (DER_mass_MMC &lt; 96.4)</a:t>
            </a:r>
          </a:p>
        </p:txBody>
      </p:sp>
      <p:sp>
        <p:nvSpPr>
          <p:cNvPr id="10" name="TextBox 9"/>
          <p:cNvSpPr txBox="1"/>
          <p:nvPr/>
        </p:nvSpPr>
        <p:spPr>
          <a:xfrm>
            <a:off x="6400800" y="4663440"/>
            <a:ext cx="4937760" cy="457200"/>
          </a:xfrm>
          <a:prstGeom prst="rect">
            <a:avLst/>
          </a:prstGeom>
          <a:noFill/>
        </p:spPr>
        <p:txBody>
          <a:bodyPr wrap="square" lIns="0" rIns="0" tIns="0" bIns="0" anchor="t">
            <a:spAutoFit/>
          </a:bodyPr>
          <a:lstStyle/>
          <a:p>
            <a:pPr algn="l">
              <a:spcAft>
                <a:spcPts val="0"/>
              </a:spcAft>
            </a:pPr>
            <a:r>
              <a:rPr sz="2400" b="0" i="0">
                <a:solidFill>
                  <a:srgbClr val="262A33"/>
                </a:solidFill>
                <a:latin typeface="Bahnschrift Light"/>
              </a:rPr>
              <a:t>our formula:  26,310.79</a:t>
            </a:r>
          </a:p>
        </p:txBody>
      </p:sp>
      <p:sp>
        <p:nvSpPr>
          <p:cNvPr id="11" name="TextBox 10"/>
          <p:cNvSpPr txBox="1"/>
          <p:nvPr/>
        </p:nvSpPr>
        <p:spPr>
          <a:xfrm>
            <a:off x="6400800" y="5120640"/>
            <a:ext cx="4937760" cy="457200"/>
          </a:xfrm>
          <a:prstGeom prst="rect">
            <a:avLst/>
          </a:prstGeom>
          <a:noFill/>
        </p:spPr>
        <p:txBody>
          <a:bodyPr wrap="square" lIns="0" rIns="0" tIns="0" bIns="0" anchor="t">
            <a:spAutoFit/>
          </a:bodyPr>
          <a:lstStyle/>
          <a:p>
            <a:pPr algn="l">
              <a:spcAft>
                <a:spcPts val="0"/>
              </a:spcAft>
            </a:pPr>
            <a:r>
              <a:rPr sz="2400" b="0" i="0">
                <a:solidFill>
                  <a:srgbClr val="B5543A"/>
                </a:solidFill>
                <a:latin typeface="Bahnschrift Light"/>
              </a:rPr>
              <a:t>XGBoost:      26,310.79</a:t>
            </a:r>
          </a:p>
        </p:txBody>
      </p:sp>
      <p:pic>
        <p:nvPicPr>
          <p:cNvPr id="12" name="Picture 11" descr="logloss_gh.png"/>
          <p:cNvPicPr>
            <a:picLocks noChangeAspect="1"/>
          </p:cNvPicPr>
          <p:nvPr/>
        </p:nvPicPr>
        <p:blipFill>
          <a:blip r:embed="rId4"/>
          <a:stretch>
            <a:fillRect/>
          </a:stretch>
        </p:blipFill>
        <p:spPr>
          <a:xfrm>
            <a:off x="6400800" y="5669280"/>
            <a:ext cx="3127248" cy="329184"/>
          </a:xfrm>
          <a:prstGeom prst="rect">
            <a:avLst/>
          </a:prstGeom>
        </p:spPr>
      </p:pic>
      <p:sp>
        <p:nvSpPr>
          <p:cNvPr id="13" name="TextBox 12"/>
          <p:cNvSpPr txBox="1"/>
          <p:nvPr/>
        </p:nvSpPr>
        <p:spPr>
          <a:xfrm>
            <a:off x="10332720" y="4709160"/>
            <a:ext cx="1097280" cy="822960"/>
          </a:xfrm>
          <a:prstGeom prst="rect">
            <a:avLst/>
          </a:prstGeom>
          <a:noFill/>
        </p:spPr>
        <p:txBody>
          <a:bodyPr wrap="square" lIns="0" rIns="0" tIns="0" bIns="0" anchor="t">
            <a:spAutoFit/>
          </a:bodyPr>
          <a:lstStyle/>
          <a:p>
            <a:pPr algn="ctr">
              <a:spcAft>
                <a:spcPts val="0"/>
              </a:spcAft>
            </a:pPr>
            <a:r>
              <a:rPr sz="5400" b="0" i="0">
                <a:solidFill>
                  <a:srgbClr val="B5543A"/>
                </a:solidFill>
                <a:latin typeface="Segoe UI"/>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6" fill="hold">
                      <p:stCondLst>
                        <p:cond delay="indefinite"/>
                      </p:stCondLst>
                      <p:childTnLst>
                        <p:par>
                          <p:cTn id="25"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53" presetClass="entr" presetSubtype="16"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anim calcmode="lin" valueType="num">
                                      <p:cBhvr>
                                        <p:cTn id="23" dur="550" fill="hold"/>
                                        <p:tgtEl>
                                          <p:spTgt spid="6"/>
                                        </p:tgtEl>
                                        <p:attrNameLst>
                                          <p:attrName>ppt_w</p:attrName>
                                        </p:attrNameLst>
                                      </p:cBhvr>
                                      <p:tavLst>
                                        <p:tav tm="0">
                                          <p:val>
                                            <p:strVal val="#ppt_w*0.8"/>
                                          </p:val>
                                        </p:tav>
                                        <p:tav tm="100000">
                                          <p:val>
                                            <p:strVal val="#ppt_w"/>
                                          </p:val>
                                        </p:tav>
                                      </p:tavLst>
                                    </p:anim>
                                    <p:anim calcmode="lin" valueType="num">
                                      <p:cBhvr>
                                        <p:cTn id="24" dur="550" fill="hold"/>
                                        <p:tgtEl>
                                          <p:spTgt spid="6"/>
                                        </p:tgtEl>
                                        <p:attrNameLst>
                                          <p:attrName>ppt_h</p:attrName>
                                        </p:attrNameLst>
                                      </p:cBhvr>
                                      <p:tavLst>
                                        <p:tav tm="0">
                                          <p:val>
                                            <p:strVal val="#ppt_h*0.8"/>
                                          </p:val>
                                        </p:tav>
                                        <p:tav tm="100000">
                                          <p:val>
                                            <p:strVal val="#ppt_h"/>
                                          </p:val>
                                        </p:tav>
                                      </p:tavLst>
                                    </p:anim>
                                  </p:childTnLst>
                                </p:cTn>
                              </p:par>
                            </p:childTnLst>
                          </p:cTn>
                        </p:par>
                      </p:childTnLst>
                    </p:cTn>
                  </p:par>
                  <p:par>
                    <p:cTn id="26" fill="hold">
                      <p:stCondLst>
                        <p:cond delay="indefinite"/>
                      </p:stCondLst>
                      <p:childTnLst>
                        <p:par>
                          <p:cTn id="30"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800"/>
                                        <p:tgtEl>
                                          <p:spTgt spid="7"/>
                                        </p:tgtEl>
                                      </p:cBhvr>
                                    </p:animEffect>
                                  </p:childTnLst>
                                </p:cTn>
                              </p:par>
                            </p:childTnLst>
                          </p:cTn>
                        </p:par>
                      </p:childTnLst>
                    </p:cTn>
                  </p:par>
                  <p:par>
                    <p:cTn id="31" fill="hold">
                      <p:stCondLst>
                        <p:cond delay="indefinite"/>
                      </p:stCondLst>
                      <p:childTnLst>
                        <p:par>
                          <p:cTn id="43"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42"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650"/>
                                        <p:tgtEl>
                                          <p:spTgt spid="9"/>
                                        </p:tgtEl>
                                      </p:cBhvr>
                                    </p:animEffect>
                                    <p:anim calcmode="lin" valueType="num">
                                      <p:cBhvr>
                                        <p:cTn id="38" dur="650" fill="hold"/>
                                        <p:tgtEl>
                                          <p:spTgt spid="9"/>
                                        </p:tgtEl>
                                        <p:attrNameLst>
                                          <p:attrName>ppt_y</p:attrName>
                                        </p:attrNameLst>
                                      </p:cBhvr>
                                      <p:tavLst>
                                        <p:tav tm="0">
                                          <p:val>
                                            <p:strVal val="#ppt_y+0.06"/>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650"/>
                                        <p:tgtEl>
                                          <p:spTgt spid="10"/>
                                        </p:tgtEl>
                                      </p:cBhvr>
                                    </p:animEffect>
                                    <p:anim calcmode="lin" valueType="num">
                                      <p:cBhvr>
                                        <p:cTn id="42" dur="650" fill="hold"/>
                                        <p:tgtEl>
                                          <p:spTgt spid="10"/>
                                        </p:tgtEl>
                                        <p:attrNameLst>
                                          <p:attrName>ppt_y</p:attrName>
                                        </p:attrNameLst>
                                      </p:cBhvr>
                                      <p:tavLst>
                                        <p:tav tm="0">
                                          <p:val>
                                            <p:strVal val="#ppt_y+0.06"/>
                                          </p:val>
                                        </p:tav>
                                        <p:tav tm="100000">
                                          <p:val>
                                            <p:strVal val="#ppt_y"/>
                                          </p:val>
                                        </p:tav>
                                      </p:tavLst>
                                    </p:anim>
                                  </p:childTnLst>
                                </p:cTn>
                              </p:par>
                            </p:childTnLst>
                          </p:cTn>
                        </p:par>
                      </p:childTnLst>
                    </p:cTn>
                  </p:par>
                  <p:par>
                    <p:cTn id="44" fill="hold">
                      <p:stCondLst>
                        <p:cond delay="indefinite"/>
                      </p:stCondLst>
                      <p:childTnLst>
                        <p:par>
                          <p:cTn id="49"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650"/>
                                        <p:tgtEl>
                                          <p:spTgt spid="11"/>
                                        </p:tgtEl>
                                      </p:cBhvr>
                                    </p:animEffect>
                                    <p:anim calcmode="lin" valueType="num">
                                      <p:cBhvr>
                                        <p:cTn id="48" dur="650" fill="hold"/>
                                        <p:tgtEl>
                                          <p:spTgt spid="11"/>
                                        </p:tgtEl>
                                        <p:attrNameLst>
                                          <p:attrName>ppt_y</p:attrName>
                                        </p:attrNameLst>
                                      </p:cBhvr>
                                      <p:tavLst>
                                        <p:tav tm="0">
                                          <p:val>
                                            <p:strVal val="#ppt_y+0.06"/>
                                          </p:val>
                                        </p:tav>
                                        <p:tav tm="100000">
                                          <p:val>
                                            <p:strVal val="#ppt_y"/>
                                          </p:val>
                                        </p:tav>
                                      </p:tavLst>
                                    </p:anim>
                                  </p:childTnLst>
                                </p:cTn>
                              </p:par>
                            </p:childTnLst>
                          </p:cTn>
                        </p:par>
                        <p:par>
                          <p:cTn id="60" fill="hold">
                            <p:stCondLst>
                              <p:cond delay="650"/>
                            </p:stCondLst>
                            <p:childTnLst>
                              <p:par>
                                <p:cTn id="50" presetID="53" presetClass="entr" presetSubtype="16" fill="hold"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p:cTn id="53" dur="550" fill="hold"/>
                                        <p:tgtEl>
                                          <p:spTgt spid="13"/>
                                        </p:tgtEl>
                                        <p:attrNameLst>
                                          <p:attrName>ppt_w</p:attrName>
                                        </p:attrNameLst>
                                      </p:cBhvr>
                                      <p:tavLst>
                                        <p:tav tm="0">
                                          <p:val>
                                            <p:strVal val="#ppt_w*0.8"/>
                                          </p:val>
                                        </p:tav>
                                        <p:tav tm="100000">
                                          <p:val>
                                            <p:strVal val="#ppt_w"/>
                                          </p:val>
                                        </p:tav>
                                      </p:tavLst>
                                    </p:anim>
                                    <p:anim calcmode="lin" valueType="num">
                                      <p:cBhvr>
                                        <p:cTn id="54" dur="550" fill="hold"/>
                                        <p:tgtEl>
                                          <p:spTgt spid="13"/>
                                        </p:tgtEl>
                                        <p:attrNameLst>
                                          <p:attrName>ppt_h</p:attrName>
                                        </p:attrNameLst>
                                      </p:cBhvr>
                                      <p:tavLst>
                                        <p:tav tm="0">
                                          <p:val>
                                            <p:strVal val="#ppt_h*0.8"/>
                                          </p:val>
                                        </p:tav>
                                        <p:tav tm="100000">
                                          <p:val>
                                            <p:strVal val="#ppt_h"/>
                                          </p:val>
                                        </p:tav>
                                      </p:tavLst>
                                    </p:anim>
                                  </p:childTnLst>
                                </p:cTn>
                              </p:par>
                              <p:par>
                                <p:cTn id="55" presetID="53" presetClass="entr" presetSubtype="16" fill="hold" nodeType="after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550"/>
                                        <p:tgtEl>
                                          <p:spTgt spid="12"/>
                                        </p:tgtEl>
                                      </p:cBhvr>
                                    </p:animEffect>
                                    <p:anim calcmode="lin" valueType="num">
                                      <p:cBhvr>
                                        <p:cTn id="58" dur="550" fill="hold"/>
                                        <p:tgtEl>
                                          <p:spTgt spid="12"/>
                                        </p:tgtEl>
                                        <p:attrNameLst>
                                          <p:attrName>ppt_w</p:attrName>
                                        </p:attrNameLst>
                                      </p:cBhvr>
                                      <p:tavLst>
                                        <p:tav tm="0">
                                          <p:val>
                                            <p:strVal val="#ppt_w*0.8"/>
                                          </p:val>
                                        </p:tav>
                                        <p:tav tm="100000">
                                          <p:val>
                                            <p:strVal val="#ppt_w"/>
                                          </p:val>
                                        </p:tav>
                                      </p:tavLst>
                                    </p:anim>
                                    <p:anim calcmode="lin" valueType="num">
                                      <p:cBhvr>
                                        <p:cTn id="59" dur="550" fill="hold"/>
                                        <p:tgtEl>
                                          <p:spTgt spid="12"/>
                                        </p:tgtEl>
                                        <p:attrNameLst>
                                          <p:attrName>ppt_h</p:attrName>
                                        </p:attrNameLst>
                                      </p:cBhvr>
                                      <p:tavLst>
                                        <p:tav tm="0">
                                          <p:val>
                                            <p:strVal val="#ppt_h*0.8"/>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pic>
        <p:nvPicPr>
          <p:cNvPr id="2" name="Picture 1" descr="dots.png"/>
          <p:cNvPicPr>
            <a:picLocks noChangeAspect="1"/>
          </p:cNvPicPr>
          <p:nvPr/>
        </p:nvPicPr>
        <p:blipFill>
          <a:blip r:embed="rId2"/>
          <a:stretch>
            <a:fillRect/>
          </a:stretch>
        </p:blipFill>
        <p:spPr>
          <a:xfrm>
            <a:off x="2468880" y="502920"/>
            <a:ext cx="1645920" cy="868680"/>
          </a:xfrm>
          <a:prstGeom prst="rect">
            <a:avLst/>
          </a:prstGeom>
        </p:spPr>
      </p:pic>
      <p:sp>
        <p:nvSpPr>
          <p:cNvPr id="3" name="TextBox 2"/>
          <p:cNvSpPr txBox="1"/>
          <p:nvPr/>
        </p:nvSpPr>
        <p:spPr>
          <a:xfrm>
            <a:off x="685800" y="1051560"/>
            <a:ext cx="6766560" cy="2377440"/>
          </a:xfrm>
          <a:prstGeom prst="rect">
            <a:avLst/>
          </a:prstGeom>
          <a:noFill/>
        </p:spPr>
        <p:txBody>
          <a:bodyPr wrap="square" lIns="0" rIns="0" tIns="0" bIns="0" anchor="b">
            <a:spAutoFit/>
          </a:bodyPr>
          <a:lstStyle/>
          <a:p>
            <a:pPr algn="l">
              <a:lnSpc>
                <a:spcPct val="88000"/>
              </a:lnSpc>
              <a:spcAft>
                <a:spcPts val="0"/>
              </a:spcAft>
            </a:pPr>
            <a:r>
              <a:rPr sz="5800" b="0" i="0">
                <a:solidFill>
                  <a:srgbClr val="262A33"/>
                </a:solidFill>
                <a:latin typeface="Bahnschrift Light"/>
              </a:rPr>
              <a:t>CLASSIFICATION</a:t>
            </a:r>
          </a:p>
          <a:p>
            <a:pPr algn="l">
              <a:lnSpc>
                <a:spcPct val="88000"/>
              </a:lnSpc>
              <a:spcAft>
                <a:spcPts val="0"/>
              </a:spcAft>
            </a:pPr>
            <a:r>
              <a:rPr sz="5800" b="0" i="0">
                <a:solidFill>
                  <a:srgbClr val="262A33"/>
                </a:solidFill>
                <a:latin typeface="Bahnschrift Light"/>
              </a:rPr>
              <a:t>&amp; REGRESSION</a:t>
            </a:r>
          </a:p>
        </p:txBody>
      </p:sp>
      <p:sp>
        <p:nvSpPr>
          <p:cNvPr id="4" name="TextBox 3"/>
          <p:cNvSpPr txBox="1"/>
          <p:nvPr/>
        </p:nvSpPr>
        <p:spPr>
          <a:xfrm>
            <a:off x="6583680" y="1234440"/>
            <a:ext cx="2011680" cy="109728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Same trees,</a:t>
            </a:r>
          </a:p>
          <a:p>
            <a:pPr algn="l">
              <a:lnSpc>
                <a:spcPct val="100000"/>
              </a:lnSpc>
              <a:spcAft>
                <a:spcPts val="0"/>
              </a:spcAft>
            </a:pPr>
            <a:r>
              <a:rPr sz="1800" b="0" i="0">
                <a:solidFill>
                  <a:srgbClr val="262A33"/>
                </a:solidFill>
                <a:latin typeface="Segoe UI"/>
              </a:rPr>
              <a:t>different loss</a:t>
            </a:r>
          </a:p>
        </p:txBody>
      </p:sp>
      <p:pic>
        <p:nvPicPr>
          <p:cNvPr id="5" name="Picture 4" descr="sigmoid.png"/>
          <p:cNvPicPr>
            <a:picLocks noChangeAspect="1"/>
          </p:cNvPicPr>
          <p:nvPr/>
        </p:nvPicPr>
        <p:blipFill>
          <a:blip r:embed="rId3"/>
          <a:stretch>
            <a:fillRect/>
          </a:stretch>
        </p:blipFill>
        <p:spPr>
          <a:xfrm>
            <a:off x="7015480" y="2194560"/>
            <a:ext cx="3982720" cy="2240280"/>
          </a:xfrm>
          <a:prstGeom prst="rect">
            <a:avLst/>
          </a:prstGeom>
        </p:spPr>
      </p:pic>
      <p:sp>
        <p:nvSpPr>
          <p:cNvPr id="6" name="TextBox 5"/>
          <p:cNvSpPr txBox="1"/>
          <p:nvPr/>
        </p:nvSpPr>
        <p:spPr>
          <a:xfrm>
            <a:off x="685800" y="3749039"/>
            <a:ext cx="2743200" cy="320040"/>
          </a:xfrm>
          <a:prstGeom prst="rect">
            <a:avLst/>
          </a:prstGeom>
          <a:noFill/>
        </p:spPr>
        <p:txBody>
          <a:bodyPr wrap="square" lIns="0" rIns="0" tIns="0" bIns="0" anchor="t">
            <a:spAutoFit/>
          </a:bodyPr>
          <a:lstStyle/>
          <a:p>
            <a:pPr algn="l">
              <a:spcAft>
                <a:spcPts val="0"/>
              </a:spcAft>
            </a:pPr>
            <a:r>
              <a:rPr sz="1400" b="0" i="0">
                <a:solidFill>
                  <a:srgbClr val="262A33"/>
                </a:solidFill>
                <a:latin typeface="Segoe UI Semibold"/>
              </a:rPr>
              <a:t>Classification</a:t>
            </a:r>
          </a:p>
        </p:txBody>
      </p:sp>
      <p:pic>
        <p:nvPicPr>
          <p:cNvPr id="7" name="Picture 6" descr="logloss.png"/>
          <p:cNvPicPr>
            <a:picLocks noChangeAspect="1"/>
          </p:cNvPicPr>
          <p:nvPr/>
        </p:nvPicPr>
        <p:blipFill>
          <a:blip r:embed="rId4"/>
          <a:stretch>
            <a:fillRect/>
          </a:stretch>
        </p:blipFill>
        <p:spPr>
          <a:xfrm>
            <a:off x="685800" y="4160520"/>
            <a:ext cx="3111398" cy="265176"/>
          </a:xfrm>
          <a:prstGeom prst="rect">
            <a:avLst/>
          </a:prstGeom>
        </p:spPr>
      </p:pic>
      <p:pic>
        <p:nvPicPr>
          <p:cNvPr id="8" name="Picture 7" descr="logloss_gh.png"/>
          <p:cNvPicPr>
            <a:picLocks noChangeAspect="1"/>
          </p:cNvPicPr>
          <p:nvPr/>
        </p:nvPicPr>
        <p:blipFill>
          <a:blip r:embed="rId5"/>
          <a:stretch>
            <a:fillRect/>
          </a:stretch>
        </p:blipFill>
        <p:spPr>
          <a:xfrm>
            <a:off x="685800" y="4617720"/>
            <a:ext cx="2345436" cy="246888"/>
          </a:xfrm>
          <a:prstGeom prst="rect">
            <a:avLst/>
          </a:prstGeom>
        </p:spPr>
      </p:pic>
      <p:pic>
        <p:nvPicPr>
          <p:cNvPr id="9" name="Picture 8" descr="sigmoid.png"/>
          <p:cNvPicPr>
            <a:picLocks noChangeAspect="1"/>
          </p:cNvPicPr>
          <p:nvPr/>
        </p:nvPicPr>
        <p:blipFill>
          <a:blip r:embed="rId6"/>
          <a:stretch>
            <a:fillRect/>
          </a:stretch>
        </p:blipFill>
        <p:spPr>
          <a:xfrm>
            <a:off x="685800" y="5029200"/>
            <a:ext cx="1863929" cy="365760"/>
          </a:xfrm>
          <a:prstGeom prst="rect">
            <a:avLst/>
          </a:prstGeom>
        </p:spPr>
      </p:pic>
      <p:sp>
        <p:nvSpPr>
          <p:cNvPr id="10" name="TextBox 9"/>
          <p:cNvSpPr txBox="1"/>
          <p:nvPr/>
        </p:nvSpPr>
        <p:spPr>
          <a:xfrm>
            <a:off x="685800" y="5532120"/>
            <a:ext cx="2743200" cy="91440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Output: a probability between 0 and 1;</a:t>
            </a:r>
          </a:p>
          <a:p>
            <a:pPr algn="l">
              <a:spcAft>
                <a:spcPts val="0"/>
              </a:spcAft>
            </a:pPr>
            <a:r>
              <a:rPr sz="1200" b="0" i="0">
                <a:solidFill>
                  <a:srgbClr val="5B5F68"/>
                </a:solidFill>
                <a:latin typeface="Segoe UI"/>
              </a:rPr>
              <a:t>a threshold (often 0.5) gives the class</a:t>
            </a:r>
          </a:p>
        </p:txBody>
      </p:sp>
      <p:sp>
        <p:nvSpPr>
          <p:cNvPr id="11" name="TextBox 10"/>
          <p:cNvSpPr txBox="1"/>
          <p:nvPr/>
        </p:nvSpPr>
        <p:spPr>
          <a:xfrm>
            <a:off x="3931920" y="3749039"/>
            <a:ext cx="2651760" cy="320040"/>
          </a:xfrm>
          <a:prstGeom prst="rect">
            <a:avLst/>
          </a:prstGeom>
          <a:noFill/>
        </p:spPr>
        <p:txBody>
          <a:bodyPr wrap="square" lIns="0" rIns="0" tIns="0" bIns="0" anchor="t">
            <a:spAutoFit/>
          </a:bodyPr>
          <a:lstStyle/>
          <a:p>
            <a:pPr algn="l">
              <a:spcAft>
                <a:spcPts val="0"/>
              </a:spcAft>
            </a:pPr>
            <a:r>
              <a:rPr sz="1400" b="0" i="0">
                <a:solidFill>
                  <a:srgbClr val="262A33"/>
                </a:solidFill>
                <a:latin typeface="Segoe UI Semibold"/>
              </a:rPr>
              <a:t>Regression</a:t>
            </a:r>
          </a:p>
        </p:txBody>
      </p:sp>
      <p:pic>
        <p:nvPicPr>
          <p:cNvPr id="12" name="Picture 11" descr="sqerr.png"/>
          <p:cNvPicPr>
            <a:picLocks noChangeAspect="1"/>
          </p:cNvPicPr>
          <p:nvPr/>
        </p:nvPicPr>
        <p:blipFill>
          <a:blip r:embed="rId7"/>
          <a:stretch>
            <a:fillRect/>
          </a:stretch>
        </p:blipFill>
        <p:spPr>
          <a:xfrm>
            <a:off x="3931920" y="4114800"/>
            <a:ext cx="1726788" cy="411480"/>
          </a:xfrm>
          <a:prstGeom prst="rect">
            <a:avLst/>
          </a:prstGeom>
        </p:spPr>
      </p:pic>
      <p:pic>
        <p:nvPicPr>
          <p:cNvPr id="13" name="Picture 12" descr="sqerr_gh.png"/>
          <p:cNvPicPr>
            <a:picLocks noChangeAspect="1"/>
          </p:cNvPicPr>
          <p:nvPr/>
        </p:nvPicPr>
        <p:blipFill>
          <a:blip r:embed="rId8"/>
          <a:stretch>
            <a:fillRect/>
          </a:stretch>
        </p:blipFill>
        <p:spPr>
          <a:xfrm>
            <a:off x="3931920" y="4617720"/>
            <a:ext cx="1901829" cy="274320"/>
          </a:xfrm>
          <a:prstGeom prst="rect">
            <a:avLst/>
          </a:prstGeom>
        </p:spPr>
      </p:pic>
      <p:sp>
        <p:nvSpPr>
          <p:cNvPr id="14" name="TextBox 13"/>
          <p:cNvSpPr txBox="1"/>
          <p:nvPr/>
        </p:nvSpPr>
        <p:spPr>
          <a:xfrm>
            <a:off x="3931920" y="5532120"/>
            <a:ext cx="2651760" cy="91440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Output: a number (price, demand, mass…)</a:t>
            </a:r>
          </a:p>
          <a:p>
            <a:pPr algn="l">
              <a:spcAft>
                <a:spcPts val="0"/>
              </a:spcAft>
            </a:pPr>
            <a:r>
              <a:rPr sz="1200" b="0" i="0">
                <a:solidFill>
                  <a:srgbClr val="5B5F68"/>
                </a:solidFill>
                <a:latin typeface="Segoe UI"/>
              </a:rPr>
              <a:t>metrics: MAE, RMSE, R²</a:t>
            </a:r>
          </a:p>
        </p:txBody>
      </p:sp>
      <p:sp>
        <p:nvSpPr>
          <p:cNvPr id="15" name="TextBox 14"/>
          <p:cNvSpPr txBox="1"/>
          <p:nvPr/>
        </p:nvSpPr>
        <p:spPr>
          <a:xfrm>
            <a:off x="6400800" y="4572000"/>
            <a:ext cx="5120640" cy="192024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Multi-class and more</a:t>
            </a:r>
          </a:p>
          <a:p>
            <a:pPr algn="l">
              <a:lnSpc>
                <a:spcPct val="105000"/>
              </a:lnSpc>
              <a:spcAft>
                <a:spcPts val="400"/>
              </a:spcAft>
            </a:pPr>
            <a:r>
              <a:rPr sz="1200" b="0" i="0">
                <a:solidFill>
                  <a:srgbClr val="5B5F68"/>
                </a:solidFill>
                <a:latin typeface="Segoe UI"/>
              </a:rPr>
              <a:t>multi:softprob builds one tree per class each round and uses softmax. Ranking (rank:ndcg) and counts (count:poisson) work the same way: only g and h change.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6" fill="hold">
                      <p:stCondLst>
                        <p:cond delay="indefinite"/>
                      </p:stCondLst>
                      <p:childTnLst>
                        <p:par>
                          <p:cTn id="24"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50"/>
                                        <p:tgtEl>
                                          <p:spTgt spid="6"/>
                                        </p:tgtEl>
                                      </p:cBhvr>
                                    </p:animEffect>
                                    <p:anim calcmode="lin" valueType="num">
                                      <p:cBhvr>
                                        <p:cTn id="20" dur="650" fill="hold"/>
                                        <p:tgtEl>
                                          <p:spTgt spid="6"/>
                                        </p:tgtEl>
                                        <p:attrNameLst>
                                          <p:attrName>ppt_y</p:attrName>
                                        </p:attrNameLst>
                                      </p:cBhvr>
                                      <p:tavLst>
                                        <p:tav tm="0">
                                          <p:val>
                                            <p:strVal val="#ppt_y+0.06"/>
                                          </p:val>
                                        </p:tav>
                                        <p:tav tm="100000">
                                          <p:val>
                                            <p:strVal val="#ppt_y"/>
                                          </p:val>
                                        </p:tav>
                                      </p:tavLst>
                                    </p:anim>
                                  </p:childTnLst>
                                </p:cTn>
                              </p:par>
                              <p:par>
                                <p:cTn id="21" presetID="22" presetClass="entr" presetSubtype="8"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700"/>
                                        <p:tgtEl>
                                          <p:spTgt spid="7"/>
                                        </p:tgtEl>
                                      </p:cBhvr>
                                    </p:animEffect>
                                  </p:childTnLst>
                                </p:cTn>
                              </p:par>
                            </p:childTnLst>
                          </p:cTn>
                        </p:par>
                        <p:par>
                          <p:cTn id="28" fill="hold">
                            <p:stCondLst>
                              <p:cond delay="700"/>
                            </p:stCondLst>
                            <p:childTnLst>
                              <p:par>
                                <p:cTn id="25" presetID="22" presetClass="entr" presetSubtype="8"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700"/>
                                        <p:tgtEl>
                                          <p:spTgt spid="8"/>
                                        </p:tgtEl>
                                      </p:cBhvr>
                                    </p:animEffect>
                                  </p:childTnLst>
                                </p:cTn>
                              </p:par>
                            </p:childTnLst>
                          </p:cTn>
                        </p:par>
                        <p:par>
                          <p:cTn id="36" fill="hold">
                            <p:stCondLst>
                              <p:cond delay="1400"/>
                            </p:stCondLst>
                            <p:childTnLst>
                              <p:par>
                                <p:cTn id="29" presetID="22" presetClass="entr" presetSubtype="8"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700"/>
                                        <p:tgtEl>
                                          <p:spTgt spid="9"/>
                                        </p:tgtEl>
                                      </p:cBhvr>
                                    </p:animEffect>
                                  </p:childTnLst>
                                </p:cTn>
                              </p:par>
                              <p:par>
                                <p:cTn id="32" presetID="42"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650"/>
                                        <p:tgtEl>
                                          <p:spTgt spid="10"/>
                                        </p:tgtEl>
                                      </p:cBhvr>
                                    </p:animEffect>
                                    <p:anim calcmode="lin" valueType="num">
                                      <p:cBhvr>
                                        <p:cTn id="35" dur="650" fill="hold"/>
                                        <p:tgtEl>
                                          <p:spTgt spid="10"/>
                                        </p:tgtEl>
                                        <p:attrNameLst>
                                          <p:attrName>ppt_y</p:attrName>
                                        </p:attrNameLst>
                                      </p:cBhvr>
                                      <p:tavLst>
                                        <p:tav tm="0">
                                          <p:val>
                                            <p:strVal val="#ppt_y+0.06"/>
                                          </p:val>
                                        </p:tav>
                                        <p:tav tm="100000">
                                          <p:val>
                                            <p:strVal val="#ppt_y"/>
                                          </p:val>
                                        </p:tav>
                                      </p:tavLst>
                                    </p:anim>
                                  </p:childTnLst>
                                </p:cTn>
                              </p:par>
                            </p:childTnLst>
                          </p:cTn>
                        </p:par>
                      </p:childTnLst>
                    </p:cTn>
                  </p:par>
                  <p:par>
                    <p:cTn id="37" fill="hold">
                      <p:stCondLst>
                        <p:cond delay="indefinite"/>
                      </p:stCondLst>
                      <p:childTnLst>
                        <p:par>
                          <p:cTn id="45"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50"/>
                                        <p:tgtEl>
                                          <p:spTgt spid="11"/>
                                        </p:tgtEl>
                                      </p:cBhvr>
                                    </p:animEffect>
                                    <p:anim calcmode="lin" valueType="num">
                                      <p:cBhvr>
                                        <p:cTn id="41" dur="650" fill="hold"/>
                                        <p:tgtEl>
                                          <p:spTgt spid="11"/>
                                        </p:tgtEl>
                                        <p:attrNameLst>
                                          <p:attrName>ppt_y</p:attrName>
                                        </p:attrNameLst>
                                      </p:cBhvr>
                                      <p:tavLst>
                                        <p:tav tm="0">
                                          <p:val>
                                            <p:strVal val="#ppt_y+0.06"/>
                                          </p:val>
                                        </p:tav>
                                        <p:tav tm="100000">
                                          <p:val>
                                            <p:strVal val="#ppt_y"/>
                                          </p:val>
                                        </p:tav>
                                      </p:tavLst>
                                    </p:anim>
                                  </p:childTnLst>
                                </p:cTn>
                              </p:par>
                              <p:par>
                                <p:cTn id="42" presetID="22" presetClass="entr" presetSubtype="8" fill="hold"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left)">
                                      <p:cBhvr>
                                        <p:cTn id="44" dur="700"/>
                                        <p:tgtEl>
                                          <p:spTgt spid="12"/>
                                        </p:tgtEl>
                                      </p:cBhvr>
                                    </p:animEffect>
                                  </p:childTnLst>
                                </p:cTn>
                              </p:par>
                            </p:childTnLst>
                          </p:cTn>
                        </p:par>
                        <p:par>
                          <p:cTn id="53" fill="hold">
                            <p:stCondLst>
                              <p:cond delay="700"/>
                            </p:stCondLst>
                            <p:childTnLst>
                              <p:par>
                                <p:cTn id="46" presetID="22" presetClass="entr" presetSubtype="8" fill="hold" nodeType="after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left)">
                                      <p:cBhvr>
                                        <p:cTn id="48" dur="700"/>
                                        <p:tgtEl>
                                          <p:spTgt spid="13"/>
                                        </p:tgtEl>
                                      </p:cBhvr>
                                    </p:animEffect>
                                  </p:childTnLst>
                                </p:cTn>
                              </p:par>
                              <p:par>
                                <p:cTn id="49" presetID="42" presetClass="entr" presetSubtype="0" fill="hold"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650"/>
                                        <p:tgtEl>
                                          <p:spTgt spid="14"/>
                                        </p:tgtEl>
                                      </p:cBhvr>
                                    </p:animEffect>
                                    <p:anim calcmode="lin" valueType="num">
                                      <p:cBhvr>
                                        <p:cTn id="52" dur="650" fill="hold"/>
                                        <p:tgtEl>
                                          <p:spTgt spid="14"/>
                                        </p:tgtEl>
                                        <p:attrNameLst>
                                          <p:attrName>ppt_y</p:attrName>
                                        </p:attrNameLst>
                                      </p:cBhvr>
                                      <p:tavLst>
                                        <p:tav tm="0">
                                          <p:val>
                                            <p:strVal val="#ppt_y+0.06"/>
                                          </p:val>
                                        </p:tav>
                                        <p:tav tm="100000">
                                          <p:val>
                                            <p:strVal val="#ppt_y"/>
                                          </p:val>
                                        </p:tav>
                                      </p:tavLst>
                                    </p:anim>
                                  </p:childTnLst>
                                </p:cTn>
                              </p:par>
                            </p:childTnLst>
                          </p:cTn>
                        </p:par>
                      </p:childTnLst>
                    </p:cTn>
                  </p:par>
                  <p:par>
                    <p:cTn id="54" fill="hold">
                      <p:stCondLst>
                        <p:cond delay="indefinite"/>
                      </p:stCondLst>
                      <p:childTnLst>
                        <p:par>
                          <p:cTn id="60"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fade">
                                      <p:cBhvr>
                                        <p:cTn id="57" dur="550"/>
                                        <p:tgtEl>
                                          <p:spTgt spid="5"/>
                                        </p:tgtEl>
                                      </p:cBhvr>
                                    </p:animEffect>
                                    <p:anim calcmode="lin" valueType="num">
                                      <p:cBhvr>
                                        <p:cTn id="58" dur="550" fill="hold"/>
                                        <p:tgtEl>
                                          <p:spTgt spid="5"/>
                                        </p:tgtEl>
                                        <p:attrNameLst>
                                          <p:attrName>ppt_w</p:attrName>
                                        </p:attrNameLst>
                                      </p:cBhvr>
                                      <p:tavLst>
                                        <p:tav tm="0">
                                          <p:val>
                                            <p:strVal val="#ppt_w*0.8"/>
                                          </p:val>
                                        </p:tav>
                                        <p:tav tm="100000">
                                          <p:val>
                                            <p:strVal val="#ppt_w"/>
                                          </p:val>
                                        </p:tav>
                                      </p:tavLst>
                                    </p:anim>
                                    <p:anim calcmode="lin" valueType="num">
                                      <p:cBhvr>
                                        <p:cTn id="59" dur="550" fill="hold"/>
                                        <p:tgtEl>
                                          <p:spTgt spid="5"/>
                                        </p:tgtEl>
                                        <p:attrNameLst>
                                          <p:attrName>ppt_h</p:attrName>
                                        </p:attrNameLst>
                                      </p:cBhvr>
                                      <p:tavLst>
                                        <p:tav tm="0">
                                          <p:val>
                                            <p:strVal val="#ppt_h*0.8"/>
                                          </p:val>
                                        </p:tav>
                                        <p:tav tm="100000">
                                          <p:val>
                                            <p:strVal val="#ppt_h"/>
                                          </p:val>
                                        </p:tav>
                                      </p:tavLst>
                                    </p:anim>
                                  </p:childTnLst>
                                </p:cTn>
                              </p:par>
                            </p:childTnLst>
                          </p:cTn>
                        </p:par>
                      </p:childTnLst>
                    </p:cTn>
                  </p:par>
                  <p:par>
                    <p:cTn id="61" fill="hold">
                      <p:stCondLst>
                        <p:cond delay="indefinite"/>
                      </p:stCondLst>
                      <p:childTnLst>
                        <p:par>
                          <p:cTn id="66"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650"/>
                                        <p:tgtEl>
                                          <p:spTgt spid="15"/>
                                        </p:tgtEl>
                                      </p:cBhvr>
                                    </p:animEffect>
                                    <p:anim calcmode="lin" valueType="num">
                                      <p:cBhvr>
                                        <p:cTn id="65" dur="650" fill="hold"/>
                                        <p:tgtEl>
                                          <p:spTgt spid="15"/>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411480"/>
            <a:ext cx="8229600" cy="914400"/>
          </a:xfrm>
          <a:prstGeom prst="rect">
            <a:avLst/>
          </a:prstGeom>
          <a:noFill/>
        </p:spPr>
        <p:txBody>
          <a:bodyPr wrap="square" lIns="0" rIns="0" tIns="0" bIns="0" anchor="t">
            <a:spAutoFit/>
          </a:bodyPr>
          <a:lstStyle/>
          <a:p>
            <a:pPr algn="l">
              <a:lnSpc>
                <a:spcPct val="88000"/>
              </a:lnSpc>
              <a:spcAft>
                <a:spcPts val="0"/>
              </a:spcAft>
            </a:pPr>
            <a:r>
              <a:rPr sz="4400" b="0" i="0">
                <a:solidFill>
                  <a:srgbClr val="262A33"/>
                </a:solidFill>
                <a:latin typeface="Bahnschrift Light"/>
              </a:rPr>
              <a:t>HYPERPARAMETERS ON OUR DATA</a:t>
            </a:r>
          </a:p>
        </p:txBody>
      </p:sp>
      <p:pic>
        <p:nvPicPr>
          <p:cNvPr id="3" name="Picture 2" descr="dots.png"/>
          <p:cNvPicPr>
            <a:picLocks noChangeAspect="1"/>
          </p:cNvPicPr>
          <p:nvPr/>
        </p:nvPicPr>
        <p:blipFill>
          <a:blip r:embed="rId2"/>
          <a:stretch>
            <a:fillRect/>
          </a:stretch>
        </p:blipFill>
        <p:spPr>
          <a:xfrm>
            <a:off x="9875520" y="411480"/>
            <a:ext cx="1645920" cy="868680"/>
          </a:xfrm>
          <a:prstGeom prst="rect">
            <a:avLst/>
          </a:prstGeom>
        </p:spPr>
      </p:pic>
      <p:pic>
        <p:nvPicPr>
          <p:cNvPr id="4" name="Picture 3" descr="08_hyperparameter_effects.png"/>
          <p:cNvPicPr>
            <a:picLocks noChangeAspect="1"/>
          </p:cNvPicPr>
          <p:nvPr/>
        </p:nvPicPr>
        <p:blipFill>
          <a:blip r:embed="rId3"/>
          <a:stretch>
            <a:fillRect/>
          </a:stretch>
        </p:blipFill>
        <p:spPr>
          <a:xfrm>
            <a:off x="685800" y="1872456"/>
            <a:ext cx="7498079" cy="3936046"/>
          </a:xfrm>
          <a:prstGeom prst="rect">
            <a:avLst/>
          </a:prstGeom>
        </p:spPr>
      </p:pic>
      <p:sp>
        <p:nvSpPr>
          <p:cNvPr id="5" name="TextBox 4"/>
          <p:cNvSpPr txBox="1"/>
          <p:nvPr/>
        </p:nvSpPr>
        <p:spPr>
          <a:xfrm>
            <a:off x="8503920" y="1463040"/>
            <a:ext cx="3017520" cy="155448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Underfit → sweet spot → overfit</a:t>
            </a:r>
          </a:p>
          <a:p>
            <a:pPr algn="l">
              <a:lnSpc>
                <a:spcPct val="105000"/>
              </a:lnSpc>
              <a:spcAft>
                <a:spcPts val="400"/>
              </a:spcAft>
            </a:pPr>
            <a:r>
              <a:rPr sz="1200" b="0" i="0">
                <a:solidFill>
                  <a:srgbClr val="5B5F68"/>
                </a:solidFill>
                <a:latin typeface="Segoe UI"/>
              </a:rPr>
              <a:t>When the train line keeps rising but validation falls, the model is memorising.</a:t>
            </a:r>
          </a:p>
        </p:txBody>
      </p:sp>
      <p:sp>
        <p:nvSpPr>
          <p:cNvPr id="6" name="TextBox 5"/>
          <p:cNvSpPr txBox="1"/>
          <p:nvPr/>
        </p:nvSpPr>
        <p:spPr>
          <a:xfrm>
            <a:off x="8503920" y="3063240"/>
            <a:ext cx="3017520" cy="146304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Best values here</a:t>
            </a:r>
          </a:p>
          <a:p>
            <a:pPr algn="l">
              <a:lnSpc>
                <a:spcPct val="105000"/>
              </a:lnSpc>
              <a:spcAft>
                <a:spcPts val="400"/>
              </a:spcAft>
            </a:pPr>
            <a:r>
              <a:rPr sz="1200" b="0" i="0">
                <a:solidFill>
                  <a:srgbClr val="5B5F68"/>
                </a:solidFill>
                <a:latin typeface="Segoe UI"/>
              </a:rPr>
              <a:t>depth ≈ 6, learning rate ≈ 0.1, min_child_weight ≈ 100 on deep trees.</a:t>
            </a:r>
          </a:p>
        </p:txBody>
      </p:sp>
      <p:sp>
        <p:nvSpPr>
          <p:cNvPr id="7" name="TextBox 6"/>
          <p:cNvSpPr txBox="1"/>
          <p:nvPr/>
        </p:nvSpPr>
        <p:spPr>
          <a:xfrm>
            <a:off x="8503920" y="4572000"/>
            <a:ext cx="3017520" cy="164592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Brakes work</a:t>
            </a:r>
          </a:p>
          <a:p>
            <a:pPr algn="l">
              <a:lnSpc>
                <a:spcPct val="105000"/>
              </a:lnSpc>
              <a:spcAft>
                <a:spcPts val="400"/>
              </a:spcAft>
            </a:pPr>
            <a:r>
              <a:rPr sz="1200" b="0" i="0">
                <a:solidFill>
                  <a:srgbClr val="5B5F68"/>
                </a:solidFill>
                <a:latin typeface="Segoe UI"/>
              </a:rPr>
              <a:t>Depth 12: train 0.999, validation drops. min_child_weight and gamma pull the two lines back together.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22" presetClass="entr" presetSubtype="8"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wipe(left)">
                                      <p:cBhvr>
                                        <p:cTn id="6" dur="700"/>
                                        <p:tgtEl>
                                          <p:spTgt spid="2"/>
                                        </p:tgtEl>
                                      </p:cBhvr>
                                    </p:animEffect>
                                  </p:childTnLst>
                                </p:cTn>
                              </p:par>
                            </p:childTnLst>
                          </p:cTn>
                        </p:par>
                        <p:par>
                          <p:cTn id="11" fill="hold">
                            <p:stCondLst>
                              <p:cond delay="150"/>
                            </p:stCondLst>
                            <p:childTnLst>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7" fill="hold">
                            <p:stCondLst>
                              <p:cond delay="450"/>
                            </p:stCondLst>
                            <p:childTnLst>
                              <p:par>
                                <p:cTn id="12" presetID="53" presetClass="entr" presetSubtype="16"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50"/>
                                        <p:tgtEl>
                                          <p:spTgt spid="4"/>
                                        </p:tgtEl>
                                      </p:cBhvr>
                                    </p:animEffect>
                                    <p:anim calcmode="lin" valueType="num">
                                      <p:cBhvr>
                                        <p:cTn id="15" dur="550" fill="hold"/>
                                        <p:tgtEl>
                                          <p:spTgt spid="4"/>
                                        </p:tgtEl>
                                        <p:attrNameLst>
                                          <p:attrName>ppt_w</p:attrName>
                                        </p:attrNameLst>
                                      </p:cBhvr>
                                      <p:tavLst>
                                        <p:tav tm="0">
                                          <p:val>
                                            <p:strVal val="#ppt_w*0.8"/>
                                          </p:val>
                                        </p:tav>
                                        <p:tav tm="100000">
                                          <p:val>
                                            <p:strVal val="#ppt_w"/>
                                          </p:val>
                                        </p:tav>
                                      </p:tavLst>
                                    </p:anim>
                                    <p:anim calcmode="lin" valueType="num">
                                      <p:cBhvr>
                                        <p:cTn id="16" dur="550" fill="hold"/>
                                        <p:tgtEl>
                                          <p:spTgt spid="4"/>
                                        </p:tgtEl>
                                        <p:attrNameLst>
                                          <p:attrName>ppt_h</p:attrName>
                                        </p:attrNameLst>
                                      </p:cBhvr>
                                      <p:tavLst>
                                        <p:tav tm="0">
                                          <p:val>
                                            <p:strVal val="#ppt_h*0.8"/>
                                          </p:val>
                                        </p:tav>
                                        <p:tav tm="100000">
                                          <p:val>
                                            <p:strVal val="#ppt_h"/>
                                          </p:val>
                                        </p:tav>
                                      </p:tavLst>
                                    </p:anim>
                                  </p:childTnLst>
                                </p:cTn>
                              </p:par>
                            </p:childTnLst>
                          </p:cTn>
                        </p:par>
                      </p:childTnLst>
                    </p:cTn>
                  </p:par>
                  <p:par>
                    <p:cTn id="18" fill="hold">
                      <p:stCondLst>
                        <p:cond delay="indefinite"/>
                      </p:stCondLst>
                      <p:childTnLst>
                        <p:par>
                          <p:cTn id="23"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50"/>
                                        <p:tgtEl>
                                          <p:spTgt spid="5"/>
                                        </p:tgtEl>
                                      </p:cBhvr>
                                    </p:animEffect>
                                    <p:anim calcmode="lin" valueType="num">
                                      <p:cBhvr>
                                        <p:cTn id="22" dur="650" fill="hold"/>
                                        <p:tgtEl>
                                          <p:spTgt spid="5"/>
                                        </p:tgtEl>
                                        <p:attrNameLst>
                                          <p:attrName>ppt_y</p:attrName>
                                        </p:attrNameLst>
                                      </p:cBhvr>
                                      <p:tavLst>
                                        <p:tav tm="0">
                                          <p:val>
                                            <p:strVal val="#ppt_y+0.06"/>
                                          </p:val>
                                        </p:tav>
                                        <p:tav tm="100000">
                                          <p:val>
                                            <p:strVal val="#ppt_y"/>
                                          </p:val>
                                        </p:tav>
                                      </p:tavLst>
                                    </p:anim>
                                  </p:childTnLst>
                                </p:cTn>
                              </p:par>
                            </p:childTnLst>
                          </p:cTn>
                        </p:par>
                      </p:childTnLst>
                    </p:cTn>
                  </p:par>
                  <p:par>
                    <p:cTn id="24" fill="hold">
                      <p:stCondLst>
                        <p:cond delay="indefinite"/>
                      </p:stCondLst>
                      <p:childTnLst>
                        <p:par>
                          <p:cTn id="29"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50"/>
                                        <p:tgtEl>
                                          <p:spTgt spid="6"/>
                                        </p:tgtEl>
                                      </p:cBhvr>
                                    </p:animEffect>
                                    <p:anim calcmode="lin" valueType="num">
                                      <p:cBhvr>
                                        <p:cTn id="28" dur="650" fill="hold"/>
                                        <p:tgtEl>
                                          <p:spTgt spid="6"/>
                                        </p:tgtEl>
                                        <p:attrNameLst>
                                          <p:attrName>ppt_y</p:attrName>
                                        </p:attrNameLst>
                                      </p:cBhvr>
                                      <p:tavLst>
                                        <p:tav tm="0">
                                          <p:val>
                                            <p:strVal val="#ppt_y+0.06"/>
                                          </p:val>
                                        </p:tav>
                                        <p:tav tm="100000">
                                          <p:val>
                                            <p:strVal val="#ppt_y"/>
                                          </p:val>
                                        </p:tav>
                                      </p:tavLst>
                                    </p:anim>
                                  </p:childTnLst>
                                </p:cTn>
                              </p:par>
                            </p:childTnLst>
                          </p:cTn>
                        </p:par>
                      </p:childTnLst>
                    </p:cTn>
                  </p:par>
                  <p:par>
                    <p:cTn id="30" fill="hold">
                      <p:stCondLst>
                        <p:cond delay="indefinite"/>
                      </p:stCondLst>
                      <p:childTnLst>
                        <p:par>
                          <p:cTn id="35"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50"/>
                                        <p:tgtEl>
                                          <p:spTgt spid="7"/>
                                        </p:tgtEl>
                                      </p:cBhvr>
                                    </p:animEffect>
                                    <p:anim calcmode="lin" valueType="num">
                                      <p:cBhvr>
                                        <p:cTn id="34" dur="650" fill="hold"/>
                                        <p:tgtEl>
                                          <p:spTgt spid="7"/>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502920"/>
            <a:ext cx="3840480" cy="82296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Great power comes</a:t>
            </a:r>
          </a:p>
          <a:p>
            <a:pPr algn="l">
              <a:lnSpc>
                <a:spcPct val="100000"/>
              </a:lnSpc>
              <a:spcAft>
                <a:spcPts val="0"/>
              </a:spcAft>
            </a:pPr>
            <a:r>
              <a:rPr sz="1800" b="0" i="0">
                <a:solidFill>
                  <a:srgbClr val="262A33"/>
                </a:solidFill>
                <a:latin typeface="Segoe UI"/>
              </a:rPr>
              <a:t>with great complexity</a:t>
            </a:r>
          </a:p>
        </p:txBody>
      </p:sp>
      <p:pic>
        <p:nvPicPr>
          <p:cNvPr id="3" name="Picture 2" descr="dots.png"/>
          <p:cNvPicPr>
            <a:picLocks noChangeAspect="1"/>
          </p:cNvPicPr>
          <p:nvPr/>
        </p:nvPicPr>
        <p:blipFill>
          <a:blip r:embed="rId2"/>
          <a:stretch>
            <a:fillRect/>
          </a:stretch>
        </p:blipFill>
        <p:spPr>
          <a:xfrm>
            <a:off x="4297680" y="502920"/>
            <a:ext cx="1645920" cy="868680"/>
          </a:xfrm>
          <a:prstGeom prst="rect">
            <a:avLst/>
          </a:prstGeom>
        </p:spPr>
      </p:pic>
      <p:pic>
        <p:nvPicPr>
          <p:cNvPr id="4" name="Picture 3" descr="paper_speed.png"/>
          <p:cNvPicPr>
            <a:picLocks noChangeAspect="1"/>
          </p:cNvPicPr>
          <p:nvPr/>
        </p:nvPicPr>
        <p:blipFill>
          <a:blip r:embed="rId3"/>
          <a:stretch>
            <a:fillRect/>
          </a:stretch>
        </p:blipFill>
        <p:spPr>
          <a:xfrm>
            <a:off x="548640" y="1474470"/>
            <a:ext cx="5120640" cy="2080260"/>
          </a:xfrm>
          <a:prstGeom prst="rect">
            <a:avLst/>
          </a:prstGeom>
        </p:spPr>
      </p:pic>
      <p:pic>
        <p:nvPicPr>
          <p:cNvPr id="5" name="Picture 4" descr="complexity.png"/>
          <p:cNvPicPr>
            <a:picLocks noChangeAspect="1"/>
          </p:cNvPicPr>
          <p:nvPr/>
        </p:nvPicPr>
        <p:blipFill>
          <a:blip r:embed="rId4"/>
          <a:stretch>
            <a:fillRect/>
          </a:stretch>
        </p:blipFill>
        <p:spPr>
          <a:xfrm>
            <a:off x="548640" y="3707476"/>
            <a:ext cx="4297680" cy="2734887"/>
          </a:xfrm>
          <a:prstGeom prst="rect">
            <a:avLst/>
          </a:prstGeom>
        </p:spPr>
      </p:pic>
      <p:sp>
        <p:nvSpPr>
          <p:cNvPr id="6" name="TextBox 5"/>
          <p:cNvSpPr txBox="1"/>
          <p:nvPr/>
        </p:nvSpPr>
        <p:spPr>
          <a:xfrm>
            <a:off x="6309360" y="822960"/>
            <a:ext cx="5486400" cy="2377440"/>
          </a:xfrm>
          <a:prstGeom prst="rect">
            <a:avLst/>
          </a:prstGeom>
          <a:noFill/>
        </p:spPr>
        <p:txBody>
          <a:bodyPr wrap="square" lIns="0" rIns="0" tIns="0" bIns="0" anchor="b">
            <a:spAutoFit/>
          </a:bodyPr>
          <a:lstStyle/>
          <a:p>
            <a:pPr algn="l">
              <a:lnSpc>
                <a:spcPct val="88000"/>
              </a:lnSpc>
              <a:spcAft>
                <a:spcPts val="0"/>
              </a:spcAft>
            </a:pPr>
            <a:r>
              <a:rPr sz="5600" b="0" i="0">
                <a:solidFill>
                  <a:srgbClr val="262A33"/>
                </a:solidFill>
                <a:latin typeface="Bahnschrift Light"/>
              </a:rPr>
              <a:t>STRENGTHS &amp;</a:t>
            </a:r>
          </a:p>
          <a:p>
            <a:pPr algn="l">
              <a:lnSpc>
                <a:spcPct val="88000"/>
              </a:lnSpc>
              <a:spcAft>
                <a:spcPts val="0"/>
              </a:spcAft>
            </a:pPr>
            <a:r>
              <a:rPr sz="5600" b="0" i="0">
                <a:solidFill>
                  <a:srgbClr val="262A33"/>
                </a:solidFill>
                <a:latin typeface="Bahnschrift Light"/>
              </a:rPr>
              <a:t>LIMITATIONS</a:t>
            </a:r>
          </a:p>
        </p:txBody>
      </p:sp>
      <p:sp>
        <p:nvSpPr>
          <p:cNvPr id="7" name="TextBox 6"/>
          <p:cNvSpPr txBox="1"/>
          <p:nvPr/>
        </p:nvSpPr>
        <p:spPr>
          <a:xfrm>
            <a:off x="6355080" y="3429000"/>
            <a:ext cx="2514600" cy="301752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Strengths</a:t>
            </a:r>
          </a:p>
          <a:p>
            <a:pPr algn="l">
              <a:lnSpc>
                <a:spcPct val="105000"/>
              </a:lnSpc>
              <a:spcAft>
                <a:spcPts val="400"/>
              </a:spcAft>
            </a:pPr>
            <a:r>
              <a:rPr sz="1200" b="0" i="0">
                <a:solidFill>
                  <a:srgbClr val="5B5F68"/>
                </a:solidFill>
                <a:latin typeface="Segoe UI"/>
              </a:rPr>
              <a:t>Top accuracy on tabular data</a:t>
            </a:r>
          </a:p>
          <a:p>
            <a:pPr algn="l">
              <a:lnSpc>
                <a:spcPct val="105000"/>
              </a:lnSpc>
              <a:spcAft>
                <a:spcPts val="400"/>
              </a:spcAft>
            </a:pPr>
            <a:r>
              <a:rPr sz="1200" b="0" i="0">
                <a:solidFill>
                  <a:srgbClr val="5B5F68"/>
                </a:solidFill>
                <a:latin typeface="Segoe UI"/>
              </a:rPr>
              <a:t>Very fast (multithreaded, histograms)</a:t>
            </a:r>
          </a:p>
          <a:p>
            <a:pPr algn="l">
              <a:lnSpc>
                <a:spcPct val="105000"/>
              </a:lnSpc>
              <a:spcAft>
                <a:spcPts val="400"/>
              </a:spcAft>
            </a:pPr>
            <a:r>
              <a:rPr sz="1200" b="0" i="0">
                <a:solidFill>
                  <a:srgbClr val="5B5F68"/>
                </a:solidFill>
                <a:latin typeface="Segoe UI"/>
              </a:rPr>
              <a:t>Handles missing values natively</a:t>
            </a:r>
          </a:p>
          <a:p>
            <a:pPr algn="l">
              <a:lnSpc>
                <a:spcPct val="105000"/>
              </a:lnSpc>
              <a:spcAft>
                <a:spcPts val="400"/>
              </a:spcAft>
            </a:pPr>
            <a:r>
              <a:rPr sz="1200" b="0" i="0">
                <a:solidFill>
                  <a:srgbClr val="5B5F68"/>
                </a:solidFill>
                <a:latin typeface="Segoe UI"/>
              </a:rPr>
              <a:t>No scaling needed</a:t>
            </a:r>
          </a:p>
          <a:p>
            <a:pPr algn="l">
              <a:lnSpc>
                <a:spcPct val="105000"/>
              </a:lnSpc>
              <a:spcAft>
                <a:spcPts val="400"/>
              </a:spcAft>
            </a:pPr>
            <a:r>
              <a:rPr sz="1200" b="0" i="0">
                <a:solidFill>
                  <a:srgbClr val="5B5F68"/>
                </a:solidFill>
                <a:latin typeface="Segoe UI"/>
              </a:rPr>
              <a:t>Built-in regularization</a:t>
            </a:r>
          </a:p>
          <a:p>
            <a:pPr algn="l">
              <a:lnSpc>
                <a:spcPct val="105000"/>
              </a:lnSpc>
              <a:spcAft>
                <a:spcPts val="400"/>
              </a:spcAft>
            </a:pPr>
            <a:r>
              <a:rPr sz="1200" b="0" i="0">
                <a:solidFill>
                  <a:srgbClr val="5B5F68"/>
                </a:solidFill>
                <a:latin typeface="Segoe UI"/>
              </a:rPr>
              <a:t>Explainable with SHAP</a:t>
            </a:r>
          </a:p>
        </p:txBody>
      </p:sp>
      <p:sp>
        <p:nvSpPr>
          <p:cNvPr id="8" name="TextBox 7"/>
          <p:cNvSpPr txBox="1"/>
          <p:nvPr/>
        </p:nvSpPr>
        <p:spPr>
          <a:xfrm>
            <a:off x="9098280" y="3429000"/>
            <a:ext cx="2514600" cy="301752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Limitations</a:t>
            </a:r>
          </a:p>
          <a:p>
            <a:pPr algn="l">
              <a:lnSpc>
                <a:spcPct val="105000"/>
              </a:lnSpc>
              <a:spcAft>
                <a:spcPts val="400"/>
              </a:spcAft>
            </a:pPr>
            <a:r>
              <a:rPr sz="1200" b="0" i="0">
                <a:solidFill>
                  <a:srgbClr val="5B5F68"/>
                </a:solidFill>
                <a:latin typeface="Segoe UI"/>
              </a:rPr>
              <a:t>Many hyperparameters to tune</a:t>
            </a:r>
          </a:p>
          <a:p>
            <a:pPr algn="l">
              <a:lnSpc>
                <a:spcPct val="105000"/>
              </a:lnSpc>
              <a:spcAft>
                <a:spcPts val="400"/>
              </a:spcAft>
            </a:pPr>
            <a:r>
              <a:rPr sz="1200" b="0" i="0">
                <a:solidFill>
                  <a:srgbClr val="5B5F68"/>
                </a:solidFill>
                <a:latin typeface="Segoe UI"/>
              </a:rPr>
              <a:t>Can overfit without early stopping</a:t>
            </a:r>
          </a:p>
          <a:p>
            <a:pPr algn="l">
              <a:lnSpc>
                <a:spcPct val="105000"/>
              </a:lnSpc>
              <a:spcAft>
                <a:spcPts val="400"/>
              </a:spcAft>
            </a:pPr>
            <a:r>
              <a:rPr sz="1200" b="0" i="0">
                <a:solidFill>
                  <a:srgbClr val="5B5F68"/>
                </a:solidFill>
                <a:latin typeface="Segoe UI"/>
              </a:rPr>
              <a:t>Hard to read hundreds of trees directly</a:t>
            </a:r>
          </a:p>
          <a:p>
            <a:pPr algn="l">
              <a:lnSpc>
                <a:spcPct val="105000"/>
              </a:lnSpc>
              <a:spcAft>
                <a:spcPts val="400"/>
              </a:spcAft>
            </a:pPr>
            <a:r>
              <a:rPr sz="1200" b="0" i="0">
                <a:solidFill>
                  <a:srgbClr val="5B5F68"/>
                </a:solidFill>
                <a:latin typeface="Segoe UI"/>
              </a:rPr>
              <a:t>Weak on images, audio, raw text</a:t>
            </a:r>
          </a:p>
          <a:p>
            <a:pPr algn="l">
              <a:lnSpc>
                <a:spcPct val="105000"/>
              </a:lnSpc>
              <a:spcAft>
                <a:spcPts val="400"/>
              </a:spcAft>
            </a:pPr>
            <a:r>
              <a:rPr sz="1200" b="0" i="0">
                <a:solidFill>
                  <a:srgbClr val="5B5F68"/>
                </a:solidFill>
                <a:latin typeface="Segoe UI"/>
              </a:rPr>
              <a:t>Cannot extrapolate beyond the training range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5" fill="hold">
                            <p:stCondLst>
                              <p:cond delay="450"/>
                            </p:stCondLst>
                            <p:childTnLst>
                              <p:par>
                                <p:cTn id="12" presetID="22" presetClass="entr" presetSubtype="8"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700"/>
                                        <p:tgtEl>
                                          <p:spTgt spid="6"/>
                                        </p:tgtEl>
                                      </p:cBhvr>
                                    </p:animEffect>
                                  </p:childTnLst>
                                </p:cTn>
                              </p:par>
                            </p:childTnLst>
                          </p:cTn>
                        </p:par>
                      </p:childTnLst>
                    </p:cTn>
                  </p:par>
                  <p:par>
                    <p:cTn id="16" fill="hold">
                      <p:stCondLst>
                        <p:cond delay="indefinite"/>
                      </p:stCondLst>
                      <p:childTnLst>
                        <p:par>
                          <p:cTn id="2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50"/>
                                        <p:tgtEl>
                                          <p:spTgt spid="4"/>
                                        </p:tgtEl>
                                      </p:cBhvr>
                                    </p:animEffect>
                                    <p:anim calcmode="lin" valueType="num">
                                      <p:cBhvr>
                                        <p:cTn id="20" dur="550" fill="hold"/>
                                        <p:tgtEl>
                                          <p:spTgt spid="4"/>
                                        </p:tgtEl>
                                        <p:attrNameLst>
                                          <p:attrName>ppt_w</p:attrName>
                                        </p:attrNameLst>
                                      </p:cBhvr>
                                      <p:tavLst>
                                        <p:tav tm="0">
                                          <p:val>
                                            <p:strVal val="#ppt_w*0.8"/>
                                          </p:val>
                                        </p:tav>
                                        <p:tav tm="100000">
                                          <p:val>
                                            <p:strVal val="#ppt_w"/>
                                          </p:val>
                                        </p:tav>
                                      </p:tavLst>
                                    </p:anim>
                                    <p:anim calcmode="lin" valueType="num">
                                      <p:cBhvr>
                                        <p:cTn id="21" dur="550" fill="hold"/>
                                        <p:tgtEl>
                                          <p:spTgt spid="4"/>
                                        </p:tgtEl>
                                        <p:attrNameLst>
                                          <p:attrName>ppt_h</p:attrName>
                                        </p:attrNameLst>
                                      </p:cBhvr>
                                      <p:tavLst>
                                        <p:tav tm="0">
                                          <p:val>
                                            <p:strVal val="#ppt_h*0.8"/>
                                          </p:val>
                                        </p:tav>
                                        <p:tav tm="100000">
                                          <p:val>
                                            <p:strVal val="#ppt_h"/>
                                          </p:val>
                                        </p:tav>
                                      </p:tavLst>
                                    </p:anim>
                                  </p:childTnLst>
                                </p:cTn>
                              </p:par>
                              <p:par>
                                <p:cTn id="22" presetID="42"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50"/>
                                        <p:tgtEl>
                                          <p:spTgt spid="7"/>
                                        </p:tgtEl>
                                      </p:cBhvr>
                                    </p:animEffect>
                                    <p:anim calcmode="lin" valueType="num">
                                      <p:cBhvr>
                                        <p:cTn id="25" dur="650" fill="hold"/>
                                        <p:tgtEl>
                                          <p:spTgt spid="7"/>
                                        </p:tgtEl>
                                        <p:attrNameLst>
                                          <p:attrName>ppt_y</p:attrName>
                                        </p:attrNameLst>
                                      </p:cBhvr>
                                      <p:tavLst>
                                        <p:tav tm="0">
                                          <p:val>
                                            <p:strVal val="#ppt_y+0.06"/>
                                          </p:val>
                                        </p:tav>
                                        <p:tav tm="100000">
                                          <p:val>
                                            <p:strVal val="#ppt_y"/>
                                          </p:val>
                                        </p:tav>
                                      </p:tavLst>
                                    </p:anim>
                                  </p:childTnLst>
                                </p:cTn>
                              </p:par>
                            </p:childTnLst>
                          </p:cTn>
                        </p:par>
                      </p:childTnLst>
                    </p:cTn>
                  </p:par>
                  <p:par>
                    <p:cTn id="27" fill="hold">
                      <p:stCondLst>
                        <p:cond delay="indefinite"/>
                      </p:stCondLst>
                      <p:childTnLst>
                        <p:par>
                          <p:cTn id="3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50"/>
                                        <p:tgtEl>
                                          <p:spTgt spid="5"/>
                                        </p:tgtEl>
                                      </p:cBhvr>
                                    </p:animEffect>
                                    <p:anim calcmode="lin" valueType="num">
                                      <p:cBhvr>
                                        <p:cTn id="31" dur="550" fill="hold"/>
                                        <p:tgtEl>
                                          <p:spTgt spid="5"/>
                                        </p:tgtEl>
                                        <p:attrNameLst>
                                          <p:attrName>ppt_w</p:attrName>
                                        </p:attrNameLst>
                                      </p:cBhvr>
                                      <p:tavLst>
                                        <p:tav tm="0">
                                          <p:val>
                                            <p:strVal val="#ppt_w*0.8"/>
                                          </p:val>
                                        </p:tav>
                                        <p:tav tm="100000">
                                          <p:val>
                                            <p:strVal val="#ppt_w"/>
                                          </p:val>
                                        </p:tav>
                                      </p:tavLst>
                                    </p:anim>
                                    <p:anim calcmode="lin" valueType="num">
                                      <p:cBhvr>
                                        <p:cTn id="32" dur="550" fill="hold"/>
                                        <p:tgtEl>
                                          <p:spTgt spid="5"/>
                                        </p:tgtEl>
                                        <p:attrNameLst>
                                          <p:attrName>ppt_h</p:attrName>
                                        </p:attrNameLst>
                                      </p:cBhvr>
                                      <p:tavLst>
                                        <p:tav tm="0">
                                          <p:val>
                                            <p:strVal val="#ppt_h*0.8"/>
                                          </p:val>
                                        </p:tav>
                                        <p:tav tm="100000">
                                          <p:val>
                                            <p:strVal val="#ppt_h"/>
                                          </p:val>
                                        </p:tav>
                                      </p:tavLst>
                                    </p:anim>
                                  </p:childTnLst>
                                </p:cTn>
                              </p:par>
                              <p:par>
                                <p:cTn id="33" presetID="42"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650"/>
                                        <p:tgtEl>
                                          <p:spTgt spid="8"/>
                                        </p:tgtEl>
                                      </p:cBhvr>
                                    </p:animEffect>
                                    <p:anim calcmode="lin" valueType="num">
                                      <p:cBhvr>
                                        <p:cTn id="36" dur="650" fill="hold"/>
                                        <p:tgtEl>
                                          <p:spTgt spid="8"/>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502920"/>
            <a:ext cx="3291840" cy="164592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Great fit</a:t>
            </a:r>
          </a:p>
          <a:p>
            <a:pPr algn="l">
              <a:lnSpc>
                <a:spcPct val="105000"/>
              </a:lnSpc>
              <a:spcAft>
                <a:spcPts val="400"/>
              </a:spcAft>
            </a:pPr>
            <a:r>
              <a:rPr sz="1200" b="0" i="0">
                <a:solidFill>
                  <a:srgbClr val="5B5F68"/>
                </a:solidFill>
                <a:latin typeface="Segoe UI"/>
              </a:rPr>
              <a:t>Structured / tabular data, medium to large size, mixed numeric and categorical features, missing values, sparse data, imbalanced classes.</a:t>
            </a:r>
          </a:p>
        </p:txBody>
      </p:sp>
      <p:sp>
        <p:nvSpPr>
          <p:cNvPr id="3" name="TextBox 2"/>
          <p:cNvSpPr txBox="1"/>
          <p:nvPr/>
        </p:nvSpPr>
        <p:spPr>
          <a:xfrm>
            <a:off x="4343400" y="502920"/>
            <a:ext cx="3291840" cy="164592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Poor fit</a:t>
            </a:r>
          </a:p>
          <a:p>
            <a:pPr algn="l">
              <a:lnSpc>
                <a:spcPct val="105000"/>
              </a:lnSpc>
              <a:spcAft>
                <a:spcPts val="400"/>
              </a:spcAft>
            </a:pPr>
            <a:r>
              <a:rPr sz="1200" b="0" i="0">
                <a:solidFill>
                  <a:srgbClr val="5B5F68"/>
                </a:solidFill>
                <a:latin typeface="Segoe UI"/>
              </a:rPr>
              <a:t>Images, audio, raw text (deep learning wins), tiny datasets where a simple model is enough, tasks that need extrapolation.</a:t>
            </a:r>
          </a:p>
        </p:txBody>
      </p:sp>
      <p:pic>
        <p:nvPicPr>
          <p:cNvPr id="4" name="Picture 3" descr="ai_office.png"/>
          <p:cNvPicPr>
            <a:picLocks noChangeAspect="1"/>
          </p:cNvPicPr>
          <p:nvPr/>
        </p:nvPicPr>
        <p:blipFill>
          <a:blip r:embed="rId2"/>
          <a:stretch>
            <a:fillRect/>
          </a:stretch>
        </p:blipFill>
        <p:spPr>
          <a:xfrm>
            <a:off x="7818120" y="358976"/>
            <a:ext cx="3794760" cy="2391007"/>
          </a:xfrm>
          <a:prstGeom prst="rect">
            <a:avLst/>
          </a:prstGeom>
        </p:spPr>
      </p:pic>
      <p:pic>
        <p:nvPicPr>
          <p:cNvPr id="5" name="Picture 4" descr="dots.png"/>
          <p:cNvPicPr>
            <a:picLocks noChangeAspect="1"/>
          </p:cNvPicPr>
          <p:nvPr/>
        </p:nvPicPr>
        <p:blipFill>
          <a:blip r:embed="rId3"/>
          <a:stretch>
            <a:fillRect/>
          </a:stretch>
        </p:blipFill>
        <p:spPr>
          <a:xfrm>
            <a:off x="5760720" y="2148840"/>
            <a:ext cx="1645920" cy="868680"/>
          </a:xfrm>
          <a:prstGeom prst="rect">
            <a:avLst/>
          </a:prstGeom>
        </p:spPr>
      </p:pic>
      <p:sp>
        <p:nvSpPr>
          <p:cNvPr id="6" name="TextBox 5"/>
          <p:cNvSpPr txBox="1"/>
          <p:nvPr/>
        </p:nvSpPr>
        <p:spPr>
          <a:xfrm>
            <a:off x="685800" y="3063240"/>
            <a:ext cx="5029200" cy="1463040"/>
          </a:xfrm>
          <a:prstGeom prst="rect">
            <a:avLst/>
          </a:prstGeom>
          <a:noFill/>
        </p:spPr>
        <p:txBody>
          <a:bodyPr wrap="square" lIns="0" rIns="0" tIns="0" bIns="0" anchor="t">
            <a:spAutoFit/>
          </a:bodyPr>
          <a:lstStyle/>
          <a:p>
            <a:pPr algn="l">
              <a:spcAft>
                <a:spcPts val="400"/>
              </a:spcAft>
            </a:pPr>
            <a:r>
              <a:rPr sz="1800" b="0" i="0">
                <a:solidFill>
                  <a:srgbClr val="262A33"/>
                </a:solidFill>
                <a:latin typeface="Segoe UI"/>
              </a:rPr>
              <a:t>Fraud detection  ·  Credit scoring</a:t>
            </a:r>
          </a:p>
          <a:p>
            <a:pPr algn="l">
              <a:spcAft>
                <a:spcPts val="400"/>
              </a:spcAft>
            </a:pPr>
            <a:r>
              <a:rPr sz="1800" b="0" i="0">
                <a:solidFill>
                  <a:srgbClr val="262A33"/>
                </a:solidFill>
                <a:latin typeface="Segoe UI"/>
              </a:rPr>
              <a:t>Customer churn  ·  House prices</a:t>
            </a:r>
          </a:p>
          <a:p>
            <a:pPr algn="l">
              <a:spcAft>
                <a:spcPts val="400"/>
              </a:spcAft>
            </a:pPr>
            <a:r>
              <a:rPr sz="1800" b="0" i="0">
                <a:solidFill>
                  <a:srgbClr val="262A33"/>
                </a:solidFill>
                <a:latin typeface="Segoe UI"/>
              </a:rPr>
              <a:t>Search ranking  ·  Medical risk  ·  Physics</a:t>
            </a:r>
          </a:p>
        </p:txBody>
      </p:sp>
      <p:sp>
        <p:nvSpPr>
          <p:cNvPr id="7" name="TextBox 6"/>
          <p:cNvSpPr txBox="1"/>
          <p:nvPr/>
        </p:nvSpPr>
        <p:spPr>
          <a:xfrm>
            <a:off x="685800" y="4480560"/>
            <a:ext cx="7772400" cy="2011680"/>
          </a:xfrm>
          <a:prstGeom prst="rect">
            <a:avLst/>
          </a:prstGeom>
          <a:noFill/>
        </p:spPr>
        <p:txBody>
          <a:bodyPr wrap="square" lIns="0" rIns="0" tIns="0" bIns="0" anchor="b">
            <a:spAutoFit/>
          </a:bodyPr>
          <a:lstStyle/>
          <a:p>
            <a:pPr algn="l">
              <a:lnSpc>
                <a:spcPct val="88000"/>
              </a:lnSpc>
              <a:spcAft>
                <a:spcPts val="0"/>
              </a:spcAft>
            </a:pPr>
            <a:r>
              <a:rPr sz="6000" b="0" i="0">
                <a:solidFill>
                  <a:srgbClr val="262A33"/>
                </a:solidFill>
                <a:latin typeface="Bahnschrift Light"/>
              </a:rPr>
              <a:t>BEST USE CASES</a:t>
            </a:r>
          </a:p>
        </p:txBody>
      </p:sp>
      <p:sp>
        <p:nvSpPr>
          <p:cNvPr id="8" name="TextBox 7"/>
          <p:cNvSpPr txBox="1"/>
          <p:nvPr/>
        </p:nvSpPr>
        <p:spPr>
          <a:xfrm>
            <a:off x="7863840" y="3703320"/>
            <a:ext cx="3657600" cy="2377440"/>
          </a:xfrm>
          <a:prstGeom prst="rect">
            <a:avLst/>
          </a:prstGeom>
          <a:noFill/>
        </p:spPr>
        <p:txBody>
          <a:bodyPr wrap="square" lIns="0" rIns="0" tIns="0" bIns="0" anchor="t">
            <a:spAutoFit/>
          </a:bodyPr>
          <a:lstStyle/>
          <a:p>
            <a:pPr algn="l">
              <a:lnSpc>
                <a:spcPct val="95000"/>
              </a:lnSpc>
              <a:spcAft>
                <a:spcPts val="0"/>
              </a:spcAft>
            </a:pPr>
            <a:r>
              <a:rPr sz="2600" b="0" i="0">
                <a:solidFill>
                  <a:srgbClr val="B5543A"/>
                </a:solidFill>
                <a:latin typeface="Bahnschrift Light"/>
              </a:rPr>
              <a:t>“If your data fits in a spreadsheet, try XGBoost first.”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700"/>
                                        <p:tgtEl>
                                          <p:spTgt spid="7"/>
                                        </p:tgtEl>
                                      </p:cBhvr>
                                    </p:animEffect>
                                  </p:childTnLst>
                                </p:cTn>
                              </p:par>
                            </p:childTnLst>
                          </p:cTn>
                        </p:par>
                        <p:par>
                          <p:cTn id="17" fill="hold">
                            <p:stCondLst>
                              <p:cond delay="450"/>
                            </p:stCondLst>
                            <p:childTnLst>
                              <p:par>
                                <p:cTn id="12" presetID="53" presetClass="entr" presetSubtype="16"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50"/>
                                        <p:tgtEl>
                                          <p:spTgt spid="4"/>
                                        </p:tgtEl>
                                      </p:cBhvr>
                                    </p:animEffect>
                                    <p:anim calcmode="lin" valueType="num">
                                      <p:cBhvr>
                                        <p:cTn id="15" dur="550" fill="hold"/>
                                        <p:tgtEl>
                                          <p:spTgt spid="4"/>
                                        </p:tgtEl>
                                        <p:attrNameLst>
                                          <p:attrName>ppt_w</p:attrName>
                                        </p:attrNameLst>
                                      </p:cBhvr>
                                      <p:tavLst>
                                        <p:tav tm="0">
                                          <p:val>
                                            <p:strVal val="#ppt_w*0.8"/>
                                          </p:val>
                                        </p:tav>
                                        <p:tav tm="100000">
                                          <p:val>
                                            <p:strVal val="#ppt_w"/>
                                          </p:val>
                                        </p:tav>
                                      </p:tavLst>
                                    </p:anim>
                                    <p:anim calcmode="lin" valueType="num">
                                      <p:cBhvr>
                                        <p:cTn id="16" dur="550" fill="hold"/>
                                        <p:tgtEl>
                                          <p:spTgt spid="4"/>
                                        </p:tgtEl>
                                        <p:attrNameLst>
                                          <p:attrName>ppt_h</p:attrName>
                                        </p:attrNameLst>
                                      </p:cBhvr>
                                      <p:tavLst>
                                        <p:tav tm="0">
                                          <p:val>
                                            <p:strVal val="#ppt_h*0.8"/>
                                          </p:val>
                                        </p:tav>
                                        <p:tav tm="100000">
                                          <p:val>
                                            <p:strVal val="#ppt_h"/>
                                          </p:val>
                                        </p:tav>
                                      </p:tavLst>
                                    </p:anim>
                                  </p:childTnLst>
                                </p:cTn>
                              </p:par>
                            </p:childTnLst>
                          </p:cTn>
                        </p:par>
                      </p:childTnLst>
                    </p:cTn>
                  </p:par>
                  <p:par>
                    <p:cTn id="18" fill="hold">
                      <p:stCondLst>
                        <p:cond delay="indefinite"/>
                      </p:stCondLst>
                      <p:childTnLst>
                        <p:par>
                          <p:cTn id="23"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650"/>
                                        <p:tgtEl>
                                          <p:spTgt spid="2"/>
                                        </p:tgtEl>
                                      </p:cBhvr>
                                    </p:animEffect>
                                    <p:anim calcmode="lin" valueType="num">
                                      <p:cBhvr>
                                        <p:cTn id="22" dur="650" fill="hold"/>
                                        <p:tgtEl>
                                          <p:spTgt spid="2"/>
                                        </p:tgtEl>
                                        <p:attrNameLst>
                                          <p:attrName>ppt_y</p:attrName>
                                        </p:attrNameLst>
                                      </p:cBhvr>
                                      <p:tavLst>
                                        <p:tav tm="0">
                                          <p:val>
                                            <p:strVal val="#ppt_y+0.06"/>
                                          </p:val>
                                        </p:tav>
                                        <p:tav tm="100000">
                                          <p:val>
                                            <p:strVal val="#ppt_y"/>
                                          </p:val>
                                        </p:tav>
                                      </p:tavLst>
                                    </p:anim>
                                  </p:childTnLst>
                                </p:cTn>
                              </p:par>
                            </p:childTnLst>
                          </p:cTn>
                        </p:par>
                      </p:childTnLst>
                    </p:cTn>
                  </p:par>
                  <p:par>
                    <p:cTn id="24" fill="hold">
                      <p:stCondLst>
                        <p:cond delay="indefinite"/>
                      </p:stCondLst>
                      <p:childTnLst>
                        <p:par>
                          <p:cTn id="29"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650"/>
                                        <p:tgtEl>
                                          <p:spTgt spid="3"/>
                                        </p:tgtEl>
                                      </p:cBhvr>
                                    </p:animEffect>
                                    <p:anim calcmode="lin" valueType="num">
                                      <p:cBhvr>
                                        <p:cTn id="28" dur="650" fill="hold"/>
                                        <p:tgtEl>
                                          <p:spTgt spid="3"/>
                                        </p:tgtEl>
                                        <p:attrNameLst>
                                          <p:attrName>ppt_y</p:attrName>
                                        </p:attrNameLst>
                                      </p:cBhvr>
                                      <p:tavLst>
                                        <p:tav tm="0">
                                          <p:val>
                                            <p:strVal val="#ppt_y+0.06"/>
                                          </p:val>
                                        </p:tav>
                                        <p:tav tm="100000">
                                          <p:val>
                                            <p:strVal val="#ppt_y"/>
                                          </p:val>
                                        </p:tav>
                                      </p:tavLst>
                                    </p:anim>
                                  </p:childTnLst>
                                </p:cTn>
                              </p:par>
                            </p:childTnLst>
                          </p:cTn>
                        </p:par>
                      </p:childTnLst>
                    </p:cTn>
                  </p:par>
                  <p:par>
                    <p:cTn id="30" fill="hold">
                      <p:stCondLst>
                        <p:cond delay="indefinite"/>
                      </p:stCondLst>
                      <p:childTnLst>
                        <p:par>
                          <p:cTn id="34"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700"/>
                                        <p:tgtEl>
                                          <p:spTgt spid="6"/>
                                        </p:tgtEl>
                                      </p:cBhvr>
                                    </p:animEffect>
                                  </p:childTnLst>
                                </p:cTn>
                              </p:par>
                            </p:childTnLst>
                          </p:cTn>
                        </p:par>
                      </p:childTnLst>
                    </p:cTn>
                  </p:par>
                  <p:par>
                    <p:cTn id="35" fill="hold">
                      <p:stCondLst>
                        <p:cond delay="indefinite"/>
                      </p:stCondLst>
                      <p:childTnLst>
                        <p:par>
                          <p:cTn id="40"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650"/>
                                        <p:tgtEl>
                                          <p:spTgt spid="8"/>
                                        </p:tgtEl>
                                      </p:cBhvr>
                                    </p:animEffect>
                                    <p:anim calcmode="lin" valueType="num">
                                      <p:cBhvr>
                                        <p:cTn id="39" dur="650" fill="hold"/>
                                        <p:tgtEl>
                                          <p:spTgt spid="8"/>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502920"/>
            <a:ext cx="2926080" cy="82296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Same data,</a:t>
            </a:r>
          </a:p>
          <a:p>
            <a:pPr algn="l">
              <a:lnSpc>
                <a:spcPct val="100000"/>
              </a:lnSpc>
              <a:spcAft>
                <a:spcPts val="0"/>
              </a:spcAft>
            </a:pPr>
            <a:r>
              <a:rPr sz="1800" b="0" i="0">
                <a:solidFill>
                  <a:srgbClr val="262A33"/>
                </a:solidFill>
                <a:latin typeface="Segoe UI"/>
              </a:rPr>
              <a:t>same test set</a:t>
            </a:r>
          </a:p>
        </p:txBody>
      </p:sp>
      <p:pic>
        <p:nvPicPr>
          <p:cNvPr id="3" name="Picture 2" descr="dots.png"/>
          <p:cNvPicPr>
            <a:picLocks noChangeAspect="1"/>
          </p:cNvPicPr>
          <p:nvPr/>
        </p:nvPicPr>
        <p:blipFill>
          <a:blip r:embed="rId2"/>
          <a:stretch>
            <a:fillRect/>
          </a:stretch>
        </p:blipFill>
        <p:spPr>
          <a:xfrm>
            <a:off x="3931920" y="502920"/>
            <a:ext cx="1645920" cy="868680"/>
          </a:xfrm>
          <a:prstGeom prst="rect">
            <a:avLst/>
          </a:prstGeom>
        </p:spPr>
      </p:pic>
      <p:sp>
        <p:nvSpPr>
          <p:cNvPr id="4" name="TextBox 3"/>
          <p:cNvSpPr txBox="1"/>
          <p:nvPr/>
        </p:nvSpPr>
        <p:spPr>
          <a:xfrm>
            <a:off x="685800" y="1005840"/>
            <a:ext cx="7315200" cy="2194560"/>
          </a:xfrm>
          <a:prstGeom prst="rect">
            <a:avLst/>
          </a:prstGeom>
          <a:noFill/>
        </p:spPr>
        <p:txBody>
          <a:bodyPr wrap="square" lIns="0" rIns="0" tIns="0" bIns="0" anchor="b">
            <a:spAutoFit/>
          </a:bodyPr>
          <a:lstStyle/>
          <a:p>
            <a:pPr algn="l">
              <a:lnSpc>
                <a:spcPct val="88000"/>
              </a:lnSpc>
              <a:spcAft>
                <a:spcPts val="0"/>
              </a:spcAft>
            </a:pPr>
            <a:r>
              <a:rPr sz="5800" b="0" i="0">
                <a:solidFill>
                  <a:srgbClr val="262A33"/>
                </a:solidFill>
                <a:latin typeface="Bahnschrift Light"/>
              </a:rPr>
              <a:t>OUR BENCHMARK</a:t>
            </a:r>
          </a:p>
        </p:txBody>
      </p:sp>
      <p:pic>
        <p:nvPicPr>
          <p:cNvPr id="5" name="Picture 4" descr="21_model_comparison_auc_time.png"/>
          <p:cNvPicPr>
            <a:picLocks noChangeAspect="1"/>
          </p:cNvPicPr>
          <p:nvPr/>
        </p:nvPicPr>
        <p:blipFill>
          <a:blip r:embed="rId3"/>
          <a:stretch>
            <a:fillRect/>
          </a:stretch>
        </p:blipFill>
        <p:spPr>
          <a:xfrm>
            <a:off x="548640" y="3638427"/>
            <a:ext cx="6583680" cy="2141465"/>
          </a:xfrm>
          <a:prstGeom prst="rect">
            <a:avLst/>
          </a:prstGeom>
        </p:spPr>
      </p:pic>
      <p:graphicFrame>
        <p:nvGraphicFramePr>
          <p:cNvPr id="6" name="Table 5"/>
          <p:cNvGraphicFramePr>
            <a:graphicFrameLocks noGrp="1"/>
          </p:cNvGraphicFramePr>
          <p:nvPr/>
        </p:nvGraphicFramePr>
        <p:xfrm>
          <a:off x="7360920" y="3429000"/>
          <a:ext cx="4206240" cy="2651760"/>
        </p:xfrm>
        <a:graphic>
          <a:graphicData uri="http://schemas.openxmlformats.org/drawingml/2006/table">
            <a:tbl>
              <a:tblPr firstRow="1" bandRow="1">
                <a:tableStyleId>{5C22544A-7EE6-4342-B048-85BDC9FD1C3A}</a:tableStyleId>
              </a:tblPr>
              <a:tblGrid>
                <a:gridCol w="2194560"/>
                <a:gridCol w="914400"/>
                <a:gridCol w="1097280"/>
              </a:tblGrid>
              <a:tr h="378822">
                <a:tc>
                  <a:txBody>
                    <a:bodyPr/>
                    <a:lstStyle/>
                    <a:p>
                      <a:pPr algn="l"/>
                      <a:r>
                        <a:rPr sz="1200">
                          <a:solidFill>
                            <a:srgbClr val="E5E4E2"/>
                          </a:solidFill>
                          <a:latin typeface="Segoe UI Semibold"/>
                        </a:rPr>
                        <a:t>Model</a:t>
                      </a:r>
                    </a:p>
                  </a:txBody>
                  <a:tcPr>
                    <a:solidFill>
                      <a:srgbClr val="262A33"/>
                    </a:solidFill>
                  </a:tcPr>
                </a:tc>
                <a:tc>
                  <a:txBody>
                    <a:bodyPr/>
                    <a:lstStyle/>
                    <a:p>
                      <a:pPr algn="r"/>
                      <a:r>
                        <a:rPr sz="1200">
                          <a:solidFill>
                            <a:srgbClr val="E5E4E2"/>
                          </a:solidFill>
                          <a:latin typeface="Segoe UI Semibold"/>
                        </a:rPr>
                        <a:t>Test AUC</a:t>
                      </a:r>
                    </a:p>
                  </a:txBody>
                  <a:tcPr>
                    <a:solidFill>
                      <a:srgbClr val="262A33"/>
                    </a:solidFill>
                  </a:tcPr>
                </a:tc>
                <a:tc>
                  <a:txBody>
                    <a:bodyPr/>
                    <a:lstStyle/>
                    <a:p>
                      <a:pPr algn="r"/>
                      <a:r>
                        <a:rPr sz="1200">
                          <a:solidFill>
                            <a:srgbClr val="E5E4E2"/>
                          </a:solidFill>
                          <a:latin typeface="Segoe UI Semibold"/>
                        </a:rPr>
                        <a:t>Train time</a:t>
                      </a:r>
                    </a:p>
                  </a:txBody>
                  <a:tcPr>
                    <a:solidFill>
                      <a:srgbClr val="262A33"/>
                    </a:solidFill>
                  </a:tcPr>
                </a:tc>
              </a:tr>
              <a:tr h="378822">
                <a:tc>
                  <a:txBody>
                    <a:bodyPr/>
                    <a:lstStyle/>
                    <a:p>
                      <a:pPr algn="l"/>
                      <a:r>
                        <a:rPr sz="1200">
                          <a:solidFill>
                            <a:srgbClr val="262A33"/>
                          </a:solidFill>
                          <a:latin typeface="Segoe UI"/>
                        </a:rPr>
                        <a:t>XGBoost (tuned)</a:t>
                      </a:r>
                    </a:p>
                  </a:txBody>
                  <a:tcPr>
                    <a:solidFill>
                      <a:srgbClr val="E5E4E2"/>
                    </a:solidFill>
                  </a:tcPr>
                </a:tc>
                <a:tc>
                  <a:txBody>
                    <a:bodyPr/>
                    <a:lstStyle/>
                    <a:p>
                      <a:pPr algn="r"/>
                      <a:r>
                        <a:rPr sz="1200">
                          <a:solidFill>
                            <a:srgbClr val="262A33"/>
                          </a:solidFill>
                          <a:latin typeface="Segoe UI"/>
                        </a:rPr>
                        <a:t>0.911</a:t>
                      </a:r>
                    </a:p>
                  </a:txBody>
                  <a:tcPr>
                    <a:solidFill>
                      <a:srgbClr val="E5E4E2"/>
                    </a:solidFill>
                  </a:tcPr>
                </a:tc>
                <a:tc>
                  <a:txBody>
                    <a:bodyPr/>
                    <a:lstStyle/>
                    <a:p>
                      <a:pPr algn="r"/>
                      <a:r>
                        <a:rPr sz="1200">
                          <a:solidFill>
                            <a:srgbClr val="262A33"/>
                          </a:solidFill>
                          <a:latin typeface="Segoe UI"/>
                        </a:rPr>
                        <a:t>5.3 s</a:t>
                      </a:r>
                    </a:p>
                  </a:txBody>
                  <a:tcPr>
                    <a:solidFill>
                      <a:srgbClr val="E5E4E2"/>
                    </a:solidFill>
                  </a:tcPr>
                </a:tc>
              </a:tr>
              <a:tr h="378822">
                <a:tc>
                  <a:txBody>
                    <a:bodyPr/>
                    <a:lstStyle/>
                    <a:p>
                      <a:pPr algn="l"/>
                      <a:r>
                        <a:rPr sz="1200">
                          <a:solidFill>
                            <a:srgbClr val="262A33"/>
                          </a:solidFill>
                          <a:latin typeface="Segoe UI"/>
                        </a:rPr>
                        <a:t>XGBoost (300 trees)</a:t>
                      </a:r>
                    </a:p>
                  </a:txBody>
                  <a:tcPr>
                    <a:solidFill>
                      <a:srgbClr val="DAD9D6"/>
                    </a:solidFill>
                  </a:tcPr>
                </a:tc>
                <a:tc>
                  <a:txBody>
                    <a:bodyPr/>
                    <a:lstStyle/>
                    <a:p>
                      <a:pPr algn="r"/>
                      <a:r>
                        <a:rPr sz="1200">
                          <a:solidFill>
                            <a:srgbClr val="262A33"/>
                          </a:solidFill>
                          <a:latin typeface="Segoe UI"/>
                        </a:rPr>
                        <a:t>0.910</a:t>
                      </a:r>
                    </a:p>
                  </a:txBody>
                  <a:tcPr>
                    <a:solidFill>
                      <a:srgbClr val="DAD9D6"/>
                    </a:solidFill>
                  </a:tcPr>
                </a:tc>
                <a:tc>
                  <a:txBody>
                    <a:bodyPr/>
                    <a:lstStyle/>
                    <a:p>
                      <a:pPr algn="r"/>
                      <a:r>
                        <a:rPr sz="1200">
                          <a:solidFill>
                            <a:srgbClr val="262A33"/>
                          </a:solidFill>
                          <a:latin typeface="Segoe UI"/>
                        </a:rPr>
                        <a:t>0.8 s</a:t>
                      </a:r>
                    </a:p>
                  </a:txBody>
                  <a:tcPr>
                    <a:solidFill>
                      <a:srgbClr val="DAD9D6"/>
                    </a:solidFill>
                  </a:tcPr>
                </a:tc>
              </a:tr>
              <a:tr h="378822">
                <a:tc>
                  <a:txBody>
                    <a:bodyPr/>
                    <a:lstStyle/>
                    <a:p>
                      <a:pPr algn="l"/>
                      <a:r>
                        <a:rPr sz="1200">
                          <a:solidFill>
                            <a:srgbClr val="262A33"/>
                          </a:solidFill>
                          <a:latin typeface="Segoe UI"/>
                        </a:rPr>
                        <a:t>LightGBM</a:t>
                      </a:r>
                    </a:p>
                  </a:txBody>
                  <a:tcPr>
                    <a:solidFill>
                      <a:srgbClr val="E5E4E2"/>
                    </a:solidFill>
                  </a:tcPr>
                </a:tc>
                <a:tc>
                  <a:txBody>
                    <a:bodyPr/>
                    <a:lstStyle/>
                    <a:p>
                      <a:pPr algn="r"/>
                      <a:r>
                        <a:rPr sz="1200">
                          <a:solidFill>
                            <a:srgbClr val="262A33"/>
                          </a:solidFill>
                          <a:latin typeface="Segoe UI"/>
                        </a:rPr>
                        <a:t>0.910</a:t>
                      </a:r>
                    </a:p>
                  </a:txBody>
                  <a:tcPr>
                    <a:solidFill>
                      <a:srgbClr val="E5E4E2"/>
                    </a:solidFill>
                  </a:tcPr>
                </a:tc>
                <a:tc>
                  <a:txBody>
                    <a:bodyPr/>
                    <a:lstStyle/>
                    <a:p>
                      <a:pPr algn="r"/>
                      <a:r>
                        <a:rPr sz="1200">
                          <a:solidFill>
                            <a:srgbClr val="262A33"/>
                          </a:solidFill>
                          <a:latin typeface="Segoe UI"/>
                        </a:rPr>
                        <a:t>0.7 s</a:t>
                      </a:r>
                    </a:p>
                  </a:txBody>
                  <a:tcPr>
                    <a:solidFill>
                      <a:srgbClr val="E5E4E2"/>
                    </a:solidFill>
                  </a:tcPr>
                </a:tc>
              </a:tr>
              <a:tr h="378822">
                <a:tc>
                  <a:txBody>
                    <a:bodyPr/>
                    <a:lstStyle/>
                    <a:p>
                      <a:pPr algn="l"/>
                      <a:r>
                        <a:rPr sz="1200">
                          <a:solidFill>
                            <a:srgbClr val="262A33"/>
                          </a:solidFill>
                          <a:latin typeface="Segoe UI"/>
                        </a:rPr>
                        <a:t>sklearn GBM</a:t>
                      </a:r>
                    </a:p>
                  </a:txBody>
                  <a:tcPr>
                    <a:solidFill>
                      <a:srgbClr val="DAD9D6"/>
                    </a:solidFill>
                  </a:tcPr>
                </a:tc>
                <a:tc>
                  <a:txBody>
                    <a:bodyPr/>
                    <a:lstStyle/>
                    <a:p>
                      <a:pPr algn="r"/>
                      <a:r>
                        <a:rPr sz="1200">
                          <a:solidFill>
                            <a:srgbClr val="262A33"/>
                          </a:solidFill>
                          <a:latin typeface="Segoe UI"/>
                        </a:rPr>
                        <a:t>0.909</a:t>
                      </a:r>
                    </a:p>
                  </a:txBody>
                  <a:tcPr>
                    <a:solidFill>
                      <a:srgbClr val="DAD9D6"/>
                    </a:solidFill>
                  </a:tcPr>
                </a:tc>
                <a:tc>
                  <a:txBody>
                    <a:bodyPr/>
                    <a:lstStyle/>
                    <a:p>
                      <a:pPr algn="r"/>
                      <a:r>
                        <a:rPr sz="1200">
                          <a:solidFill>
                            <a:srgbClr val="B5543A"/>
                          </a:solidFill>
                          <a:latin typeface="Segoe UI"/>
                        </a:rPr>
                        <a:t>355 s</a:t>
                      </a:r>
                    </a:p>
                  </a:txBody>
                  <a:tcPr>
                    <a:solidFill>
                      <a:srgbClr val="DAD9D6"/>
                    </a:solidFill>
                  </a:tcPr>
                </a:tc>
              </a:tr>
              <a:tr h="378822">
                <a:tc>
                  <a:txBody>
                    <a:bodyPr/>
                    <a:lstStyle/>
                    <a:p>
                      <a:pPr algn="l"/>
                      <a:r>
                        <a:rPr sz="1200">
                          <a:solidFill>
                            <a:srgbClr val="262A33"/>
                          </a:solidFill>
                          <a:latin typeface="Segoe UI"/>
                        </a:rPr>
                        <a:t>Random Forest</a:t>
                      </a:r>
                    </a:p>
                  </a:txBody>
                  <a:tcPr>
                    <a:solidFill>
                      <a:srgbClr val="E5E4E2"/>
                    </a:solidFill>
                  </a:tcPr>
                </a:tc>
                <a:tc>
                  <a:txBody>
                    <a:bodyPr/>
                    <a:lstStyle/>
                    <a:p>
                      <a:pPr algn="r"/>
                      <a:r>
                        <a:rPr sz="1200">
                          <a:solidFill>
                            <a:srgbClr val="262A33"/>
                          </a:solidFill>
                          <a:latin typeface="Segoe UI"/>
                        </a:rPr>
                        <a:t>0.905</a:t>
                      </a:r>
                    </a:p>
                  </a:txBody>
                  <a:tcPr>
                    <a:solidFill>
                      <a:srgbClr val="E5E4E2"/>
                    </a:solidFill>
                  </a:tcPr>
                </a:tc>
                <a:tc>
                  <a:txBody>
                    <a:bodyPr/>
                    <a:lstStyle/>
                    <a:p>
                      <a:pPr algn="r"/>
                      <a:r>
                        <a:rPr sz="1200">
                          <a:solidFill>
                            <a:srgbClr val="262A33"/>
                          </a:solidFill>
                          <a:latin typeface="Segoe UI"/>
                        </a:rPr>
                        <a:t>14.3 s</a:t>
                      </a:r>
                    </a:p>
                  </a:txBody>
                  <a:tcPr>
                    <a:solidFill>
                      <a:srgbClr val="E5E4E2"/>
                    </a:solidFill>
                  </a:tcPr>
                </a:tc>
              </a:tr>
              <a:tr h="378828">
                <a:tc>
                  <a:txBody>
                    <a:bodyPr/>
                    <a:lstStyle/>
                    <a:p>
                      <a:pPr algn="l"/>
                      <a:r>
                        <a:rPr sz="1200">
                          <a:solidFill>
                            <a:srgbClr val="262A33"/>
                          </a:solidFill>
                          <a:latin typeface="Segoe UI"/>
                        </a:rPr>
                        <a:t>Logistic Regression</a:t>
                      </a:r>
                    </a:p>
                  </a:txBody>
                  <a:tcPr>
                    <a:solidFill>
                      <a:srgbClr val="DAD9D6"/>
                    </a:solidFill>
                  </a:tcPr>
                </a:tc>
                <a:tc>
                  <a:txBody>
                    <a:bodyPr/>
                    <a:lstStyle/>
                    <a:p>
                      <a:pPr algn="r"/>
                      <a:r>
                        <a:rPr sz="1200">
                          <a:solidFill>
                            <a:srgbClr val="262A33"/>
                          </a:solidFill>
                          <a:latin typeface="Segoe UI"/>
                        </a:rPr>
                        <a:t>0.812</a:t>
                      </a:r>
                    </a:p>
                  </a:txBody>
                  <a:tcPr>
                    <a:solidFill>
                      <a:srgbClr val="DAD9D6"/>
                    </a:solidFill>
                  </a:tcPr>
                </a:tc>
                <a:tc>
                  <a:txBody>
                    <a:bodyPr/>
                    <a:lstStyle/>
                    <a:p>
                      <a:pPr algn="r"/>
                      <a:r>
                        <a:rPr sz="1200">
                          <a:solidFill>
                            <a:srgbClr val="262A33"/>
                          </a:solidFill>
                          <a:latin typeface="Segoe UI"/>
                        </a:rPr>
                        <a:t>0.6 s</a:t>
                      </a:r>
                    </a:p>
                  </a:txBody>
                  <a:tcPr>
                    <a:solidFill>
                      <a:srgbClr val="DAD9D6"/>
                    </a:solidFill>
                  </a:tcPr>
                </a:tc>
              </a:tr>
            </a:tbl>
          </a:graphicData>
        </a:graphic>
      </p:graphicFrame>
      <p:sp>
        <p:nvSpPr>
          <p:cNvPr id="7" name="TextBox 6"/>
          <p:cNvSpPr txBox="1"/>
          <p:nvPr/>
        </p:nvSpPr>
        <p:spPr>
          <a:xfrm>
            <a:off x="9326880" y="685800"/>
            <a:ext cx="2377440" cy="1188720"/>
          </a:xfrm>
          <a:prstGeom prst="rect">
            <a:avLst/>
          </a:prstGeom>
          <a:noFill/>
        </p:spPr>
        <p:txBody>
          <a:bodyPr wrap="square" lIns="0" rIns="0" tIns="0" bIns="0" anchor="t">
            <a:spAutoFit/>
          </a:bodyPr>
          <a:lstStyle/>
          <a:p>
            <a:pPr algn="l">
              <a:lnSpc>
                <a:spcPct val="95000"/>
              </a:lnSpc>
              <a:spcAft>
                <a:spcPts val="0"/>
              </a:spcAft>
            </a:pPr>
            <a:r>
              <a:rPr sz="4800" b="0" i="0">
                <a:solidFill>
                  <a:srgbClr val="B5543A"/>
                </a:solidFill>
                <a:latin typeface="Bahnschrift Light"/>
              </a:rPr>
              <a:t>≈ 400×</a:t>
            </a:r>
          </a:p>
          <a:p>
            <a:pPr algn="l">
              <a:lnSpc>
                <a:spcPct val="95000"/>
              </a:lnSpc>
              <a:spcAft>
                <a:spcPts val="0"/>
              </a:spcAft>
            </a:pPr>
            <a:r>
              <a:rPr sz="1200" b="0" i="0">
                <a:solidFill>
                  <a:srgbClr val="5B5F68"/>
                </a:solidFill>
                <a:latin typeface="Segoe UI"/>
              </a:rPr>
              <a:t>faster than sklearn's classic
gradient boosting, same settings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5" fill="hold">
                            <p:stCondLst>
                              <p:cond delay="450"/>
                            </p:stCondLst>
                            <p:childTnLst>
                              <p:par>
                                <p:cTn id="12" presetID="22" presetClass="entr" presetSubtype="8"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700"/>
                                        <p:tgtEl>
                                          <p:spTgt spid="4"/>
                                        </p:tgtEl>
                                      </p:cBhvr>
                                    </p:animEffect>
                                  </p:childTnLst>
                                </p:cTn>
                              </p:par>
                            </p:childTnLst>
                          </p:cTn>
                        </p:par>
                      </p:childTnLst>
                    </p:cTn>
                  </p:par>
                  <p:par>
                    <p:cTn id="16" fill="hold">
                      <p:stCondLst>
                        <p:cond delay="indefinite"/>
                      </p:stCondLst>
                      <p:childTnLst>
                        <p:par>
                          <p:cTn id="22"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anim calcmode="lin" valueType="num">
                                      <p:cBhvr>
                                        <p:cTn id="20" dur="550" fill="hold"/>
                                        <p:tgtEl>
                                          <p:spTgt spid="5"/>
                                        </p:tgtEl>
                                        <p:attrNameLst>
                                          <p:attrName>ppt_w</p:attrName>
                                        </p:attrNameLst>
                                      </p:cBhvr>
                                      <p:tavLst>
                                        <p:tav tm="0">
                                          <p:val>
                                            <p:strVal val="#ppt_w*0.8"/>
                                          </p:val>
                                        </p:tav>
                                        <p:tav tm="100000">
                                          <p:val>
                                            <p:strVal val="#ppt_w"/>
                                          </p:val>
                                        </p:tav>
                                      </p:tavLst>
                                    </p:anim>
                                    <p:anim calcmode="lin" valueType="num">
                                      <p:cBhvr>
                                        <p:cTn id="21" dur="550" fill="hold"/>
                                        <p:tgtEl>
                                          <p:spTgt spid="5"/>
                                        </p:tgtEl>
                                        <p:attrNameLst>
                                          <p:attrName>ppt_h</p:attrName>
                                        </p:attrNameLst>
                                      </p:cBhvr>
                                      <p:tavLst>
                                        <p:tav tm="0">
                                          <p:val>
                                            <p:strVal val="#ppt_h*0.8"/>
                                          </p:val>
                                        </p:tav>
                                        <p:tav tm="100000">
                                          <p:val>
                                            <p:strVal val="#ppt_h"/>
                                          </p:val>
                                        </p:tav>
                                      </p:tavLst>
                                    </p:anim>
                                  </p:childTnLst>
                                </p:cTn>
                              </p:par>
                            </p:childTnLst>
                          </p:cTn>
                        </p:par>
                      </p:childTnLst>
                    </p:cTn>
                  </p:par>
                  <p:par>
                    <p:cTn id="23" fill="hold">
                      <p:stCondLst>
                        <p:cond delay="indefinite"/>
                      </p:stCondLst>
                      <p:childTnLst>
                        <p:par>
                          <p:cTn id="27"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800"/>
                                        <p:tgtEl>
                                          <p:spTgt spid="6"/>
                                        </p:tgtEl>
                                      </p:cBhvr>
                                    </p:animEffect>
                                  </p:childTnLst>
                                </p:cTn>
                              </p:par>
                            </p:childTnLst>
                          </p:cTn>
                        </p:par>
                      </p:childTnLst>
                    </p:cTn>
                  </p:par>
                  <p:par>
                    <p:cTn id="28" fill="hold">
                      <p:stCondLst>
                        <p:cond delay="indefinite"/>
                      </p:stCondLst>
                      <p:childTnLst>
                        <p:par>
                          <p:cTn id="34"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50"/>
                                        <p:tgtEl>
                                          <p:spTgt spid="7"/>
                                        </p:tgtEl>
                                      </p:cBhvr>
                                    </p:animEffect>
                                    <p:anim calcmode="lin" valueType="num">
                                      <p:cBhvr>
                                        <p:cTn id="32" dur="550" fill="hold"/>
                                        <p:tgtEl>
                                          <p:spTgt spid="7"/>
                                        </p:tgtEl>
                                        <p:attrNameLst>
                                          <p:attrName>ppt_w</p:attrName>
                                        </p:attrNameLst>
                                      </p:cBhvr>
                                      <p:tavLst>
                                        <p:tav tm="0">
                                          <p:val>
                                            <p:strVal val="#ppt_w*0.8"/>
                                          </p:val>
                                        </p:tav>
                                        <p:tav tm="100000">
                                          <p:val>
                                            <p:strVal val="#ppt_w"/>
                                          </p:val>
                                        </p:tav>
                                      </p:tavLst>
                                    </p:anim>
                                    <p:anim calcmode="lin" valueType="num">
                                      <p:cBhvr>
                                        <p:cTn id="33" dur="550" fill="hold"/>
                                        <p:tgtEl>
                                          <p:spTgt spid="7"/>
                                        </p:tgtEl>
                                        <p:attrNameLst>
                                          <p:attrName>ppt_h</p:attrName>
                                        </p:attrNameLst>
                                      </p:cBhvr>
                                      <p:tavLst>
                                        <p:tav tm="0">
                                          <p:val>
                                            <p:strVal val="#ppt_h*0.8"/>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411480"/>
            <a:ext cx="5486400" cy="365760"/>
          </a:xfrm>
          <a:prstGeom prst="rect">
            <a:avLst/>
          </a:prstGeom>
          <a:noFill/>
        </p:spPr>
        <p:txBody>
          <a:bodyPr wrap="square" lIns="0" rIns="0" tIns="0" bIns="0" anchor="t">
            <a:spAutoFit/>
          </a:bodyPr>
          <a:lstStyle/>
          <a:p>
            <a:pPr algn="l">
              <a:lnSpc>
                <a:spcPct val="100000"/>
              </a:lnSpc>
              <a:spcAft>
                <a:spcPts val="0"/>
              </a:spcAft>
            </a:pPr>
            <a:r>
              <a:rPr sz="1600" b="0" i="0">
                <a:solidFill>
                  <a:srgbClr val="262A33"/>
                </a:solidFill>
                <a:latin typeface="Segoe UI"/>
              </a:rPr>
              <a:t>XGBoost and the models presented today</a:t>
            </a:r>
          </a:p>
        </p:txBody>
      </p:sp>
      <p:sp>
        <p:nvSpPr>
          <p:cNvPr id="3" name="TextBox 2"/>
          <p:cNvSpPr txBox="1"/>
          <p:nvPr/>
        </p:nvSpPr>
        <p:spPr>
          <a:xfrm>
            <a:off x="685800" y="731520"/>
            <a:ext cx="8686800" cy="822960"/>
          </a:xfrm>
          <a:prstGeom prst="rect">
            <a:avLst/>
          </a:prstGeom>
          <a:noFill/>
        </p:spPr>
        <p:txBody>
          <a:bodyPr wrap="square" lIns="0" rIns="0" tIns="0" bIns="0" anchor="t">
            <a:spAutoFit/>
          </a:bodyPr>
          <a:lstStyle/>
          <a:p>
            <a:pPr algn="l">
              <a:lnSpc>
                <a:spcPct val="88000"/>
              </a:lnSpc>
              <a:spcAft>
                <a:spcPts val="0"/>
              </a:spcAft>
            </a:pPr>
            <a:r>
              <a:rPr sz="4400" b="0" i="0">
                <a:solidFill>
                  <a:srgbClr val="262A33"/>
                </a:solidFill>
                <a:latin typeface="Bahnschrift Light"/>
              </a:rPr>
              <a:t>MEET THE RIVALS</a:t>
            </a:r>
          </a:p>
        </p:txBody>
      </p:sp>
      <p:pic>
        <p:nvPicPr>
          <p:cNvPr id="4" name="Picture 3" descr="dots.png"/>
          <p:cNvPicPr>
            <a:picLocks noChangeAspect="1"/>
          </p:cNvPicPr>
          <p:nvPr/>
        </p:nvPicPr>
        <p:blipFill>
          <a:blip r:embed="rId2"/>
          <a:stretch>
            <a:fillRect/>
          </a:stretch>
        </p:blipFill>
        <p:spPr>
          <a:xfrm>
            <a:off x="9921240" y="365760"/>
            <a:ext cx="1645920" cy="868680"/>
          </a:xfrm>
          <a:prstGeom prst="rect">
            <a:avLst/>
          </a:prstGeom>
        </p:spPr>
      </p:pic>
      <p:graphicFrame>
        <p:nvGraphicFramePr>
          <p:cNvPr id="5" name="Table 4"/>
          <p:cNvGraphicFramePr>
            <a:graphicFrameLocks noGrp="1"/>
          </p:cNvGraphicFramePr>
          <p:nvPr/>
        </p:nvGraphicFramePr>
        <p:xfrm>
          <a:off x="548640" y="1600200"/>
          <a:ext cx="11091672" cy="4873752"/>
        </p:xfrm>
        <a:graphic>
          <a:graphicData uri="http://schemas.openxmlformats.org/drawingml/2006/table">
            <a:tbl>
              <a:tblPr firstRow="1" bandRow="1">
                <a:tableStyleId>{5C22544A-7EE6-4342-B048-85BDC9FD1C3A}</a:tableStyleId>
              </a:tblPr>
              <a:tblGrid>
                <a:gridCol w="1600200"/>
                <a:gridCol w="2377440"/>
                <a:gridCol w="2377440"/>
                <a:gridCol w="2377440"/>
                <a:gridCol w="2359152"/>
              </a:tblGrid>
              <a:tr h="548640">
                <a:tc>
                  <a:txBody>
                    <a:bodyPr/>
                    <a:lstStyle/>
                    <a:p>
                      <a:r>
                        <a:rPr sz="1300">
                          <a:solidFill>
                            <a:srgbClr val="E5E4E2"/>
                          </a:solidFill>
                          <a:latin typeface="Segoe UI Semibold"/>
                        </a:rPr>
                        <a:t/>
                      </a:r>
                    </a:p>
                  </a:txBody>
                  <a:tcPr marT="27432" marB="27432">
                    <a:solidFill>
                      <a:srgbClr val="262A33"/>
                    </a:solidFill>
                  </a:tcPr>
                </a:tc>
                <a:tc>
                  <a:txBody>
                    <a:bodyPr/>
                    <a:lstStyle/>
                    <a:p>
                      <a:r>
                        <a:rPr sz="1300">
                          <a:solidFill>
                            <a:srgbClr val="E5E4E2"/>
                          </a:solidFill>
                          <a:latin typeface="Segoe UI Semibold"/>
                        </a:rPr>
                        <a:t>XGBoost</a:t>
                      </a:r>
                    </a:p>
                    <a:p>
                      <a:r>
                        <a:rPr sz="850">
                          <a:solidFill>
                            <a:srgbClr val="EEEDEB"/>
                          </a:solidFill>
                          <a:latin typeface="Segoe UI"/>
                        </a:rPr>
                        <a:t>Chen &amp; Guestrin · 2014</a:t>
                      </a:r>
                    </a:p>
                  </a:txBody>
                  <a:tcPr marT="27432" marB="27432">
                    <a:solidFill>
                      <a:srgbClr val="B5543A"/>
                    </a:solidFill>
                  </a:tcPr>
                </a:tc>
                <a:tc>
                  <a:txBody>
                    <a:bodyPr/>
                    <a:lstStyle/>
                    <a:p>
                      <a:r>
                        <a:rPr sz="1300">
                          <a:solidFill>
                            <a:srgbClr val="E5E4E2"/>
                          </a:solidFill>
                          <a:latin typeface="Segoe UI Semibold"/>
                        </a:rPr>
                        <a:t>LightGBM</a:t>
                      </a:r>
                    </a:p>
                    <a:p>
                      <a:r>
                        <a:rPr sz="850">
                          <a:solidFill>
                            <a:srgbClr val="EEEDEB"/>
                          </a:solidFill>
                          <a:latin typeface="Segoe UI"/>
                        </a:rPr>
                        <a:t>Microsoft · 2016</a:t>
                      </a:r>
                    </a:p>
                  </a:txBody>
                  <a:tcPr marT="27432" marB="27432">
                    <a:solidFill>
                      <a:srgbClr val="262A33"/>
                    </a:solidFill>
                  </a:tcPr>
                </a:tc>
                <a:tc>
                  <a:txBody>
                    <a:bodyPr/>
                    <a:lstStyle/>
                    <a:p>
                      <a:r>
                        <a:rPr sz="1300">
                          <a:solidFill>
                            <a:srgbClr val="E5E4E2"/>
                          </a:solidFill>
                          <a:latin typeface="Segoe UI Semibold"/>
                        </a:rPr>
                        <a:t>CatBoost</a:t>
                      </a:r>
                    </a:p>
                    <a:p>
                      <a:r>
                        <a:rPr sz="850">
                          <a:solidFill>
                            <a:srgbClr val="EEEDEB"/>
                          </a:solidFill>
                          <a:latin typeface="Segoe UI"/>
                        </a:rPr>
                        <a:t>Yandex · 2017</a:t>
                      </a:r>
                    </a:p>
                  </a:txBody>
                  <a:tcPr marT="27432" marB="27432">
                    <a:solidFill>
                      <a:srgbClr val="262A33"/>
                    </a:solidFill>
                  </a:tcPr>
                </a:tc>
                <a:tc>
                  <a:txBody>
                    <a:bodyPr/>
                    <a:lstStyle/>
                    <a:p>
                      <a:r>
                        <a:rPr sz="1300">
                          <a:solidFill>
                            <a:srgbClr val="E5E4E2"/>
                          </a:solidFill>
                          <a:latin typeface="Segoe UI Semibold"/>
                        </a:rPr>
                        <a:t>Isolation Forest</a:t>
                      </a:r>
                    </a:p>
                    <a:p>
                      <a:r>
                        <a:rPr sz="850">
                          <a:solidFill>
                            <a:srgbClr val="EEEDEB"/>
                          </a:solidFill>
                          <a:latin typeface="Segoe UI"/>
                        </a:rPr>
                        <a:t>Liu, Ting &amp; Zhou · 2008</a:t>
                      </a:r>
                    </a:p>
                  </a:txBody>
                  <a:tcPr marT="27432" marB="27432">
                    <a:solidFill>
                      <a:srgbClr val="262A33"/>
                    </a:solidFill>
                  </a:tcPr>
                </a:tc>
              </a:tr>
              <a:tr h="393192">
                <a:tc>
                  <a:txBody>
                    <a:bodyPr wrap="square"/>
                    <a:lstStyle/>
                    <a:p>
                      <a:r>
                        <a:rPr sz="1000">
                          <a:solidFill>
                            <a:srgbClr val="262A33"/>
                          </a:solidFill>
                          <a:latin typeface="Segoe UI Semibold"/>
                        </a:rPr>
                        <a:t>Task</a:t>
                      </a:r>
                    </a:p>
                  </a:txBody>
                  <a:tcPr marT="22860" marB="22860" anchor="ctr">
                    <a:solidFill>
                      <a:srgbClr val="E5E4E2"/>
                    </a:solidFill>
                  </a:tcPr>
                </a:tc>
                <a:tc>
                  <a:txBody>
                    <a:bodyPr wrap="square"/>
                    <a:lstStyle/>
                    <a:p>
                      <a:r>
                        <a:rPr sz="950">
                          <a:solidFill>
                            <a:srgbClr val="262A33"/>
                          </a:solidFill>
                          <a:latin typeface="Segoe UI"/>
                        </a:rPr>
                        <a:t>Classification, regression, ranking</a:t>
                      </a:r>
                    </a:p>
                  </a:txBody>
                  <a:tcPr marT="22860" marB="22860" anchor="ctr">
                    <a:solidFill>
                      <a:srgbClr val="ECDFDA"/>
                    </a:solidFill>
                  </a:tcPr>
                </a:tc>
                <a:tc>
                  <a:txBody>
                    <a:bodyPr wrap="square"/>
                    <a:lstStyle/>
                    <a:p>
                      <a:r>
                        <a:rPr sz="950">
                          <a:solidFill>
                            <a:srgbClr val="262A33"/>
                          </a:solidFill>
                          <a:latin typeface="Segoe UI"/>
                        </a:rPr>
                        <a:t>Classification, regression, ranking</a:t>
                      </a:r>
                    </a:p>
                  </a:txBody>
                  <a:tcPr marT="22860" marB="22860" anchor="ctr">
                    <a:solidFill>
                      <a:srgbClr val="E5E4E2"/>
                    </a:solidFill>
                  </a:tcPr>
                </a:tc>
                <a:tc>
                  <a:txBody>
                    <a:bodyPr wrap="square"/>
                    <a:lstStyle/>
                    <a:p>
                      <a:r>
                        <a:rPr sz="950">
                          <a:solidFill>
                            <a:srgbClr val="262A33"/>
                          </a:solidFill>
                          <a:latin typeface="Segoe UI"/>
                        </a:rPr>
                        <a:t>Classification, regression, ranking</a:t>
                      </a:r>
                    </a:p>
                  </a:txBody>
                  <a:tcPr marT="22860" marB="22860" anchor="ctr">
                    <a:solidFill>
                      <a:srgbClr val="E5E4E2"/>
                    </a:solidFill>
                  </a:tcPr>
                </a:tc>
                <a:tc>
                  <a:txBody>
                    <a:bodyPr wrap="square"/>
                    <a:lstStyle/>
                    <a:p>
                      <a:r>
                        <a:rPr sz="950">
                          <a:solidFill>
                            <a:srgbClr val="B5543A"/>
                          </a:solidFill>
                          <a:latin typeface="Segoe UI"/>
                        </a:rPr>
                        <a:t>Anomaly detection (no labels)</a:t>
                      </a:r>
                    </a:p>
                  </a:txBody>
                  <a:tcPr marT="22860" marB="22860" anchor="ctr">
                    <a:solidFill>
                      <a:srgbClr val="E5E4E2"/>
                    </a:solidFill>
                  </a:tcPr>
                </a:tc>
              </a:tr>
              <a:tr h="393192">
                <a:tc>
                  <a:txBody>
                    <a:bodyPr wrap="square"/>
                    <a:lstStyle/>
                    <a:p>
                      <a:r>
                        <a:rPr sz="1000">
                          <a:solidFill>
                            <a:srgbClr val="262A33"/>
                          </a:solidFill>
                          <a:latin typeface="Segoe UI Semibold"/>
                        </a:rPr>
                        <a:t>Core idea</a:t>
                      </a:r>
                    </a:p>
                  </a:txBody>
                  <a:tcPr marT="22860" marB="22860" anchor="ctr">
                    <a:solidFill>
                      <a:srgbClr val="DAD9D6"/>
                    </a:solidFill>
                  </a:tcPr>
                </a:tc>
                <a:tc>
                  <a:txBody>
                    <a:bodyPr wrap="square"/>
                    <a:lstStyle/>
                    <a:p>
                      <a:r>
                        <a:rPr sz="950">
                          <a:solidFill>
                            <a:srgbClr val="262A33"/>
                          </a:solidFill>
                          <a:latin typeface="Segoe UI"/>
                        </a:rPr>
                        <a:t>Boosting, level-wise trees, uses g and h</a:t>
                      </a:r>
                    </a:p>
                  </a:txBody>
                  <a:tcPr marT="22860" marB="22860" anchor="ctr">
                    <a:solidFill>
                      <a:srgbClr val="ECDFDA"/>
                    </a:solidFill>
                  </a:tcPr>
                </a:tc>
                <a:tc>
                  <a:txBody>
                    <a:bodyPr wrap="square"/>
                    <a:lstStyle/>
                    <a:p>
                      <a:r>
                        <a:rPr sz="950">
                          <a:solidFill>
                            <a:srgbClr val="262A33"/>
                          </a:solidFill>
                          <a:latin typeface="Segoe UI"/>
                        </a:rPr>
                        <a:t>Boosting, leaf-wise trees, histograms + GOSS / EFB</a:t>
                      </a:r>
                    </a:p>
                  </a:txBody>
                  <a:tcPr marT="22860" marB="22860" anchor="ctr">
                    <a:solidFill>
                      <a:srgbClr val="DAD9D6"/>
                    </a:solidFill>
                  </a:tcPr>
                </a:tc>
                <a:tc>
                  <a:txBody>
                    <a:bodyPr wrap="square"/>
                    <a:lstStyle/>
                    <a:p>
                      <a:r>
                        <a:rPr sz="950">
                          <a:solidFill>
                            <a:srgbClr val="262A33"/>
                          </a:solidFill>
                          <a:latin typeface="Segoe UI"/>
                        </a:rPr>
                        <a:t>Boosting, symmetric trees, ordered boosting</a:t>
                      </a:r>
                    </a:p>
                  </a:txBody>
                  <a:tcPr marT="22860" marB="22860" anchor="ctr">
                    <a:solidFill>
                      <a:srgbClr val="DAD9D6"/>
                    </a:solidFill>
                  </a:tcPr>
                </a:tc>
                <a:tc>
                  <a:txBody>
                    <a:bodyPr wrap="square"/>
                    <a:lstStyle/>
                    <a:p>
                      <a:r>
                        <a:rPr sz="950">
                          <a:solidFill>
                            <a:srgbClr val="262A33"/>
                          </a:solidFill>
                          <a:latin typeface="Segoe UI"/>
                        </a:rPr>
                        <a:t>Random trees: outliers get isolated in fewer splits</a:t>
                      </a:r>
                    </a:p>
                  </a:txBody>
                  <a:tcPr marT="22860" marB="22860" anchor="ctr">
                    <a:solidFill>
                      <a:srgbClr val="DAD9D6"/>
                    </a:solidFill>
                  </a:tcPr>
                </a:tc>
              </a:tr>
              <a:tr h="393192">
                <a:tc>
                  <a:txBody>
                    <a:bodyPr wrap="square"/>
                    <a:lstStyle/>
                    <a:p>
                      <a:r>
                        <a:rPr sz="1000">
                          <a:solidFill>
                            <a:srgbClr val="262A33"/>
                          </a:solidFill>
                          <a:latin typeface="Segoe UI Semibold"/>
                        </a:rPr>
                        <a:t>Training time</a:t>
                      </a:r>
                    </a:p>
                  </a:txBody>
                  <a:tcPr marT="22860" marB="22860" anchor="ctr">
                    <a:solidFill>
                      <a:srgbClr val="E5E4E2"/>
                    </a:solidFill>
                  </a:tcPr>
                </a:tc>
                <a:tc>
                  <a:txBody>
                    <a:bodyPr wrap="square"/>
                    <a:lstStyle/>
                    <a:p>
                      <a:r>
                        <a:rPr sz="950">
                          <a:solidFill>
                            <a:srgbClr val="262A33"/>
                          </a:solidFill>
                          <a:latin typeface="Segoe UI"/>
                        </a:rPr>
                        <a:t>Fast (hist, multithreaded, GPU)</a:t>
                      </a:r>
                    </a:p>
                  </a:txBody>
                  <a:tcPr marT="22860" marB="22860" anchor="ctr">
                    <a:solidFill>
                      <a:srgbClr val="ECDFDA"/>
                    </a:solidFill>
                  </a:tcPr>
                </a:tc>
                <a:tc>
                  <a:txBody>
                    <a:bodyPr wrap="square"/>
                    <a:lstStyle/>
                    <a:p>
                      <a:r>
                        <a:rPr sz="950">
                          <a:solidFill>
                            <a:srgbClr val="262A33"/>
                          </a:solidFill>
                          <a:latin typeface="Segoe UI"/>
                        </a:rPr>
                        <a:t>Fastest on big data</a:t>
                      </a:r>
                    </a:p>
                  </a:txBody>
                  <a:tcPr marT="22860" marB="22860" anchor="ctr">
                    <a:solidFill>
                      <a:srgbClr val="E5E4E2"/>
                    </a:solidFill>
                  </a:tcPr>
                </a:tc>
                <a:tc>
                  <a:txBody>
                    <a:bodyPr wrap="square"/>
                    <a:lstStyle/>
                    <a:p>
                      <a:r>
                        <a:rPr sz="950">
                          <a:solidFill>
                            <a:srgbClr val="262A33"/>
                          </a:solidFill>
                          <a:latin typeface="Segoe UI"/>
                        </a:rPr>
                        <a:t>Slower to train, very fast to predict</a:t>
                      </a:r>
                    </a:p>
                  </a:txBody>
                  <a:tcPr marT="22860" marB="22860" anchor="ctr">
                    <a:solidFill>
                      <a:srgbClr val="E5E4E2"/>
                    </a:solidFill>
                  </a:tcPr>
                </a:tc>
                <a:tc>
                  <a:txBody>
                    <a:bodyPr wrap="square"/>
                    <a:lstStyle/>
                    <a:p>
                      <a:r>
                        <a:rPr sz="950">
                          <a:solidFill>
                            <a:srgbClr val="262A33"/>
                          </a:solidFill>
                          <a:latin typeface="Segoe UI"/>
                        </a:rPr>
                        <a:t>Very fast (small sub-samples)</a:t>
                      </a:r>
                    </a:p>
                  </a:txBody>
                  <a:tcPr marT="22860" marB="22860" anchor="ctr">
                    <a:solidFill>
                      <a:srgbClr val="E5E4E2"/>
                    </a:solidFill>
                  </a:tcPr>
                </a:tc>
              </a:tr>
              <a:tr h="393192">
                <a:tc>
                  <a:txBody>
                    <a:bodyPr wrap="square"/>
                    <a:lstStyle/>
                    <a:p>
                      <a:r>
                        <a:rPr sz="1000">
                          <a:solidFill>
                            <a:srgbClr val="262A33"/>
                          </a:solidFill>
                          <a:latin typeface="Segoe UI Semibold"/>
                        </a:rPr>
                        <a:t>Memory</a:t>
                      </a:r>
                    </a:p>
                  </a:txBody>
                  <a:tcPr marT="22860" marB="22860" anchor="ctr">
                    <a:solidFill>
                      <a:srgbClr val="DAD9D6"/>
                    </a:solidFill>
                  </a:tcPr>
                </a:tc>
                <a:tc>
                  <a:txBody>
                    <a:bodyPr wrap="square"/>
                    <a:lstStyle/>
                    <a:p>
                      <a:r>
                        <a:rPr sz="950">
                          <a:solidFill>
                            <a:srgbClr val="262A33"/>
                          </a:solidFill>
                          <a:latin typeface="Segoe UI"/>
                        </a:rPr>
                        <a:t>Medium</a:t>
                      </a:r>
                    </a:p>
                  </a:txBody>
                  <a:tcPr marT="22860" marB="22860" anchor="ctr">
                    <a:solidFill>
                      <a:srgbClr val="ECDFDA"/>
                    </a:solidFill>
                  </a:tcPr>
                </a:tc>
                <a:tc>
                  <a:txBody>
                    <a:bodyPr wrap="square"/>
                    <a:lstStyle/>
                    <a:p>
                      <a:r>
                        <a:rPr sz="950">
                          <a:solidFill>
                            <a:srgbClr val="262A33"/>
                          </a:solidFill>
                          <a:latin typeface="Segoe UI"/>
                        </a:rPr>
                        <a:t>Low</a:t>
                      </a:r>
                    </a:p>
                  </a:txBody>
                  <a:tcPr marT="22860" marB="22860" anchor="ctr">
                    <a:solidFill>
                      <a:srgbClr val="DAD9D6"/>
                    </a:solidFill>
                  </a:tcPr>
                </a:tc>
                <a:tc>
                  <a:txBody>
                    <a:bodyPr wrap="square"/>
                    <a:lstStyle/>
                    <a:p>
                      <a:r>
                        <a:rPr sz="950">
                          <a:solidFill>
                            <a:srgbClr val="262A33"/>
                          </a:solidFill>
                          <a:latin typeface="Segoe UI"/>
                        </a:rPr>
                        <a:t>Medium-high</a:t>
                      </a:r>
                    </a:p>
                  </a:txBody>
                  <a:tcPr marT="22860" marB="22860" anchor="ctr">
                    <a:solidFill>
                      <a:srgbClr val="DAD9D6"/>
                    </a:solidFill>
                  </a:tcPr>
                </a:tc>
                <a:tc>
                  <a:txBody>
                    <a:bodyPr wrap="square"/>
                    <a:lstStyle/>
                    <a:p>
                      <a:r>
                        <a:rPr sz="950">
                          <a:solidFill>
                            <a:srgbClr val="262A33"/>
                          </a:solidFill>
                          <a:latin typeface="Segoe UI"/>
                        </a:rPr>
                        <a:t>Low</a:t>
                      </a:r>
                    </a:p>
                  </a:txBody>
                  <a:tcPr marT="22860" marB="22860" anchor="ctr">
                    <a:solidFill>
                      <a:srgbClr val="DAD9D6"/>
                    </a:solidFill>
                  </a:tcPr>
                </a:tc>
              </a:tr>
              <a:tr h="393192">
                <a:tc>
                  <a:txBody>
                    <a:bodyPr wrap="square"/>
                    <a:lstStyle/>
                    <a:p>
                      <a:r>
                        <a:rPr sz="1000">
                          <a:solidFill>
                            <a:srgbClr val="262A33"/>
                          </a:solidFill>
                          <a:latin typeface="Segoe UI Semibold"/>
                        </a:rPr>
                        <a:t>Model complexity</a:t>
                      </a:r>
                    </a:p>
                  </a:txBody>
                  <a:tcPr marT="22860" marB="22860" anchor="ctr">
                    <a:solidFill>
                      <a:srgbClr val="E5E4E2"/>
                    </a:solidFill>
                  </a:tcPr>
                </a:tc>
                <a:tc>
                  <a:txBody>
                    <a:bodyPr wrap="square"/>
                    <a:lstStyle/>
                    <a:p>
                      <a:r>
                        <a:rPr sz="950">
                          <a:solidFill>
                            <a:srgbClr val="262A33"/>
                          </a:solidFill>
                          <a:latin typeface="Segoe UI"/>
                        </a:rPr>
                        <a:t>High: many trees + regularization</a:t>
                      </a:r>
                    </a:p>
                  </a:txBody>
                  <a:tcPr marT="22860" marB="22860" anchor="ctr">
                    <a:solidFill>
                      <a:srgbClr val="ECDFDA"/>
                    </a:solidFill>
                  </a:tcPr>
                </a:tc>
                <a:tc>
                  <a:txBody>
                    <a:bodyPr wrap="square"/>
                    <a:lstStyle/>
                    <a:p>
                      <a:r>
                        <a:rPr sz="950">
                          <a:solidFill>
                            <a:srgbClr val="262A33"/>
                          </a:solidFill>
                          <a:latin typeface="Segoe UI"/>
                        </a:rPr>
                        <a:t>High: deep leaf-wise trees, can overfit small data</a:t>
                      </a:r>
                    </a:p>
                  </a:txBody>
                  <a:tcPr marT="22860" marB="22860" anchor="ctr">
                    <a:solidFill>
                      <a:srgbClr val="E5E4E2"/>
                    </a:solidFill>
                  </a:tcPr>
                </a:tc>
                <a:tc>
                  <a:txBody>
                    <a:bodyPr wrap="square"/>
                    <a:lstStyle/>
                    <a:p>
                      <a:r>
                        <a:rPr sz="950">
                          <a:solidFill>
                            <a:srgbClr val="262A33"/>
                          </a:solidFill>
                          <a:latin typeface="Segoe UI"/>
                        </a:rPr>
                        <a:t>High, but balanced trees</a:t>
                      </a:r>
                    </a:p>
                  </a:txBody>
                  <a:tcPr marT="22860" marB="22860" anchor="ctr">
                    <a:solidFill>
                      <a:srgbClr val="E5E4E2"/>
                    </a:solidFill>
                  </a:tcPr>
                </a:tc>
                <a:tc>
                  <a:txBody>
                    <a:bodyPr wrap="square"/>
                    <a:lstStyle/>
                    <a:p>
                      <a:r>
                        <a:rPr sz="950">
                          <a:solidFill>
                            <a:srgbClr val="262A33"/>
                          </a:solidFill>
                          <a:latin typeface="Segoe UI"/>
                        </a:rPr>
                        <a:t>Low: simple random trees</a:t>
                      </a:r>
                    </a:p>
                  </a:txBody>
                  <a:tcPr marT="22860" marB="22860" anchor="ctr">
                    <a:solidFill>
                      <a:srgbClr val="E5E4E2"/>
                    </a:solidFill>
                  </a:tcPr>
                </a:tc>
              </a:tr>
              <a:tr h="393192">
                <a:tc>
                  <a:txBody>
                    <a:bodyPr wrap="square"/>
                    <a:lstStyle/>
                    <a:p>
                      <a:r>
                        <a:rPr sz="1000">
                          <a:solidFill>
                            <a:srgbClr val="262A33"/>
                          </a:solidFill>
                          <a:latin typeface="Segoe UI Semibold"/>
                        </a:rPr>
                        <a:t>Categorical data</a:t>
                      </a:r>
                    </a:p>
                  </a:txBody>
                  <a:tcPr marT="22860" marB="22860" anchor="ctr">
                    <a:solidFill>
                      <a:srgbClr val="DAD9D6"/>
                    </a:solidFill>
                  </a:tcPr>
                </a:tc>
                <a:tc>
                  <a:txBody>
                    <a:bodyPr wrap="square"/>
                    <a:lstStyle/>
                    <a:p>
                      <a:r>
                        <a:rPr sz="950">
                          <a:solidFill>
                            <a:srgbClr val="262A33"/>
                          </a:solidFill>
                          <a:latin typeface="Segoe UI"/>
                        </a:rPr>
                        <a:t>Encode first (or enable_categorical)</a:t>
                      </a:r>
                    </a:p>
                  </a:txBody>
                  <a:tcPr marT="22860" marB="22860" anchor="ctr">
                    <a:solidFill>
                      <a:srgbClr val="ECDFDA"/>
                    </a:solidFill>
                  </a:tcPr>
                </a:tc>
                <a:tc>
                  <a:txBody>
                    <a:bodyPr wrap="square"/>
                    <a:lstStyle/>
                    <a:p>
                      <a:r>
                        <a:rPr sz="950">
                          <a:solidFill>
                            <a:srgbClr val="262A33"/>
                          </a:solidFill>
                          <a:latin typeface="Segoe UI"/>
                        </a:rPr>
                        <a:t>Native support</a:t>
                      </a:r>
                    </a:p>
                  </a:txBody>
                  <a:tcPr marT="22860" marB="22860" anchor="ctr">
                    <a:solidFill>
                      <a:srgbClr val="DAD9D6"/>
                    </a:solidFill>
                  </a:tcPr>
                </a:tc>
                <a:tc>
                  <a:txBody>
                    <a:bodyPr wrap="square"/>
                    <a:lstStyle/>
                    <a:p>
                      <a:r>
                        <a:rPr sz="950">
                          <a:solidFill>
                            <a:srgbClr val="262A33"/>
                          </a:solidFill>
                          <a:latin typeface="Segoe UI"/>
                        </a:rPr>
                        <a:t>Best in class (native target stats)</a:t>
                      </a:r>
                    </a:p>
                  </a:txBody>
                  <a:tcPr marT="22860" marB="22860" anchor="ctr">
                    <a:solidFill>
                      <a:srgbClr val="DAD9D6"/>
                    </a:solidFill>
                  </a:tcPr>
                </a:tc>
                <a:tc>
                  <a:txBody>
                    <a:bodyPr wrap="square"/>
                    <a:lstStyle/>
                    <a:p>
                      <a:r>
                        <a:rPr sz="950">
                          <a:solidFill>
                            <a:srgbClr val="262A33"/>
                          </a:solidFill>
                          <a:latin typeface="Segoe UI"/>
                        </a:rPr>
                        <a:t>Encode first</a:t>
                      </a:r>
                    </a:p>
                  </a:txBody>
                  <a:tcPr marT="22860" marB="22860" anchor="ctr">
                    <a:solidFill>
                      <a:srgbClr val="DAD9D6"/>
                    </a:solidFill>
                  </a:tcPr>
                </a:tc>
              </a:tr>
              <a:tr h="393192">
                <a:tc>
                  <a:txBody>
                    <a:bodyPr wrap="square"/>
                    <a:lstStyle/>
                    <a:p>
                      <a:r>
                        <a:rPr sz="1000">
                          <a:solidFill>
                            <a:srgbClr val="262A33"/>
                          </a:solidFill>
                          <a:latin typeface="Segoe UI Semibold"/>
                        </a:rPr>
                        <a:t>Missing values</a:t>
                      </a:r>
                    </a:p>
                  </a:txBody>
                  <a:tcPr marT="22860" marB="22860" anchor="ctr">
                    <a:solidFill>
                      <a:srgbClr val="E5E4E2"/>
                    </a:solidFill>
                  </a:tcPr>
                </a:tc>
                <a:tc>
                  <a:txBody>
                    <a:bodyPr wrap="square"/>
                    <a:lstStyle/>
                    <a:p>
                      <a:r>
                        <a:rPr sz="950">
                          <a:solidFill>
                            <a:srgbClr val="262A33"/>
                          </a:solidFill>
                          <a:latin typeface="Segoe UI"/>
                        </a:rPr>
                        <a:t>Native: learns a direction</a:t>
                      </a:r>
                    </a:p>
                  </a:txBody>
                  <a:tcPr marT="22860" marB="22860" anchor="ctr">
                    <a:solidFill>
                      <a:srgbClr val="ECDFDA"/>
                    </a:solidFill>
                  </a:tcPr>
                </a:tc>
                <a:tc>
                  <a:txBody>
                    <a:bodyPr wrap="square"/>
                    <a:lstStyle/>
                    <a:p>
                      <a:r>
                        <a:rPr sz="950">
                          <a:solidFill>
                            <a:srgbClr val="262A33"/>
                          </a:solidFill>
                          <a:latin typeface="Segoe UI"/>
                        </a:rPr>
                        <a:t>Native</a:t>
                      </a:r>
                    </a:p>
                  </a:txBody>
                  <a:tcPr marT="22860" marB="22860" anchor="ctr">
                    <a:solidFill>
                      <a:srgbClr val="E5E4E2"/>
                    </a:solidFill>
                  </a:tcPr>
                </a:tc>
                <a:tc>
                  <a:txBody>
                    <a:bodyPr wrap="square"/>
                    <a:lstStyle/>
                    <a:p>
                      <a:r>
                        <a:rPr sz="950">
                          <a:solidFill>
                            <a:srgbClr val="262A33"/>
                          </a:solidFill>
                          <a:latin typeface="Segoe UI"/>
                        </a:rPr>
                        <a:t>Native</a:t>
                      </a:r>
                    </a:p>
                  </a:txBody>
                  <a:tcPr marT="22860" marB="22860" anchor="ctr">
                    <a:solidFill>
                      <a:srgbClr val="E5E4E2"/>
                    </a:solidFill>
                  </a:tcPr>
                </a:tc>
                <a:tc>
                  <a:txBody>
                    <a:bodyPr wrap="square"/>
                    <a:lstStyle/>
                    <a:p>
                      <a:r>
                        <a:rPr sz="950">
                          <a:solidFill>
                            <a:srgbClr val="262A33"/>
                          </a:solidFill>
                          <a:latin typeface="Segoe UI"/>
                        </a:rPr>
                        <a:t>Usually imputed first</a:t>
                      </a:r>
                    </a:p>
                  </a:txBody>
                  <a:tcPr marT="22860" marB="22860" anchor="ctr">
                    <a:solidFill>
                      <a:srgbClr val="E5E4E2"/>
                    </a:solidFill>
                  </a:tcPr>
                </a:tc>
              </a:tr>
              <a:tr h="393192">
                <a:tc>
                  <a:txBody>
                    <a:bodyPr wrap="square"/>
                    <a:lstStyle/>
                    <a:p>
                      <a:r>
                        <a:rPr sz="1000">
                          <a:solidFill>
                            <a:srgbClr val="262A33"/>
                          </a:solidFill>
                          <a:latin typeface="Segoe UI Semibold"/>
                        </a:rPr>
                        <a:t>Interpretability</a:t>
                      </a:r>
                    </a:p>
                  </a:txBody>
                  <a:tcPr marT="22860" marB="22860" anchor="ctr">
                    <a:solidFill>
                      <a:srgbClr val="DAD9D6"/>
                    </a:solidFill>
                  </a:tcPr>
                </a:tc>
                <a:tc>
                  <a:txBody>
                    <a:bodyPr wrap="square"/>
                    <a:lstStyle/>
                    <a:p>
                      <a:r>
                        <a:rPr sz="950">
                          <a:solidFill>
                            <a:srgbClr val="262A33"/>
                          </a:solidFill>
                          <a:latin typeface="Segoe UI"/>
                        </a:rPr>
                        <a:t>Medium: gain importance, SHAP</a:t>
                      </a:r>
                    </a:p>
                  </a:txBody>
                  <a:tcPr marT="22860" marB="22860" anchor="ctr">
                    <a:solidFill>
                      <a:srgbClr val="ECDFDA"/>
                    </a:solidFill>
                  </a:tcPr>
                </a:tc>
                <a:tc>
                  <a:txBody>
                    <a:bodyPr wrap="square"/>
                    <a:lstStyle/>
                    <a:p>
                      <a:r>
                        <a:rPr sz="950">
                          <a:solidFill>
                            <a:srgbClr val="262A33"/>
                          </a:solidFill>
                          <a:latin typeface="Segoe UI"/>
                        </a:rPr>
                        <a:t>Medium: importance, SHAP</a:t>
                      </a:r>
                    </a:p>
                  </a:txBody>
                  <a:tcPr marT="22860" marB="22860" anchor="ctr">
                    <a:solidFill>
                      <a:srgbClr val="DAD9D6"/>
                    </a:solidFill>
                  </a:tcPr>
                </a:tc>
                <a:tc>
                  <a:txBody>
                    <a:bodyPr wrap="square"/>
                    <a:lstStyle/>
                    <a:p>
                      <a:r>
                        <a:rPr sz="950">
                          <a:solidFill>
                            <a:srgbClr val="262A33"/>
                          </a:solidFill>
                          <a:latin typeface="Segoe UI"/>
                        </a:rPr>
                        <a:t>Medium-high: built-in SHAP, interactions</a:t>
                      </a:r>
                    </a:p>
                  </a:txBody>
                  <a:tcPr marT="22860" marB="22860" anchor="ctr">
                    <a:solidFill>
                      <a:srgbClr val="DAD9D6"/>
                    </a:solidFill>
                  </a:tcPr>
                </a:tc>
                <a:tc>
                  <a:txBody>
                    <a:bodyPr wrap="square"/>
                    <a:lstStyle/>
                    <a:p>
                      <a:r>
                        <a:rPr sz="950">
                          <a:solidFill>
                            <a:srgbClr val="262A33"/>
                          </a:solidFill>
                          <a:latin typeface="Segoe UI"/>
                        </a:rPr>
                        <a:t>Medium: anomaly score = path length</a:t>
                      </a:r>
                    </a:p>
                  </a:txBody>
                  <a:tcPr marT="22860" marB="22860" anchor="ctr">
                    <a:solidFill>
                      <a:srgbClr val="DAD9D6"/>
                    </a:solidFill>
                  </a:tcPr>
                </a:tc>
              </a:tr>
              <a:tr h="393192">
                <a:tc>
                  <a:txBody>
                    <a:bodyPr wrap="square"/>
                    <a:lstStyle/>
                    <a:p>
                      <a:r>
                        <a:rPr sz="1000">
                          <a:solidFill>
                            <a:srgbClr val="262A33"/>
                          </a:solidFill>
                          <a:latin typeface="Segoe UI Semibold"/>
                        </a:rPr>
                        <a:t>Tuning effort</a:t>
                      </a:r>
                    </a:p>
                  </a:txBody>
                  <a:tcPr marT="22860" marB="22860" anchor="ctr">
                    <a:solidFill>
                      <a:srgbClr val="E5E4E2"/>
                    </a:solidFill>
                  </a:tcPr>
                </a:tc>
                <a:tc>
                  <a:txBody>
                    <a:bodyPr wrap="square"/>
                    <a:lstStyle/>
                    <a:p>
                      <a:r>
                        <a:rPr sz="950">
                          <a:solidFill>
                            <a:srgbClr val="262A33"/>
                          </a:solidFill>
                          <a:latin typeface="Segoe UI"/>
                        </a:rPr>
                        <a:t>High: many knobs</a:t>
                      </a:r>
                    </a:p>
                  </a:txBody>
                  <a:tcPr marT="22860" marB="22860" anchor="ctr">
                    <a:solidFill>
                      <a:srgbClr val="ECDFDA"/>
                    </a:solidFill>
                  </a:tcPr>
                </a:tc>
                <a:tc>
                  <a:txBody>
                    <a:bodyPr wrap="square"/>
                    <a:lstStyle/>
                    <a:p>
                      <a:r>
                        <a:rPr sz="950">
                          <a:solidFill>
                            <a:srgbClr val="262A33"/>
                          </a:solidFill>
                          <a:latin typeface="Segoe UI"/>
                        </a:rPr>
                        <a:t>High: num_leaves is critical</a:t>
                      </a:r>
                    </a:p>
                  </a:txBody>
                  <a:tcPr marT="22860" marB="22860" anchor="ctr">
                    <a:solidFill>
                      <a:srgbClr val="E5E4E2"/>
                    </a:solidFill>
                  </a:tcPr>
                </a:tc>
                <a:tc>
                  <a:txBody>
                    <a:bodyPr wrap="square"/>
                    <a:lstStyle/>
                    <a:p>
                      <a:r>
                        <a:rPr sz="950">
                          <a:solidFill>
                            <a:srgbClr val="262A33"/>
                          </a:solidFill>
                          <a:latin typeface="Segoe UI"/>
                        </a:rPr>
                        <a:t>Low: great defaults</a:t>
                      </a:r>
                    </a:p>
                  </a:txBody>
                  <a:tcPr marT="22860" marB="22860" anchor="ctr">
                    <a:solidFill>
                      <a:srgbClr val="E5E4E2"/>
                    </a:solidFill>
                  </a:tcPr>
                </a:tc>
                <a:tc>
                  <a:txBody>
                    <a:bodyPr wrap="square"/>
                    <a:lstStyle/>
                    <a:p>
                      <a:r>
                        <a:rPr sz="950">
                          <a:solidFill>
                            <a:srgbClr val="262A33"/>
                          </a:solidFill>
                          <a:latin typeface="Segoe UI"/>
                        </a:rPr>
                        <a:t>Very low</a:t>
                      </a:r>
                    </a:p>
                  </a:txBody>
                  <a:tcPr marT="22860" marB="22860" anchor="ctr">
                    <a:solidFill>
                      <a:srgbClr val="E5E4E2"/>
                    </a:solidFill>
                  </a:tcPr>
                </a:tc>
              </a:tr>
              <a:tr h="393192">
                <a:tc>
                  <a:txBody>
                    <a:bodyPr wrap="square"/>
                    <a:lstStyle/>
                    <a:p>
                      <a:r>
                        <a:rPr sz="1000">
                          <a:solidFill>
                            <a:srgbClr val="262A33"/>
                          </a:solidFill>
                          <a:latin typeface="Segoe UI Semibold"/>
                        </a:rPr>
                        <a:t>Key hyperparameters</a:t>
                      </a:r>
                    </a:p>
                  </a:txBody>
                  <a:tcPr marT="22860" marB="22860" anchor="ctr">
                    <a:solidFill>
                      <a:srgbClr val="DAD9D6"/>
                    </a:solidFill>
                  </a:tcPr>
                </a:tc>
                <a:tc>
                  <a:txBody>
                    <a:bodyPr wrap="square"/>
                    <a:lstStyle/>
                    <a:p>
                      <a:r>
                        <a:rPr sz="950">
                          <a:solidFill>
                            <a:srgbClr val="262A33"/>
                          </a:solidFill>
                          <a:latin typeface="Segoe UI"/>
                        </a:rPr>
                        <a:t>max_depth, learning_rate, min_child_weight, subsample</a:t>
                      </a:r>
                    </a:p>
                  </a:txBody>
                  <a:tcPr marT="22860" marB="22860" anchor="ctr">
                    <a:solidFill>
                      <a:srgbClr val="ECDFDA"/>
                    </a:solidFill>
                  </a:tcPr>
                </a:tc>
                <a:tc>
                  <a:txBody>
                    <a:bodyPr wrap="square"/>
                    <a:lstStyle/>
                    <a:p>
                      <a:r>
                        <a:rPr sz="950">
                          <a:solidFill>
                            <a:srgbClr val="262A33"/>
                          </a:solidFill>
                          <a:latin typeface="Segoe UI"/>
                        </a:rPr>
                        <a:t>num_leaves, learning_rate, min_data_in_leaf, feature_fraction</a:t>
                      </a:r>
                    </a:p>
                  </a:txBody>
                  <a:tcPr marT="22860" marB="22860" anchor="ctr">
                    <a:solidFill>
                      <a:srgbClr val="DAD9D6"/>
                    </a:solidFill>
                  </a:tcPr>
                </a:tc>
                <a:tc>
                  <a:txBody>
                    <a:bodyPr wrap="square"/>
                    <a:lstStyle/>
                    <a:p>
                      <a:r>
                        <a:rPr sz="950">
                          <a:solidFill>
                            <a:srgbClr val="262A33"/>
                          </a:solidFill>
                          <a:latin typeface="Segoe UI"/>
                        </a:rPr>
                        <a:t>depth, learning_rate, l2_leaf_reg, iterations</a:t>
                      </a:r>
                    </a:p>
                  </a:txBody>
                  <a:tcPr marT="22860" marB="22860" anchor="ctr">
                    <a:solidFill>
                      <a:srgbClr val="DAD9D6"/>
                    </a:solidFill>
                  </a:tcPr>
                </a:tc>
                <a:tc>
                  <a:txBody>
                    <a:bodyPr wrap="square"/>
                    <a:lstStyle/>
                    <a:p>
                      <a:r>
                        <a:rPr sz="950">
                          <a:solidFill>
                            <a:srgbClr val="262A33"/>
                          </a:solidFill>
                          <a:latin typeface="Segoe UI"/>
                        </a:rPr>
                        <a:t>n_estimators, max_samples, contamination</a:t>
                      </a:r>
                    </a:p>
                  </a:txBody>
                  <a:tcPr marT="22860" marB="22860" anchor="ctr">
                    <a:solidFill>
                      <a:srgbClr val="DAD9D6"/>
                    </a:solidFill>
                  </a:tcPr>
                </a:tc>
              </a:tr>
              <a:tr h="393192">
                <a:tc>
                  <a:txBody>
                    <a:bodyPr wrap="square"/>
                    <a:lstStyle/>
                    <a:p>
                      <a:r>
                        <a:rPr sz="1000">
                          <a:solidFill>
                            <a:srgbClr val="262A33"/>
                          </a:solidFill>
                          <a:latin typeface="Segoe UI Semibold"/>
                        </a:rPr>
                        <a:t>Best for</a:t>
                      </a:r>
                    </a:p>
                  </a:txBody>
                  <a:tcPr marT="22860" marB="22860" anchor="ctr">
                    <a:solidFill>
                      <a:srgbClr val="E5E4E2"/>
                    </a:solidFill>
                  </a:tcPr>
                </a:tc>
                <a:tc>
                  <a:txBody>
                    <a:bodyPr wrap="square"/>
                    <a:lstStyle/>
                    <a:p>
                      <a:r>
                        <a:rPr sz="950">
                          <a:solidFill>
                            <a:srgbClr val="262A33"/>
                          </a:solidFill>
                          <a:latin typeface="Segoe UI"/>
                        </a:rPr>
                        <a:t>Tabular data, missing values, competitions</a:t>
                      </a:r>
                    </a:p>
                  </a:txBody>
                  <a:tcPr marT="22860" marB="22860" anchor="ctr">
                    <a:solidFill>
                      <a:srgbClr val="ECDFDA"/>
                    </a:solidFill>
                  </a:tcPr>
                </a:tc>
                <a:tc>
                  <a:txBody>
                    <a:bodyPr wrap="square"/>
                    <a:lstStyle/>
                    <a:p>
                      <a:r>
                        <a:rPr sz="950">
                          <a:solidFill>
                            <a:srgbClr val="262A33"/>
                          </a:solidFill>
                          <a:latin typeface="Segoe UI"/>
                        </a:rPr>
                        <a:t>Very large datasets, speed</a:t>
                      </a:r>
                    </a:p>
                  </a:txBody>
                  <a:tcPr marT="22860" marB="22860" anchor="ctr">
                    <a:solidFill>
                      <a:srgbClr val="E5E4E2"/>
                    </a:solidFill>
                  </a:tcPr>
                </a:tc>
                <a:tc>
                  <a:txBody>
                    <a:bodyPr wrap="square"/>
                    <a:lstStyle/>
                    <a:p>
                      <a:r>
                        <a:rPr sz="950">
                          <a:solidFill>
                            <a:srgbClr val="262A33"/>
                          </a:solidFill>
                          <a:latin typeface="Segoe UI"/>
                        </a:rPr>
                        <a:t>Many categorical features</a:t>
                      </a:r>
                    </a:p>
                  </a:txBody>
                  <a:tcPr marT="22860" marB="22860" anchor="ctr">
                    <a:solidFill>
                      <a:srgbClr val="E5E4E2"/>
                    </a:solidFill>
                  </a:tcPr>
                </a:tc>
                <a:tc>
                  <a:txBody>
                    <a:bodyPr wrap="square"/>
                    <a:lstStyle/>
                    <a:p>
                      <a:r>
                        <a:rPr sz="950">
                          <a:solidFill>
                            <a:srgbClr val="262A33"/>
                          </a:solidFill>
                          <a:latin typeface="Segoe UI"/>
                        </a:rPr>
                        <a:t>Fraud / outlier detection without labels</a:t>
                      </a:r>
                    </a:p>
                  </a:txBody>
                  <a:tcPr marT="22860" marB="22860" anchor="ctr">
                    <a:solidFill>
                      <a:srgbClr val="E5E4E2"/>
                    </a:solidFill>
                  </a:tcPr>
                </a:tc>
              </a:tr>
            </a:tbl>
          </a:graphicData>
        </a:graphic>
      </p:graphicFrame>
      <p:sp>
        <p:nvSpPr>
          <p:cNvPr id="6" name="TextBox 5"/>
          <p:cNvSpPr txBox="1"/>
          <p:nvPr/>
        </p:nvSpPr>
        <p:spPr>
          <a:xfrm>
            <a:off x="685800" y="6537960"/>
            <a:ext cx="10972800" cy="274320"/>
          </a:xfrm>
          <a:prstGeom prst="rect">
            <a:avLst/>
          </a:prstGeom>
          <a:noFill/>
        </p:spPr>
        <p:txBody>
          <a:bodyPr wrap="square" lIns="0" rIns="0" tIns="0" bIns="0" anchor="t">
            <a:spAutoFit/>
          </a:bodyPr>
          <a:lstStyle/>
          <a:p>
            <a:pPr algn="l">
              <a:spcAft>
                <a:spcPts val="0"/>
              </a:spcAft>
            </a:pPr>
            <a:r>
              <a:rPr sz="1000" b="0" i="1">
                <a:solidFill>
                  <a:srgbClr val="5B5F68"/>
                </a:solidFill>
                <a:latin typeface="Segoe UI"/>
              </a:rPr>
              <a:t>Isolation Forest solves a different problem: it finds rare, unusual points without labels, so it complements boosting rather than competing with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6" fill="hold">
                      <p:stCondLst>
                        <p:cond delay="indefinite"/>
                      </p:stCondLst>
                      <p:childTnLst>
                        <p:par>
                          <p:cTn id="20"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800"/>
                                        <p:tgtEl>
                                          <p:spTgt spid="5"/>
                                        </p:tgtEl>
                                      </p:cBhvr>
                                    </p:animEffect>
                                  </p:childTnLst>
                                </p:cTn>
                              </p:par>
                            </p:childTnLst>
                          </p:cTn>
                        </p:par>
                      </p:childTnLst>
                    </p:cTn>
                  </p:par>
                  <p:par>
                    <p:cTn id="21" fill="hold">
                      <p:stCondLst>
                        <p:cond delay="indefinite"/>
                      </p:stCondLst>
                      <p:childTnLst>
                        <p:par>
                          <p:cTn id="26"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650"/>
                                        <p:tgtEl>
                                          <p:spTgt spid="6"/>
                                        </p:tgtEl>
                                      </p:cBhvr>
                                    </p:animEffect>
                                    <p:anim calcmode="lin" valueType="num">
                                      <p:cBhvr>
                                        <p:cTn id="25" dur="650" fill="hold"/>
                                        <p:tgtEl>
                                          <p:spTgt spid="6"/>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pic>
        <p:nvPicPr>
          <p:cNvPr id="2" name="Picture 1" descr="dots.png"/>
          <p:cNvPicPr>
            <a:picLocks noChangeAspect="1"/>
          </p:cNvPicPr>
          <p:nvPr/>
        </p:nvPicPr>
        <p:blipFill>
          <a:blip r:embed="rId2"/>
          <a:stretch>
            <a:fillRect/>
          </a:stretch>
        </p:blipFill>
        <p:spPr>
          <a:xfrm>
            <a:off x="822960" y="685800"/>
            <a:ext cx="1645920" cy="868680"/>
          </a:xfrm>
          <a:prstGeom prst="rect">
            <a:avLst/>
          </a:prstGeom>
        </p:spPr>
      </p:pic>
      <p:sp>
        <p:nvSpPr>
          <p:cNvPr id="3" name="TextBox 2"/>
          <p:cNvSpPr txBox="1"/>
          <p:nvPr/>
        </p:nvSpPr>
        <p:spPr>
          <a:xfrm>
            <a:off x="685800" y="1371600"/>
            <a:ext cx="6949440" cy="2377440"/>
          </a:xfrm>
          <a:prstGeom prst="rect">
            <a:avLst/>
          </a:prstGeom>
          <a:noFill/>
        </p:spPr>
        <p:txBody>
          <a:bodyPr wrap="square" lIns="0" rIns="0" tIns="0" bIns="0" anchor="b">
            <a:spAutoFit/>
          </a:bodyPr>
          <a:lstStyle/>
          <a:p>
            <a:pPr algn="l">
              <a:lnSpc>
                <a:spcPct val="88000"/>
              </a:lnSpc>
              <a:spcAft>
                <a:spcPts val="0"/>
              </a:spcAft>
            </a:pPr>
            <a:r>
              <a:rPr sz="5600" b="0" i="0">
                <a:solidFill>
                  <a:srgbClr val="262A33"/>
                </a:solidFill>
                <a:latin typeface="Bahnschrift Light"/>
              </a:rPr>
              <a:t>FINDING THE</a:t>
            </a:r>
          </a:p>
          <a:p>
            <a:pPr algn="l">
              <a:lnSpc>
                <a:spcPct val="88000"/>
              </a:lnSpc>
              <a:spcAft>
                <a:spcPts val="0"/>
              </a:spcAft>
            </a:pPr>
            <a:r>
              <a:rPr sz="5600" b="0" i="0">
                <a:solidFill>
                  <a:srgbClr val="262A33"/>
                </a:solidFill>
                <a:latin typeface="Bahnschrift Light"/>
              </a:rPr>
              <a:t>HIGGS BOSON</a:t>
            </a:r>
          </a:p>
        </p:txBody>
      </p:sp>
      <p:sp>
        <p:nvSpPr>
          <p:cNvPr id="4" name="TextBox 3"/>
          <p:cNvSpPr txBox="1"/>
          <p:nvPr/>
        </p:nvSpPr>
        <p:spPr>
          <a:xfrm>
            <a:off x="5806440" y="2926080"/>
            <a:ext cx="2286000" cy="9144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250,000 collisions,</a:t>
            </a:r>
          </a:p>
          <a:p>
            <a:pPr algn="l">
              <a:lnSpc>
                <a:spcPct val="100000"/>
              </a:lnSpc>
              <a:spcAft>
                <a:spcPts val="0"/>
              </a:spcAft>
            </a:pPr>
            <a:r>
              <a:rPr sz="1800" b="0" i="0">
                <a:solidFill>
                  <a:srgbClr val="262A33"/>
                </a:solidFill>
                <a:latin typeface="Segoe UI"/>
              </a:rPr>
              <a:t>30 measurements</a:t>
            </a:r>
          </a:p>
        </p:txBody>
      </p:sp>
      <p:pic>
        <p:nvPicPr>
          <p:cNvPr id="5" name="Picture 4" descr="04_signal_vs_background_features.png"/>
          <p:cNvPicPr>
            <a:picLocks noChangeAspect="1"/>
          </p:cNvPicPr>
          <p:nvPr/>
        </p:nvPicPr>
        <p:blipFill>
          <a:blip r:embed="rId3"/>
          <a:stretch>
            <a:fillRect/>
          </a:stretch>
        </p:blipFill>
        <p:spPr>
          <a:xfrm>
            <a:off x="8183879" y="794454"/>
            <a:ext cx="3383280" cy="1794371"/>
          </a:xfrm>
          <a:prstGeom prst="rect">
            <a:avLst/>
          </a:prstGeom>
        </p:spPr>
      </p:pic>
      <p:pic>
        <p:nvPicPr>
          <p:cNvPr id="6" name="Picture 5" descr="03_missing_by_jets.png"/>
          <p:cNvPicPr>
            <a:picLocks noChangeAspect="1"/>
          </p:cNvPicPr>
          <p:nvPr/>
        </p:nvPicPr>
        <p:blipFill>
          <a:blip r:embed="rId4"/>
          <a:stretch>
            <a:fillRect/>
          </a:stretch>
        </p:blipFill>
        <p:spPr>
          <a:xfrm>
            <a:off x="8323307" y="2971800"/>
            <a:ext cx="3104425" cy="1463040"/>
          </a:xfrm>
          <a:prstGeom prst="rect">
            <a:avLst/>
          </a:prstGeom>
        </p:spPr>
      </p:pic>
      <p:sp>
        <p:nvSpPr>
          <p:cNvPr id="7" name="TextBox 6"/>
          <p:cNvSpPr txBox="1"/>
          <p:nvPr/>
        </p:nvSpPr>
        <p:spPr>
          <a:xfrm>
            <a:off x="685800" y="4526280"/>
            <a:ext cx="3383280" cy="2011680"/>
          </a:xfrm>
          <a:prstGeom prst="rect">
            <a:avLst/>
          </a:prstGeom>
          <a:noFill/>
        </p:spPr>
        <p:txBody>
          <a:bodyPr wrap="square" lIns="0" rIns="0" tIns="0" bIns="0" anchor="t">
            <a:spAutoFit/>
          </a:bodyPr>
          <a:lstStyle/>
          <a:p>
            <a:pPr algn="l">
              <a:lnSpc>
                <a:spcPct val="105000"/>
              </a:lnSpc>
              <a:spcAft>
                <a:spcPts val="400"/>
              </a:spcAft>
            </a:pPr>
            <a:r>
              <a:rPr sz="1300" b="0" i="1">
                <a:solidFill>
                  <a:srgbClr val="262A33"/>
                </a:solidFill>
                <a:latin typeface="Segoe UI Semibold"/>
              </a:rPr>
              <a:t>The data</a:t>
            </a:r>
          </a:p>
          <a:p>
            <a:pPr algn="l">
              <a:lnSpc>
                <a:spcPct val="105000"/>
              </a:lnSpc>
              <a:spcAft>
                <a:spcPts val="400"/>
              </a:spcAft>
            </a:pPr>
            <a:r>
              <a:rPr sz="1200" b="0" i="0">
                <a:solidFill>
                  <a:srgbClr val="5B5F68"/>
                </a:solidFill>
                <a:latin typeface="Segoe UI"/>
              </a:rPr>
              <a:t>ATLAS Higgs ML Challenge 2014 (CERN Open Data). Each row is one simulated proton collision: signal (Higgs, 34%) or background (66%).</a:t>
            </a:r>
          </a:p>
        </p:txBody>
      </p:sp>
      <p:sp>
        <p:nvSpPr>
          <p:cNvPr id="8" name="TextBox 7"/>
          <p:cNvSpPr txBox="1"/>
          <p:nvPr/>
        </p:nvSpPr>
        <p:spPr>
          <a:xfrm>
            <a:off x="4389120" y="4526280"/>
            <a:ext cx="3383280" cy="2011680"/>
          </a:xfrm>
          <a:prstGeom prst="rect">
            <a:avLst/>
          </a:prstGeom>
          <a:noFill/>
        </p:spPr>
        <p:txBody>
          <a:bodyPr wrap="square" lIns="0" rIns="0" tIns="0" bIns="0" anchor="t">
            <a:spAutoFit/>
          </a:bodyPr>
          <a:lstStyle/>
          <a:p>
            <a:pPr algn="l">
              <a:lnSpc>
                <a:spcPct val="105000"/>
              </a:lnSpc>
              <a:spcAft>
                <a:spcPts val="400"/>
              </a:spcAft>
            </a:pPr>
            <a:r>
              <a:rPr sz="1300" b="0" i="1">
                <a:solidFill>
                  <a:srgbClr val="262A33"/>
                </a:solidFill>
                <a:latin typeface="Segoe UI Semibold"/>
              </a:rPr>
              <a:t>Missing values with meaning</a:t>
            </a:r>
          </a:p>
          <a:p>
            <a:pPr algn="l">
              <a:lnSpc>
                <a:spcPct val="105000"/>
              </a:lnSpc>
              <a:spcAft>
                <a:spcPts val="400"/>
              </a:spcAft>
            </a:pPr>
            <a:r>
              <a:rPr sz="1200" b="0" i="0">
                <a:solidFill>
                  <a:srgbClr val="5B5F68"/>
                </a:solidFill>
                <a:latin typeface="Segoe UI"/>
              </a:rPr>
              <a:t>-999 = cannot be measured (e.g. no jets). 72.8% of rows have one. Signal is 39% when the mass exists, only 7% when it is missing.</a:t>
            </a:r>
          </a:p>
        </p:txBody>
      </p:sp>
      <p:sp>
        <p:nvSpPr>
          <p:cNvPr id="9" name="TextBox 8"/>
          <p:cNvSpPr txBox="1"/>
          <p:nvPr/>
        </p:nvSpPr>
        <p:spPr>
          <a:xfrm>
            <a:off x="8092440" y="4526280"/>
            <a:ext cx="3429000" cy="2011680"/>
          </a:xfrm>
          <a:prstGeom prst="rect">
            <a:avLst/>
          </a:prstGeom>
          <a:noFill/>
        </p:spPr>
        <p:txBody>
          <a:bodyPr wrap="square" lIns="0" rIns="0" tIns="0" bIns="0" anchor="t">
            <a:spAutoFit/>
          </a:bodyPr>
          <a:lstStyle/>
          <a:p>
            <a:pPr algn="l">
              <a:lnSpc>
                <a:spcPct val="105000"/>
              </a:lnSpc>
              <a:spcAft>
                <a:spcPts val="400"/>
              </a:spcAft>
            </a:pPr>
            <a:r>
              <a:rPr sz="1300" b="0" i="1">
                <a:solidFill>
                  <a:srgbClr val="262A33"/>
                </a:solidFill>
                <a:latin typeface="Segoe UI Semibold"/>
              </a:rPr>
              <a:t>Non-linear patterns</a:t>
            </a:r>
          </a:p>
          <a:p>
            <a:pPr algn="l">
              <a:lnSpc>
                <a:spcPct val="105000"/>
              </a:lnSpc>
              <a:spcAft>
                <a:spcPts val="400"/>
              </a:spcAft>
            </a:pPr>
            <a:r>
              <a:rPr sz="1200" b="0" i="0">
                <a:solidFill>
                  <a:srgbClr val="5B5F68"/>
                </a:solidFill>
                <a:latin typeface="Segoe UI"/>
              </a:rPr>
              <a:t>DER_mass_MMC peaks near 125 GeV for signal, yet its linear correlation with the target is only 0.01: a bump, not a 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21" fill="hold">
                            <p:stCondLst>
                              <p:cond delay="900"/>
                            </p:stCondLst>
                            <p:childTnLst>
                              <p:par>
                                <p:cTn id="16" presetID="53" presetClass="entr" presetSubtype="16"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p:cTn id="19" dur="550" fill="hold"/>
                                        <p:tgtEl>
                                          <p:spTgt spid="5"/>
                                        </p:tgtEl>
                                        <p:attrNameLst>
                                          <p:attrName>ppt_w</p:attrName>
                                        </p:attrNameLst>
                                      </p:cBhvr>
                                      <p:tavLst>
                                        <p:tav tm="0">
                                          <p:val>
                                            <p:strVal val="#ppt_w*0.8"/>
                                          </p:val>
                                        </p:tav>
                                        <p:tav tm="100000">
                                          <p:val>
                                            <p:strVal val="#ppt_w"/>
                                          </p:val>
                                        </p:tav>
                                      </p:tavLst>
                                    </p:anim>
                                    <p:anim calcmode="lin" valueType="num">
                                      <p:cBhvr>
                                        <p:cTn id="20" dur="550" fill="hold"/>
                                        <p:tgtEl>
                                          <p:spTgt spid="5"/>
                                        </p:tgtEl>
                                        <p:attrNameLst>
                                          <p:attrName>ppt_h</p:attrName>
                                        </p:attrNameLst>
                                      </p:cBhvr>
                                      <p:tavLst>
                                        <p:tav tm="0">
                                          <p:val>
                                            <p:strVal val="#ppt_h*0.8"/>
                                          </p:val>
                                        </p:tav>
                                        <p:tav tm="100000">
                                          <p:val>
                                            <p:strVal val="#ppt_h"/>
                                          </p:val>
                                        </p:tav>
                                      </p:tavLst>
                                    </p:anim>
                                  </p:childTnLst>
                                </p:cTn>
                              </p:par>
                            </p:childTnLst>
                          </p:cTn>
                        </p:par>
                      </p:childTnLst>
                    </p:cTn>
                  </p:par>
                  <p:par>
                    <p:cTn id="22" fill="hold">
                      <p:stCondLst>
                        <p:cond delay="indefinite"/>
                      </p:stCondLst>
                      <p:childTnLst>
                        <p:par>
                          <p:cTn id="27"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650"/>
                                        <p:tgtEl>
                                          <p:spTgt spid="7"/>
                                        </p:tgtEl>
                                      </p:cBhvr>
                                    </p:animEffect>
                                    <p:anim calcmode="lin" valueType="num">
                                      <p:cBhvr>
                                        <p:cTn id="26" dur="650" fill="hold"/>
                                        <p:tgtEl>
                                          <p:spTgt spid="7"/>
                                        </p:tgtEl>
                                        <p:attrNameLst>
                                          <p:attrName>ppt_y</p:attrName>
                                        </p:attrNameLst>
                                      </p:cBhvr>
                                      <p:tavLst>
                                        <p:tav tm="0">
                                          <p:val>
                                            <p:strVal val="#ppt_y+0.06"/>
                                          </p:val>
                                        </p:tav>
                                        <p:tav tm="100000">
                                          <p:val>
                                            <p:strVal val="#ppt_y"/>
                                          </p:val>
                                        </p:tav>
                                      </p:tavLst>
                                    </p:anim>
                                  </p:childTnLst>
                                </p:cTn>
                              </p:par>
                            </p:childTnLst>
                          </p:cTn>
                        </p:par>
                      </p:childTnLst>
                    </p:cTn>
                  </p:par>
                  <p:par>
                    <p:cTn id="28" fill="hold">
                      <p:stCondLst>
                        <p:cond delay="indefinite"/>
                      </p:stCondLst>
                      <p:childTnLst>
                        <p:par>
                          <p:cTn id="3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50"/>
                                        <p:tgtEl>
                                          <p:spTgt spid="8"/>
                                        </p:tgtEl>
                                      </p:cBhvr>
                                    </p:animEffect>
                                    <p:anim calcmode="lin" valueType="num">
                                      <p:cBhvr>
                                        <p:cTn id="32" dur="650" fill="hold"/>
                                        <p:tgtEl>
                                          <p:spTgt spid="8"/>
                                        </p:tgtEl>
                                        <p:attrNameLst>
                                          <p:attrName>ppt_y</p:attrName>
                                        </p:attrNameLst>
                                      </p:cBhvr>
                                      <p:tavLst>
                                        <p:tav tm="0">
                                          <p:val>
                                            <p:strVal val="#ppt_y+0.06"/>
                                          </p:val>
                                        </p:tav>
                                        <p:tav tm="100000">
                                          <p:val>
                                            <p:strVal val="#ppt_y"/>
                                          </p:val>
                                        </p:tav>
                                      </p:tavLst>
                                    </p:anim>
                                  </p:childTnLst>
                                </p:cTn>
                              </p:par>
                              <p:par>
                                <p:cTn id="33" presetID="53" presetClass="entr" presetSubtype="16" fill="hold"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50"/>
                                        <p:tgtEl>
                                          <p:spTgt spid="6"/>
                                        </p:tgtEl>
                                      </p:cBhvr>
                                    </p:animEffect>
                                    <p:anim calcmode="lin" valueType="num">
                                      <p:cBhvr>
                                        <p:cTn id="36" dur="550" fill="hold"/>
                                        <p:tgtEl>
                                          <p:spTgt spid="6"/>
                                        </p:tgtEl>
                                        <p:attrNameLst>
                                          <p:attrName>ppt_w</p:attrName>
                                        </p:attrNameLst>
                                      </p:cBhvr>
                                      <p:tavLst>
                                        <p:tav tm="0">
                                          <p:val>
                                            <p:strVal val="#ppt_w*0.8"/>
                                          </p:val>
                                        </p:tav>
                                        <p:tav tm="100000">
                                          <p:val>
                                            <p:strVal val="#ppt_w"/>
                                          </p:val>
                                        </p:tav>
                                      </p:tavLst>
                                    </p:anim>
                                    <p:anim calcmode="lin" valueType="num">
                                      <p:cBhvr>
                                        <p:cTn id="37" dur="550" fill="hold"/>
                                        <p:tgtEl>
                                          <p:spTgt spid="6"/>
                                        </p:tgtEl>
                                        <p:attrNameLst>
                                          <p:attrName>ppt_h</p:attrName>
                                        </p:attrNameLst>
                                      </p:cBhvr>
                                      <p:tavLst>
                                        <p:tav tm="0">
                                          <p:val>
                                            <p:strVal val="#ppt_h*0.8"/>
                                          </p:val>
                                        </p:tav>
                                        <p:tav tm="100000">
                                          <p:val>
                                            <p:strVal val="#ppt_h"/>
                                          </p:val>
                                        </p:tav>
                                      </p:tavLst>
                                    </p:anim>
                                  </p:childTnLst>
                                </p:cTn>
                              </p:par>
                            </p:childTnLst>
                          </p:cTn>
                        </p:par>
                      </p:childTnLst>
                    </p:cTn>
                  </p:par>
                  <p:par>
                    <p:cTn id="39" fill="hold">
                      <p:stCondLst>
                        <p:cond delay="indefinite"/>
                      </p:stCondLst>
                      <p:childTnLst>
                        <p:par>
                          <p:cTn id="44"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50"/>
                                        <p:tgtEl>
                                          <p:spTgt spid="9"/>
                                        </p:tgtEl>
                                      </p:cBhvr>
                                    </p:animEffect>
                                    <p:anim calcmode="lin" valueType="num">
                                      <p:cBhvr>
                                        <p:cTn id="43" dur="650" fill="hold"/>
                                        <p:tgtEl>
                                          <p:spTgt spid="9"/>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pic>
        <p:nvPicPr>
          <p:cNvPr id="2" name="Picture 1" descr="dots.png"/>
          <p:cNvPicPr>
            <a:picLocks noChangeAspect="1"/>
          </p:cNvPicPr>
          <p:nvPr/>
        </p:nvPicPr>
        <p:blipFill>
          <a:blip r:embed="rId2"/>
          <a:stretch>
            <a:fillRect/>
          </a:stretch>
        </p:blipFill>
        <p:spPr>
          <a:xfrm>
            <a:off x="3566160" y="868680"/>
            <a:ext cx="1645920" cy="868680"/>
          </a:xfrm>
          <a:prstGeom prst="rect">
            <a:avLst/>
          </a:prstGeom>
        </p:spPr>
      </p:pic>
      <p:sp>
        <p:nvSpPr>
          <p:cNvPr id="3" name="TextBox 2"/>
          <p:cNvSpPr txBox="1"/>
          <p:nvPr/>
        </p:nvSpPr>
        <p:spPr>
          <a:xfrm>
            <a:off x="685800" y="1691640"/>
            <a:ext cx="5669280" cy="2468880"/>
          </a:xfrm>
          <a:prstGeom prst="rect">
            <a:avLst/>
          </a:prstGeom>
          <a:noFill/>
        </p:spPr>
        <p:txBody>
          <a:bodyPr wrap="square" lIns="0" rIns="0" tIns="0" bIns="0" anchor="b">
            <a:spAutoFit/>
          </a:bodyPr>
          <a:lstStyle/>
          <a:p>
            <a:pPr algn="l">
              <a:lnSpc>
                <a:spcPct val="88000"/>
              </a:lnSpc>
              <a:spcAft>
                <a:spcPts val="0"/>
              </a:spcAft>
            </a:pPr>
            <a:r>
              <a:rPr sz="6000" b="0" i="0">
                <a:solidFill>
                  <a:srgbClr val="262A33"/>
                </a:solidFill>
                <a:latin typeface="Bahnschrift Light"/>
              </a:rPr>
              <a:t>DATA &amp;</a:t>
            </a:r>
          </a:p>
          <a:p>
            <a:pPr algn="l">
              <a:lnSpc>
                <a:spcPct val="88000"/>
              </a:lnSpc>
              <a:spcAft>
                <a:spcPts val="0"/>
              </a:spcAft>
            </a:pPr>
            <a:r>
              <a:rPr sz="6000" b="0" i="0">
                <a:solidFill>
                  <a:srgbClr val="262A33"/>
                </a:solidFill>
                <a:latin typeface="Bahnschrift Light"/>
              </a:rPr>
              <a:t>TRAINING</a:t>
            </a:r>
          </a:p>
          <a:p>
            <a:pPr algn="l">
              <a:lnSpc>
                <a:spcPct val="88000"/>
              </a:lnSpc>
              <a:spcAft>
                <a:spcPts val="0"/>
              </a:spcAft>
            </a:pPr>
            <a:r>
              <a:rPr sz="6000" b="0" i="0">
                <a:solidFill>
                  <a:srgbClr val="262A33"/>
                </a:solidFill>
                <a:latin typeface="Bahnschrift Light"/>
              </a:rPr>
              <a:t>PROCESS</a:t>
            </a:r>
          </a:p>
        </p:txBody>
      </p:sp>
      <p:sp>
        <p:nvSpPr>
          <p:cNvPr id="4" name="TextBox 3"/>
          <p:cNvSpPr txBox="1"/>
          <p:nvPr/>
        </p:nvSpPr>
        <p:spPr>
          <a:xfrm>
            <a:off x="4800600" y="2743200"/>
            <a:ext cx="2377440" cy="9144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Data is the fuel</a:t>
            </a:r>
          </a:p>
          <a:p>
            <a:pPr algn="l">
              <a:lnSpc>
                <a:spcPct val="100000"/>
              </a:lnSpc>
              <a:spcAft>
                <a:spcPts val="0"/>
              </a:spcAft>
            </a:pPr>
            <a:r>
              <a:rPr sz="1800" b="0" i="0">
                <a:solidFill>
                  <a:srgbClr val="262A33"/>
                </a:solidFill>
                <a:latin typeface="Segoe UI"/>
              </a:rPr>
              <a:t>of the model</a:t>
            </a:r>
          </a:p>
        </p:txBody>
      </p:sp>
      <p:pic>
        <p:nvPicPr>
          <p:cNvPr id="5" name="Picture 4" descr="07_learning_curve.png"/>
          <p:cNvPicPr>
            <a:picLocks noChangeAspect="1"/>
          </p:cNvPicPr>
          <p:nvPr/>
        </p:nvPicPr>
        <p:blipFill>
          <a:blip r:embed="rId3"/>
          <a:stretch>
            <a:fillRect/>
          </a:stretch>
        </p:blipFill>
        <p:spPr>
          <a:xfrm>
            <a:off x="7223760" y="623446"/>
            <a:ext cx="4343400" cy="2136387"/>
          </a:xfrm>
          <a:prstGeom prst="rect">
            <a:avLst/>
          </a:prstGeom>
        </p:spPr>
      </p:pic>
      <p:sp>
        <p:nvSpPr>
          <p:cNvPr id="6" name="Rectangle 5"/>
          <p:cNvSpPr/>
          <p:nvPr/>
        </p:nvSpPr>
        <p:spPr>
          <a:xfrm>
            <a:off x="685800" y="4526280"/>
            <a:ext cx="3611880" cy="1828800"/>
          </a:xfrm>
          <a:prstGeom prst="rect">
            <a:avLst/>
          </a:prstGeom>
          <a:noFill/>
          <a:ln w="11430">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663440"/>
            <a:ext cx="3291840" cy="164592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Preprocessing</a:t>
            </a:r>
          </a:p>
          <a:p>
            <a:pPr algn="l">
              <a:lnSpc>
                <a:spcPct val="105000"/>
              </a:lnSpc>
              <a:spcAft>
                <a:spcPts val="400"/>
              </a:spcAft>
            </a:pPr>
            <a:r>
              <a:rPr sz="1100" b="0" i="0">
                <a:solidFill>
                  <a:srgbClr val="5B5F68"/>
                </a:solidFill>
                <a:latin typeface="Segoe UI"/>
              </a:rPr>
              <a:t>-999 → NaN (no imputation)</a:t>
            </a:r>
          </a:p>
          <a:p>
            <a:pPr algn="l">
              <a:lnSpc>
                <a:spcPct val="105000"/>
              </a:lnSpc>
              <a:spcAft>
                <a:spcPts val="400"/>
              </a:spcAft>
            </a:pPr>
            <a:r>
              <a:rPr sz="1100" b="0" i="0">
                <a:solidFill>
                  <a:srgbClr val="5B5F68"/>
                </a:solidFill>
                <a:latin typeface="Segoe UI"/>
              </a:rPr>
              <a:t>Target s → 1, b → 0</a:t>
            </a:r>
          </a:p>
          <a:p>
            <a:pPr algn="l">
              <a:lnSpc>
                <a:spcPct val="105000"/>
              </a:lnSpc>
              <a:spcAft>
                <a:spcPts val="400"/>
              </a:spcAft>
            </a:pPr>
            <a:r>
              <a:rPr sz="1100" b="0" i="0">
                <a:solidFill>
                  <a:srgbClr val="5B5F68"/>
                </a:solidFill>
                <a:latin typeface="Segoe UI"/>
              </a:rPr>
              <a:t>Drop Weight (it leaks the label)</a:t>
            </a:r>
          </a:p>
          <a:p>
            <a:pPr algn="l">
              <a:lnSpc>
                <a:spcPct val="105000"/>
              </a:lnSpc>
              <a:spcAft>
                <a:spcPts val="400"/>
              </a:spcAft>
            </a:pPr>
            <a:r>
              <a:rPr sz="1100" b="0" i="0">
                <a:solidFill>
                  <a:srgbClr val="5B5F68"/>
                </a:solidFill>
                <a:latin typeface="Segoe UI"/>
              </a:rPr>
              <a:t>No scaling · stratified 70 / 15 / 15 split</a:t>
            </a:r>
          </a:p>
        </p:txBody>
      </p:sp>
      <p:sp>
        <p:nvSpPr>
          <p:cNvPr id="8" name="Rectangle 7"/>
          <p:cNvSpPr/>
          <p:nvPr/>
        </p:nvSpPr>
        <p:spPr>
          <a:xfrm>
            <a:off x="4526280" y="4526280"/>
            <a:ext cx="3611880" cy="1828800"/>
          </a:xfrm>
          <a:prstGeom prst="rect">
            <a:avLst/>
          </a:prstGeom>
          <a:noFill/>
          <a:ln w="11430">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9160" y="4663440"/>
            <a:ext cx="3291840" cy="164592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Tuning &amp; early stopping</a:t>
            </a:r>
          </a:p>
          <a:p>
            <a:pPr algn="l">
              <a:lnSpc>
                <a:spcPct val="105000"/>
              </a:lnSpc>
              <a:spcAft>
                <a:spcPts val="400"/>
              </a:spcAft>
            </a:pPr>
            <a:r>
              <a:rPr sz="1100" b="0" i="0">
                <a:solidFill>
                  <a:srgbClr val="5B5F68"/>
                </a:solidFill>
                <a:latin typeface="Segoe UI"/>
              </a:rPr>
              <a:t>RandomizedSearchCV: 25 settings × 3 folds</a:t>
            </a:r>
          </a:p>
          <a:p>
            <a:pPr algn="l">
              <a:lnSpc>
                <a:spcPct val="105000"/>
              </a:lnSpc>
              <a:spcAft>
                <a:spcPts val="400"/>
              </a:spcAft>
            </a:pPr>
            <a:r>
              <a:rPr sz="1100" b="0" i="0">
                <a:solidFill>
                  <a:srgbClr val="5B5F68"/>
                </a:solidFill>
                <a:latin typeface="Segoe UI"/>
              </a:rPr>
              <a:t>on a 50k sample (36 s)</a:t>
            </a:r>
          </a:p>
          <a:p>
            <a:pPr algn="l">
              <a:lnSpc>
                <a:spcPct val="105000"/>
              </a:lnSpc>
              <a:spcAft>
                <a:spcPts val="400"/>
              </a:spcAft>
            </a:pPr>
            <a:r>
              <a:rPr sz="1100" b="0" i="0">
                <a:solidFill>
                  <a:srgbClr val="5B5F68"/>
                </a:solidFill>
                <a:latin typeface="Segoe UI"/>
              </a:rPr>
              <a:t>Final model: lr 0.05, stopped at 778 trees</a:t>
            </a:r>
          </a:p>
          <a:p>
            <a:pPr algn="l">
              <a:lnSpc>
                <a:spcPct val="105000"/>
              </a:lnSpc>
              <a:spcAft>
                <a:spcPts val="400"/>
              </a:spcAft>
            </a:pPr>
            <a:r>
              <a:rPr sz="1100" b="0" i="0">
                <a:solidFill>
                  <a:srgbClr val="5B5F68"/>
                </a:solidFill>
                <a:latin typeface="Segoe UI"/>
              </a:rPr>
              <a:t>when validation loss stopped improving</a:t>
            </a:r>
          </a:p>
        </p:txBody>
      </p:sp>
      <p:sp>
        <p:nvSpPr>
          <p:cNvPr id="10" name="Rectangle 9"/>
          <p:cNvSpPr/>
          <p:nvPr/>
        </p:nvSpPr>
        <p:spPr>
          <a:xfrm>
            <a:off x="8366760" y="4526280"/>
            <a:ext cx="3200400" cy="1828800"/>
          </a:xfrm>
          <a:prstGeom prst="rect">
            <a:avLst/>
          </a:prstGeom>
          <a:noFill/>
          <a:ln w="11430">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4663440"/>
            <a:ext cx="2880360" cy="164592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Overfitting check</a:t>
            </a:r>
          </a:p>
          <a:p>
            <a:pPr algn="l">
              <a:lnSpc>
                <a:spcPct val="105000"/>
              </a:lnSpc>
              <a:spcAft>
                <a:spcPts val="400"/>
              </a:spcAft>
            </a:pPr>
            <a:r>
              <a:rPr sz="1100" b="0" i="0">
                <a:solidFill>
                  <a:srgbClr val="5B5F68"/>
                </a:solidFill>
                <a:latin typeface="Segoe UI"/>
              </a:rPr>
              <a:t>Train AUC 0.937 vs test 0.911</a:t>
            </a:r>
          </a:p>
          <a:p>
            <a:pPr algn="l">
              <a:lnSpc>
                <a:spcPct val="105000"/>
              </a:lnSpc>
              <a:spcAft>
                <a:spcPts val="400"/>
              </a:spcAft>
            </a:pPr>
            <a:r>
              <a:rPr sz="1100" b="0" i="0">
                <a:solidFill>
                  <a:srgbClr val="5B5F68"/>
                </a:solidFill>
                <a:latin typeface="Segoe UI"/>
              </a:rPr>
              <a:t>5-fold CV: 0.910 ± 0.002</a:t>
            </a:r>
          </a:p>
          <a:p>
            <a:pPr algn="l">
              <a:lnSpc>
                <a:spcPct val="105000"/>
              </a:lnSpc>
              <a:spcAft>
                <a:spcPts val="400"/>
              </a:spcAft>
            </a:pPr>
            <a:r>
              <a:rPr sz="1100" b="0" i="0">
                <a:solidFill>
                  <a:srgbClr val="5B5F68"/>
                </a:solidFill>
                <a:latin typeface="Segoe UI"/>
              </a:rPr>
              <a:t>No early stopping → gap 0.068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6" fill="hold">
                      <p:stCondLst>
                        <p:cond delay="indefinite"/>
                      </p:stCondLst>
                      <p:childTnLst>
                        <p:par>
                          <p:cTn id="24"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42"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50"/>
                                        <p:tgtEl>
                                          <p:spTgt spid="7"/>
                                        </p:tgtEl>
                                      </p:cBhvr>
                                    </p:animEffect>
                                    <p:anim calcmode="lin" valueType="num">
                                      <p:cBhvr>
                                        <p:cTn id="23" dur="650" fill="hold"/>
                                        <p:tgtEl>
                                          <p:spTgt spid="7"/>
                                        </p:tgtEl>
                                        <p:attrNameLst>
                                          <p:attrName>ppt_y</p:attrName>
                                        </p:attrNameLst>
                                      </p:cBhvr>
                                      <p:tavLst>
                                        <p:tav tm="0">
                                          <p:val>
                                            <p:strVal val="#ppt_y+0.06"/>
                                          </p:val>
                                        </p:tav>
                                        <p:tav tm="100000">
                                          <p:val>
                                            <p:strVal val="#ppt_y"/>
                                          </p:val>
                                        </p:tav>
                                      </p:tavLst>
                                    </p:anim>
                                  </p:childTnLst>
                                </p:cTn>
                              </p:par>
                            </p:childTnLst>
                          </p:cTn>
                        </p:par>
                      </p:childTnLst>
                    </p:cTn>
                  </p:par>
                  <p:par>
                    <p:cTn id="25" fill="hold">
                      <p:stCondLst>
                        <p:cond delay="indefinite"/>
                      </p:stCondLst>
                      <p:childTnLst>
                        <p:par>
                          <p:cTn id="3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42"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50"/>
                                        <p:tgtEl>
                                          <p:spTgt spid="9"/>
                                        </p:tgtEl>
                                      </p:cBhvr>
                                    </p:animEffect>
                                    <p:anim calcmode="lin" valueType="num">
                                      <p:cBhvr>
                                        <p:cTn id="32" dur="650" fill="hold"/>
                                        <p:tgtEl>
                                          <p:spTgt spid="9"/>
                                        </p:tgtEl>
                                        <p:attrNameLst>
                                          <p:attrName>ppt_y</p:attrName>
                                        </p:attrNameLst>
                                      </p:cBhvr>
                                      <p:tavLst>
                                        <p:tav tm="0">
                                          <p:val>
                                            <p:strVal val="#ppt_y+0.06"/>
                                          </p:val>
                                        </p:tav>
                                        <p:tav tm="100000">
                                          <p:val>
                                            <p:strVal val="#ppt_y"/>
                                          </p:val>
                                        </p:tav>
                                      </p:tavLst>
                                    </p:anim>
                                  </p:childTnLst>
                                </p:cTn>
                              </p:par>
                              <p:par>
                                <p:cTn id="33" presetID="53" presetClass="entr" presetSubtype="16" fill="hold"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50"/>
                                        <p:tgtEl>
                                          <p:spTgt spid="5"/>
                                        </p:tgtEl>
                                      </p:cBhvr>
                                    </p:animEffect>
                                    <p:anim calcmode="lin" valueType="num">
                                      <p:cBhvr>
                                        <p:cTn id="36" dur="550" fill="hold"/>
                                        <p:tgtEl>
                                          <p:spTgt spid="5"/>
                                        </p:tgtEl>
                                        <p:attrNameLst>
                                          <p:attrName>ppt_w</p:attrName>
                                        </p:attrNameLst>
                                      </p:cBhvr>
                                      <p:tavLst>
                                        <p:tav tm="0">
                                          <p:val>
                                            <p:strVal val="#ppt_w*0.8"/>
                                          </p:val>
                                        </p:tav>
                                        <p:tav tm="100000">
                                          <p:val>
                                            <p:strVal val="#ppt_w"/>
                                          </p:val>
                                        </p:tav>
                                      </p:tavLst>
                                    </p:anim>
                                    <p:anim calcmode="lin" valueType="num">
                                      <p:cBhvr>
                                        <p:cTn id="37" dur="550" fill="hold"/>
                                        <p:tgtEl>
                                          <p:spTgt spid="5"/>
                                        </p:tgtEl>
                                        <p:attrNameLst>
                                          <p:attrName>ppt_h</p:attrName>
                                        </p:attrNameLst>
                                      </p:cBhvr>
                                      <p:tavLst>
                                        <p:tav tm="0">
                                          <p:val>
                                            <p:strVal val="#ppt_h*0.8"/>
                                          </p:val>
                                        </p:tav>
                                        <p:tav tm="100000">
                                          <p:val>
                                            <p:strVal val="#ppt_h"/>
                                          </p:val>
                                        </p:tav>
                                      </p:tavLst>
                                    </p:anim>
                                  </p:childTnLst>
                                </p:cTn>
                              </p:par>
                            </p:childTnLst>
                          </p:cTn>
                        </p:par>
                      </p:childTnLst>
                    </p:cTn>
                  </p:par>
                  <p:par>
                    <p:cTn id="39" fill="hold">
                      <p:stCondLst>
                        <p:cond delay="indefinite"/>
                      </p:stCondLst>
                      <p:childTnLst>
                        <p:par>
                          <p:cTn id="47"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42"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650"/>
                                        <p:tgtEl>
                                          <p:spTgt spid="11"/>
                                        </p:tgtEl>
                                      </p:cBhvr>
                                    </p:animEffect>
                                    <p:anim calcmode="lin" valueType="num">
                                      <p:cBhvr>
                                        <p:cTn id="46" dur="650" fill="hold"/>
                                        <p:tgtEl>
                                          <p:spTgt spid="11"/>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502920"/>
            <a:ext cx="3657600" cy="4572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How well does it work?</a:t>
            </a:r>
          </a:p>
        </p:txBody>
      </p:sp>
      <p:pic>
        <p:nvPicPr>
          <p:cNvPr id="3" name="Picture 2" descr="dots.png"/>
          <p:cNvPicPr>
            <a:picLocks noChangeAspect="1"/>
          </p:cNvPicPr>
          <p:nvPr/>
        </p:nvPicPr>
        <p:blipFill>
          <a:blip r:embed="rId2"/>
          <a:stretch>
            <a:fillRect/>
          </a:stretch>
        </p:blipFill>
        <p:spPr>
          <a:xfrm>
            <a:off x="685800" y="1051560"/>
            <a:ext cx="1645920" cy="868680"/>
          </a:xfrm>
          <a:prstGeom prst="rect">
            <a:avLst/>
          </a:prstGeom>
        </p:spPr>
      </p:pic>
      <p:sp>
        <p:nvSpPr>
          <p:cNvPr id="4" name="TextBox 3"/>
          <p:cNvSpPr txBox="1"/>
          <p:nvPr/>
        </p:nvSpPr>
        <p:spPr>
          <a:xfrm>
            <a:off x="685800" y="1554480"/>
            <a:ext cx="5120640" cy="1463040"/>
          </a:xfrm>
          <a:prstGeom prst="rect">
            <a:avLst/>
          </a:prstGeom>
          <a:noFill/>
        </p:spPr>
        <p:txBody>
          <a:bodyPr wrap="square" lIns="0" rIns="0" tIns="0" bIns="0" anchor="b">
            <a:spAutoFit/>
          </a:bodyPr>
          <a:lstStyle/>
          <a:p>
            <a:pPr algn="l">
              <a:lnSpc>
                <a:spcPct val="88000"/>
              </a:lnSpc>
              <a:spcAft>
                <a:spcPts val="0"/>
              </a:spcAft>
            </a:pPr>
            <a:r>
              <a:rPr sz="6600" b="0" i="0">
                <a:solidFill>
                  <a:srgbClr val="262A33"/>
                </a:solidFill>
                <a:latin typeface="Bahnschrift Light"/>
              </a:rPr>
              <a:t>RESULTS</a:t>
            </a:r>
          </a:p>
        </p:txBody>
      </p:sp>
      <p:pic>
        <p:nvPicPr>
          <p:cNvPr id="5" name="Picture 4" descr="09_confusion_matrix.png"/>
          <p:cNvPicPr>
            <a:picLocks noChangeAspect="1"/>
          </p:cNvPicPr>
          <p:nvPr/>
        </p:nvPicPr>
        <p:blipFill>
          <a:blip r:embed="rId3"/>
          <a:stretch>
            <a:fillRect/>
          </a:stretch>
        </p:blipFill>
        <p:spPr>
          <a:xfrm>
            <a:off x="6122535" y="502920"/>
            <a:ext cx="5402848" cy="2377440"/>
          </a:xfrm>
          <a:prstGeom prst="rect">
            <a:avLst/>
          </a:prstGeom>
        </p:spPr>
      </p:pic>
      <p:pic>
        <p:nvPicPr>
          <p:cNvPr id="6" name="Picture 5" descr="10_roc_pr_curves.png"/>
          <p:cNvPicPr>
            <a:picLocks noChangeAspect="1"/>
          </p:cNvPicPr>
          <p:nvPr/>
        </p:nvPicPr>
        <p:blipFill>
          <a:blip r:embed="rId4"/>
          <a:stretch>
            <a:fillRect/>
          </a:stretch>
        </p:blipFill>
        <p:spPr>
          <a:xfrm>
            <a:off x="6379876" y="3063240"/>
            <a:ext cx="4888167" cy="2148840"/>
          </a:xfrm>
          <a:prstGeom prst="rect">
            <a:avLst/>
          </a:prstGeom>
        </p:spPr>
      </p:pic>
      <p:sp>
        <p:nvSpPr>
          <p:cNvPr id="7" name="TextBox 6"/>
          <p:cNvSpPr txBox="1"/>
          <p:nvPr/>
        </p:nvSpPr>
        <p:spPr>
          <a:xfrm>
            <a:off x="685800" y="3383280"/>
            <a:ext cx="1828800" cy="1188720"/>
          </a:xfrm>
          <a:prstGeom prst="rect">
            <a:avLst/>
          </a:prstGeom>
          <a:noFill/>
        </p:spPr>
        <p:txBody>
          <a:bodyPr wrap="square" lIns="0" rIns="0" tIns="0" bIns="0" anchor="t">
            <a:spAutoFit/>
          </a:bodyPr>
          <a:lstStyle/>
          <a:p>
            <a:pPr algn="l">
              <a:lnSpc>
                <a:spcPct val="95000"/>
              </a:lnSpc>
              <a:spcAft>
                <a:spcPts val="0"/>
              </a:spcAft>
            </a:pPr>
            <a:r>
              <a:rPr sz="4400" b="0" i="0">
                <a:solidFill>
                  <a:srgbClr val="B5543A"/>
                </a:solidFill>
                <a:latin typeface="Bahnschrift Light"/>
              </a:rPr>
              <a:t>0.911</a:t>
            </a:r>
          </a:p>
          <a:p>
            <a:pPr algn="l">
              <a:lnSpc>
                <a:spcPct val="95000"/>
              </a:lnSpc>
              <a:spcAft>
                <a:spcPts val="0"/>
              </a:spcAft>
            </a:pPr>
            <a:r>
              <a:rPr sz="1200" b="0" i="0">
                <a:solidFill>
                  <a:srgbClr val="5B5F68"/>
                </a:solidFill>
                <a:latin typeface="Segoe UI"/>
              </a:rPr>
              <a:t>test ROC-AUC</a:t>
            </a:r>
          </a:p>
        </p:txBody>
      </p:sp>
      <p:sp>
        <p:nvSpPr>
          <p:cNvPr id="8" name="TextBox 7"/>
          <p:cNvSpPr txBox="1"/>
          <p:nvPr/>
        </p:nvSpPr>
        <p:spPr>
          <a:xfrm>
            <a:off x="2651760" y="3383280"/>
            <a:ext cx="1828800" cy="1188720"/>
          </a:xfrm>
          <a:prstGeom prst="rect">
            <a:avLst/>
          </a:prstGeom>
          <a:noFill/>
        </p:spPr>
        <p:txBody>
          <a:bodyPr wrap="square" lIns="0" rIns="0" tIns="0" bIns="0" anchor="t">
            <a:spAutoFit/>
          </a:bodyPr>
          <a:lstStyle/>
          <a:p>
            <a:pPr algn="l">
              <a:lnSpc>
                <a:spcPct val="95000"/>
              </a:lnSpc>
              <a:spcAft>
                <a:spcPts val="0"/>
              </a:spcAft>
            </a:pPr>
            <a:r>
              <a:rPr sz="4400" b="0" i="0">
                <a:solidFill>
                  <a:srgbClr val="B5543A"/>
                </a:solidFill>
                <a:latin typeface="Bahnschrift Light"/>
              </a:rPr>
              <a:t>84.3%</a:t>
            </a:r>
          </a:p>
          <a:p>
            <a:pPr algn="l">
              <a:lnSpc>
                <a:spcPct val="95000"/>
              </a:lnSpc>
              <a:spcAft>
                <a:spcPts val="0"/>
              </a:spcAft>
            </a:pPr>
            <a:r>
              <a:rPr sz="1200" b="0" i="0">
                <a:solidFill>
                  <a:srgbClr val="5B5F68"/>
                </a:solidFill>
                <a:latin typeface="Segoe UI"/>
              </a:rPr>
              <a:t>accuracy</a:t>
            </a:r>
          </a:p>
        </p:txBody>
      </p:sp>
      <p:sp>
        <p:nvSpPr>
          <p:cNvPr id="9" name="TextBox 8"/>
          <p:cNvSpPr txBox="1"/>
          <p:nvPr/>
        </p:nvSpPr>
        <p:spPr>
          <a:xfrm>
            <a:off x="685800" y="4754880"/>
            <a:ext cx="2011680" cy="1188720"/>
          </a:xfrm>
          <a:prstGeom prst="rect">
            <a:avLst/>
          </a:prstGeom>
          <a:noFill/>
        </p:spPr>
        <p:txBody>
          <a:bodyPr wrap="square" lIns="0" rIns="0" tIns="0" bIns="0" anchor="t">
            <a:spAutoFit/>
          </a:bodyPr>
          <a:lstStyle/>
          <a:p>
            <a:pPr algn="l">
              <a:lnSpc>
                <a:spcPct val="95000"/>
              </a:lnSpc>
              <a:spcAft>
                <a:spcPts val="0"/>
              </a:spcAft>
            </a:pPr>
            <a:r>
              <a:rPr sz="2600" b="0" i="0">
                <a:solidFill>
                  <a:srgbClr val="B5543A"/>
                </a:solidFill>
                <a:latin typeface="Bahnschrift Light"/>
              </a:rPr>
              <a:t>73%→83%</a:t>
            </a:r>
          </a:p>
          <a:p>
            <a:pPr algn="l">
              <a:lnSpc>
                <a:spcPct val="95000"/>
              </a:lnSpc>
              <a:spcAft>
                <a:spcPts val="0"/>
              </a:spcAft>
            </a:pPr>
            <a:r>
              <a:rPr sz="1200" b="0" i="0">
                <a:solidFill>
                  <a:srgbClr val="5B5F68"/>
                </a:solidFill>
                <a:latin typeface="Segoe UI"/>
              </a:rPr>
              <a:t>signal recall when the
threshold drops to 0.35</a:t>
            </a:r>
          </a:p>
        </p:txBody>
      </p:sp>
      <p:sp>
        <p:nvSpPr>
          <p:cNvPr id="10" name="TextBox 9"/>
          <p:cNvSpPr txBox="1"/>
          <p:nvPr/>
        </p:nvSpPr>
        <p:spPr>
          <a:xfrm>
            <a:off x="2834640" y="4754880"/>
            <a:ext cx="2103120" cy="1188720"/>
          </a:xfrm>
          <a:prstGeom prst="rect">
            <a:avLst/>
          </a:prstGeom>
          <a:noFill/>
        </p:spPr>
        <p:txBody>
          <a:bodyPr wrap="square" lIns="0" rIns="0" tIns="0" bIns="0" anchor="t">
            <a:spAutoFit/>
          </a:bodyPr>
          <a:lstStyle/>
          <a:p>
            <a:pPr algn="l">
              <a:lnSpc>
                <a:spcPct val="95000"/>
              </a:lnSpc>
              <a:spcAft>
                <a:spcPts val="0"/>
              </a:spcAft>
            </a:pPr>
            <a:r>
              <a:rPr sz="2600" b="0" i="0">
                <a:solidFill>
                  <a:srgbClr val="B5543A"/>
                </a:solidFill>
                <a:latin typeface="Bahnschrift Light"/>
              </a:rPr>
              <a:t>AMS 3.34</a:t>
            </a:r>
          </a:p>
          <a:p>
            <a:pPr algn="l">
              <a:lnSpc>
                <a:spcPct val="95000"/>
              </a:lnSpc>
              <a:spcAft>
                <a:spcPts val="0"/>
              </a:spcAft>
            </a:pPr>
            <a:r>
              <a:rPr sz="1200" b="0" i="0">
                <a:solidFill>
                  <a:srgbClr val="5B5F68"/>
                </a:solidFill>
                <a:latin typeface="Segoe UI"/>
              </a:rPr>
              <a:t>CERN's official metric
(threshold 0.86)</a:t>
            </a:r>
          </a:p>
        </p:txBody>
      </p:sp>
      <p:sp>
        <p:nvSpPr>
          <p:cNvPr id="11" name="TextBox 10"/>
          <p:cNvSpPr txBox="1"/>
          <p:nvPr/>
        </p:nvSpPr>
        <p:spPr>
          <a:xfrm>
            <a:off x="6035040" y="5440680"/>
            <a:ext cx="5577840" cy="91440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Background is recognised 90% of the time, signal 73%. When the model says 'Higgs', it is right 79% of the time. Tuning added +0.005 AUC: XGBoost's defaults are already strong.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5" fill="hold">
                            <p:stCondLst>
                              <p:cond delay="450"/>
                            </p:stCondLst>
                            <p:childTnLst>
                              <p:par>
                                <p:cTn id="12" presetID="22" presetClass="entr" presetSubtype="8"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700"/>
                                        <p:tgtEl>
                                          <p:spTgt spid="4"/>
                                        </p:tgtEl>
                                      </p:cBhvr>
                                    </p:animEffect>
                                  </p:childTnLst>
                                </p:cTn>
                              </p:par>
                            </p:childTnLst>
                          </p:cTn>
                        </p:par>
                      </p:childTnLst>
                    </p:cTn>
                  </p:par>
                  <p:par>
                    <p:cTn id="16" fill="hold">
                      <p:stCondLst>
                        <p:cond delay="indefinite"/>
                      </p:stCondLst>
                      <p:childTnLst>
                        <p:par>
                          <p:cTn id="22"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50"/>
                                        <p:tgtEl>
                                          <p:spTgt spid="7"/>
                                        </p:tgtEl>
                                      </p:cBhvr>
                                    </p:animEffect>
                                    <p:anim calcmode="lin" valueType="num">
                                      <p:cBhvr>
                                        <p:cTn id="20" dur="550" fill="hold"/>
                                        <p:tgtEl>
                                          <p:spTgt spid="7"/>
                                        </p:tgtEl>
                                        <p:attrNameLst>
                                          <p:attrName>ppt_w</p:attrName>
                                        </p:attrNameLst>
                                      </p:cBhvr>
                                      <p:tavLst>
                                        <p:tav tm="0">
                                          <p:val>
                                            <p:strVal val="#ppt_w*0.8"/>
                                          </p:val>
                                        </p:tav>
                                        <p:tav tm="100000">
                                          <p:val>
                                            <p:strVal val="#ppt_w"/>
                                          </p:val>
                                        </p:tav>
                                      </p:tavLst>
                                    </p:anim>
                                    <p:anim calcmode="lin" valueType="num">
                                      <p:cBhvr>
                                        <p:cTn id="21" dur="550" fill="hold"/>
                                        <p:tgtEl>
                                          <p:spTgt spid="7"/>
                                        </p:tgtEl>
                                        <p:attrNameLst>
                                          <p:attrName>ppt_h</p:attrName>
                                        </p:attrNameLst>
                                      </p:cBhvr>
                                      <p:tavLst>
                                        <p:tav tm="0">
                                          <p:val>
                                            <p:strVal val="#ppt_h*0.8"/>
                                          </p:val>
                                        </p:tav>
                                        <p:tav tm="100000">
                                          <p:val>
                                            <p:strVal val="#ppt_h"/>
                                          </p:val>
                                        </p:tav>
                                      </p:tavLst>
                                    </p:anim>
                                  </p:childTnLst>
                                </p:cTn>
                              </p:par>
                            </p:childTnLst>
                          </p:cTn>
                        </p:par>
                        <p:par>
                          <p:cTn id="28" fill="hold">
                            <p:stCondLst>
                              <p:cond delay="550"/>
                            </p:stCondLst>
                            <p:childTnLst>
                              <p:par>
                                <p:cTn id="23" presetID="53" presetClass="entr" presetSubtype="16"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50"/>
                                        <p:tgtEl>
                                          <p:spTgt spid="8"/>
                                        </p:tgtEl>
                                      </p:cBhvr>
                                    </p:animEffect>
                                    <p:anim calcmode="lin" valueType="num">
                                      <p:cBhvr>
                                        <p:cTn id="26" dur="550" fill="hold"/>
                                        <p:tgtEl>
                                          <p:spTgt spid="8"/>
                                        </p:tgtEl>
                                        <p:attrNameLst>
                                          <p:attrName>ppt_w</p:attrName>
                                        </p:attrNameLst>
                                      </p:cBhvr>
                                      <p:tavLst>
                                        <p:tav tm="0">
                                          <p:val>
                                            <p:strVal val="#ppt_w*0.8"/>
                                          </p:val>
                                        </p:tav>
                                        <p:tav tm="100000">
                                          <p:val>
                                            <p:strVal val="#ppt_w"/>
                                          </p:val>
                                        </p:tav>
                                      </p:tavLst>
                                    </p:anim>
                                    <p:anim calcmode="lin" valueType="num">
                                      <p:cBhvr>
                                        <p:cTn id="27" dur="550" fill="hold"/>
                                        <p:tgtEl>
                                          <p:spTgt spid="8"/>
                                        </p:tgtEl>
                                        <p:attrNameLst>
                                          <p:attrName>ppt_h</p:attrName>
                                        </p:attrNameLst>
                                      </p:cBhvr>
                                      <p:tavLst>
                                        <p:tav tm="0">
                                          <p:val>
                                            <p:strVal val="#ppt_h*0.8"/>
                                          </p:val>
                                        </p:tav>
                                        <p:tav tm="100000">
                                          <p:val>
                                            <p:strVal val="#ppt_h"/>
                                          </p:val>
                                        </p:tav>
                                      </p:tavLst>
                                    </p:anim>
                                  </p:childTnLst>
                                </p:cTn>
                              </p:par>
                            </p:childTnLst>
                          </p:cTn>
                        </p:par>
                      </p:childTnLst>
                    </p:cTn>
                  </p:par>
                  <p:par>
                    <p:cTn id="29" fill="hold">
                      <p:stCondLst>
                        <p:cond delay="indefinite"/>
                      </p:stCondLst>
                      <p:childTnLst>
                        <p:par>
                          <p:cTn id="35"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50"/>
                                        <p:tgtEl>
                                          <p:spTgt spid="5"/>
                                        </p:tgtEl>
                                      </p:cBhvr>
                                    </p:animEffect>
                                    <p:anim calcmode="lin" valueType="num">
                                      <p:cBhvr>
                                        <p:cTn id="33" dur="550" fill="hold"/>
                                        <p:tgtEl>
                                          <p:spTgt spid="5"/>
                                        </p:tgtEl>
                                        <p:attrNameLst>
                                          <p:attrName>ppt_w</p:attrName>
                                        </p:attrNameLst>
                                      </p:cBhvr>
                                      <p:tavLst>
                                        <p:tav tm="0">
                                          <p:val>
                                            <p:strVal val="#ppt_w*0.8"/>
                                          </p:val>
                                        </p:tav>
                                        <p:tav tm="100000">
                                          <p:val>
                                            <p:strVal val="#ppt_w"/>
                                          </p:val>
                                        </p:tav>
                                      </p:tavLst>
                                    </p:anim>
                                    <p:anim calcmode="lin" valueType="num">
                                      <p:cBhvr>
                                        <p:cTn id="34" dur="550" fill="hold"/>
                                        <p:tgtEl>
                                          <p:spTgt spid="5"/>
                                        </p:tgtEl>
                                        <p:attrNameLst>
                                          <p:attrName>ppt_h</p:attrName>
                                        </p:attrNameLst>
                                      </p:cBhvr>
                                      <p:tavLst>
                                        <p:tav tm="0">
                                          <p:val>
                                            <p:strVal val="#ppt_h*0.8"/>
                                          </p:val>
                                        </p:tav>
                                        <p:tav tm="100000">
                                          <p:val>
                                            <p:strVal val="#ppt_h"/>
                                          </p:val>
                                        </p:tav>
                                      </p:tavLst>
                                    </p:anim>
                                  </p:childTnLst>
                                </p:cTn>
                              </p:par>
                            </p:childTnLst>
                          </p:cTn>
                        </p:par>
                      </p:childTnLst>
                    </p:cTn>
                  </p:par>
                  <p:par>
                    <p:cTn id="36" fill="hold">
                      <p:stCondLst>
                        <p:cond delay="indefinite"/>
                      </p:stCondLst>
                      <p:childTnLst>
                        <p:par>
                          <p:cTn id="46" fill="hold">
                            <p:stCondLst>
                              <p:cond delay="0"/>
                            </p:stCondLst>
                            <p:childTnLst>
                              <p:par>
                                <p:cTn id="37" presetID="53" presetClass="entr" presetSubtype="16"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50"/>
                                        <p:tgtEl>
                                          <p:spTgt spid="6"/>
                                        </p:tgtEl>
                                      </p:cBhvr>
                                    </p:animEffect>
                                    <p:anim calcmode="lin" valueType="num">
                                      <p:cBhvr>
                                        <p:cTn id="40" dur="550" fill="hold"/>
                                        <p:tgtEl>
                                          <p:spTgt spid="6"/>
                                        </p:tgtEl>
                                        <p:attrNameLst>
                                          <p:attrName>ppt_w</p:attrName>
                                        </p:attrNameLst>
                                      </p:cBhvr>
                                      <p:tavLst>
                                        <p:tav tm="0">
                                          <p:val>
                                            <p:strVal val="#ppt_w*0.8"/>
                                          </p:val>
                                        </p:tav>
                                        <p:tav tm="100000">
                                          <p:val>
                                            <p:strVal val="#ppt_w"/>
                                          </p:val>
                                        </p:tav>
                                      </p:tavLst>
                                    </p:anim>
                                    <p:anim calcmode="lin" valueType="num">
                                      <p:cBhvr>
                                        <p:cTn id="41" dur="550" fill="hold"/>
                                        <p:tgtEl>
                                          <p:spTgt spid="6"/>
                                        </p:tgtEl>
                                        <p:attrNameLst>
                                          <p:attrName>ppt_h</p:attrName>
                                        </p:attrNameLst>
                                      </p:cBhvr>
                                      <p:tavLst>
                                        <p:tav tm="0">
                                          <p:val>
                                            <p:strVal val="#ppt_h*0.8"/>
                                          </p:val>
                                        </p:tav>
                                        <p:tav tm="100000">
                                          <p:val>
                                            <p:strVal val="#ppt_h"/>
                                          </p:val>
                                        </p:tav>
                                      </p:tavLst>
                                    </p:anim>
                                  </p:childTnLst>
                                </p:cTn>
                              </p:par>
                              <p:par>
                                <p:cTn id="42" presetID="42" presetClass="entr" presetSubtype="0" fill="hold"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650"/>
                                        <p:tgtEl>
                                          <p:spTgt spid="11"/>
                                        </p:tgtEl>
                                      </p:cBhvr>
                                    </p:animEffect>
                                    <p:anim calcmode="lin" valueType="num">
                                      <p:cBhvr>
                                        <p:cTn id="45" dur="650" fill="hold"/>
                                        <p:tgtEl>
                                          <p:spTgt spid="11"/>
                                        </p:tgtEl>
                                        <p:attrNameLst>
                                          <p:attrName>ppt_y</p:attrName>
                                        </p:attrNameLst>
                                      </p:cBhvr>
                                      <p:tavLst>
                                        <p:tav tm="0">
                                          <p:val>
                                            <p:strVal val="#ppt_y+0.06"/>
                                          </p:val>
                                        </p:tav>
                                        <p:tav tm="100000">
                                          <p:val>
                                            <p:strVal val="#ppt_y"/>
                                          </p:val>
                                        </p:tav>
                                      </p:tavLst>
                                    </p:anim>
                                  </p:childTnLst>
                                </p:cTn>
                              </p:par>
                            </p:childTnLst>
                          </p:cTn>
                        </p:par>
                      </p:childTnLst>
                    </p:cTn>
                  </p:par>
                  <p:par>
                    <p:cTn id="47" fill="hold">
                      <p:stCondLst>
                        <p:cond delay="indefinite"/>
                      </p:stCondLst>
                      <p:childTnLst>
                        <p:par>
                          <p:cTn id="53"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50"/>
                                        <p:tgtEl>
                                          <p:spTgt spid="9"/>
                                        </p:tgtEl>
                                      </p:cBhvr>
                                    </p:animEffect>
                                    <p:anim calcmode="lin" valueType="num">
                                      <p:cBhvr>
                                        <p:cTn id="51" dur="550" fill="hold"/>
                                        <p:tgtEl>
                                          <p:spTgt spid="9"/>
                                        </p:tgtEl>
                                        <p:attrNameLst>
                                          <p:attrName>ppt_w</p:attrName>
                                        </p:attrNameLst>
                                      </p:cBhvr>
                                      <p:tavLst>
                                        <p:tav tm="0">
                                          <p:val>
                                            <p:strVal val="#ppt_w*0.8"/>
                                          </p:val>
                                        </p:tav>
                                        <p:tav tm="100000">
                                          <p:val>
                                            <p:strVal val="#ppt_w"/>
                                          </p:val>
                                        </p:tav>
                                      </p:tavLst>
                                    </p:anim>
                                    <p:anim calcmode="lin" valueType="num">
                                      <p:cBhvr>
                                        <p:cTn id="52" dur="550" fill="hold"/>
                                        <p:tgtEl>
                                          <p:spTgt spid="9"/>
                                        </p:tgtEl>
                                        <p:attrNameLst>
                                          <p:attrName>ppt_h</p:attrName>
                                        </p:attrNameLst>
                                      </p:cBhvr>
                                      <p:tavLst>
                                        <p:tav tm="0">
                                          <p:val>
                                            <p:strVal val="#ppt_h*0.8"/>
                                          </p:val>
                                        </p:tav>
                                        <p:tav tm="100000">
                                          <p:val>
                                            <p:strVal val="#ppt_h"/>
                                          </p:val>
                                        </p:tav>
                                      </p:tavLst>
                                    </p:anim>
                                  </p:childTnLst>
                                </p:cTn>
                              </p:par>
                            </p:childTnLst>
                          </p:cTn>
                        </p:par>
                        <p:par>
                          <p:cTn id="59" fill="hold">
                            <p:stCondLst>
                              <p:cond delay="550"/>
                            </p:stCondLst>
                            <p:childTnLst>
                              <p:par>
                                <p:cTn id="54" presetID="53" presetClass="entr" presetSubtype="16" fill="hold" nodeType="after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550"/>
                                        <p:tgtEl>
                                          <p:spTgt spid="10"/>
                                        </p:tgtEl>
                                      </p:cBhvr>
                                    </p:animEffect>
                                    <p:anim calcmode="lin" valueType="num">
                                      <p:cBhvr>
                                        <p:cTn id="57" dur="550" fill="hold"/>
                                        <p:tgtEl>
                                          <p:spTgt spid="10"/>
                                        </p:tgtEl>
                                        <p:attrNameLst>
                                          <p:attrName>ppt_w</p:attrName>
                                        </p:attrNameLst>
                                      </p:cBhvr>
                                      <p:tavLst>
                                        <p:tav tm="0">
                                          <p:val>
                                            <p:strVal val="#ppt_w*0.8"/>
                                          </p:val>
                                        </p:tav>
                                        <p:tav tm="100000">
                                          <p:val>
                                            <p:strVal val="#ppt_w"/>
                                          </p:val>
                                        </p:tav>
                                      </p:tavLst>
                                    </p:anim>
                                    <p:anim calcmode="lin" valueType="num">
                                      <p:cBhvr>
                                        <p:cTn id="58" dur="550" fill="hold"/>
                                        <p:tgtEl>
                                          <p:spTgt spid="10"/>
                                        </p:tgtEl>
                                        <p:attrNameLst>
                                          <p:attrName>ppt_h</p:attrName>
                                        </p:attrNameLst>
                                      </p:cBhvr>
                                      <p:tavLst>
                                        <p:tav tm="0">
                                          <p:val>
                                            <p:strVal val="#ppt_h*0.8"/>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502920"/>
            <a:ext cx="3657600" cy="82296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The model rediscovered</a:t>
            </a:r>
          </a:p>
          <a:p>
            <a:pPr algn="l">
              <a:lnSpc>
                <a:spcPct val="100000"/>
              </a:lnSpc>
              <a:spcAft>
                <a:spcPts val="0"/>
              </a:spcAft>
            </a:pPr>
            <a:r>
              <a:rPr sz="1800" b="0" i="0">
                <a:solidFill>
                  <a:srgbClr val="262A33"/>
                </a:solidFill>
                <a:latin typeface="Segoe UI"/>
              </a:rPr>
              <a:t>the Higgs mass</a:t>
            </a:r>
          </a:p>
        </p:txBody>
      </p:sp>
      <p:pic>
        <p:nvPicPr>
          <p:cNvPr id="3" name="Picture 2" descr="dots.png"/>
          <p:cNvPicPr>
            <a:picLocks noChangeAspect="1"/>
          </p:cNvPicPr>
          <p:nvPr/>
        </p:nvPicPr>
        <p:blipFill>
          <a:blip r:embed="rId2"/>
          <a:stretch>
            <a:fillRect/>
          </a:stretch>
        </p:blipFill>
        <p:spPr>
          <a:xfrm>
            <a:off x="4023360" y="502920"/>
            <a:ext cx="1645920" cy="868680"/>
          </a:xfrm>
          <a:prstGeom prst="rect">
            <a:avLst/>
          </a:prstGeom>
        </p:spPr>
      </p:pic>
      <p:pic>
        <p:nvPicPr>
          <p:cNvPr id="4" name="Picture 3" descr="17_shap_dependence_higgs_peak.png"/>
          <p:cNvPicPr>
            <a:picLocks noChangeAspect="1"/>
          </p:cNvPicPr>
          <p:nvPr/>
        </p:nvPicPr>
        <p:blipFill>
          <a:blip r:embed="rId3"/>
          <a:stretch>
            <a:fillRect/>
          </a:stretch>
        </p:blipFill>
        <p:spPr>
          <a:xfrm>
            <a:off x="548640" y="1671656"/>
            <a:ext cx="5760720" cy="2051647"/>
          </a:xfrm>
          <a:prstGeom prst="rect">
            <a:avLst/>
          </a:prstGeom>
        </p:spPr>
      </p:pic>
      <p:pic>
        <p:nvPicPr>
          <p:cNvPr id="5" name="Picture 4" descr="16_shap_bar.png"/>
          <p:cNvPicPr>
            <a:picLocks noChangeAspect="1"/>
          </p:cNvPicPr>
          <p:nvPr/>
        </p:nvPicPr>
        <p:blipFill>
          <a:blip r:embed="rId4"/>
          <a:stretch>
            <a:fillRect/>
          </a:stretch>
        </p:blipFill>
        <p:spPr>
          <a:xfrm>
            <a:off x="742846" y="3931920"/>
            <a:ext cx="2354786" cy="2651760"/>
          </a:xfrm>
          <a:prstGeom prst="rect">
            <a:avLst/>
          </a:prstGeom>
        </p:spPr>
      </p:pic>
      <p:sp>
        <p:nvSpPr>
          <p:cNvPr id="6" name="TextBox 5"/>
          <p:cNvSpPr txBox="1"/>
          <p:nvPr/>
        </p:nvSpPr>
        <p:spPr>
          <a:xfrm>
            <a:off x="6309360" y="822960"/>
            <a:ext cx="5303520" cy="2377440"/>
          </a:xfrm>
          <a:prstGeom prst="rect">
            <a:avLst/>
          </a:prstGeom>
          <a:noFill/>
        </p:spPr>
        <p:txBody>
          <a:bodyPr wrap="square" lIns="0" rIns="0" tIns="0" bIns="0" anchor="b">
            <a:spAutoFit/>
          </a:bodyPr>
          <a:lstStyle/>
          <a:p>
            <a:pPr algn="l">
              <a:lnSpc>
                <a:spcPct val="88000"/>
              </a:lnSpc>
              <a:spcAft>
                <a:spcPts val="0"/>
              </a:spcAft>
            </a:pPr>
            <a:r>
              <a:rPr sz="4800" b="0" i="0">
                <a:solidFill>
                  <a:srgbClr val="262A33"/>
                </a:solidFill>
                <a:latin typeface="Bahnschrift Light"/>
              </a:rPr>
              <a:t>WHAT THE</a:t>
            </a:r>
          </a:p>
          <a:p>
            <a:pPr algn="l">
              <a:lnSpc>
                <a:spcPct val="88000"/>
              </a:lnSpc>
              <a:spcAft>
                <a:spcPts val="0"/>
              </a:spcAft>
            </a:pPr>
            <a:r>
              <a:rPr sz="4800" b="0" i="0">
                <a:solidFill>
                  <a:srgbClr val="262A33"/>
                </a:solidFill>
                <a:latin typeface="Bahnschrift Light"/>
              </a:rPr>
              <a:t>MODEL LEARNED</a:t>
            </a:r>
          </a:p>
        </p:txBody>
      </p:sp>
      <p:sp>
        <p:nvSpPr>
          <p:cNvPr id="7" name="TextBox 6"/>
          <p:cNvSpPr txBox="1"/>
          <p:nvPr/>
        </p:nvSpPr>
        <p:spPr>
          <a:xfrm>
            <a:off x="6400800" y="3520440"/>
            <a:ext cx="2468880" cy="292608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A peak at 125 GeV</a:t>
            </a:r>
          </a:p>
          <a:p>
            <a:pPr algn="l">
              <a:lnSpc>
                <a:spcPct val="105000"/>
              </a:lnSpc>
              <a:spcAft>
                <a:spcPts val="400"/>
              </a:spcAft>
            </a:pPr>
            <a:r>
              <a:rPr sz="1200" b="0" i="0">
                <a:solidFill>
                  <a:srgbClr val="5B5F68"/>
                </a:solidFill>
                <a:latin typeface="Segoe UI"/>
              </a:rPr>
              <a:t>SHAP shows DER_mass_MMC pushes towards 'signal' only around 125 GeV, the mass of the Higgs boson. Nobody told the model that number.</a:t>
            </a:r>
          </a:p>
        </p:txBody>
      </p:sp>
      <p:sp>
        <p:nvSpPr>
          <p:cNvPr id="8" name="TextBox 7"/>
          <p:cNvSpPr txBox="1"/>
          <p:nvPr/>
        </p:nvSpPr>
        <p:spPr>
          <a:xfrm>
            <a:off x="9098280" y="3520440"/>
            <a:ext cx="2468880" cy="292608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Missing = background</a:t>
            </a:r>
          </a:p>
          <a:p>
            <a:pPr algn="l">
              <a:lnSpc>
                <a:spcPct val="105000"/>
              </a:lnSpc>
              <a:spcAft>
                <a:spcPts val="400"/>
              </a:spcAft>
            </a:pPr>
            <a:r>
              <a:rPr sz="1200" b="0" i="0">
                <a:solidFill>
                  <a:srgbClr val="5B5F68"/>
                </a:solidFill>
                <a:latin typeface="Segoe UI"/>
              </a:rPr>
              <a:t>Events with a missing mass get SHAP values of about −1 to −1.6: missingness itself is a clue, exactly as the EDA suggested.</a:t>
            </a:r>
          </a:p>
        </p:txBody>
      </p:sp>
      <p:pic>
        <p:nvPicPr>
          <p:cNvPr id="9" name="Picture 8" descr="19_shap_waterfall_signal.png"/>
          <p:cNvPicPr>
            <a:picLocks noChangeAspect="1"/>
          </p:cNvPicPr>
          <p:nvPr/>
        </p:nvPicPr>
        <p:blipFill>
          <a:blip r:embed="rId5"/>
          <a:stretch>
            <a:fillRect/>
          </a:stretch>
        </p:blipFill>
        <p:spPr>
          <a:xfrm>
            <a:off x="3520440" y="3994620"/>
            <a:ext cx="2743200" cy="2526359"/>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5" fill="hold">
                            <p:stCondLst>
                              <p:cond delay="450"/>
                            </p:stCondLst>
                            <p:childTnLst>
                              <p:par>
                                <p:cTn id="12" presetID="22" presetClass="entr" presetSubtype="8"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700"/>
                                        <p:tgtEl>
                                          <p:spTgt spid="6"/>
                                        </p:tgtEl>
                                      </p:cBhvr>
                                    </p:animEffect>
                                  </p:childTnLst>
                                </p:cTn>
                              </p:par>
                            </p:childTnLst>
                          </p:cTn>
                        </p:par>
                      </p:childTnLst>
                    </p:cTn>
                  </p:par>
                  <p:par>
                    <p:cTn id="16" fill="hold">
                      <p:stCondLst>
                        <p:cond delay="indefinite"/>
                      </p:stCondLst>
                      <p:childTnLst>
                        <p:par>
                          <p:cTn id="2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50"/>
                                        <p:tgtEl>
                                          <p:spTgt spid="4"/>
                                        </p:tgtEl>
                                      </p:cBhvr>
                                    </p:animEffect>
                                    <p:anim calcmode="lin" valueType="num">
                                      <p:cBhvr>
                                        <p:cTn id="20" dur="550" fill="hold"/>
                                        <p:tgtEl>
                                          <p:spTgt spid="4"/>
                                        </p:tgtEl>
                                        <p:attrNameLst>
                                          <p:attrName>ppt_w</p:attrName>
                                        </p:attrNameLst>
                                      </p:cBhvr>
                                      <p:tavLst>
                                        <p:tav tm="0">
                                          <p:val>
                                            <p:strVal val="#ppt_w*0.8"/>
                                          </p:val>
                                        </p:tav>
                                        <p:tav tm="100000">
                                          <p:val>
                                            <p:strVal val="#ppt_w"/>
                                          </p:val>
                                        </p:tav>
                                      </p:tavLst>
                                    </p:anim>
                                    <p:anim calcmode="lin" valueType="num">
                                      <p:cBhvr>
                                        <p:cTn id="21" dur="550" fill="hold"/>
                                        <p:tgtEl>
                                          <p:spTgt spid="4"/>
                                        </p:tgtEl>
                                        <p:attrNameLst>
                                          <p:attrName>ppt_h</p:attrName>
                                        </p:attrNameLst>
                                      </p:cBhvr>
                                      <p:tavLst>
                                        <p:tav tm="0">
                                          <p:val>
                                            <p:strVal val="#ppt_h*0.8"/>
                                          </p:val>
                                        </p:tav>
                                        <p:tav tm="100000">
                                          <p:val>
                                            <p:strVal val="#ppt_h"/>
                                          </p:val>
                                        </p:tav>
                                      </p:tavLst>
                                    </p:anim>
                                  </p:childTnLst>
                                </p:cTn>
                              </p:par>
                              <p:par>
                                <p:cTn id="22" presetID="42"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50"/>
                                        <p:tgtEl>
                                          <p:spTgt spid="7"/>
                                        </p:tgtEl>
                                      </p:cBhvr>
                                    </p:animEffect>
                                    <p:anim calcmode="lin" valueType="num">
                                      <p:cBhvr>
                                        <p:cTn id="25" dur="650" fill="hold"/>
                                        <p:tgtEl>
                                          <p:spTgt spid="7"/>
                                        </p:tgtEl>
                                        <p:attrNameLst>
                                          <p:attrName>ppt_y</p:attrName>
                                        </p:attrNameLst>
                                      </p:cBhvr>
                                      <p:tavLst>
                                        <p:tav tm="0">
                                          <p:val>
                                            <p:strVal val="#ppt_y+0.06"/>
                                          </p:val>
                                        </p:tav>
                                        <p:tav tm="100000">
                                          <p:val>
                                            <p:strVal val="#ppt_y"/>
                                          </p:val>
                                        </p:tav>
                                      </p:tavLst>
                                    </p:anim>
                                  </p:childTnLst>
                                </p:cTn>
                              </p:par>
                            </p:childTnLst>
                          </p:cTn>
                        </p:par>
                      </p:childTnLst>
                    </p:cTn>
                  </p:par>
                  <p:par>
                    <p:cTn id="27" fill="hold">
                      <p:stCondLst>
                        <p:cond delay="indefinite"/>
                      </p:stCondLst>
                      <p:childTnLst>
                        <p:par>
                          <p:cTn id="32"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650"/>
                                        <p:tgtEl>
                                          <p:spTgt spid="8"/>
                                        </p:tgtEl>
                                      </p:cBhvr>
                                    </p:animEffect>
                                    <p:anim calcmode="lin" valueType="num">
                                      <p:cBhvr>
                                        <p:cTn id="31" dur="650" fill="hold"/>
                                        <p:tgtEl>
                                          <p:spTgt spid="8"/>
                                        </p:tgtEl>
                                        <p:attrNameLst>
                                          <p:attrName>ppt_y</p:attrName>
                                        </p:attrNameLst>
                                      </p:cBhvr>
                                      <p:tavLst>
                                        <p:tav tm="0">
                                          <p:val>
                                            <p:strVal val="#ppt_y+0.06"/>
                                          </p:val>
                                        </p:tav>
                                        <p:tav tm="100000">
                                          <p:val>
                                            <p:strVal val="#ppt_y"/>
                                          </p:val>
                                        </p:tav>
                                      </p:tavLst>
                                    </p:anim>
                                  </p:childTnLst>
                                </p:cTn>
                              </p:par>
                            </p:childTnLst>
                          </p:cTn>
                        </p:par>
                      </p:childTnLst>
                    </p:cTn>
                  </p:par>
                  <p:par>
                    <p:cTn id="33" fill="hold">
                      <p:stCondLst>
                        <p:cond delay="indefinite"/>
                      </p:stCondLst>
                      <p:childTnLst>
                        <p:par>
                          <p:cTn id="39" fill="hold">
                            <p:stCondLst>
                              <p:cond delay="0"/>
                            </p:stCondLst>
                            <p:childTnLst>
                              <p:par>
                                <p:cTn id="34" presetID="53" presetClass="entr" presetSubtype="16"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550"/>
                                        <p:tgtEl>
                                          <p:spTgt spid="5"/>
                                        </p:tgtEl>
                                      </p:cBhvr>
                                    </p:animEffect>
                                    <p:anim calcmode="lin" valueType="num">
                                      <p:cBhvr>
                                        <p:cTn id="37" dur="550" fill="hold"/>
                                        <p:tgtEl>
                                          <p:spTgt spid="5"/>
                                        </p:tgtEl>
                                        <p:attrNameLst>
                                          <p:attrName>ppt_w</p:attrName>
                                        </p:attrNameLst>
                                      </p:cBhvr>
                                      <p:tavLst>
                                        <p:tav tm="0">
                                          <p:val>
                                            <p:strVal val="#ppt_w*0.8"/>
                                          </p:val>
                                        </p:tav>
                                        <p:tav tm="100000">
                                          <p:val>
                                            <p:strVal val="#ppt_w"/>
                                          </p:val>
                                        </p:tav>
                                      </p:tavLst>
                                    </p:anim>
                                    <p:anim calcmode="lin" valueType="num">
                                      <p:cBhvr>
                                        <p:cTn id="38" dur="550" fill="hold"/>
                                        <p:tgtEl>
                                          <p:spTgt spid="5"/>
                                        </p:tgtEl>
                                        <p:attrNameLst>
                                          <p:attrName>ppt_h</p:attrName>
                                        </p:attrNameLst>
                                      </p:cBhvr>
                                      <p:tavLst>
                                        <p:tav tm="0">
                                          <p:val>
                                            <p:strVal val="#ppt_h*0.8"/>
                                          </p:val>
                                        </p:tav>
                                        <p:tav tm="100000">
                                          <p:val>
                                            <p:strVal val="#ppt_h"/>
                                          </p:val>
                                        </p:tav>
                                      </p:tavLst>
                                    </p:anim>
                                  </p:childTnLst>
                                </p:cTn>
                              </p:par>
                            </p:childTnLst>
                          </p:cTn>
                        </p:par>
                      </p:childTnLst>
                    </p:cTn>
                  </p:par>
                  <p:par>
                    <p:cTn id="40" fill="hold">
                      <p:stCondLst>
                        <p:cond delay="indefinite"/>
                      </p:stCondLst>
                      <p:childTnLst>
                        <p:par>
                          <p:cTn id="46"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50"/>
                                        <p:tgtEl>
                                          <p:spTgt spid="9"/>
                                        </p:tgtEl>
                                      </p:cBhvr>
                                    </p:animEffect>
                                    <p:anim calcmode="lin" valueType="num">
                                      <p:cBhvr>
                                        <p:cTn id="44" dur="550" fill="hold"/>
                                        <p:tgtEl>
                                          <p:spTgt spid="9"/>
                                        </p:tgtEl>
                                        <p:attrNameLst>
                                          <p:attrName>ppt_w</p:attrName>
                                        </p:attrNameLst>
                                      </p:cBhvr>
                                      <p:tavLst>
                                        <p:tav tm="0">
                                          <p:val>
                                            <p:strVal val="#ppt_w*0.8"/>
                                          </p:val>
                                        </p:tav>
                                        <p:tav tm="100000">
                                          <p:val>
                                            <p:strVal val="#ppt_w"/>
                                          </p:val>
                                        </p:tav>
                                      </p:tavLst>
                                    </p:anim>
                                    <p:anim calcmode="lin" valueType="num">
                                      <p:cBhvr>
                                        <p:cTn id="45" dur="550" fill="hold"/>
                                        <p:tgtEl>
                                          <p:spTgt spid="9"/>
                                        </p:tgtEl>
                                        <p:attrNameLst>
                                          <p:attrName>ppt_h</p:attrName>
                                        </p:attrNameLst>
                                      </p:cBhvr>
                                      <p:tavLst>
                                        <p:tav tm="0">
                                          <p:val>
                                            <p:strVal val="#ppt_h*0.8"/>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pic>
        <p:nvPicPr>
          <p:cNvPr id="2" name="Picture 1" descr="dots.png"/>
          <p:cNvPicPr>
            <a:picLocks noChangeAspect="1"/>
          </p:cNvPicPr>
          <p:nvPr/>
        </p:nvPicPr>
        <p:blipFill>
          <a:blip r:embed="rId2"/>
          <a:stretch>
            <a:fillRect/>
          </a:stretch>
        </p:blipFill>
        <p:spPr>
          <a:xfrm>
            <a:off x="2377440" y="502920"/>
            <a:ext cx="1645920" cy="868680"/>
          </a:xfrm>
          <a:prstGeom prst="rect">
            <a:avLst/>
          </a:prstGeom>
        </p:spPr>
      </p:pic>
      <p:sp>
        <p:nvSpPr>
          <p:cNvPr id="3" name="TextBox 2"/>
          <p:cNvSpPr txBox="1"/>
          <p:nvPr/>
        </p:nvSpPr>
        <p:spPr>
          <a:xfrm>
            <a:off x="685800" y="1463040"/>
            <a:ext cx="6766560" cy="2377440"/>
          </a:xfrm>
          <a:prstGeom prst="rect">
            <a:avLst/>
          </a:prstGeom>
          <a:noFill/>
        </p:spPr>
        <p:txBody>
          <a:bodyPr wrap="square" lIns="0" rIns="0" tIns="0" bIns="0" anchor="b">
            <a:spAutoFit/>
          </a:bodyPr>
          <a:lstStyle/>
          <a:p>
            <a:pPr algn="l">
              <a:lnSpc>
                <a:spcPct val="88000"/>
              </a:lnSpc>
              <a:spcAft>
                <a:spcPts val="0"/>
              </a:spcAft>
            </a:pPr>
            <a:r>
              <a:rPr sz="6000" b="0" i="0">
                <a:solidFill>
                  <a:srgbClr val="262A33"/>
                </a:solidFill>
                <a:latin typeface="Bahnschrift Light"/>
              </a:rPr>
              <a:t>IMPROVING</a:t>
            </a:r>
          </a:p>
          <a:p>
            <a:pPr algn="l">
              <a:lnSpc>
                <a:spcPct val="88000"/>
              </a:lnSpc>
              <a:spcAft>
                <a:spcPts val="0"/>
              </a:spcAft>
            </a:pPr>
            <a:r>
              <a:rPr sz="6000" b="0" i="0">
                <a:solidFill>
                  <a:srgbClr val="262A33"/>
                </a:solidFill>
                <a:latin typeface="Bahnschrift Light"/>
              </a:rPr>
              <a:t>THE MODEL</a:t>
            </a:r>
          </a:p>
        </p:txBody>
      </p:sp>
      <p:sp>
        <p:nvSpPr>
          <p:cNvPr id="4" name="TextBox 3"/>
          <p:cNvSpPr txBox="1"/>
          <p:nvPr/>
        </p:nvSpPr>
        <p:spPr>
          <a:xfrm>
            <a:off x="5029200" y="2743200"/>
            <a:ext cx="2194560" cy="9144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More data beats</a:t>
            </a:r>
          </a:p>
          <a:p>
            <a:pPr algn="l">
              <a:lnSpc>
                <a:spcPct val="100000"/>
              </a:lnSpc>
              <a:spcAft>
                <a:spcPts val="0"/>
              </a:spcAft>
            </a:pPr>
            <a:r>
              <a:rPr sz="1800" b="0" i="0">
                <a:solidFill>
                  <a:srgbClr val="262A33"/>
                </a:solidFill>
                <a:latin typeface="Segoe UI"/>
              </a:rPr>
              <a:t>more tuning</a:t>
            </a:r>
          </a:p>
        </p:txBody>
      </p:sp>
      <p:pic>
        <p:nvPicPr>
          <p:cNvPr id="5" name="Picture 4" descr="23_improvement_steps.png"/>
          <p:cNvPicPr>
            <a:picLocks noChangeAspect="1"/>
          </p:cNvPicPr>
          <p:nvPr/>
        </p:nvPicPr>
        <p:blipFill>
          <a:blip r:embed="rId3"/>
          <a:stretch>
            <a:fillRect/>
          </a:stretch>
        </p:blipFill>
        <p:spPr>
          <a:xfrm>
            <a:off x="7223760" y="962396"/>
            <a:ext cx="4343400" cy="1915686"/>
          </a:xfrm>
          <a:prstGeom prst="rect">
            <a:avLst/>
          </a:prstGeom>
        </p:spPr>
      </p:pic>
      <p:sp>
        <p:nvSpPr>
          <p:cNvPr id="6" name="TextBox 5"/>
          <p:cNvSpPr txBox="1"/>
          <p:nvPr/>
        </p:nvSpPr>
        <p:spPr>
          <a:xfrm>
            <a:off x="685800" y="4526280"/>
            <a:ext cx="3429000" cy="274320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Feature engineering  +0.0007</a:t>
            </a:r>
          </a:p>
          <a:p>
            <a:pPr algn="l">
              <a:lnSpc>
                <a:spcPct val="105000"/>
              </a:lnSpc>
              <a:spcAft>
                <a:spcPts val="400"/>
              </a:spcAft>
            </a:pPr>
            <a:r>
              <a:rPr sz="1200" b="0" i="0">
                <a:solidFill>
                  <a:srgbClr val="5B5F68"/>
                </a:solidFill>
                <a:latin typeface="Segoe UI"/>
              </a:rPr>
              <a:t>Angles between particles (dphi) instead of raw angles, |eta|, transverse mass. dphi_tau_lep became the 5th most important feature.</a:t>
            </a:r>
          </a:p>
        </p:txBody>
      </p:sp>
      <p:sp>
        <p:nvSpPr>
          <p:cNvPr id="7" name="TextBox 6"/>
          <p:cNvSpPr txBox="1"/>
          <p:nvPr/>
        </p:nvSpPr>
        <p:spPr>
          <a:xfrm>
            <a:off x="4389120" y="4526280"/>
            <a:ext cx="3429000" cy="274320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Feature selection  ±0</a:t>
            </a:r>
          </a:p>
          <a:p>
            <a:pPr algn="l">
              <a:lnSpc>
                <a:spcPct val="105000"/>
              </a:lnSpc>
              <a:spcAft>
                <a:spcPts val="400"/>
              </a:spcAft>
            </a:pPr>
            <a:r>
              <a:rPr sz="1200" b="0" i="0">
                <a:solidFill>
                  <a:srgbClr val="5B5F68"/>
                </a:solidFill>
                <a:latin typeface="Segoe UI"/>
              </a:rPr>
              <a:t>Top 25 of 35 features by SHAP give the same score: about 10 features can go at no cost. Below 20 the score drops.</a:t>
            </a:r>
          </a:p>
        </p:txBody>
      </p:sp>
      <p:sp>
        <p:nvSpPr>
          <p:cNvPr id="8" name="TextBox 7"/>
          <p:cNvSpPr txBox="1"/>
          <p:nvPr/>
        </p:nvSpPr>
        <p:spPr>
          <a:xfrm>
            <a:off x="8092440" y="4526280"/>
            <a:ext cx="3429000" cy="274320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More data  +0.003</a:t>
            </a:r>
          </a:p>
          <a:p>
            <a:pPr algn="l">
              <a:lnSpc>
                <a:spcPct val="105000"/>
              </a:lnSpc>
              <a:spcAft>
                <a:spcPts val="400"/>
              </a:spcAft>
            </a:pPr>
            <a:r>
              <a:rPr sz="1200" b="0" i="0">
                <a:solidFill>
                  <a:srgbClr val="5B5F68"/>
                </a:solidFill>
                <a:latin typeface="Segoe UI"/>
              </a:rPr>
              <a:t>Adding 568k extra labelled events (training only) gave the biggest jump: AUC 0.911 → 0.914. Differences &lt; 0.001 are noise.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6" fill="hold">
                      <p:stCondLst>
                        <p:cond delay="indefinite"/>
                      </p:stCondLst>
                      <p:childTnLst>
                        <p:par>
                          <p:cTn id="21"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50"/>
                                        <p:tgtEl>
                                          <p:spTgt spid="6"/>
                                        </p:tgtEl>
                                      </p:cBhvr>
                                    </p:animEffect>
                                    <p:anim calcmode="lin" valueType="num">
                                      <p:cBhvr>
                                        <p:cTn id="20" dur="650" fill="hold"/>
                                        <p:tgtEl>
                                          <p:spTgt spid="6"/>
                                        </p:tgtEl>
                                        <p:attrNameLst>
                                          <p:attrName>ppt_y</p:attrName>
                                        </p:attrNameLst>
                                      </p:cBhvr>
                                      <p:tavLst>
                                        <p:tav tm="0">
                                          <p:val>
                                            <p:strVal val="#ppt_y+0.06"/>
                                          </p:val>
                                        </p:tav>
                                        <p:tav tm="100000">
                                          <p:val>
                                            <p:strVal val="#ppt_y"/>
                                          </p:val>
                                        </p:tav>
                                      </p:tavLst>
                                    </p:anim>
                                  </p:childTnLst>
                                </p:cTn>
                              </p:par>
                            </p:childTnLst>
                          </p:cTn>
                        </p:par>
                      </p:childTnLst>
                    </p:cTn>
                  </p:par>
                  <p:par>
                    <p:cTn id="22" fill="hold">
                      <p:stCondLst>
                        <p:cond delay="indefinite"/>
                      </p:stCondLst>
                      <p:childTnLst>
                        <p:par>
                          <p:cTn id="27"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650"/>
                                        <p:tgtEl>
                                          <p:spTgt spid="7"/>
                                        </p:tgtEl>
                                      </p:cBhvr>
                                    </p:animEffect>
                                    <p:anim calcmode="lin" valueType="num">
                                      <p:cBhvr>
                                        <p:cTn id="26" dur="650" fill="hold"/>
                                        <p:tgtEl>
                                          <p:spTgt spid="7"/>
                                        </p:tgtEl>
                                        <p:attrNameLst>
                                          <p:attrName>ppt_y</p:attrName>
                                        </p:attrNameLst>
                                      </p:cBhvr>
                                      <p:tavLst>
                                        <p:tav tm="0">
                                          <p:val>
                                            <p:strVal val="#ppt_y+0.06"/>
                                          </p:val>
                                        </p:tav>
                                        <p:tav tm="100000">
                                          <p:val>
                                            <p:strVal val="#ppt_y"/>
                                          </p:val>
                                        </p:tav>
                                      </p:tavLst>
                                    </p:anim>
                                  </p:childTnLst>
                                </p:cTn>
                              </p:par>
                            </p:childTnLst>
                          </p:cTn>
                        </p:par>
                      </p:childTnLst>
                    </p:cTn>
                  </p:par>
                  <p:par>
                    <p:cTn id="28" fill="hold">
                      <p:stCondLst>
                        <p:cond delay="indefinite"/>
                      </p:stCondLst>
                      <p:childTnLst>
                        <p:par>
                          <p:cTn id="3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50"/>
                                        <p:tgtEl>
                                          <p:spTgt spid="8"/>
                                        </p:tgtEl>
                                      </p:cBhvr>
                                    </p:animEffect>
                                    <p:anim calcmode="lin" valueType="num">
                                      <p:cBhvr>
                                        <p:cTn id="32" dur="650" fill="hold"/>
                                        <p:tgtEl>
                                          <p:spTgt spid="8"/>
                                        </p:tgtEl>
                                        <p:attrNameLst>
                                          <p:attrName>ppt_y</p:attrName>
                                        </p:attrNameLst>
                                      </p:cBhvr>
                                      <p:tavLst>
                                        <p:tav tm="0">
                                          <p:val>
                                            <p:strVal val="#ppt_y+0.06"/>
                                          </p:val>
                                        </p:tav>
                                        <p:tav tm="100000">
                                          <p:val>
                                            <p:strVal val="#ppt_y"/>
                                          </p:val>
                                        </p:tav>
                                      </p:tavLst>
                                    </p:anim>
                                  </p:childTnLst>
                                </p:cTn>
                              </p:par>
                              <p:par>
                                <p:cTn id="33" presetID="53" presetClass="entr" presetSubtype="16" fill="hold"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50"/>
                                        <p:tgtEl>
                                          <p:spTgt spid="5"/>
                                        </p:tgtEl>
                                      </p:cBhvr>
                                    </p:animEffect>
                                    <p:anim calcmode="lin" valueType="num">
                                      <p:cBhvr>
                                        <p:cTn id="36" dur="550" fill="hold"/>
                                        <p:tgtEl>
                                          <p:spTgt spid="5"/>
                                        </p:tgtEl>
                                        <p:attrNameLst>
                                          <p:attrName>ppt_w</p:attrName>
                                        </p:attrNameLst>
                                      </p:cBhvr>
                                      <p:tavLst>
                                        <p:tav tm="0">
                                          <p:val>
                                            <p:strVal val="#ppt_w*0.8"/>
                                          </p:val>
                                        </p:tav>
                                        <p:tav tm="100000">
                                          <p:val>
                                            <p:strVal val="#ppt_w"/>
                                          </p:val>
                                        </p:tav>
                                      </p:tavLst>
                                    </p:anim>
                                    <p:anim calcmode="lin" valueType="num">
                                      <p:cBhvr>
                                        <p:cTn id="37" dur="550" fill="hold"/>
                                        <p:tgtEl>
                                          <p:spTgt spid="5"/>
                                        </p:tgtEl>
                                        <p:attrNameLst>
                                          <p:attrName>ppt_h</p:attrName>
                                        </p:attrNameLst>
                                      </p:cBhvr>
                                      <p:tavLst>
                                        <p:tav tm="0">
                                          <p:val>
                                            <p:strVal val="#ppt_h*0.8"/>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502920"/>
            <a:ext cx="3429000" cy="182880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Preprocessing</a:t>
            </a:r>
          </a:p>
          <a:p>
            <a:pPr algn="l">
              <a:lnSpc>
                <a:spcPct val="105000"/>
              </a:lnSpc>
              <a:spcAft>
                <a:spcPts val="400"/>
              </a:spcAft>
            </a:pPr>
            <a:r>
              <a:rPr sz="1200" b="0" i="0">
                <a:solidFill>
                  <a:srgbClr val="5B5F68"/>
                </a:solidFill>
                <a:latin typeface="Segoe UI"/>
              </a:rPr>
              <a:t>No scaling needed. Leave missing values as NaN. Encode categoricals (one-hot or enable_categorical=True).</a:t>
            </a:r>
          </a:p>
        </p:txBody>
      </p:sp>
      <p:sp>
        <p:nvSpPr>
          <p:cNvPr id="3" name="TextBox 2"/>
          <p:cNvSpPr txBox="1"/>
          <p:nvPr/>
        </p:nvSpPr>
        <p:spPr>
          <a:xfrm>
            <a:off x="4389120" y="502920"/>
            <a:ext cx="3429000" cy="182880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Tuning strategy</a:t>
            </a:r>
          </a:p>
          <a:p>
            <a:pPr algn="l">
              <a:lnSpc>
                <a:spcPct val="105000"/>
              </a:lnSpc>
              <a:spcAft>
                <a:spcPts val="400"/>
              </a:spcAft>
            </a:pPr>
            <a:r>
              <a:rPr sz="1200" b="0" i="0">
                <a:solidFill>
                  <a:srgbClr val="5B5F68"/>
                </a:solidFill>
                <a:latin typeface="Segoe UI"/>
              </a:rPr>
              <a:t>Fix lr 0.1 + early stopping → depth &amp; min_child_weight → gamma → subsample → lambda/alpha → lower lr, more trees.</a:t>
            </a:r>
          </a:p>
        </p:txBody>
      </p:sp>
      <p:pic>
        <p:nvPicPr>
          <p:cNvPr id="4" name="Picture 3" descr="13_ams_vs_threshold.png"/>
          <p:cNvPicPr>
            <a:picLocks noChangeAspect="1"/>
          </p:cNvPicPr>
          <p:nvPr/>
        </p:nvPicPr>
        <p:blipFill>
          <a:blip r:embed="rId2"/>
          <a:stretch>
            <a:fillRect/>
          </a:stretch>
        </p:blipFill>
        <p:spPr>
          <a:xfrm>
            <a:off x="8321040" y="801865"/>
            <a:ext cx="3246120" cy="1596668"/>
          </a:xfrm>
          <a:prstGeom prst="rect">
            <a:avLst/>
          </a:prstGeom>
        </p:spPr>
      </p:pic>
      <p:pic>
        <p:nvPicPr>
          <p:cNvPr id="5" name="Picture 4" descr="dots.png"/>
          <p:cNvPicPr>
            <a:picLocks noChangeAspect="1"/>
          </p:cNvPicPr>
          <p:nvPr/>
        </p:nvPicPr>
        <p:blipFill>
          <a:blip r:embed="rId3"/>
          <a:stretch>
            <a:fillRect/>
          </a:stretch>
        </p:blipFill>
        <p:spPr>
          <a:xfrm>
            <a:off x="9052560" y="5212080"/>
            <a:ext cx="1645920" cy="868680"/>
          </a:xfrm>
          <a:prstGeom prst="rect">
            <a:avLst/>
          </a:prstGeom>
        </p:spPr>
      </p:pic>
      <p:sp>
        <p:nvSpPr>
          <p:cNvPr id="6" name="TextBox 5"/>
          <p:cNvSpPr txBox="1"/>
          <p:nvPr/>
        </p:nvSpPr>
        <p:spPr>
          <a:xfrm>
            <a:off x="685800" y="3063240"/>
            <a:ext cx="5943600" cy="1645920"/>
          </a:xfrm>
          <a:prstGeom prst="rect">
            <a:avLst/>
          </a:prstGeom>
          <a:noFill/>
        </p:spPr>
        <p:txBody>
          <a:bodyPr wrap="square" lIns="0" rIns="0" tIns="0" bIns="0" anchor="t">
            <a:spAutoFit/>
          </a:bodyPr>
          <a:lstStyle/>
          <a:p>
            <a:pPr algn="l">
              <a:spcAft>
                <a:spcPts val="400"/>
              </a:spcAft>
            </a:pPr>
            <a:r>
              <a:rPr sz="1500" b="0" i="0">
                <a:solidFill>
                  <a:srgbClr val="262A33"/>
                </a:solidFill>
                <a:latin typeface="Segoe UI Semibold"/>
              </a:rPr>
              <a:t>Common mistakes</a:t>
            </a:r>
          </a:p>
          <a:p>
            <a:pPr algn="l">
              <a:spcAft>
                <a:spcPts val="400"/>
              </a:spcAft>
            </a:pPr>
            <a:r>
              <a:rPr sz="1400" b="0" i="0">
                <a:solidFill>
                  <a:srgbClr val="5B5F68"/>
                </a:solidFill>
                <a:latin typeface="Segoe UI"/>
              </a:rPr>
              <a:t>Tuning on the test set  ·  high learning rate without early stopping</a:t>
            </a:r>
          </a:p>
          <a:p>
            <a:pPr algn="l">
              <a:spcAft>
                <a:spcPts val="400"/>
              </a:spcAft>
            </a:pPr>
            <a:r>
              <a:rPr sz="1400" b="0" i="0">
                <a:solidFill>
                  <a:srgbClr val="5B5F68"/>
                </a:solidFill>
                <a:latin typeface="Segoe UI"/>
              </a:rPr>
              <a:t>very deep trees  ·  leaking the target  ·  ignoring class imbalance</a:t>
            </a:r>
          </a:p>
        </p:txBody>
      </p:sp>
      <p:sp>
        <p:nvSpPr>
          <p:cNvPr id="7" name="TextBox 6"/>
          <p:cNvSpPr txBox="1"/>
          <p:nvPr/>
        </p:nvSpPr>
        <p:spPr>
          <a:xfrm>
            <a:off x="685800" y="4526280"/>
            <a:ext cx="7772400" cy="2011680"/>
          </a:xfrm>
          <a:prstGeom prst="rect">
            <a:avLst/>
          </a:prstGeom>
          <a:noFill/>
        </p:spPr>
        <p:txBody>
          <a:bodyPr wrap="square" lIns="0" rIns="0" tIns="0" bIns="0" anchor="b">
            <a:spAutoFit/>
          </a:bodyPr>
          <a:lstStyle/>
          <a:p>
            <a:pPr algn="l">
              <a:lnSpc>
                <a:spcPct val="88000"/>
              </a:lnSpc>
              <a:spcAft>
                <a:spcPts val="0"/>
              </a:spcAft>
            </a:pPr>
            <a:r>
              <a:rPr sz="6000" b="0" i="0">
                <a:solidFill>
                  <a:srgbClr val="262A33"/>
                </a:solidFill>
                <a:latin typeface="Bahnschrift Light"/>
              </a:rPr>
              <a:t>PRACTICAL TIPS</a:t>
            </a:r>
          </a:p>
        </p:txBody>
      </p:sp>
      <p:sp>
        <p:nvSpPr>
          <p:cNvPr id="8" name="TextBox 7"/>
          <p:cNvSpPr txBox="1"/>
          <p:nvPr/>
        </p:nvSpPr>
        <p:spPr>
          <a:xfrm>
            <a:off x="8321040" y="3063240"/>
            <a:ext cx="3246120" cy="3291840"/>
          </a:xfrm>
          <a:prstGeom prst="rect">
            <a:avLst/>
          </a:prstGeom>
          <a:noFill/>
        </p:spPr>
        <p:txBody>
          <a:bodyPr wrap="square" lIns="0" rIns="0" tIns="0" bIns="0" anchor="t">
            <a:spAutoFit/>
          </a:bodyPr>
          <a:lstStyle/>
          <a:p>
            <a:pPr algn="l">
              <a:lnSpc>
                <a:spcPct val="105000"/>
              </a:lnSpc>
              <a:spcAft>
                <a:spcPts val="400"/>
              </a:spcAft>
            </a:pPr>
            <a:r>
              <a:rPr sz="1300" b="0" i="0">
                <a:solidFill>
                  <a:srgbClr val="262A33"/>
                </a:solidFill>
                <a:latin typeface="Segoe UI Semibold"/>
              </a:rPr>
              <a:t>Evaluate properly</a:t>
            </a:r>
          </a:p>
          <a:p>
            <a:pPr algn="l">
              <a:lnSpc>
                <a:spcPct val="105000"/>
              </a:lnSpc>
              <a:spcAft>
                <a:spcPts val="400"/>
              </a:spcAft>
            </a:pPr>
            <a:r>
              <a:rPr sz="1200" b="0" i="0">
                <a:solidFill>
                  <a:srgbClr val="5B5F68"/>
                </a:solidFill>
                <a:latin typeface="Segoe UI"/>
              </a:rPr>
              <a:t>Stratified split, separate validation set for early stopping, cross-validation for stability, and pick the threshold that matches your goal.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700"/>
                                        <p:tgtEl>
                                          <p:spTgt spid="7"/>
                                        </p:tgtEl>
                                      </p:cBhvr>
                                    </p:animEffect>
                                  </p:childTnLst>
                                </p:cTn>
                              </p:par>
                            </p:childTnLst>
                          </p:cTn>
                        </p:par>
                      </p:childTnLst>
                    </p:cTn>
                  </p:par>
                  <p:par>
                    <p:cTn id="12" fill="hold">
                      <p:stCondLst>
                        <p:cond delay="indefinite"/>
                      </p:stCondLst>
                      <p:childTnLst>
                        <p:par>
                          <p:cTn id="17"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650"/>
                                        <p:tgtEl>
                                          <p:spTgt spid="2"/>
                                        </p:tgtEl>
                                      </p:cBhvr>
                                    </p:animEffect>
                                    <p:anim calcmode="lin" valueType="num">
                                      <p:cBhvr>
                                        <p:cTn id="16" dur="650" fill="hold"/>
                                        <p:tgtEl>
                                          <p:spTgt spid="2"/>
                                        </p:tgtEl>
                                        <p:attrNameLst>
                                          <p:attrName>ppt_y</p:attrName>
                                        </p:attrNameLst>
                                      </p:cBhvr>
                                      <p:tavLst>
                                        <p:tav tm="0">
                                          <p:val>
                                            <p:strVal val="#ppt_y+0.06"/>
                                          </p:val>
                                        </p:tav>
                                        <p:tav tm="100000">
                                          <p:val>
                                            <p:strVal val="#ppt_y"/>
                                          </p:val>
                                        </p:tav>
                                      </p:tavLst>
                                    </p:anim>
                                  </p:childTnLst>
                                </p:cTn>
                              </p:par>
                            </p:childTnLst>
                          </p:cTn>
                        </p:par>
                      </p:childTnLst>
                    </p:cTn>
                  </p:par>
                  <p:par>
                    <p:cTn id="18" fill="hold">
                      <p:stCondLst>
                        <p:cond delay="indefinite"/>
                      </p:stCondLst>
                      <p:childTnLst>
                        <p:par>
                          <p:cTn id="23"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650"/>
                                        <p:tgtEl>
                                          <p:spTgt spid="3"/>
                                        </p:tgtEl>
                                      </p:cBhvr>
                                    </p:animEffect>
                                    <p:anim calcmode="lin" valueType="num">
                                      <p:cBhvr>
                                        <p:cTn id="22" dur="650" fill="hold"/>
                                        <p:tgtEl>
                                          <p:spTgt spid="3"/>
                                        </p:tgtEl>
                                        <p:attrNameLst>
                                          <p:attrName>ppt_y</p:attrName>
                                        </p:attrNameLst>
                                      </p:cBhvr>
                                      <p:tavLst>
                                        <p:tav tm="0">
                                          <p:val>
                                            <p:strVal val="#ppt_y+0.06"/>
                                          </p:val>
                                        </p:tav>
                                        <p:tav tm="100000">
                                          <p:val>
                                            <p:strVal val="#ppt_y"/>
                                          </p:val>
                                        </p:tav>
                                      </p:tavLst>
                                    </p:anim>
                                  </p:childTnLst>
                                </p:cTn>
                              </p:par>
                            </p:childTnLst>
                          </p:cTn>
                        </p:par>
                      </p:childTnLst>
                    </p:cTn>
                  </p:par>
                  <p:par>
                    <p:cTn id="24" fill="hold">
                      <p:stCondLst>
                        <p:cond delay="indefinite"/>
                      </p:stCondLst>
                      <p:childTnLst>
                        <p:par>
                          <p:cTn id="28"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700"/>
                                        <p:tgtEl>
                                          <p:spTgt spid="6"/>
                                        </p:tgtEl>
                                      </p:cBhvr>
                                    </p:animEffect>
                                  </p:childTnLst>
                                </p:cTn>
                              </p:par>
                            </p:childTnLst>
                          </p:cTn>
                        </p:par>
                      </p:childTnLst>
                    </p:cTn>
                  </p:par>
                  <p:par>
                    <p:cTn id="29" fill="hold">
                      <p:stCondLst>
                        <p:cond delay="indefinite"/>
                      </p:stCondLst>
                      <p:childTnLst>
                        <p:par>
                          <p:cTn id="3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50"/>
                                        <p:tgtEl>
                                          <p:spTgt spid="4"/>
                                        </p:tgtEl>
                                      </p:cBhvr>
                                    </p:animEffect>
                                    <p:anim calcmode="lin" valueType="num">
                                      <p:cBhvr>
                                        <p:cTn id="33" dur="550" fill="hold"/>
                                        <p:tgtEl>
                                          <p:spTgt spid="4"/>
                                        </p:tgtEl>
                                        <p:attrNameLst>
                                          <p:attrName>ppt_w</p:attrName>
                                        </p:attrNameLst>
                                      </p:cBhvr>
                                      <p:tavLst>
                                        <p:tav tm="0">
                                          <p:val>
                                            <p:strVal val="#ppt_w*0.8"/>
                                          </p:val>
                                        </p:tav>
                                        <p:tav tm="100000">
                                          <p:val>
                                            <p:strVal val="#ppt_w"/>
                                          </p:val>
                                        </p:tav>
                                      </p:tavLst>
                                    </p:anim>
                                    <p:anim calcmode="lin" valueType="num">
                                      <p:cBhvr>
                                        <p:cTn id="34" dur="550" fill="hold"/>
                                        <p:tgtEl>
                                          <p:spTgt spid="4"/>
                                        </p:tgtEl>
                                        <p:attrNameLst>
                                          <p:attrName>ppt_h</p:attrName>
                                        </p:attrNameLst>
                                      </p:cBhvr>
                                      <p:tavLst>
                                        <p:tav tm="0">
                                          <p:val>
                                            <p:strVal val="#ppt_h*0.8"/>
                                          </p:val>
                                        </p:tav>
                                        <p:tav tm="100000">
                                          <p:val>
                                            <p:strVal val="#ppt_h"/>
                                          </p:val>
                                        </p:tav>
                                      </p:tavLst>
                                    </p:anim>
                                  </p:childTnLst>
                                </p:cTn>
                              </p:par>
                              <p:par>
                                <p:cTn id="35" presetID="42"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50"/>
                                        <p:tgtEl>
                                          <p:spTgt spid="8"/>
                                        </p:tgtEl>
                                      </p:cBhvr>
                                    </p:animEffect>
                                    <p:anim calcmode="lin" valueType="num">
                                      <p:cBhvr>
                                        <p:cTn id="38" dur="650" fill="hold"/>
                                        <p:tgtEl>
                                          <p:spTgt spid="8"/>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pic>
        <p:nvPicPr>
          <p:cNvPr id="2" name="Picture 1" descr="ai_banner.png"/>
          <p:cNvPicPr>
            <a:picLocks noChangeAspect="1"/>
          </p:cNvPicPr>
          <p:nvPr/>
        </p:nvPicPr>
        <p:blipFill>
          <a:blip r:embed="rId2"/>
          <a:stretch>
            <a:fillRect/>
          </a:stretch>
        </p:blipFill>
        <p:spPr>
          <a:xfrm>
            <a:off x="688340" y="411480"/>
            <a:ext cx="10830559" cy="2377440"/>
          </a:xfrm>
          <a:prstGeom prst="rect">
            <a:avLst/>
          </a:prstGeom>
        </p:spPr>
      </p:pic>
      <p:pic>
        <p:nvPicPr>
          <p:cNvPr id="3" name="Picture 2" descr="dots.png"/>
          <p:cNvPicPr>
            <a:picLocks noChangeAspect="1"/>
          </p:cNvPicPr>
          <p:nvPr/>
        </p:nvPicPr>
        <p:blipFill>
          <a:blip r:embed="rId3"/>
          <a:stretch>
            <a:fillRect/>
          </a:stretch>
        </p:blipFill>
        <p:spPr>
          <a:xfrm>
            <a:off x="4206240" y="3154680"/>
            <a:ext cx="1645920" cy="868680"/>
          </a:xfrm>
          <a:prstGeom prst="rect">
            <a:avLst/>
          </a:prstGeom>
        </p:spPr>
      </p:pic>
      <p:sp>
        <p:nvSpPr>
          <p:cNvPr id="4" name="TextBox 3"/>
          <p:cNvSpPr txBox="1"/>
          <p:nvPr/>
        </p:nvSpPr>
        <p:spPr>
          <a:xfrm>
            <a:off x="685800" y="3703320"/>
            <a:ext cx="4572000" cy="548640"/>
          </a:xfrm>
          <a:prstGeom prst="rect">
            <a:avLst/>
          </a:prstGeom>
          <a:noFill/>
        </p:spPr>
        <p:txBody>
          <a:bodyPr wrap="square" lIns="0" rIns="0" tIns="0" bIns="0" anchor="t">
            <a:spAutoFit/>
          </a:bodyPr>
          <a:lstStyle/>
          <a:p>
            <a:pPr algn="l">
              <a:spcAft>
                <a:spcPts val="0"/>
              </a:spcAft>
            </a:pPr>
            <a:r>
              <a:rPr sz="2600" b="0" i="0">
                <a:solidFill>
                  <a:srgbClr val="262A33"/>
                </a:solidFill>
                <a:latin typeface="Bahnschrift Light"/>
              </a:rPr>
              <a:t>TIME FOR A QUIZ </a:t>
            </a:r>
            <a:r>
              <a:rPr sz="2600" b="0" i="0">
                <a:solidFill>
                  <a:srgbClr val="262A33"/>
                </a:solidFill>
                <a:latin typeface="Segoe UI Emoji"/>
              </a:rPr>
              <a:t>😈</a:t>
            </a:r>
          </a:p>
        </p:txBody>
      </p:sp>
      <p:sp>
        <p:nvSpPr>
          <p:cNvPr id="5" name="TextBox 4"/>
          <p:cNvSpPr txBox="1"/>
          <p:nvPr/>
        </p:nvSpPr>
        <p:spPr>
          <a:xfrm>
            <a:off x="685800" y="4389120"/>
            <a:ext cx="4754880" cy="2011680"/>
          </a:xfrm>
          <a:prstGeom prst="rect">
            <a:avLst/>
          </a:prstGeom>
          <a:noFill/>
        </p:spPr>
        <p:txBody>
          <a:bodyPr wrap="square" lIns="0" rIns="0" tIns="0" bIns="0" anchor="t">
            <a:spAutoFit/>
          </a:bodyPr>
          <a:lstStyle/>
          <a:p>
            <a:pPr algn="l">
              <a:spcAft>
                <a:spcPts val="800"/>
              </a:spcAft>
            </a:pPr>
            <a:r>
              <a:rPr sz="1600" b="0" i="0">
                <a:solidFill>
                  <a:srgbClr val="262A33"/>
                </a:solidFill>
                <a:latin typeface="Segoe UI"/>
              </a:rPr>
              <a:t>▸  Open kahoot.it on your phone</a:t>
            </a:r>
          </a:p>
          <a:p>
            <a:pPr algn="l">
              <a:spcAft>
                <a:spcPts val="800"/>
              </a:spcAft>
            </a:pPr>
            <a:r>
              <a:rPr sz="1600" b="0" i="0">
                <a:solidFill>
                  <a:srgbClr val="262A33"/>
                </a:solidFill>
                <a:latin typeface="Segoe UI"/>
              </a:rPr>
              <a:t>▸  Enter the game PIN on the screen</a:t>
            </a:r>
          </a:p>
          <a:p>
            <a:pPr algn="l">
              <a:spcAft>
                <a:spcPts val="800"/>
              </a:spcAft>
            </a:pPr>
            <a:r>
              <a:rPr sz="1600" b="0" i="0">
                <a:solidFill>
                  <a:srgbClr val="262A33"/>
                </a:solidFill>
                <a:latin typeface="Segoe UI"/>
              </a:rPr>
              <a:t>▸  Code &amp; notebook:</a:t>
            </a:r>
          </a:p>
          <a:p>
            <a:pPr algn="l">
              <a:spcAft>
                <a:spcPts val="800"/>
              </a:spcAft>
            </a:pPr>
            <a:r>
              <a:rPr sz="1400" b="0" i="0">
                <a:solidFill>
                  <a:srgbClr val="5B5F68"/>
                </a:solidFill>
                <a:latin typeface="Segoe UI"/>
                <a:hlinkClick r:id="rId4"/>
              </a:rPr>
              <a:t>github.com/Marwanamer005/XGboosting-</a:t>
            </a:r>
          </a:p>
        </p:txBody>
      </p:sp>
      <p:sp>
        <p:nvSpPr>
          <p:cNvPr id="6" name="TextBox 5"/>
          <p:cNvSpPr txBox="1"/>
          <p:nvPr/>
        </p:nvSpPr>
        <p:spPr>
          <a:xfrm>
            <a:off x="5577840" y="3383280"/>
            <a:ext cx="6035040" cy="1463040"/>
          </a:xfrm>
          <a:prstGeom prst="rect">
            <a:avLst/>
          </a:prstGeom>
          <a:noFill/>
        </p:spPr>
        <p:txBody>
          <a:bodyPr wrap="square" lIns="0" rIns="0" tIns="0" bIns="0" anchor="b">
            <a:spAutoFit/>
          </a:bodyPr>
          <a:lstStyle/>
          <a:p>
            <a:pPr algn="r">
              <a:lnSpc>
                <a:spcPct val="88000"/>
              </a:lnSpc>
              <a:spcAft>
                <a:spcPts val="0"/>
              </a:spcAft>
            </a:pPr>
            <a:r>
              <a:rPr sz="8400" b="0" i="0">
                <a:solidFill>
                  <a:srgbClr val="262A33"/>
                </a:solidFill>
                <a:latin typeface="Bahnschrift Light"/>
              </a:rPr>
              <a:t>THANK YOU</a:t>
            </a:r>
          </a:p>
        </p:txBody>
      </p:sp>
      <p:sp>
        <p:nvSpPr>
          <p:cNvPr id="7" name="TextBox 6"/>
          <p:cNvSpPr txBox="1"/>
          <p:nvPr/>
        </p:nvSpPr>
        <p:spPr>
          <a:xfrm>
            <a:off x="5760720" y="4937760"/>
            <a:ext cx="5760720" cy="1097280"/>
          </a:xfrm>
          <a:prstGeom prst="rect">
            <a:avLst/>
          </a:prstGeom>
          <a:noFill/>
        </p:spPr>
        <p:txBody>
          <a:bodyPr wrap="square" lIns="0" rIns="0" tIns="0" bIns="0" anchor="t">
            <a:spAutoFit/>
          </a:bodyPr>
          <a:lstStyle/>
          <a:p>
            <a:pPr algn="r">
              <a:lnSpc>
                <a:spcPct val="100000"/>
              </a:lnSpc>
              <a:spcAft>
                <a:spcPts val="0"/>
              </a:spcAft>
            </a:pPr>
            <a:r>
              <a:rPr sz="1800" b="0" i="0">
                <a:solidFill>
                  <a:srgbClr val="262A33"/>
                </a:solidFill>
                <a:latin typeface="Segoe UI"/>
              </a:rPr>
              <a:t>Questions? Ask us anything about boosting, the math, or the Higgs boson.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22" presetClass="entr" presetSubtype="8"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wipe(left)">
                                      <p:cBhvr>
                                        <p:cTn id="6" dur="700"/>
                                        <p:tgtEl>
                                          <p:spTgt spid="2"/>
                                        </p:tgtEl>
                                      </p:cBhvr>
                                    </p:animEffect>
                                  </p:childTnLst>
                                </p:cTn>
                              </p:par>
                            </p:childTnLst>
                          </p:cTn>
                        </p:par>
                        <p:par>
                          <p:cTn id="11" fill="hold">
                            <p:stCondLst>
                              <p:cond delay="150"/>
                            </p:stCondLst>
                            <p:childTnLst>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5" fill="hold">
                            <p:stCondLst>
                              <p:cond delay="450"/>
                            </p:stCondLst>
                            <p:childTnLst>
                              <p:par>
                                <p:cTn id="12" presetID="22" presetClass="entr" presetSubtype="8"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700"/>
                                        <p:tgtEl>
                                          <p:spTgt spid="6"/>
                                        </p:tgtEl>
                                      </p:cBhvr>
                                    </p:animEffect>
                                  </p:childTnLst>
                                </p:cTn>
                              </p:par>
                            </p:childTnLst>
                          </p:cTn>
                        </p:par>
                        <p:par>
                          <p:cTn id="19" fill="hold">
                            <p:stCondLst>
                              <p:cond delay="900"/>
                            </p:stCondLst>
                            <p:childTnLst>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20" fill="hold">
                      <p:stCondLst>
                        <p:cond delay="indefinite"/>
                      </p:stCondLst>
                      <p:childTnLst>
                        <p:par>
                          <p:cTn id="25"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650"/>
                                        <p:tgtEl>
                                          <p:spTgt spid="4"/>
                                        </p:tgtEl>
                                      </p:cBhvr>
                                    </p:animEffect>
                                    <p:anim calcmode="lin" valueType="num">
                                      <p:cBhvr>
                                        <p:cTn id="24" dur="650" fill="hold"/>
                                        <p:tgtEl>
                                          <p:spTgt spid="4"/>
                                        </p:tgtEl>
                                        <p:attrNameLst>
                                          <p:attrName>ppt_y</p:attrName>
                                        </p:attrNameLst>
                                      </p:cBhvr>
                                      <p:tavLst>
                                        <p:tav tm="0">
                                          <p:val>
                                            <p:strVal val="#ppt_y+0.06"/>
                                          </p:val>
                                        </p:tav>
                                        <p:tav tm="100000">
                                          <p:val>
                                            <p:strVal val="#ppt_y"/>
                                          </p:val>
                                        </p:tav>
                                      </p:tavLst>
                                    </p:anim>
                                  </p:childTnLst>
                                </p:cTn>
                              </p:par>
                            </p:childTnLst>
                          </p:cTn>
                        </p:par>
                        <p:par>
                          <p:cTn id="30" fill="hold">
                            <p:stCondLst>
                              <p:cond delay="650"/>
                            </p:stCondLst>
                            <p:childTnLst>
                              <p:par>
                                <p:cTn id="26" presetID="42" presetClass="entr" presetSubtype="0"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650"/>
                                        <p:tgtEl>
                                          <p:spTgt spid="5"/>
                                        </p:tgtEl>
                                      </p:cBhvr>
                                    </p:animEffect>
                                    <p:anim calcmode="lin" valueType="num">
                                      <p:cBhvr>
                                        <p:cTn id="29" dur="650" fill="hold"/>
                                        <p:tgtEl>
                                          <p:spTgt spid="5"/>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pic>
        <p:nvPicPr>
          <p:cNvPr id="2" name="Picture 1" descr="dots.png"/>
          <p:cNvPicPr>
            <a:picLocks noChangeAspect="1"/>
          </p:cNvPicPr>
          <p:nvPr/>
        </p:nvPicPr>
        <p:blipFill>
          <a:blip r:embed="rId2"/>
          <a:stretch>
            <a:fillRect/>
          </a:stretch>
        </p:blipFill>
        <p:spPr>
          <a:xfrm>
            <a:off x="9692640" y="822960"/>
            <a:ext cx="1645920" cy="868680"/>
          </a:xfrm>
          <a:prstGeom prst="rect">
            <a:avLst/>
          </a:prstGeom>
        </p:spPr>
      </p:pic>
      <p:sp>
        <p:nvSpPr>
          <p:cNvPr id="3" name="TextBox 2"/>
          <p:cNvSpPr txBox="1"/>
          <p:nvPr/>
        </p:nvSpPr>
        <p:spPr>
          <a:xfrm>
            <a:off x="685800" y="1188720"/>
            <a:ext cx="10515600" cy="2377440"/>
          </a:xfrm>
          <a:prstGeom prst="rect">
            <a:avLst/>
          </a:prstGeom>
          <a:noFill/>
        </p:spPr>
        <p:txBody>
          <a:bodyPr wrap="square" lIns="0" rIns="0" tIns="0" bIns="0" anchor="b">
            <a:spAutoFit/>
          </a:bodyPr>
          <a:lstStyle/>
          <a:p>
            <a:pPr algn="l">
              <a:lnSpc>
                <a:spcPct val="90000"/>
              </a:lnSpc>
              <a:spcAft>
                <a:spcPts val="0"/>
              </a:spcAft>
            </a:pPr>
            <a:r>
              <a:rPr sz="6000" b="0" i="0">
                <a:solidFill>
                  <a:srgbClr val="262A33"/>
                </a:solidFill>
                <a:latin typeface="Bahnschrift Light"/>
              </a:rPr>
              <a:t>Remember the last time you failed a quiz?</a:t>
            </a:r>
          </a:p>
        </p:txBody>
      </p:sp>
      <p:sp>
        <p:nvSpPr>
          <p:cNvPr id="4" name="TextBox 3"/>
          <p:cNvSpPr txBox="1"/>
          <p:nvPr/>
        </p:nvSpPr>
        <p:spPr>
          <a:xfrm>
            <a:off x="731520" y="3840480"/>
            <a:ext cx="10058400" cy="731520"/>
          </a:xfrm>
          <a:prstGeom prst="rect">
            <a:avLst/>
          </a:prstGeom>
          <a:noFill/>
        </p:spPr>
        <p:txBody>
          <a:bodyPr wrap="square" lIns="0" rIns="0" tIns="0" bIns="0" anchor="t">
            <a:spAutoFit/>
          </a:bodyPr>
          <a:lstStyle/>
          <a:p>
            <a:pPr algn="l">
              <a:spcAft>
                <a:spcPts val="0"/>
              </a:spcAft>
            </a:pPr>
            <a:r>
              <a:rPr sz="2400" b="0" i="0">
                <a:solidFill>
                  <a:srgbClr val="5B5F68"/>
                </a:solidFill>
                <a:latin typeface="Segoe UI"/>
              </a:rPr>
              <a:t>You didn't study everything again. You focused on what you got wrong.</a:t>
            </a:r>
          </a:p>
        </p:txBody>
      </p:sp>
      <p:sp>
        <p:nvSpPr>
          <p:cNvPr id="5" name="TextBox 4"/>
          <p:cNvSpPr txBox="1"/>
          <p:nvPr/>
        </p:nvSpPr>
        <p:spPr>
          <a:xfrm>
            <a:off x="731520" y="4800600"/>
            <a:ext cx="10058400" cy="822960"/>
          </a:xfrm>
          <a:prstGeom prst="rect">
            <a:avLst/>
          </a:prstGeom>
          <a:noFill/>
        </p:spPr>
        <p:txBody>
          <a:bodyPr wrap="square" lIns="0" rIns="0" tIns="0" bIns="0" anchor="t">
            <a:spAutoFit/>
          </a:bodyPr>
          <a:lstStyle/>
          <a:p>
            <a:pPr algn="l">
              <a:spcAft>
                <a:spcPts val="0"/>
              </a:spcAft>
            </a:pPr>
            <a:r>
              <a:rPr sz="3000" b="0" i="0">
                <a:solidFill>
                  <a:srgbClr val="262A33"/>
                </a:solidFill>
                <a:latin typeface="Bahnschrift Light"/>
              </a:rPr>
              <a:t>That's exactly how </a:t>
            </a:r>
            <a:r>
              <a:rPr sz="3000" b="0" i="0">
                <a:solidFill>
                  <a:srgbClr val="B5543A"/>
                </a:solidFill>
                <a:latin typeface="Bahnschrift Light"/>
              </a:rPr>
              <a:t>XGBoost</a:t>
            </a:r>
            <a:r>
              <a:rPr sz="3000" b="0" i="0">
                <a:solidFill>
                  <a:srgbClr val="262A33"/>
                </a:solidFill>
                <a:latin typeface="Bahnschrift Light"/>
              </a:rPr>
              <a:t> learns.</a:t>
            </a:r>
          </a:p>
        </p:txBody>
      </p:sp>
      <p:pic>
        <p:nvPicPr>
          <p:cNvPr id="6" name="Picture 5" descr="dots.png"/>
          <p:cNvPicPr>
            <a:picLocks noChangeAspect="1"/>
          </p:cNvPicPr>
          <p:nvPr/>
        </p:nvPicPr>
        <p:blipFill>
          <a:blip r:embed="rId2"/>
          <a:stretch>
            <a:fillRect/>
          </a:stretch>
        </p:blipFill>
        <p:spPr>
          <a:xfrm>
            <a:off x="8595360" y="5486400"/>
            <a:ext cx="1645920" cy="8686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6" fill="hold">
                      <p:stCondLst>
                        <p:cond delay="indefinite"/>
                      </p:stCondLst>
                      <p:childTnLst>
                        <p:par>
                          <p:cTn id="21"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50"/>
                                        <p:tgtEl>
                                          <p:spTgt spid="4"/>
                                        </p:tgtEl>
                                      </p:cBhvr>
                                    </p:animEffect>
                                    <p:anim calcmode="lin" valueType="num">
                                      <p:cBhvr>
                                        <p:cTn id="20" dur="650" fill="hold"/>
                                        <p:tgtEl>
                                          <p:spTgt spid="4"/>
                                        </p:tgtEl>
                                        <p:attrNameLst>
                                          <p:attrName>ppt_y</p:attrName>
                                        </p:attrNameLst>
                                      </p:cBhvr>
                                      <p:tavLst>
                                        <p:tav tm="0">
                                          <p:val>
                                            <p:strVal val="#ppt_y+0.06"/>
                                          </p:val>
                                        </p:tav>
                                        <p:tav tm="100000">
                                          <p:val>
                                            <p:strVal val="#ppt_y"/>
                                          </p:val>
                                        </p:tav>
                                      </p:tavLst>
                                    </p:anim>
                                  </p:childTnLst>
                                </p:cTn>
                              </p:par>
                            </p:childTnLst>
                          </p:cTn>
                        </p:par>
                      </p:childTnLst>
                    </p:cTn>
                  </p:par>
                  <p:par>
                    <p:cTn id="22" fill="hold">
                      <p:stCondLst>
                        <p:cond delay="indefinite"/>
                      </p:stCondLst>
                      <p:childTnLst>
                        <p:par>
                          <p:cTn id="28"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50"/>
                                        <p:tgtEl>
                                          <p:spTgt spid="5"/>
                                        </p:tgtEl>
                                      </p:cBhvr>
                                    </p:animEffect>
                                    <p:anim calcmode="lin" valueType="num">
                                      <p:cBhvr>
                                        <p:cTn id="26" dur="550" fill="hold"/>
                                        <p:tgtEl>
                                          <p:spTgt spid="5"/>
                                        </p:tgtEl>
                                        <p:attrNameLst>
                                          <p:attrName>ppt_w</p:attrName>
                                        </p:attrNameLst>
                                      </p:cBhvr>
                                      <p:tavLst>
                                        <p:tav tm="0">
                                          <p:val>
                                            <p:strVal val="#ppt_w*0.8"/>
                                          </p:val>
                                        </p:tav>
                                        <p:tav tm="100000">
                                          <p:val>
                                            <p:strVal val="#ppt_w"/>
                                          </p:val>
                                        </p:tav>
                                      </p:tavLst>
                                    </p:anim>
                                    <p:anim calcmode="lin" valueType="num">
                                      <p:cBhvr>
                                        <p:cTn id="27" dur="550" fill="hold"/>
                                        <p:tgtEl>
                                          <p:spTgt spid="5"/>
                                        </p:tgtEl>
                                        <p:attrNameLst>
                                          <p:attrName>ppt_h</p:attrName>
                                        </p:attrNameLst>
                                      </p:cBhvr>
                                      <p:tavLst>
                                        <p:tav tm="0">
                                          <p:val>
                                            <p:strVal val="#ppt_h*0.8"/>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pic>
        <p:nvPicPr>
          <p:cNvPr id="2" name="Picture 1" descr="dots.png"/>
          <p:cNvPicPr>
            <a:picLocks noChangeAspect="1"/>
          </p:cNvPicPr>
          <p:nvPr/>
        </p:nvPicPr>
        <p:blipFill>
          <a:blip r:embed="rId2"/>
          <a:stretch>
            <a:fillRect/>
          </a:stretch>
        </p:blipFill>
        <p:spPr>
          <a:xfrm>
            <a:off x="731520" y="3931920"/>
            <a:ext cx="1645920" cy="868680"/>
          </a:xfrm>
          <a:prstGeom prst="rect">
            <a:avLst/>
          </a:prstGeom>
        </p:spPr>
      </p:pic>
      <p:sp>
        <p:nvSpPr>
          <p:cNvPr id="3" name="TextBox 2"/>
          <p:cNvSpPr txBox="1"/>
          <p:nvPr/>
        </p:nvSpPr>
        <p:spPr>
          <a:xfrm>
            <a:off x="685800" y="548640"/>
            <a:ext cx="4572000" cy="1463040"/>
          </a:xfrm>
          <a:prstGeom prst="rect">
            <a:avLst/>
          </a:prstGeom>
          <a:noFill/>
        </p:spPr>
        <p:txBody>
          <a:bodyPr wrap="square" lIns="0" rIns="0" tIns="0" bIns="0" anchor="b">
            <a:spAutoFit/>
          </a:bodyPr>
          <a:lstStyle/>
          <a:p>
            <a:pPr algn="l">
              <a:lnSpc>
                <a:spcPct val="88000"/>
              </a:lnSpc>
              <a:spcAft>
                <a:spcPts val="0"/>
              </a:spcAft>
            </a:pPr>
            <a:r>
              <a:rPr sz="7200" b="0" i="0">
                <a:solidFill>
                  <a:srgbClr val="262A33"/>
                </a:solidFill>
                <a:latin typeface="Bahnschrift Light"/>
              </a:rPr>
              <a:t>AGENDA</a:t>
            </a:r>
          </a:p>
        </p:txBody>
      </p:sp>
      <p:sp>
        <p:nvSpPr>
          <p:cNvPr id="4" name="TextBox 3"/>
          <p:cNvSpPr txBox="1"/>
          <p:nvPr/>
        </p:nvSpPr>
        <p:spPr>
          <a:xfrm>
            <a:off x="685800" y="2057400"/>
            <a:ext cx="4023360" cy="109728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Three parts: the idea, the math, and our code.</a:t>
            </a:r>
          </a:p>
        </p:txBody>
      </p:sp>
      <p:sp>
        <p:nvSpPr>
          <p:cNvPr id="5" name="TextBox 4"/>
          <p:cNvSpPr txBox="1"/>
          <p:nvPr/>
        </p:nvSpPr>
        <p:spPr>
          <a:xfrm>
            <a:off x="4937760" y="594360"/>
            <a:ext cx="1188720" cy="1005840"/>
          </a:xfrm>
          <a:prstGeom prst="rect">
            <a:avLst/>
          </a:prstGeom>
          <a:noFill/>
        </p:spPr>
        <p:txBody>
          <a:bodyPr wrap="square" lIns="0" rIns="0" tIns="0" bIns="0" anchor="t">
            <a:spAutoFit/>
          </a:bodyPr>
          <a:lstStyle/>
          <a:p>
            <a:pPr algn="l">
              <a:spcAft>
                <a:spcPts val="0"/>
              </a:spcAft>
            </a:pPr>
            <a:r>
              <a:rPr sz="5600" b="0" i="0">
                <a:solidFill>
                  <a:srgbClr val="B5543A"/>
                </a:solidFill>
                <a:latin typeface="Bahnschrift Light"/>
              </a:rPr>
              <a:t>01</a:t>
            </a:r>
          </a:p>
        </p:txBody>
      </p:sp>
      <p:sp>
        <p:nvSpPr>
          <p:cNvPr id="6" name="TextBox 5"/>
          <p:cNvSpPr txBox="1"/>
          <p:nvPr/>
        </p:nvSpPr>
        <p:spPr>
          <a:xfrm>
            <a:off x="6126480" y="731520"/>
            <a:ext cx="5486400" cy="457200"/>
          </a:xfrm>
          <a:prstGeom prst="rect">
            <a:avLst/>
          </a:prstGeom>
          <a:noFill/>
        </p:spPr>
        <p:txBody>
          <a:bodyPr wrap="square" lIns="0" rIns="0" tIns="0" bIns="0" anchor="t">
            <a:spAutoFit/>
          </a:bodyPr>
          <a:lstStyle/>
          <a:p>
            <a:pPr algn="l">
              <a:spcAft>
                <a:spcPts val="0"/>
              </a:spcAft>
            </a:pPr>
            <a:r>
              <a:rPr sz="1700" b="0" i="0">
                <a:solidFill>
                  <a:srgbClr val="262A33"/>
                </a:solidFill>
                <a:latin typeface="Segoe UI Semibold"/>
              </a:rPr>
              <a:t>PART 1  ·  XGBOOST EXPLAINED</a:t>
            </a:r>
          </a:p>
        </p:txBody>
      </p:sp>
      <p:sp>
        <p:nvSpPr>
          <p:cNvPr id="7" name="TextBox 6"/>
          <p:cNvSpPr txBox="1"/>
          <p:nvPr/>
        </p:nvSpPr>
        <p:spPr>
          <a:xfrm>
            <a:off x="6126480" y="1161288"/>
            <a:ext cx="5394960" cy="1097280"/>
          </a:xfrm>
          <a:prstGeom prst="rect">
            <a:avLst/>
          </a:prstGeom>
          <a:noFill/>
        </p:spPr>
        <p:txBody>
          <a:bodyPr wrap="square" lIns="0" rIns="0" tIns="0" bIns="0" anchor="t">
            <a:spAutoFit/>
          </a:bodyPr>
          <a:lstStyle/>
          <a:p>
            <a:pPr algn="l">
              <a:lnSpc>
                <a:spcPct val="110000"/>
              </a:lnSpc>
              <a:spcAft>
                <a:spcPts val="0"/>
              </a:spcAft>
            </a:pPr>
            <a:r>
              <a:rPr sz="1250" b="0" i="0">
                <a:solidFill>
                  <a:srgbClr val="5B5F68"/>
                </a:solidFill>
                <a:latin typeface="Segoe UI"/>
              </a:rPr>
              <a:t>History · Trees &amp; teams · How boosting works · Live demo · What makes it eXtreme · Safety features · Hyperparameters · Strengths · Use cases · Rivals</a:t>
            </a:r>
          </a:p>
        </p:txBody>
      </p:sp>
      <p:sp>
        <p:nvSpPr>
          <p:cNvPr id="8" name="TextBox 7"/>
          <p:cNvSpPr txBox="1"/>
          <p:nvPr/>
        </p:nvSpPr>
        <p:spPr>
          <a:xfrm>
            <a:off x="4937760" y="2468879"/>
            <a:ext cx="1188720" cy="1005840"/>
          </a:xfrm>
          <a:prstGeom prst="rect">
            <a:avLst/>
          </a:prstGeom>
          <a:noFill/>
        </p:spPr>
        <p:txBody>
          <a:bodyPr wrap="square" lIns="0" rIns="0" tIns="0" bIns="0" anchor="t">
            <a:spAutoFit/>
          </a:bodyPr>
          <a:lstStyle/>
          <a:p>
            <a:pPr algn="l">
              <a:spcAft>
                <a:spcPts val="0"/>
              </a:spcAft>
            </a:pPr>
            <a:r>
              <a:rPr sz="5600" b="0" i="0">
                <a:solidFill>
                  <a:srgbClr val="B5543A"/>
                </a:solidFill>
                <a:latin typeface="Bahnschrift Light"/>
              </a:rPr>
              <a:t>02</a:t>
            </a:r>
          </a:p>
        </p:txBody>
      </p:sp>
      <p:sp>
        <p:nvSpPr>
          <p:cNvPr id="9" name="TextBox 8"/>
          <p:cNvSpPr txBox="1"/>
          <p:nvPr/>
        </p:nvSpPr>
        <p:spPr>
          <a:xfrm>
            <a:off x="6126480" y="2606039"/>
            <a:ext cx="5486400" cy="457200"/>
          </a:xfrm>
          <a:prstGeom prst="rect">
            <a:avLst/>
          </a:prstGeom>
          <a:noFill/>
        </p:spPr>
        <p:txBody>
          <a:bodyPr wrap="square" lIns="0" rIns="0" tIns="0" bIns="0" anchor="t">
            <a:spAutoFit/>
          </a:bodyPr>
          <a:lstStyle/>
          <a:p>
            <a:pPr algn="l">
              <a:spcAft>
                <a:spcPts val="0"/>
              </a:spcAft>
            </a:pPr>
            <a:r>
              <a:rPr sz="1700" b="0" i="0">
                <a:solidFill>
                  <a:srgbClr val="262A33"/>
                </a:solidFill>
                <a:latin typeface="Segoe UI Semibold"/>
              </a:rPr>
              <a:t>PART 2  ·  THE MATH: HOW IT WORKS</a:t>
            </a:r>
          </a:p>
        </p:txBody>
      </p:sp>
      <p:sp>
        <p:nvSpPr>
          <p:cNvPr id="10" name="TextBox 9"/>
          <p:cNvSpPr txBox="1"/>
          <p:nvPr/>
        </p:nvSpPr>
        <p:spPr>
          <a:xfrm>
            <a:off x="6126480" y="3035808"/>
            <a:ext cx="5394960" cy="1097280"/>
          </a:xfrm>
          <a:prstGeom prst="rect">
            <a:avLst/>
          </a:prstGeom>
          <a:noFill/>
        </p:spPr>
        <p:txBody>
          <a:bodyPr wrap="square" lIns="0" rIns="0" tIns="0" bIns="0" anchor="t">
            <a:spAutoFit/>
          </a:bodyPr>
          <a:lstStyle/>
          <a:p>
            <a:pPr algn="l">
              <a:lnSpc>
                <a:spcPct val="110000"/>
              </a:lnSpc>
              <a:spcAft>
                <a:spcPts val="0"/>
              </a:spcAft>
            </a:pPr>
            <a:r>
              <a:rPr sz="1250" b="0" i="0">
                <a:solidFill>
                  <a:srgbClr val="5B5F68"/>
                </a:solidFill>
                <a:latin typeface="Segoe UI"/>
              </a:rPr>
              <a:t>How one tree is built · Objective, Taylor, g &amp; h · Best leaf value &amp; gain · A worked example · Classification vs regression</a:t>
            </a:r>
          </a:p>
        </p:txBody>
      </p:sp>
      <p:sp>
        <p:nvSpPr>
          <p:cNvPr id="11" name="TextBox 10"/>
          <p:cNvSpPr txBox="1"/>
          <p:nvPr/>
        </p:nvSpPr>
        <p:spPr>
          <a:xfrm>
            <a:off x="4937760" y="4343400"/>
            <a:ext cx="1188720" cy="1005840"/>
          </a:xfrm>
          <a:prstGeom prst="rect">
            <a:avLst/>
          </a:prstGeom>
          <a:noFill/>
        </p:spPr>
        <p:txBody>
          <a:bodyPr wrap="square" lIns="0" rIns="0" tIns="0" bIns="0" anchor="t">
            <a:spAutoFit/>
          </a:bodyPr>
          <a:lstStyle/>
          <a:p>
            <a:pPr algn="l">
              <a:spcAft>
                <a:spcPts val="0"/>
              </a:spcAft>
            </a:pPr>
            <a:r>
              <a:rPr sz="5600" b="0" i="0">
                <a:solidFill>
                  <a:srgbClr val="B5543A"/>
                </a:solidFill>
                <a:latin typeface="Bahnschrift Light"/>
              </a:rPr>
              <a:t>03</a:t>
            </a:r>
          </a:p>
        </p:txBody>
      </p:sp>
      <p:sp>
        <p:nvSpPr>
          <p:cNvPr id="12" name="TextBox 11"/>
          <p:cNvSpPr txBox="1"/>
          <p:nvPr/>
        </p:nvSpPr>
        <p:spPr>
          <a:xfrm>
            <a:off x="6126480" y="4480560"/>
            <a:ext cx="5486400" cy="457200"/>
          </a:xfrm>
          <a:prstGeom prst="rect">
            <a:avLst/>
          </a:prstGeom>
          <a:noFill/>
        </p:spPr>
        <p:txBody>
          <a:bodyPr wrap="square" lIns="0" rIns="0" tIns="0" bIns="0" anchor="t">
            <a:spAutoFit/>
          </a:bodyPr>
          <a:lstStyle/>
          <a:p>
            <a:pPr algn="l">
              <a:spcAft>
                <a:spcPts val="0"/>
              </a:spcAft>
            </a:pPr>
            <a:r>
              <a:rPr sz="1700" b="0" i="0">
                <a:solidFill>
                  <a:srgbClr val="262A33"/>
                </a:solidFill>
                <a:latin typeface="Segoe UI Semibold"/>
              </a:rPr>
              <a:t>PART 3  ·  CODING: FINDING THE HIGGS BOSON</a:t>
            </a:r>
          </a:p>
        </p:txBody>
      </p:sp>
      <p:sp>
        <p:nvSpPr>
          <p:cNvPr id="13" name="TextBox 12"/>
          <p:cNvSpPr txBox="1"/>
          <p:nvPr/>
        </p:nvSpPr>
        <p:spPr>
          <a:xfrm>
            <a:off x="6126480" y="4910328"/>
            <a:ext cx="5394960" cy="1097280"/>
          </a:xfrm>
          <a:prstGeom prst="rect">
            <a:avLst/>
          </a:prstGeom>
          <a:noFill/>
        </p:spPr>
        <p:txBody>
          <a:bodyPr wrap="square" lIns="0" rIns="0" tIns="0" bIns="0" anchor="t">
            <a:spAutoFit/>
          </a:bodyPr>
          <a:lstStyle/>
          <a:p>
            <a:pPr algn="l">
              <a:lnSpc>
                <a:spcPct val="110000"/>
              </a:lnSpc>
              <a:spcAft>
                <a:spcPts val="0"/>
              </a:spcAft>
            </a:pPr>
            <a:r>
              <a:rPr sz="1250" b="0" i="0">
                <a:solidFill>
                  <a:srgbClr val="5B5F68"/>
                </a:solidFill>
                <a:latin typeface="Segoe UI"/>
              </a:rPr>
              <a:t>Install &amp; import · Notebook roadmap · Data &amp; EDA · Training · Results · Benchmark · What the model learned · Improving · Tips</a:t>
            </a:r>
          </a:p>
        </p:txBody>
      </p:sp>
      <p:sp>
        <p:nvSpPr>
          <p:cNvPr id="14" name="TextBox 13"/>
          <p:cNvSpPr txBox="1"/>
          <p:nvPr/>
        </p:nvSpPr>
        <p:spPr>
          <a:xfrm>
            <a:off x="685800" y="5897880"/>
            <a:ext cx="4572000" cy="457200"/>
          </a:xfrm>
          <a:prstGeom prst="rect">
            <a:avLst/>
          </a:prstGeom>
          <a:noFill/>
        </p:spPr>
        <p:txBody>
          <a:bodyPr wrap="square" lIns="0" rIns="0" tIns="0" bIns="0" anchor="t">
            <a:spAutoFit/>
          </a:bodyPr>
          <a:lstStyle/>
          <a:p>
            <a:pPr algn="l">
              <a:spcAft>
                <a:spcPts val="0"/>
              </a:spcAft>
            </a:pPr>
            <a:r>
              <a:rPr sz="1600" b="0" i="1">
                <a:solidFill>
                  <a:srgbClr val="B5543A"/>
                </a:solidFill>
                <a:latin typeface="Segoe UI"/>
              </a:rPr>
              <a:t>…and then a Kahoot quiz! </a:t>
            </a:r>
            <a:r>
              <a:rPr sz="1600" b="0" i="1">
                <a:solidFill>
                  <a:srgbClr val="B5543A"/>
                </a:solidFill>
                <a:latin typeface="Segoe UI Emoji"/>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6" fill="hold">
                      <p:stCondLst>
                        <p:cond delay="indefinite"/>
                      </p:stCondLst>
                      <p:childTnLst>
                        <p:par>
                          <p:cTn id="22"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anim calcmode="lin" valueType="num">
                                      <p:cBhvr>
                                        <p:cTn id="20" dur="550" fill="hold"/>
                                        <p:tgtEl>
                                          <p:spTgt spid="5"/>
                                        </p:tgtEl>
                                        <p:attrNameLst>
                                          <p:attrName>ppt_w</p:attrName>
                                        </p:attrNameLst>
                                      </p:cBhvr>
                                      <p:tavLst>
                                        <p:tav tm="0">
                                          <p:val>
                                            <p:strVal val="#ppt_w*0.8"/>
                                          </p:val>
                                        </p:tav>
                                        <p:tav tm="100000">
                                          <p:val>
                                            <p:strVal val="#ppt_w"/>
                                          </p:val>
                                        </p:tav>
                                      </p:tavLst>
                                    </p:anim>
                                    <p:anim calcmode="lin" valueType="num">
                                      <p:cBhvr>
                                        <p:cTn id="21" dur="550" fill="hold"/>
                                        <p:tgtEl>
                                          <p:spTgt spid="5"/>
                                        </p:tgtEl>
                                        <p:attrNameLst>
                                          <p:attrName>ppt_h</p:attrName>
                                        </p:attrNameLst>
                                      </p:cBhvr>
                                      <p:tavLst>
                                        <p:tav tm="0">
                                          <p:val>
                                            <p:strVal val="#ppt_h*0.8"/>
                                          </p:val>
                                        </p:tav>
                                        <p:tav tm="100000">
                                          <p:val>
                                            <p:strVal val="#ppt_h"/>
                                          </p:val>
                                        </p:tav>
                                      </p:tavLst>
                                    </p:anim>
                                  </p:childTnLst>
                                </p:cTn>
                              </p:par>
                            </p:childTnLst>
                          </p:cTn>
                        </p:par>
                        <p:par>
                          <p:cTn id="26" fill="hold">
                            <p:stCondLst>
                              <p:cond delay="550"/>
                            </p:stCondLst>
                            <p:childTnLst>
                              <p:par>
                                <p:cTn id="23" presetID="22" presetClass="entr" presetSubtype="8"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700"/>
                                        <p:tgtEl>
                                          <p:spTgt spid="6"/>
                                        </p:tgtEl>
                                      </p:cBhvr>
                                    </p:animEffect>
                                  </p:childTnLst>
                                </p:cTn>
                              </p:par>
                            </p:childTnLst>
                          </p:cTn>
                        </p:par>
                        <p:par>
                          <p:cTn id="31" fill="hold">
                            <p:stCondLst>
                              <p:cond delay="1250"/>
                            </p:stCondLst>
                            <p:childTnLst>
                              <p:par>
                                <p:cTn id="27" presetID="42" presetClass="entr" presetSubtype="0"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650"/>
                                        <p:tgtEl>
                                          <p:spTgt spid="7"/>
                                        </p:tgtEl>
                                      </p:cBhvr>
                                    </p:animEffect>
                                    <p:anim calcmode="lin" valueType="num">
                                      <p:cBhvr>
                                        <p:cTn id="30" dur="650" fill="hold"/>
                                        <p:tgtEl>
                                          <p:spTgt spid="7"/>
                                        </p:tgtEl>
                                        <p:attrNameLst>
                                          <p:attrName>ppt_y</p:attrName>
                                        </p:attrNameLst>
                                      </p:cBhvr>
                                      <p:tavLst>
                                        <p:tav tm="0">
                                          <p:val>
                                            <p:strVal val="#ppt_y+0.06"/>
                                          </p:val>
                                        </p:tav>
                                        <p:tav tm="100000">
                                          <p:val>
                                            <p:strVal val="#ppt_y"/>
                                          </p:val>
                                        </p:tav>
                                      </p:tavLst>
                                    </p:anim>
                                  </p:childTnLst>
                                </p:cTn>
                              </p:par>
                            </p:childTnLst>
                          </p:cTn>
                        </p:par>
                      </p:childTnLst>
                    </p:cTn>
                  </p:par>
                  <p:par>
                    <p:cTn id="32" fill="hold">
                      <p:stCondLst>
                        <p:cond delay="indefinite"/>
                      </p:stCondLst>
                      <p:childTnLst>
                        <p:par>
                          <p:cTn id="38"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50"/>
                                        <p:tgtEl>
                                          <p:spTgt spid="8"/>
                                        </p:tgtEl>
                                      </p:cBhvr>
                                    </p:animEffect>
                                    <p:anim calcmode="lin" valueType="num">
                                      <p:cBhvr>
                                        <p:cTn id="36" dur="550" fill="hold"/>
                                        <p:tgtEl>
                                          <p:spTgt spid="8"/>
                                        </p:tgtEl>
                                        <p:attrNameLst>
                                          <p:attrName>ppt_w</p:attrName>
                                        </p:attrNameLst>
                                      </p:cBhvr>
                                      <p:tavLst>
                                        <p:tav tm="0">
                                          <p:val>
                                            <p:strVal val="#ppt_w*0.8"/>
                                          </p:val>
                                        </p:tav>
                                        <p:tav tm="100000">
                                          <p:val>
                                            <p:strVal val="#ppt_w"/>
                                          </p:val>
                                        </p:tav>
                                      </p:tavLst>
                                    </p:anim>
                                    <p:anim calcmode="lin" valueType="num">
                                      <p:cBhvr>
                                        <p:cTn id="37" dur="550" fill="hold"/>
                                        <p:tgtEl>
                                          <p:spTgt spid="8"/>
                                        </p:tgtEl>
                                        <p:attrNameLst>
                                          <p:attrName>ppt_h</p:attrName>
                                        </p:attrNameLst>
                                      </p:cBhvr>
                                      <p:tavLst>
                                        <p:tav tm="0">
                                          <p:val>
                                            <p:strVal val="#ppt_h*0.8"/>
                                          </p:val>
                                        </p:tav>
                                        <p:tav tm="100000">
                                          <p:val>
                                            <p:strVal val="#ppt_h"/>
                                          </p:val>
                                        </p:tav>
                                      </p:tavLst>
                                    </p:anim>
                                  </p:childTnLst>
                                </p:cTn>
                              </p:par>
                            </p:childTnLst>
                          </p:cTn>
                        </p:par>
                        <p:par>
                          <p:cTn id="42" fill="hold">
                            <p:stCondLst>
                              <p:cond delay="550"/>
                            </p:stCondLst>
                            <p:childTnLst>
                              <p:par>
                                <p:cTn id="39" presetID="22" presetClass="entr" presetSubtype="8" fill="hold" nodeType="after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left)">
                                      <p:cBhvr>
                                        <p:cTn id="41" dur="700"/>
                                        <p:tgtEl>
                                          <p:spTgt spid="9"/>
                                        </p:tgtEl>
                                      </p:cBhvr>
                                    </p:animEffect>
                                  </p:childTnLst>
                                </p:cTn>
                              </p:par>
                            </p:childTnLst>
                          </p:cTn>
                        </p:par>
                        <p:par>
                          <p:cTn id="47" fill="hold">
                            <p:stCondLst>
                              <p:cond delay="1250"/>
                            </p:stCondLst>
                            <p:childTnLst>
                              <p:par>
                                <p:cTn id="43" presetID="42" presetClass="entr" presetSubtype="0" fill="hold" nodeType="after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650"/>
                                        <p:tgtEl>
                                          <p:spTgt spid="10"/>
                                        </p:tgtEl>
                                      </p:cBhvr>
                                    </p:animEffect>
                                    <p:anim calcmode="lin" valueType="num">
                                      <p:cBhvr>
                                        <p:cTn id="46" dur="650" fill="hold"/>
                                        <p:tgtEl>
                                          <p:spTgt spid="10"/>
                                        </p:tgtEl>
                                        <p:attrNameLst>
                                          <p:attrName>ppt_y</p:attrName>
                                        </p:attrNameLst>
                                      </p:cBhvr>
                                      <p:tavLst>
                                        <p:tav tm="0">
                                          <p:val>
                                            <p:strVal val="#ppt_y+0.06"/>
                                          </p:val>
                                        </p:tav>
                                        <p:tav tm="100000">
                                          <p:val>
                                            <p:strVal val="#ppt_y"/>
                                          </p:val>
                                        </p:tav>
                                      </p:tavLst>
                                    </p:anim>
                                  </p:childTnLst>
                                </p:cTn>
                              </p:par>
                            </p:childTnLst>
                          </p:cTn>
                        </p:par>
                      </p:childTnLst>
                    </p:cTn>
                  </p:par>
                  <p:par>
                    <p:cTn id="48" fill="hold">
                      <p:stCondLst>
                        <p:cond delay="indefinite"/>
                      </p:stCondLst>
                      <p:childTnLst>
                        <p:par>
                          <p:cTn id="54" fill="hold">
                            <p:stCondLst>
                              <p:cond delay="0"/>
                            </p:stCondLst>
                            <p:childTnLst>
                              <p:par>
                                <p:cTn id="49" presetID="53" presetClass="entr" presetSubtype="16"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50"/>
                                        <p:tgtEl>
                                          <p:spTgt spid="11"/>
                                        </p:tgtEl>
                                      </p:cBhvr>
                                    </p:animEffect>
                                    <p:anim calcmode="lin" valueType="num">
                                      <p:cBhvr>
                                        <p:cTn id="52" dur="550" fill="hold"/>
                                        <p:tgtEl>
                                          <p:spTgt spid="11"/>
                                        </p:tgtEl>
                                        <p:attrNameLst>
                                          <p:attrName>ppt_w</p:attrName>
                                        </p:attrNameLst>
                                      </p:cBhvr>
                                      <p:tavLst>
                                        <p:tav tm="0">
                                          <p:val>
                                            <p:strVal val="#ppt_w*0.8"/>
                                          </p:val>
                                        </p:tav>
                                        <p:tav tm="100000">
                                          <p:val>
                                            <p:strVal val="#ppt_w"/>
                                          </p:val>
                                        </p:tav>
                                      </p:tavLst>
                                    </p:anim>
                                    <p:anim calcmode="lin" valueType="num">
                                      <p:cBhvr>
                                        <p:cTn id="53" dur="550" fill="hold"/>
                                        <p:tgtEl>
                                          <p:spTgt spid="11"/>
                                        </p:tgtEl>
                                        <p:attrNameLst>
                                          <p:attrName>ppt_h</p:attrName>
                                        </p:attrNameLst>
                                      </p:cBhvr>
                                      <p:tavLst>
                                        <p:tav tm="0">
                                          <p:val>
                                            <p:strVal val="#ppt_h*0.8"/>
                                          </p:val>
                                        </p:tav>
                                        <p:tav tm="100000">
                                          <p:val>
                                            <p:strVal val="#ppt_h"/>
                                          </p:val>
                                        </p:tav>
                                      </p:tavLst>
                                    </p:anim>
                                  </p:childTnLst>
                                </p:cTn>
                              </p:par>
                            </p:childTnLst>
                          </p:cTn>
                        </p:par>
                        <p:par>
                          <p:cTn id="58" fill="hold">
                            <p:stCondLst>
                              <p:cond delay="550"/>
                            </p:stCondLst>
                            <p:childTnLst>
                              <p:par>
                                <p:cTn id="55" presetID="22" presetClass="entr" presetSubtype="8" fill="hold" nodeType="after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700"/>
                                        <p:tgtEl>
                                          <p:spTgt spid="12"/>
                                        </p:tgtEl>
                                      </p:cBhvr>
                                    </p:animEffect>
                                  </p:childTnLst>
                                </p:cTn>
                              </p:par>
                            </p:childTnLst>
                          </p:cTn>
                        </p:par>
                        <p:par>
                          <p:cTn id="63" fill="hold">
                            <p:stCondLst>
                              <p:cond delay="1250"/>
                            </p:stCondLst>
                            <p:childTnLst>
                              <p:par>
                                <p:cTn id="59" presetID="42" presetClass="entr" presetSubtype="0" fill="hold" nodeType="after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650"/>
                                        <p:tgtEl>
                                          <p:spTgt spid="13"/>
                                        </p:tgtEl>
                                      </p:cBhvr>
                                    </p:animEffect>
                                    <p:anim calcmode="lin" valueType="num">
                                      <p:cBhvr>
                                        <p:cTn id="62" dur="650" fill="hold"/>
                                        <p:tgtEl>
                                          <p:spTgt spid="13"/>
                                        </p:tgtEl>
                                        <p:attrNameLst>
                                          <p:attrName>ppt_y</p:attrName>
                                        </p:attrNameLst>
                                      </p:cBhvr>
                                      <p:tavLst>
                                        <p:tav tm="0">
                                          <p:val>
                                            <p:strVal val="#ppt_y+0.06"/>
                                          </p:val>
                                        </p:tav>
                                        <p:tav tm="100000">
                                          <p:val>
                                            <p:strVal val="#ppt_y"/>
                                          </p:val>
                                        </p:tav>
                                      </p:tavLst>
                                    </p:anim>
                                  </p:childTnLst>
                                </p:cTn>
                              </p:par>
                            </p:childTnLst>
                          </p:cTn>
                        </p:par>
                      </p:childTnLst>
                    </p:cTn>
                  </p:par>
                  <p:par>
                    <p:cTn id="64" fill="hold">
                      <p:stCondLst>
                        <p:cond delay="indefinite"/>
                      </p:stCondLst>
                      <p:childTnLst>
                        <p:par>
                          <p:cTn id="69"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50"/>
                                        <p:tgtEl>
                                          <p:spTgt spid="14"/>
                                        </p:tgtEl>
                                      </p:cBhvr>
                                    </p:animEffect>
                                    <p:anim calcmode="lin" valueType="num">
                                      <p:cBhvr>
                                        <p:cTn id="68" dur="650" fill="hold"/>
                                        <p:tgtEl>
                                          <p:spTgt spid="14"/>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822960"/>
            <a:ext cx="5486400" cy="2377440"/>
          </a:xfrm>
          <a:prstGeom prst="rect">
            <a:avLst/>
          </a:prstGeom>
          <a:noFill/>
        </p:spPr>
        <p:txBody>
          <a:bodyPr wrap="square" lIns="0" rIns="0" tIns="0" bIns="0" anchor="b">
            <a:spAutoFit/>
          </a:bodyPr>
          <a:lstStyle/>
          <a:p>
            <a:pPr algn="l">
              <a:spcAft>
                <a:spcPts val="0"/>
              </a:spcAft>
            </a:pPr>
            <a:r>
              <a:rPr sz="19000" b="0" i="0">
                <a:solidFill>
                  <a:srgbClr val="B5543A"/>
                </a:solidFill>
                <a:latin typeface="Bahnschrift Light"/>
              </a:rPr>
              <a:t>01</a:t>
            </a:r>
          </a:p>
        </p:txBody>
      </p:sp>
      <p:sp>
        <p:nvSpPr>
          <p:cNvPr id="3" name="TextBox 2"/>
          <p:cNvSpPr txBox="1"/>
          <p:nvPr/>
        </p:nvSpPr>
        <p:spPr>
          <a:xfrm>
            <a:off x="777240" y="3246120"/>
            <a:ext cx="5486400" cy="365760"/>
          </a:xfrm>
          <a:prstGeom prst="rect">
            <a:avLst/>
          </a:prstGeom>
          <a:noFill/>
        </p:spPr>
        <p:txBody>
          <a:bodyPr wrap="square" lIns="0" rIns="0" tIns="0" bIns="0" anchor="t">
            <a:spAutoFit/>
          </a:bodyPr>
          <a:lstStyle/>
          <a:p>
            <a:pPr algn="l">
              <a:spcAft>
                <a:spcPts val="0"/>
              </a:spcAft>
            </a:pPr>
            <a:r>
              <a:rPr sz="1400" b="0" i="0">
                <a:solidFill>
                  <a:srgbClr val="5B5F68"/>
                </a:solidFill>
                <a:latin typeface="Segoe UI Semibold"/>
              </a:rPr>
              <a:t>PART ONE</a:t>
            </a:r>
          </a:p>
        </p:txBody>
      </p:sp>
      <p:sp>
        <p:nvSpPr>
          <p:cNvPr id="4" name="TextBox 3"/>
          <p:cNvSpPr txBox="1"/>
          <p:nvPr/>
        </p:nvSpPr>
        <p:spPr>
          <a:xfrm>
            <a:off x="685800" y="3611880"/>
            <a:ext cx="10789920" cy="1280160"/>
          </a:xfrm>
          <a:prstGeom prst="rect">
            <a:avLst/>
          </a:prstGeom>
          <a:noFill/>
        </p:spPr>
        <p:txBody>
          <a:bodyPr wrap="square" lIns="0" rIns="0" tIns="0" bIns="0" anchor="t">
            <a:spAutoFit/>
          </a:bodyPr>
          <a:lstStyle/>
          <a:p>
            <a:pPr algn="l">
              <a:lnSpc>
                <a:spcPct val="88000"/>
              </a:lnSpc>
              <a:spcAft>
                <a:spcPts val="0"/>
              </a:spcAft>
            </a:pPr>
            <a:r>
              <a:rPr sz="6800" b="0" i="0">
                <a:solidFill>
                  <a:srgbClr val="262A33"/>
                </a:solidFill>
                <a:latin typeface="Bahnschrift Light"/>
              </a:rPr>
              <a:t>XGBOOST EXPLAINED</a:t>
            </a:r>
          </a:p>
        </p:txBody>
      </p:sp>
      <p:sp>
        <p:nvSpPr>
          <p:cNvPr id="5" name="TextBox 4"/>
          <p:cNvSpPr txBox="1"/>
          <p:nvPr/>
        </p:nvSpPr>
        <p:spPr>
          <a:xfrm>
            <a:off x="731520" y="4983480"/>
            <a:ext cx="8229600" cy="73152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The idea, the pieces and the knobs, no formulas yet.</a:t>
            </a:r>
          </a:p>
        </p:txBody>
      </p:sp>
      <p:pic>
        <p:nvPicPr>
          <p:cNvPr id="6" name="Picture 5" descr="dots.png"/>
          <p:cNvPicPr>
            <a:picLocks noChangeAspect="1"/>
          </p:cNvPicPr>
          <p:nvPr/>
        </p:nvPicPr>
        <p:blipFill>
          <a:blip r:embed="rId2"/>
          <a:stretch>
            <a:fillRect/>
          </a:stretch>
        </p:blipFill>
        <p:spPr>
          <a:xfrm>
            <a:off x="9692640" y="914400"/>
            <a:ext cx="1645920" cy="868680"/>
          </a:xfrm>
          <a:prstGeom prst="rect">
            <a:avLst/>
          </a:prstGeom>
        </p:spPr>
      </p:pic>
      <p:pic>
        <p:nvPicPr>
          <p:cNvPr id="7" name="Picture 6" descr="dots.png"/>
          <p:cNvPicPr>
            <a:picLocks noChangeAspect="1"/>
          </p:cNvPicPr>
          <p:nvPr/>
        </p:nvPicPr>
        <p:blipFill>
          <a:blip r:embed="rId2"/>
          <a:stretch>
            <a:fillRect/>
          </a:stretch>
        </p:blipFill>
        <p:spPr>
          <a:xfrm>
            <a:off x="8595360" y="5394960"/>
            <a:ext cx="1645920" cy="8686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 fill="hold">
                            <p:stCondLst>
                              <p:cond delay="0"/>
                            </p:stCondLst>
                            <p:childTnLst>
                              <p:par>
                                <p:cTn id="4" presetID="53" presetClass="entr" presetSubtype="16"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50"/>
                                        <p:tgtEl>
                                          <p:spTgt spid="2"/>
                                        </p:tgtEl>
                                      </p:cBhvr>
                                    </p:animEffect>
                                    <p:anim calcmode="lin" valueType="num">
                                      <p:cBhvr>
                                        <p:cTn id="7" dur="550" fill="hold"/>
                                        <p:tgtEl>
                                          <p:spTgt spid="2"/>
                                        </p:tgtEl>
                                        <p:attrNameLst>
                                          <p:attrName>ppt_w</p:attrName>
                                        </p:attrNameLst>
                                      </p:cBhvr>
                                      <p:tavLst>
                                        <p:tav tm="0">
                                          <p:val>
                                            <p:strVal val="#ppt_w*0.8"/>
                                          </p:val>
                                        </p:tav>
                                        <p:tav tm="100000">
                                          <p:val>
                                            <p:strVal val="#ppt_w"/>
                                          </p:val>
                                        </p:tav>
                                      </p:tavLst>
                                    </p:anim>
                                    <p:anim calcmode="lin" valueType="num">
                                      <p:cBhvr>
                                        <p:cTn id="8" dur="550" fill="hold"/>
                                        <p:tgtEl>
                                          <p:spTgt spid="2"/>
                                        </p:tgtEl>
                                        <p:attrNameLst>
                                          <p:attrName>ppt_h</p:attrName>
                                        </p:attrNameLst>
                                      </p:cBhvr>
                                      <p:tavLst>
                                        <p:tav tm="0">
                                          <p:val>
                                            <p:strVal val="#ppt_h*0.8"/>
                                          </p:val>
                                        </p:tav>
                                        <p:tav tm="100000">
                                          <p:val>
                                            <p:strVal val="#ppt_h"/>
                                          </p:val>
                                        </p:tav>
                                      </p:tavLst>
                                    </p:anim>
                                  </p:childTnLst>
                                </p:cTn>
                              </p:par>
                            </p:childTnLst>
                          </p:cTn>
                        </p:par>
                        <p:par>
                          <p:cTn id="13" fill="hold">
                            <p:stCondLst>
                              <p:cond delay="150"/>
                            </p:stCondLst>
                            <p:childTnLst>
                              <p:par>
                                <p:cTn id="10" presetID="10"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7" fill="hold">
                            <p:stCondLst>
                              <p:cond delay="450"/>
                            </p:stCondLst>
                            <p:childTnLst>
                              <p:par>
                                <p:cTn id="14" presetID="22" presetClass="entr" presetSubtype="8"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700"/>
                                        <p:tgtEl>
                                          <p:spTgt spid="4"/>
                                        </p:tgtEl>
                                      </p:cBhvr>
                                    </p:animEffect>
                                  </p:childTnLst>
                                </p:cTn>
                              </p:par>
                            </p:childTnLst>
                          </p:cTn>
                        </p:par>
                        <p:par>
                          <p:cTn id="21" fill="hold">
                            <p:stCondLst>
                              <p:cond delay="900"/>
                            </p:stCondLst>
                            <p:childTnLst>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par>
                          <p:cTn id="25" fill="hold">
                            <p:stCondLst>
                              <p:cond delay="1500"/>
                            </p:stCondLst>
                            <p:childTnLst>
                              <p:par>
                                <p:cTn id="22" presetID="10"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par>
                          <p:cTn id="29" fill="hold">
                            <p:stCondLst>
                              <p:cond delay="2250"/>
                            </p:stCondLst>
                            <p:childTnLst>
                              <p:par>
                                <p:cTn id="26" presetID="10"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822960"/>
            <a:ext cx="5486400" cy="2377440"/>
          </a:xfrm>
          <a:prstGeom prst="rect">
            <a:avLst/>
          </a:prstGeom>
          <a:noFill/>
        </p:spPr>
        <p:txBody>
          <a:bodyPr wrap="square" lIns="0" rIns="0" tIns="0" bIns="0" anchor="b">
            <a:spAutoFit/>
          </a:bodyPr>
          <a:lstStyle/>
          <a:p>
            <a:pPr algn="l">
              <a:spcAft>
                <a:spcPts val="0"/>
              </a:spcAft>
            </a:pPr>
            <a:r>
              <a:rPr sz="19000" b="0" i="0">
                <a:solidFill>
                  <a:srgbClr val="B5543A"/>
                </a:solidFill>
                <a:latin typeface="Bahnschrift Light"/>
              </a:rPr>
              <a:t>02</a:t>
            </a:r>
          </a:p>
        </p:txBody>
      </p:sp>
      <p:sp>
        <p:nvSpPr>
          <p:cNvPr id="3" name="TextBox 2"/>
          <p:cNvSpPr txBox="1"/>
          <p:nvPr/>
        </p:nvSpPr>
        <p:spPr>
          <a:xfrm>
            <a:off x="777240" y="3246120"/>
            <a:ext cx="5486400" cy="365760"/>
          </a:xfrm>
          <a:prstGeom prst="rect">
            <a:avLst/>
          </a:prstGeom>
          <a:noFill/>
        </p:spPr>
        <p:txBody>
          <a:bodyPr wrap="square" lIns="0" rIns="0" tIns="0" bIns="0" anchor="t">
            <a:spAutoFit/>
          </a:bodyPr>
          <a:lstStyle/>
          <a:p>
            <a:pPr algn="l">
              <a:spcAft>
                <a:spcPts val="0"/>
              </a:spcAft>
            </a:pPr>
            <a:r>
              <a:rPr sz="1400" b="0" i="0">
                <a:solidFill>
                  <a:srgbClr val="5B5F68"/>
                </a:solidFill>
                <a:latin typeface="Segoe UI Semibold"/>
              </a:rPr>
              <a:t>PART TWO</a:t>
            </a:r>
          </a:p>
        </p:txBody>
      </p:sp>
      <p:sp>
        <p:nvSpPr>
          <p:cNvPr id="4" name="TextBox 3"/>
          <p:cNvSpPr txBox="1"/>
          <p:nvPr/>
        </p:nvSpPr>
        <p:spPr>
          <a:xfrm>
            <a:off x="685800" y="3611880"/>
            <a:ext cx="10789920" cy="1280160"/>
          </a:xfrm>
          <a:prstGeom prst="rect">
            <a:avLst/>
          </a:prstGeom>
          <a:noFill/>
        </p:spPr>
        <p:txBody>
          <a:bodyPr wrap="square" lIns="0" rIns="0" tIns="0" bIns="0" anchor="t">
            <a:spAutoFit/>
          </a:bodyPr>
          <a:lstStyle/>
          <a:p>
            <a:pPr algn="l">
              <a:lnSpc>
                <a:spcPct val="88000"/>
              </a:lnSpc>
              <a:spcAft>
                <a:spcPts val="0"/>
              </a:spcAft>
            </a:pPr>
            <a:r>
              <a:rPr sz="6800" b="0" i="0">
                <a:solidFill>
                  <a:srgbClr val="262A33"/>
                </a:solidFill>
                <a:latin typeface="Bahnschrift Light"/>
              </a:rPr>
              <a:t>THE MATH</a:t>
            </a:r>
          </a:p>
        </p:txBody>
      </p:sp>
      <p:sp>
        <p:nvSpPr>
          <p:cNvPr id="5" name="TextBox 4"/>
          <p:cNvSpPr txBox="1"/>
          <p:nvPr/>
        </p:nvSpPr>
        <p:spPr>
          <a:xfrm>
            <a:off x="731520" y="4983480"/>
            <a:ext cx="8229600" cy="73152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How XGBoost really decides every split and every leaf value.</a:t>
            </a:r>
          </a:p>
        </p:txBody>
      </p:sp>
      <p:pic>
        <p:nvPicPr>
          <p:cNvPr id="6" name="Picture 5" descr="dots.png"/>
          <p:cNvPicPr>
            <a:picLocks noChangeAspect="1"/>
          </p:cNvPicPr>
          <p:nvPr/>
        </p:nvPicPr>
        <p:blipFill>
          <a:blip r:embed="rId2"/>
          <a:stretch>
            <a:fillRect/>
          </a:stretch>
        </p:blipFill>
        <p:spPr>
          <a:xfrm>
            <a:off x="9692640" y="914400"/>
            <a:ext cx="1645920" cy="868680"/>
          </a:xfrm>
          <a:prstGeom prst="rect">
            <a:avLst/>
          </a:prstGeom>
        </p:spPr>
      </p:pic>
      <p:pic>
        <p:nvPicPr>
          <p:cNvPr id="7" name="Picture 6" descr="dots.png"/>
          <p:cNvPicPr>
            <a:picLocks noChangeAspect="1"/>
          </p:cNvPicPr>
          <p:nvPr/>
        </p:nvPicPr>
        <p:blipFill>
          <a:blip r:embed="rId2"/>
          <a:stretch>
            <a:fillRect/>
          </a:stretch>
        </p:blipFill>
        <p:spPr>
          <a:xfrm>
            <a:off x="8595360" y="5394960"/>
            <a:ext cx="1645920" cy="8686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 fill="hold">
                            <p:stCondLst>
                              <p:cond delay="0"/>
                            </p:stCondLst>
                            <p:childTnLst>
                              <p:par>
                                <p:cTn id="4" presetID="53" presetClass="entr" presetSubtype="16"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50"/>
                                        <p:tgtEl>
                                          <p:spTgt spid="2"/>
                                        </p:tgtEl>
                                      </p:cBhvr>
                                    </p:animEffect>
                                    <p:anim calcmode="lin" valueType="num">
                                      <p:cBhvr>
                                        <p:cTn id="7" dur="550" fill="hold"/>
                                        <p:tgtEl>
                                          <p:spTgt spid="2"/>
                                        </p:tgtEl>
                                        <p:attrNameLst>
                                          <p:attrName>ppt_w</p:attrName>
                                        </p:attrNameLst>
                                      </p:cBhvr>
                                      <p:tavLst>
                                        <p:tav tm="0">
                                          <p:val>
                                            <p:strVal val="#ppt_w*0.8"/>
                                          </p:val>
                                        </p:tav>
                                        <p:tav tm="100000">
                                          <p:val>
                                            <p:strVal val="#ppt_w"/>
                                          </p:val>
                                        </p:tav>
                                      </p:tavLst>
                                    </p:anim>
                                    <p:anim calcmode="lin" valueType="num">
                                      <p:cBhvr>
                                        <p:cTn id="8" dur="550" fill="hold"/>
                                        <p:tgtEl>
                                          <p:spTgt spid="2"/>
                                        </p:tgtEl>
                                        <p:attrNameLst>
                                          <p:attrName>ppt_h</p:attrName>
                                        </p:attrNameLst>
                                      </p:cBhvr>
                                      <p:tavLst>
                                        <p:tav tm="0">
                                          <p:val>
                                            <p:strVal val="#ppt_h*0.8"/>
                                          </p:val>
                                        </p:tav>
                                        <p:tav tm="100000">
                                          <p:val>
                                            <p:strVal val="#ppt_h"/>
                                          </p:val>
                                        </p:tav>
                                      </p:tavLst>
                                    </p:anim>
                                  </p:childTnLst>
                                </p:cTn>
                              </p:par>
                            </p:childTnLst>
                          </p:cTn>
                        </p:par>
                        <p:par>
                          <p:cTn id="13" fill="hold">
                            <p:stCondLst>
                              <p:cond delay="150"/>
                            </p:stCondLst>
                            <p:childTnLst>
                              <p:par>
                                <p:cTn id="10" presetID="10"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7" fill="hold">
                            <p:stCondLst>
                              <p:cond delay="450"/>
                            </p:stCondLst>
                            <p:childTnLst>
                              <p:par>
                                <p:cTn id="14" presetID="22" presetClass="entr" presetSubtype="8"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700"/>
                                        <p:tgtEl>
                                          <p:spTgt spid="4"/>
                                        </p:tgtEl>
                                      </p:cBhvr>
                                    </p:animEffect>
                                  </p:childTnLst>
                                </p:cTn>
                              </p:par>
                            </p:childTnLst>
                          </p:cTn>
                        </p:par>
                        <p:par>
                          <p:cTn id="21" fill="hold">
                            <p:stCondLst>
                              <p:cond delay="900"/>
                            </p:stCondLst>
                            <p:childTnLst>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par>
                          <p:cTn id="25" fill="hold">
                            <p:stCondLst>
                              <p:cond delay="1500"/>
                            </p:stCondLst>
                            <p:childTnLst>
                              <p:par>
                                <p:cTn id="22" presetID="10"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par>
                          <p:cTn id="29" fill="hold">
                            <p:stCondLst>
                              <p:cond delay="2250"/>
                            </p:stCondLst>
                            <p:childTnLst>
                              <p:par>
                                <p:cTn id="26" presetID="10"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822960"/>
            <a:ext cx="5486400" cy="2377440"/>
          </a:xfrm>
          <a:prstGeom prst="rect">
            <a:avLst/>
          </a:prstGeom>
          <a:noFill/>
        </p:spPr>
        <p:txBody>
          <a:bodyPr wrap="square" lIns="0" rIns="0" tIns="0" bIns="0" anchor="b">
            <a:spAutoFit/>
          </a:bodyPr>
          <a:lstStyle/>
          <a:p>
            <a:pPr algn="l">
              <a:spcAft>
                <a:spcPts val="0"/>
              </a:spcAft>
            </a:pPr>
            <a:r>
              <a:rPr sz="19000" b="0" i="0">
                <a:solidFill>
                  <a:srgbClr val="B5543A"/>
                </a:solidFill>
                <a:latin typeface="Bahnschrift Light"/>
              </a:rPr>
              <a:t>03</a:t>
            </a:r>
          </a:p>
        </p:txBody>
      </p:sp>
      <p:sp>
        <p:nvSpPr>
          <p:cNvPr id="3" name="TextBox 2"/>
          <p:cNvSpPr txBox="1"/>
          <p:nvPr/>
        </p:nvSpPr>
        <p:spPr>
          <a:xfrm>
            <a:off x="777240" y="3246120"/>
            <a:ext cx="5486400" cy="365760"/>
          </a:xfrm>
          <a:prstGeom prst="rect">
            <a:avLst/>
          </a:prstGeom>
          <a:noFill/>
        </p:spPr>
        <p:txBody>
          <a:bodyPr wrap="square" lIns="0" rIns="0" tIns="0" bIns="0" anchor="t">
            <a:spAutoFit/>
          </a:bodyPr>
          <a:lstStyle/>
          <a:p>
            <a:pPr algn="l">
              <a:spcAft>
                <a:spcPts val="0"/>
              </a:spcAft>
            </a:pPr>
            <a:r>
              <a:rPr sz="1400" b="0" i="0">
                <a:solidFill>
                  <a:srgbClr val="5B5F68"/>
                </a:solidFill>
                <a:latin typeface="Segoe UI Semibold"/>
              </a:rPr>
              <a:t>PART THREE</a:t>
            </a:r>
          </a:p>
        </p:txBody>
      </p:sp>
      <p:sp>
        <p:nvSpPr>
          <p:cNvPr id="4" name="TextBox 3"/>
          <p:cNvSpPr txBox="1"/>
          <p:nvPr/>
        </p:nvSpPr>
        <p:spPr>
          <a:xfrm>
            <a:off x="685800" y="3611880"/>
            <a:ext cx="10789920" cy="1280160"/>
          </a:xfrm>
          <a:prstGeom prst="rect">
            <a:avLst/>
          </a:prstGeom>
          <a:noFill/>
        </p:spPr>
        <p:txBody>
          <a:bodyPr wrap="square" lIns="0" rIns="0" tIns="0" bIns="0" anchor="t">
            <a:spAutoFit/>
          </a:bodyPr>
          <a:lstStyle/>
          <a:p>
            <a:pPr algn="l">
              <a:lnSpc>
                <a:spcPct val="88000"/>
              </a:lnSpc>
              <a:spcAft>
                <a:spcPts val="0"/>
              </a:spcAft>
            </a:pPr>
            <a:r>
              <a:rPr sz="6800" b="0" i="0">
                <a:solidFill>
                  <a:srgbClr val="262A33"/>
                </a:solidFill>
                <a:latin typeface="Bahnschrift Light"/>
              </a:rPr>
              <a:t>CODING: THE HIGGS</a:t>
            </a:r>
          </a:p>
        </p:txBody>
      </p:sp>
      <p:sp>
        <p:nvSpPr>
          <p:cNvPr id="5" name="TextBox 4"/>
          <p:cNvSpPr txBox="1"/>
          <p:nvPr/>
        </p:nvSpPr>
        <p:spPr>
          <a:xfrm>
            <a:off x="731520" y="4983480"/>
            <a:ext cx="8229600" cy="73152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Applying XGBoost to 250,000 simulated collisions from CERN.</a:t>
            </a:r>
          </a:p>
        </p:txBody>
      </p:sp>
      <p:pic>
        <p:nvPicPr>
          <p:cNvPr id="6" name="Picture 5" descr="dots.png"/>
          <p:cNvPicPr>
            <a:picLocks noChangeAspect="1"/>
          </p:cNvPicPr>
          <p:nvPr/>
        </p:nvPicPr>
        <p:blipFill>
          <a:blip r:embed="rId2"/>
          <a:stretch>
            <a:fillRect/>
          </a:stretch>
        </p:blipFill>
        <p:spPr>
          <a:xfrm>
            <a:off x="9692640" y="914400"/>
            <a:ext cx="1645920" cy="868680"/>
          </a:xfrm>
          <a:prstGeom prst="rect">
            <a:avLst/>
          </a:prstGeom>
        </p:spPr>
      </p:pic>
      <p:pic>
        <p:nvPicPr>
          <p:cNvPr id="7" name="Picture 6" descr="dots.png"/>
          <p:cNvPicPr>
            <a:picLocks noChangeAspect="1"/>
          </p:cNvPicPr>
          <p:nvPr/>
        </p:nvPicPr>
        <p:blipFill>
          <a:blip r:embed="rId2"/>
          <a:stretch>
            <a:fillRect/>
          </a:stretch>
        </p:blipFill>
        <p:spPr>
          <a:xfrm>
            <a:off x="8595360" y="5394960"/>
            <a:ext cx="1645920" cy="8686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 fill="hold">
                            <p:stCondLst>
                              <p:cond delay="0"/>
                            </p:stCondLst>
                            <p:childTnLst>
                              <p:par>
                                <p:cTn id="4" presetID="53" presetClass="entr" presetSubtype="16"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50"/>
                                        <p:tgtEl>
                                          <p:spTgt spid="2"/>
                                        </p:tgtEl>
                                      </p:cBhvr>
                                    </p:animEffect>
                                    <p:anim calcmode="lin" valueType="num">
                                      <p:cBhvr>
                                        <p:cTn id="7" dur="550" fill="hold"/>
                                        <p:tgtEl>
                                          <p:spTgt spid="2"/>
                                        </p:tgtEl>
                                        <p:attrNameLst>
                                          <p:attrName>ppt_w</p:attrName>
                                        </p:attrNameLst>
                                      </p:cBhvr>
                                      <p:tavLst>
                                        <p:tav tm="0">
                                          <p:val>
                                            <p:strVal val="#ppt_w*0.8"/>
                                          </p:val>
                                        </p:tav>
                                        <p:tav tm="100000">
                                          <p:val>
                                            <p:strVal val="#ppt_w"/>
                                          </p:val>
                                        </p:tav>
                                      </p:tavLst>
                                    </p:anim>
                                    <p:anim calcmode="lin" valueType="num">
                                      <p:cBhvr>
                                        <p:cTn id="8" dur="550" fill="hold"/>
                                        <p:tgtEl>
                                          <p:spTgt spid="2"/>
                                        </p:tgtEl>
                                        <p:attrNameLst>
                                          <p:attrName>ppt_h</p:attrName>
                                        </p:attrNameLst>
                                      </p:cBhvr>
                                      <p:tavLst>
                                        <p:tav tm="0">
                                          <p:val>
                                            <p:strVal val="#ppt_h*0.8"/>
                                          </p:val>
                                        </p:tav>
                                        <p:tav tm="100000">
                                          <p:val>
                                            <p:strVal val="#ppt_h"/>
                                          </p:val>
                                        </p:tav>
                                      </p:tavLst>
                                    </p:anim>
                                  </p:childTnLst>
                                </p:cTn>
                              </p:par>
                            </p:childTnLst>
                          </p:cTn>
                        </p:par>
                        <p:par>
                          <p:cTn id="13" fill="hold">
                            <p:stCondLst>
                              <p:cond delay="150"/>
                            </p:stCondLst>
                            <p:childTnLst>
                              <p:par>
                                <p:cTn id="10" presetID="10"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7" fill="hold">
                            <p:stCondLst>
                              <p:cond delay="450"/>
                            </p:stCondLst>
                            <p:childTnLst>
                              <p:par>
                                <p:cTn id="14" presetID="22" presetClass="entr" presetSubtype="8"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700"/>
                                        <p:tgtEl>
                                          <p:spTgt spid="4"/>
                                        </p:tgtEl>
                                      </p:cBhvr>
                                    </p:animEffect>
                                  </p:childTnLst>
                                </p:cTn>
                              </p:par>
                            </p:childTnLst>
                          </p:cTn>
                        </p:par>
                        <p:par>
                          <p:cTn id="21" fill="hold">
                            <p:stCondLst>
                              <p:cond delay="900"/>
                            </p:stCondLst>
                            <p:childTnLst>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par>
                          <p:cTn id="25" fill="hold">
                            <p:stCondLst>
                              <p:cond delay="1500"/>
                            </p:stCondLst>
                            <p:childTnLst>
                              <p:par>
                                <p:cTn id="22" presetID="10"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par>
                          <p:cTn id="29" fill="hold">
                            <p:stCondLst>
                              <p:cond delay="2250"/>
                            </p:stCondLst>
                            <p:childTnLst>
                              <p:par>
                                <p:cTn id="26" presetID="10"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457200"/>
            <a:ext cx="7315200" cy="4572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The building block, and two ways to combine it</a:t>
            </a:r>
          </a:p>
        </p:txBody>
      </p:sp>
      <p:sp>
        <p:nvSpPr>
          <p:cNvPr id="3" name="TextBox 2"/>
          <p:cNvSpPr txBox="1"/>
          <p:nvPr/>
        </p:nvSpPr>
        <p:spPr>
          <a:xfrm>
            <a:off x="685800" y="777240"/>
            <a:ext cx="9144000" cy="914400"/>
          </a:xfrm>
          <a:prstGeom prst="rect">
            <a:avLst/>
          </a:prstGeom>
          <a:noFill/>
        </p:spPr>
        <p:txBody>
          <a:bodyPr wrap="square" lIns="0" rIns="0" tIns="0" bIns="0" anchor="t">
            <a:spAutoFit/>
          </a:bodyPr>
          <a:lstStyle/>
          <a:p>
            <a:pPr algn="l">
              <a:lnSpc>
                <a:spcPct val="88000"/>
              </a:lnSpc>
              <a:spcAft>
                <a:spcPts val="0"/>
              </a:spcAft>
            </a:pPr>
            <a:r>
              <a:rPr sz="4600" b="0" i="0">
                <a:solidFill>
                  <a:srgbClr val="262A33"/>
                </a:solidFill>
                <a:latin typeface="Bahnschrift Light"/>
              </a:rPr>
              <a:t>TREES &amp; TEAMS</a:t>
            </a:r>
          </a:p>
        </p:txBody>
      </p:sp>
      <p:pic>
        <p:nvPicPr>
          <p:cNvPr id="4" name="Picture 3" descr="dots.png"/>
          <p:cNvPicPr>
            <a:picLocks noChangeAspect="1"/>
          </p:cNvPicPr>
          <p:nvPr/>
        </p:nvPicPr>
        <p:blipFill>
          <a:blip r:embed="rId2"/>
          <a:stretch>
            <a:fillRect/>
          </a:stretch>
        </p:blipFill>
        <p:spPr>
          <a:xfrm>
            <a:off x="9875520" y="411480"/>
            <a:ext cx="1645920" cy="868680"/>
          </a:xfrm>
          <a:prstGeom prst="rect">
            <a:avLst/>
          </a:prstGeom>
        </p:spPr>
      </p:pic>
      <p:sp>
        <p:nvSpPr>
          <p:cNvPr id="5" name="Rounded Rectangle 4"/>
          <p:cNvSpPr/>
          <p:nvPr/>
        </p:nvSpPr>
        <p:spPr>
          <a:xfrm>
            <a:off x="1463040" y="2057400"/>
            <a:ext cx="2560320" cy="50292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a:solidFill>
                  <a:srgbClr val="E5E4E2"/>
                </a:solidFill>
                <a:latin typeface="Segoe UI Semibold"/>
              </a:rPr>
              <a:t>size &lt; 100 m² ?</a:t>
            </a:r>
          </a:p>
        </p:txBody>
      </p:sp>
      <p:sp>
        <p:nvSpPr>
          <p:cNvPr id="6" name="Rounded Rectangle 5"/>
          <p:cNvSpPr/>
          <p:nvPr/>
        </p:nvSpPr>
        <p:spPr>
          <a:xfrm>
            <a:off x="548640" y="3154680"/>
            <a:ext cx="2103120" cy="457200"/>
          </a:xfrm>
          <a:prstGeom prst="roundRect">
            <a:avLst>
              <a:gd name="adj" fmla="val 50000"/>
            </a:avLst>
          </a:prstGeom>
          <a:noFill/>
          <a:ln w="12700">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a:solidFill>
                  <a:srgbClr val="262A33"/>
                </a:solidFill>
                <a:latin typeface="Segoe UI"/>
              </a:rPr>
              <a:t>age &lt; 20 years ?</a:t>
            </a:r>
          </a:p>
        </p:txBody>
      </p:sp>
      <p:sp>
        <p:nvSpPr>
          <p:cNvPr id="7" name="Rounded Rectangle 6"/>
          <p:cNvSpPr/>
          <p:nvPr/>
        </p:nvSpPr>
        <p:spPr>
          <a:xfrm>
            <a:off x="2880360" y="3154680"/>
            <a:ext cx="2103120" cy="457200"/>
          </a:xfrm>
          <a:prstGeom prst="roundRect">
            <a:avLst>
              <a:gd name="adj" fmla="val 50000"/>
            </a:avLst>
          </a:prstGeom>
          <a:noFill/>
          <a:ln w="12700">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a:solidFill>
                  <a:srgbClr val="262A33"/>
                </a:solidFill>
                <a:latin typeface="Segoe UI"/>
              </a:rPr>
              <a:t>rooms &lt; 5 ?</a:t>
            </a:r>
          </a:p>
        </p:txBody>
      </p:sp>
      <p:cxnSp>
        <p:nvCxnSpPr>
          <p:cNvPr id="8" name="Connector 7"/>
          <p:cNvCxnSpPr/>
          <p:nvPr/>
        </p:nvCxnSpPr>
        <p:spPr>
          <a:xfrm flipH="1">
            <a:off x="1600200" y="2560320"/>
            <a:ext cx="594360" cy="594360"/>
          </a:xfrm>
          <a:prstGeom prst="line">
            <a:avLst/>
          </a:prstGeom>
          <a:ln w="1587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91840" y="2560320"/>
            <a:ext cx="640080" cy="594360"/>
          </a:xfrm>
          <a:prstGeom prst="line">
            <a:avLst/>
          </a:prstGeom>
          <a:ln w="15875">
            <a:solidFill>
              <a:srgbClr val="5B5F6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17320" y="2697480"/>
            <a:ext cx="457200" cy="274320"/>
          </a:xfrm>
          <a:prstGeom prst="rect">
            <a:avLst/>
          </a:prstGeom>
          <a:noFill/>
        </p:spPr>
        <p:txBody>
          <a:bodyPr wrap="square" lIns="0" rIns="0" tIns="0" bIns="0" anchor="t">
            <a:spAutoFit/>
          </a:bodyPr>
          <a:lstStyle/>
          <a:p>
            <a:pPr algn="l">
              <a:spcAft>
                <a:spcPts val="0"/>
              </a:spcAft>
            </a:pPr>
            <a:r>
              <a:rPr sz="1000" b="0" i="0">
                <a:solidFill>
                  <a:srgbClr val="5B5F68"/>
                </a:solidFill>
                <a:latin typeface="Segoe UI"/>
              </a:rPr>
              <a:t>yes</a:t>
            </a:r>
          </a:p>
        </p:txBody>
      </p:sp>
      <p:sp>
        <p:nvSpPr>
          <p:cNvPr id="11" name="TextBox 10"/>
          <p:cNvSpPr txBox="1"/>
          <p:nvPr/>
        </p:nvSpPr>
        <p:spPr>
          <a:xfrm>
            <a:off x="3749039" y="2697480"/>
            <a:ext cx="457200" cy="274320"/>
          </a:xfrm>
          <a:prstGeom prst="rect">
            <a:avLst/>
          </a:prstGeom>
          <a:noFill/>
        </p:spPr>
        <p:txBody>
          <a:bodyPr wrap="square" lIns="0" rIns="0" tIns="0" bIns="0" anchor="t">
            <a:spAutoFit/>
          </a:bodyPr>
          <a:lstStyle/>
          <a:p>
            <a:pPr algn="l">
              <a:spcAft>
                <a:spcPts val="0"/>
              </a:spcAft>
            </a:pPr>
            <a:r>
              <a:rPr sz="1000" b="0" i="0">
                <a:solidFill>
                  <a:srgbClr val="5B5F68"/>
                </a:solidFill>
                <a:latin typeface="Segoe UI"/>
              </a:rPr>
              <a:t>no</a:t>
            </a:r>
          </a:p>
        </p:txBody>
      </p:sp>
      <p:sp>
        <p:nvSpPr>
          <p:cNvPr id="12" name="Oval 11"/>
          <p:cNvSpPr/>
          <p:nvPr/>
        </p:nvSpPr>
        <p:spPr>
          <a:xfrm>
            <a:off x="493776" y="3968496"/>
            <a:ext cx="749808" cy="749808"/>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27432" bIns="27432"/>
          <a:lstStyle/>
          <a:p>
            <a:pPr algn="ctr"/>
            <a:r>
              <a:rPr sz="1100">
                <a:solidFill>
                  <a:srgbClr val="E5E4E2"/>
                </a:solidFill>
                <a:latin typeface="Segoe UI Semibold"/>
              </a:rPr>
              <a:t>−0.35</a:t>
            </a:r>
          </a:p>
        </p:txBody>
      </p:sp>
      <p:sp>
        <p:nvSpPr>
          <p:cNvPr id="13" name="Oval 12"/>
          <p:cNvSpPr/>
          <p:nvPr/>
        </p:nvSpPr>
        <p:spPr>
          <a:xfrm>
            <a:off x="1773936" y="3968496"/>
            <a:ext cx="749808" cy="749808"/>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27432" bIns="27432"/>
          <a:lstStyle/>
          <a:p>
            <a:pPr algn="ctr"/>
            <a:r>
              <a:rPr sz="1100">
                <a:solidFill>
                  <a:srgbClr val="E5E4E2"/>
                </a:solidFill>
                <a:latin typeface="Segoe UI Semibold"/>
              </a:rPr>
              <a:t>−0.15</a:t>
            </a:r>
          </a:p>
        </p:txBody>
      </p:sp>
      <p:sp>
        <p:nvSpPr>
          <p:cNvPr id="14" name="Oval 13"/>
          <p:cNvSpPr/>
          <p:nvPr/>
        </p:nvSpPr>
        <p:spPr>
          <a:xfrm>
            <a:off x="2871215" y="3968496"/>
            <a:ext cx="749808" cy="749808"/>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27432" bIns="27432"/>
          <a:lstStyle/>
          <a:p>
            <a:pPr algn="ctr"/>
            <a:r>
              <a:rPr sz="1100">
                <a:solidFill>
                  <a:srgbClr val="E5E4E2"/>
                </a:solidFill>
                <a:latin typeface="Segoe UI Semibold"/>
              </a:rPr>
              <a:t>+0.42</a:t>
            </a:r>
          </a:p>
        </p:txBody>
      </p:sp>
      <p:sp>
        <p:nvSpPr>
          <p:cNvPr id="15" name="Oval 14"/>
          <p:cNvSpPr/>
          <p:nvPr/>
        </p:nvSpPr>
        <p:spPr>
          <a:xfrm>
            <a:off x="4151376" y="3968496"/>
            <a:ext cx="749808" cy="749808"/>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27432" bIns="27432"/>
          <a:lstStyle/>
          <a:p>
            <a:pPr algn="ctr"/>
            <a:r>
              <a:rPr sz="1100">
                <a:solidFill>
                  <a:srgbClr val="E5E4E2"/>
                </a:solidFill>
                <a:latin typeface="Segoe UI Semibold"/>
              </a:rPr>
              <a:t>+0.12</a:t>
            </a:r>
          </a:p>
        </p:txBody>
      </p:sp>
      <p:cxnSp>
        <p:nvCxnSpPr>
          <p:cNvPr id="16" name="Connector 15"/>
          <p:cNvCxnSpPr/>
          <p:nvPr/>
        </p:nvCxnSpPr>
        <p:spPr>
          <a:xfrm flipH="1">
            <a:off x="868680" y="3611880"/>
            <a:ext cx="411480" cy="356616"/>
          </a:xfrm>
          <a:prstGeom prst="line">
            <a:avLst/>
          </a:prstGeom>
          <a:ln w="1587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920240" y="3611880"/>
            <a:ext cx="228600" cy="356616"/>
          </a:xfrm>
          <a:prstGeom prst="line">
            <a:avLst/>
          </a:prstGeom>
          <a:ln w="1587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3246120" y="3611880"/>
            <a:ext cx="365760" cy="356616"/>
          </a:xfrm>
          <a:prstGeom prst="line">
            <a:avLst/>
          </a:prstGeom>
          <a:ln w="1587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206240" y="3611880"/>
            <a:ext cx="320040" cy="356616"/>
          </a:xfrm>
          <a:prstGeom prst="line">
            <a:avLst/>
          </a:prstGeom>
          <a:ln w="15875">
            <a:solidFill>
              <a:srgbClr val="5B5F6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48640" y="4892040"/>
            <a:ext cx="4480560" cy="1463040"/>
          </a:xfrm>
          <a:prstGeom prst="rect">
            <a:avLst/>
          </a:prstGeom>
          <a:noFill/>
        </p:spPr>
        <p:txBody>
          <a:bodyPr wrap="square" lIns="0" rIns="0" tIns="0" bIns="0" anchor="t">
            <a:spAutoFit/>
          </a:bodyPr>
          <a:lstStyle/>
          <a:p>
            <a:pPr algn="l">
              <a:spcAft>
                <a:spcPts val="500"/>
              </a:spcAft>
            </a:pPr>
            <a:r>
              <a:rPr sz="1200" b="0" i="0">
                <a:solidFill>
                  <a:srgbClr val="262A33"/>
                </a:solidFill>
                <a:latin typeface="Segoe UI Semibold"/>
              </a:rPr>
              <a:t>split</a:t>
            </a:r>
            <a:r>
              <a:rPr sz="1200" b="0" i="0">
                <a:solidFill>
                  <a:srgbClr val="5B5F68"/>
                </a:solidFill>
                <a:latin typeface="Segoe UI"/>
              </a:rPr>
              <a:t> = a yes/no question about one feature</a:t>
            </a:r>
          </a:p>
          <a:p>
            <a:pPr algn="l">
              <a:spcAft>
                <a:spcPts val="500"/>
              </a:spcAft>
            </a:pPr>
            <a:r>
              <a:rPr sz="1200" b="0" i="0">
                <a:solidFill>
                  <a:srgbClr val="262A33"/>
                </a:solidFill>
                <a:latin typeface="Segoe UI Semibold"/>
              </a:rPr>
              <a:t>leaf value w</a:t>
            </a:r>
            <a:r>
              <a:rPr sz="1200" b="0" i="0">
                <a:solidFill>
                  <a:srgbClr val="5B5F68"/>
                </a:solidFill>
                <a:latin typeface="Segoe UI"/>
              </a:rPr>
              <a:t> = the number added to the prediction</a:t>
            </a:r>
          </a:p>
          <a:p>
            <a:pPr algn="l">
              <a:spcAft>
                <a:spcPts val="500"/>
              </a:spcAft>
            </a:pPr>
            <a:r>
              <a:rPr sz="1100" b="0" i="1">
                <a:solidFill>
                  <a:srgbClr val="5B5F68"/>
                </a:solidFill>
                <a:latin typeface="Segoe UI"/>
              </a:rPr>
              <a:t>A depth-2 tree for house prices: every path ends in a leaf value.</a:t>
            </a:r>
          </a:p>
        </p:txBody>
      </p:sp>
      <p:sp>
        <p:nvSpPr>
          <p:cNvPr id="21" name="TextBox 20"/>
          <p:cNvSpPr txBox="1"/>
          <p:nvPr/>
        </p:nvSpPr>
        <p:spPr>
          <a:xfrm>
            <a:off x="5852160" y="1874519"/>
            <a:ext cx="5760720" cy="365760"/>
          </a:xfrm>
          <a:prstGeom prst="rect">
            <a:avLst/>
          </a:prstGeom>
          <a:noFill/>
        </p:spPr>
        <p:txBody>
          <a:bodyPr wrap="square" lIns="0" rIns="0" tIns="0" bIns="0" anchor="t">
            <a:spAutoFit/>
          </a:bodyPr>
          <a:lstStyle/>
          <a:p>
            <a:pPr algn="l">
              <a:spcAft>
                <a:spcPts val="0"/>
              </a:spcAft>
            </a:pPr>
            <a:r>
              <a:rPr sz="1500" b="0" i="0">
                <a:solidFill>
                  <a:srgbClr val="262A33"/>
                </a:solidFill>
                <a:latin typeface="Segoe UI Semibold"/>
              </a:rPr>
              <a:t>Bagging  ·  Random Forest</a:t>
            </a:r>
          </a:p>
        </p:txBody>
      </p:sp>
      <p:sp>
        <p:nvSpPr>
          <p:cNvPr id="22" name="Isosceles Triangle 21"/>
          <p:cNvSpPr/>
          <p:nvPr/>
        </p:nvSpPr>
        <p:spPr>
          <a:xfrm>
            <a:off x="6035040" y="2286000"/>
            <a:ext cx="640080" cy="1005840"/>
          </a:xfrm>
          <a:prstGeom prst="triangle">
            <a:avLst/>
          </a:prstGeom>
          <a:solidFill>
            <a:srgbClr val="5B5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6812280" y="2286000"/>
            <a:ext cx="640080" cy="1005840"/>
          </a:xfrm>
          <a:prstGeom prst="triangle">
            <a:avLst/>
          </a:prstGeom>
          <a:solidFill>
            <a:srgbClr val="5B5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7589520" y="2286000"/>
            <a:ext cx="640080" cy="1005840"/>
          </a:xfrm>
          <a:prstGeom prst="triangle">
            <a:avLst/>
          </a:prstGeom>
          <a:solidFill>
            <a:srgbClr val="5B5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8366760" y="2286000"/>
            <a:ext cx="640080" cy="1005840"/>
          </a:xfrm>
          <a:prstGeom prst="triangle">
            <a:avLst/>
          </a:prstGeom>
          <a:solidFill>
            <a:srgbClr val="5B5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0" y="2514600"/>
            <a:ext cx="2194560" cy="731520"/>
          </a:xfrm>
          <a:prstGeom prst="rect">
            <a:avLst/>
          </a:prstGeom>
          <a:noFill/>
        </p:spPr>
        <p:txBody>
          <a:bodyPr wrap="square" lIns="0" rIns="0" tIns="0" bIns="0" anchor="t">
            <a:spAutoFit/>
          </a:bodyPr>
          <a:lstStyle/>
          <a:p>
            <a:pPr algn="l">
              <a:spcAft>
                <a:spcPts val="0"/>
              </a:spcAft>
            </a:pPr>
            <a:r>
              <a:rPr sz="1600" b="0" i="0">
                <a:solidFill>
                  <a:srgbClr val="262A33"/>
                </a:solidFill>
                <a:latin typeface="Bahnschrift Light"/>
              </a:rPr>
              <a:t>→ average</a:t>
            </a:r>
          </a:p>
          <a:p>
            <a:pPr algn="l">
              <a:spcAft>
                <a:spcPts val="0"/>
              </a:spcAft>
            </a:pPr>
            <a:r>
              <a:rPr sz="1000" b="0" i="0">
                <a:solidFill>
                  <a:srgbClr val="5B5F68"/>
                </a:solidFill>
                <a:latin typeface="Segoe UI"/>
              </a:rPr>
              <a:t>deep, independent trees</a:t>
            </a:r>
          </a:p>
        </p:txBody>
      </p:sp>
      <p:sp>
        <p:nvSpPr>
          <p:cNvPr id="27" name="TextBox 26"/>
          <p:cNvSpPr txBox="1"/>
          <p:nvPr/>
        </p:nvSpPr>
        <p:spPr>
          <a:xfrm>
            <a:off x="6355080" y="3364992"/>
            <a:ext cx="5212080" cy="365760"/>
          </a:xfrm>
          <a:prstGeom prst="rect">
            <a:avLst/>
          </a:prstGeom>
          <a:noFill/>
        </p:spPr>
        <p:txBody>
          <a:bodyPr wrap="square" lIns="0" rIns="0" tIns="0" bIns="0" anchor="t">
            <a:spAutoFit/>
          </a:bodyPr>
          <a:lstStyle/>
          <a:p>
            <a:pPr algn="l">
              <a:spcAft>
                <a:spcPts val="0"/>
              </a:spcAft>
            </a:pPr>
            <a:r>
              <a:rPr sz="1100" b="0" i="1">
                <a:solidFill>
                  <a:srgbClr val="5B5F68"/>
                </a:solidFill>
                <a:latin typeface="Segoe UI"/>
              </a:rPr>
              <a:t>less variance (noise cancels out)</a:t>
            </a:r>
          </a:p>
        </p:txBody>
      </p:sp>
      <p:sp>
        <p:nvSpPr>
          <p:cNvPr id="28" name="TextBox 27"/>
          <p:cNvSpPr txBox="1"/>
          <p:nvPr/>
        </p:nvSpPr>
        <p:spPr>
          <a:xfrm>
            <a:off x="5852160" y="4069080"/>
            <a:ext cx="5760720" cy="365760"/>
          </a:xfrm>
          <a:prstGeom prst="rect">
            <a:avLst/>
          </a:prstGeom>
          <a:noFill/>
        </p:spPr>
        <p:txBody>
          <a:bodyPr wrap="square" lIns="0" rIns="0" tIns="0" bIns="0" anchor="t">
            <a:spAutoFit/>
          </a:bodyPr>
          <a:lstStyle/>
          <a:p>
            <a:pPr algn="l">
              <a:spcAft>
                <a:spcPts val="0"/>
              </a:spcAft>
            </a:pPr>
            <a:r>
              <a:rPr sz="1500" b="0" i="0">
                <a:solidFill>
                  <a:srgbClr val="B5543A"/>
                </a:solidFill>
                <a:latin typeface="Segoe UI Semibold"/>
              </a:rPr>
              <a:t>Boosting  ·  XGBoost</a:t>
            </a:r>
          </a:p>
        </p:txBody>
      </p:sp>
      <p:sp>
        <p:nvSpPr>
          <p:cNvPr id="29" name="Isosceles Triangle 28"/>
          <p:cNvSpPr/>
          <p:nvPr/>
        </p:nvSpPr>
        <p:spPr>
          <a:xfrm>
            <a:off x="6071616" y="4709160"/>
            <a:ext cx="384048" cy="502920"/>
          </a:xfrm>
          <a:prstGeom prst="triangl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sosceles Triangle 29"/>
          <p:cNvSpPr/>
          <p:nvPr/>
        </p:nvSpPr>
        <p:spPr>
          <a:xfrm>
            <a:off x="6729983" y="4663440"/>
            <a:ext cx="384048" cy="548640"/>
          </a:xfrm>
          <a:prstGeom prst="triangl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7388351" y="4617720"/>
            <a:ext cx="384048" cy="594360"/>
          </a:xfrm>
          <a:prstGeom prst="triangl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8046719" y="4572000"/>
            <a:ext cx="384048" cy="640080"/>
          </a:xfrm>
          <a:prstGeom prst="triangl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8705088" y="4526280"/>
            <a:ext cx="384048" cy="685800"/>
          </a:xfrm>
          <a:prstGeom prst="triangl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8232" y="4800600"/>
            <a:ext cx="274320" cy="365760"/>
          </a:xfrm>
          <a:prstGeom prst="rect">
            <a:avLst/>
          </a:prstGeom>
          <a:noFill/>
        </p:spPr>
        <p:txBody>
          <a:bodyPr wrap="square" lIns="0" rIns="0" tIns="0" bIns="0" anchor="t">
            <a:spAutoFit/>
          </a:bodyPr>
          <a:lstStyle/>
          <a:p>
            <a:pPr algn="ctr">
              <a:spcAft>
                <a:spcPts val="0"/>
              </a:spcAft>
            </a:pPr>
            <a:r>
              <a:rPr sz="1600" b="0" i="0">
                <a:solidFill>
                  <a:srgbClr val="5B5F68"/>
                </a:solidFill>
                <a:latin typeface="Segoe UI"/>
              </a:rPr>
              <a:t>+</a:t>
            </a:r>
          </a:p>
        </p:txBody>
      </p:sp>
      <p:sp>
        <p:nvSpPr>
          <p:cNvPr id="35" name="TextBox 34"/>
          <p:cNvSpPr txBox="1"/>
          <p:nvPr/>
        </p:nvSpPr>
        <p:spPr>
          <a:xfrm>
            <a:off x="7086600" y="4800600"/>
            <a:ext cx="274320" cy="365760"/>
          </a:xfrm>
          <a:prstGeom prst="rect">
            <a:avLst/>
          </a:prstGeom>
          <a:noFill/>
        </p:spPr>
        <p:txBody>
          <a:bodyPr wrap="square" lIns="0" rIns="0" tIns="0" bIns="0" anchor="t">
            <a:spAutoFit/>
          </a:bodyPr>
          <a:lstStyle/>
          <a:p>
            <a:pPr algn="ctr">
              <a:spcAft>
                <a:spcPts val="0"/>
              </a:spcAft>
            </a:pPr>
            <a:r>
              <a:rPr sz="1600" b="0" i="0">
                <a:solidFill>
                  <a:srgbClr val="5B5F68"/>
                </a:solidFill>
                <a:latin typeface="Segoe UI"/>
              </a:rPr>
              <a:t>+</a:t>
            </a:r>
          </a:p>
        </p:txBody>
      </p:sp>
      <p:sp>
        <p:nvSpPr>
          <p:cNvPr id="36" name="TextBox 35"/>
          <p:cNvSpPr txBox="1"/>
          <p:nvPr/>
        </p:nvSpPr>
        <p:spPr>
          <a:xfrm>
            <a:off x="7744968" y="4800600"/>
            <a:ext cx="274320" cy="365760"/>
          </a:xfrm>
          <a:prstGeom prst="rect">
            <a:avLst/>
          </a:prstGeom>
          <a:noFill/>
        </p:spPr>
        <p:txBody>
          <a:bodyPr wrap="square" lIns="0" rIns="0" tIns="0" bIns="0" anchor="t">
            <a:spAutoFit/>
          </a:bodyPr>
          <a:lstStyle/>
          <a:p>
            <a:pPr algn="ctr">
              <a:spcAft>
                <a:spcPts val="0"/>
              </a:spcAft>
            </a:pPr>
            <a:r>
              <a:rPr sz="1600" b="0" i="0">
                <a:solidFill>
                  <a:srgbClr val="5B5F68"/>
                </a:solidFill>
                <a:latin typeface="Segoe UI"/>
              </a:rPr>
              <a:t>+</a:t>
            </a:r>
          </a:p>
        </p:txBody>
      </p:sp>
      <p:sp>
        <p:nvSpPr>
          <p:cNvPr id="37" name="TextBox 36"/>
          <p:cNvSpPr txBox="1"/>
          <p:nvPr/>
        </p:nvSpPr>
        <p:spPr>
          <a:xfrm>
            <a:off x="8403336" y="4800600"/>
            <a:ext cx="274320" cy="365760"/>
          </a:xfrm>
          <a:prstGeom prst="rect">
            <a:avLst/>
          </a:prstGeom>
          <a:noFill/>
        </p:spPr>
        <p:txBody>
          <a:bodyPr wrap="square" lIns="0" rIns="0" tIns="0" bIns="0" anchor="t">
            <a:spAutoFit/>
          </a:bodyPr>
          <a:lstStyle/>
          <a:p>
            <a:pPr algn="ctr">
              <a:spcAft>
                <a:spcPts val="0"/>
              </a:spcAft>
            </a:pPr>
            <a:r>
              <a:rPr sz="1600" b="0" i="0">
                <a:solidFill>
                  <a:srgbClr val="5B5F68"/>
                </a:solidFill>
                <a:latin typeface="Segoe UI"/>
              </a:rPr>
              <a:t>+</a:t>
            </a:r>
          </a:p>
        </p:txBody>
      </p:sp>
      <p:sp>
        <p:nvSpPr>
          <p:cNvPr id="38" name="TextBox 37"/>
          <p:cNvSpPr txBox="1"/>
          <p:nvPr/>
        </p:nvSpPr>
        <p:spPr>
          <a:xfrm>
            <a:off x="9692640" y="4617720"/>
            <a:ext cx="2011680" cy="731520"/>
          </a:xfrm>
          <a:prstGeom prst="rect">
            <a:avLst/>
          </a:prstGeom>
          <a:noFill/>
        </p:spPr>
        <p:txBody>
          <a:bodyPr wrap="square" lIns="0" rIns="0" tIns="0" bIns="0" anchor="t">
            <a:spAutoFit/>
          </a:bodyPr>
          <a:lstStyle/>
          <a:p>
            <a:pPr algn="l">
              <a:spcAft>
                <a:spcPts val="0"/>
              </a:spcAft>
            </a:pPr>
            <a:r>
              <a:rPr sz="1600" b="0" i="0">
                <a:solidFill>
                  <a:srgbClr val="B5543A"/>
                </a:solidFill>
                <a:latin typeface="Bahnschrift Light"/>
              </a:rPr>
              <a:t>→ sum</a:t>
            </a:r>
          </a:p>
          <a:p>
            <a:pPr algn="l">
              <a:spcAft>
                <a:spcPts val="0"/>
              </a:spcAft>
            </a:pPr>
            <a:r>
              <a:rPr sz="1000" b="0" i="0">
                <a:solidFill>
                  <a:srgbClr val="5B5F68"/>
                </a:solidFill>
                <a:latin typeface="Segoe UI"/>
              </a:rPr>
              <a:t>shallow trees, one after another</a:t>
            </a:r>
          </a:p>
        </p:txBody>
      </p:sp>
      <p:sp>
        <p:nvSpPr>
          <p:cNvPr id="39" name="TextBox 38"/>
          <p:cNvSpPr txBox="1"/>
          <p:nvPr/>
        </p:nvSpPr>
        <p:spPr>
          <a:xfrm>
            <a:off x="6263640" y="5349240"/>
            <a:ext cx="5303520" cy="548640"/>
          </a:xfrm>
          <a:prstGeom prst="rect">
            <a:avLst/>
          </a:prstGeom>
          <a:noFill/>
        </p:spPr>
        <p:txBody>
          <a:bodyPr wrap="square" lIns="0" rIns="0" tIns="0" bIns="0" anchor="t">
            <a:spAutoFit/>
          </a:bodyPr>
          <a:lstStyle/>
          <a:p>
            <a:pPr algn="l">
              <a:spcAft>
                <a:spcPts val="0"/>
              </a:spcAft>
            </a:pPr>
            <a:r>
              <a:rPr sz="1100" b="0" i="1">
                <a:solidFill>
                  <a:srgbClr val="5B5F68"/>
                </a:solidFill>
                <a:latin typeface="Segoe UI"/>
              </a:rPr>
              <a:t>less bias: each tree fixes what the previous ones still get wrong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6" fill="hold">
                      <p:stCondLst>
                        <p:cond delay="indefinite"/>
                      </p:stCondLst>
                      <p:childTnLst>
                        <p:par>
                          <p:cTn id="22"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anim calcmode="lin" valueType="num">
                                      <p:cBhvr>
                                        <p:cTn id="20" dur="550" fill="hold"/>
                                        <p:tgtEl>
                                          <p:spTgt spid="5"/>
                                        </p:tgtEl>
                                        <p:attrNameLst>
                                          <p:attrName>ppt_w</p:attrName>
                                        </p:attrNameLst>
                                      </p:cBhvr>
                                      <p:tavLst>
                                        <p:tav tm="0">
                                          <p:val>
                                            <p:strVal val="#ppt_w*0.8"/>
                                          </p:val>
                                        </p:tav>
                                        <p:tav tm="100000">
                                          <p:val>
                                            <p:strVal val="#ppt_w"/>
                                          </p:val>
                                        </p:tav>
                                      </p:tavLst>
                                    </p:anim>
                                    <p:anim calcmode="lin" valueType="num">
                                      <p:cBhvr>
                                        <p:cTn id="21" dur="550" fill="hold"/>
                                        <p:tgtEl>
                                          <p:spTgt spid="5"/>
                                        </p:tgtEl>
                                        <p:attrNameLst>
                                          <p:attrName>ppt_h</p:attrName>
                                        </p:attrNameLst>
                                      </p:cBhvr>
                                      <p:tavLst>
                                        <p:tav tm="0">
                                          <p:val>
                                            <p:strVal val="#ppt_h*0.8"/>
                                          </p:val>
                                        </p:tav>
                                        <p:tav tm="100000">
                                          <p:val>
                                            <p:strVal val="#ppt_h"/>
                                          </p:val>
                                        </p:tav>
                                      </p:tavLst>
                                    </p:anim>
                                  </p:childTnLst>
                                </p:cTn>
                              </p:par>
                            </p:childTnLst>
                          </p:cTn>
                        </p:par>
                      </p:childTnLst>
                    </p:cTn>
                  </p:par>
                  <p:par>
                    <p:cTn id="23" fill="hold">
                      <p:stCondLst>
                        <p:cond delay="indefinite"/>
                      </p:stCondLst>
                      <p:childTnLst>
                        <p:par>
                          <p:cTn id="38"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42" presetClass="entr" presetSubtype="0"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650"/>
                                        <p:tgtEl>
                                          <p:spTgt spid="10"/>
                                        </p:tgtEl>
                                      </p:cBhvr>
                                    </p:animEffect>
                                    <p:anim calcmode="lin" valueType="num">
                                      <p:cBhvr>
                                        <p:cTn id="33" dur="650" fill="hold"/>
                                        <p:tgtEl>
                                          <p:spTgt spid="10"/>
                                        </p:tgtEl>
                                        <p:attrNameLst>
                                          <p:attrName>ppt_y</p:attrName>
                                        </p:attrNameLst>
                                      </p:cBhvr>
                                      <p:tavLst>
                                        <p:tav tm="0">
                                          <p:val>
                                            <p:strVal val="#ppt_y+0.06"/>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650"/>
                                        <p:tgtEl>
                                          <p:spTgt spid="11"/>
                                        </p:tgtEl>
                                      </p:cBhvr>
                                    </p:animEffect>
                                    <p:anim calcmode="lin" valueType="num">
                                      <p:cBhvr>
                                        <p:cTn id="37" dur="650" fill="hold"/>
                                        <p:tgtEl>
                                          <p:spTgt spid="11"/>
                                        </p:tgtEl>
                                        <p:attrNameLst>
                                          <p:attrName>ppt_y</p:attrName>
                                        </p:attrNameLst>
                                      </p:cBhvr>
                                      <p:tavLst>
                                        <p:tav tm="0">
                                          <p:val>
                                            <p:strVal val="#ppt_y+0.06"/>
                                          </p:val>
                                        </p:tav>
                                        <p:tav tm="100000">
                                          <p:val>
                                            <p:strVal val="#ppt_y"/>
                                          </p:val>
                                        </p:tav>
                                      </p:tavLst>
                                    </p:anim>
                                  </p:childTnLst>
                                </p:cTn>
                              </p:par>
                            </p:childTnLst>
                          </p:cTn>
                        </p:par>
                        <p:par>
                          <p:cTn id="49" fill="hold">
                            <p:stCondLst>
                              <p:cond delay="650"/>
                            </p:stCondLst>
                            <p:childTnLst>
                              <p:par>
                                <p:cTn id="39" presetID="53" presetClass="entr" presetSubtype="16"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550"/>
                                        <p:tgtEl>
                                          <p:spTgt spid="6"/>
                                        </p:tgtEl>
                                      </p:cBhvr>
                                    </p:animEffect>
                                    <p:anim calcmode="lin" valueType="num">
                                      <p:cBhvr>
                                        <p:cTn id="42" dur="550" fill="hold"/>
                                        <p:tgtEl>
                                          <p:spTgt spid="6"/>
                                        </p:tgtEl>
                                        <p:attrNameLst>
                                          <p:attrName>ppt_w</p:attrName>
                                        </p:attrNameLst>
                                      </p:cBhvr>
                                      <p:tavLst>
                                        <p:tav tm="0">
                                          <p:val>
                                            <p:strVal val="#ppt_w*0.8"/>
                                          </p:val>
                                        </p:tav>
                                        <p:tav tm="100000">
                                          <p:val>
                                            <p:strVal val="#ppt_w"/>
                                          </p:val>
                                        </p:tav>
                                      </p:tavLst>
                                    </p:anim>
                                    <p:anim calcmode="lin" valueType="num">
                                      <p:cBhvr>
                                        <p:cTn id="43" dur="550" fill="hold"/>
                                        <p:tgtEl>
                                          <p:spTgt spid="6"/>
                                        </p:tgtEl>
                                        <p:attrNameLst>
                                          <p:attrName>ppt_h</p:attrName>
                                        </p:attrNameLst>
                                      </p:cBhvr>
                                      <p:tavLst>
                                        <p:tav tm="0">
                                          <p:val>
                                            <p:strVal val="#ppt_h*0.8"/>
                                          </p:val>
                                        </p:tav>
                                        <p:tav tm="100000">
                                          <p:val>
                                            <p:strVal val="#ppt_h"/>
                                          </p:val>
                                        </p:tav>
                                      </p:tavLst>
                                    </p:anim>
                                  </p:childTnLst>
                                </p:cTn>
                              </p:par>
                              <p:par>
                                <p:cTn id="44" presetID="53" presetClass="entr" presetSubtype="16" fill="hold" nodeType="after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550"/>
                                        <p:tgtEl>
                                          <p:spTgt spid="7"/>
                                        </p:tgtEl>
                                      </p:cBhvr>
                                    </p:animEffect>
                                    <p:anim calcmode="lin" valueType="num">
                                      <p:cBhvr>
                                        <p:cTn id="47" dur="550" fill="hold"/>
                                        <p:tgtEl>
                                          <p:spTgt spid="7"/>
                                        </p:tgtEl>
                                        <p:attrNameLst>
                                          <p:attrName>ppt_w</p:attrName>
                                        </p:attrNameLst>
                                      </p:cBhvr>
                                      <p:tavLst>
                                        <p:tav tm="0">
                                          <p:val>
                                            <p:strVal val="#ppt_w*0.8"/>
                                          </p:val>
                                        </p:tav>
                                        <p:tav tm="100000">
                                          <p:val>
                                            <p:strVal val="#ppt_w"/>
                                          </p:val>
                                        </p:tav>
                                      </p:tavLst>
                                    </p:anim>
                                    <p:anim calcmode="lin" valueType="num">
                                      <p:cBhvr>
                                        <p:cTn id="48" dur="550" fill="hold"/>
                                        <p:tgtEl>
                                          <p:spTgt spid="7"/>
                                        </p:tgtEl>
                                        <p:attrNameLst>
                                          <p:attrName>ppt_h</p:attrName>
                                        </p:attrNameLst>
                                      </p:cBhvr>
                                      <p:tavLst>
                                        <p:tav tm="0">
                                          <p:val>
                                            <p:strVal val="#ppt_h*0.8"/>
                                          </p:val>
                                        </p:tav>
                                        <p:tav tm="100000">
                                          <p:val>
                                            <p:strVal val="#ppt_h"/>
                                          </p:val>
                                        </p:tav>
                                      </p:tavLst>
                                    </p:anim>
                                  </p:childTnLst>
                                </p:cTn>
                              </p:par>
                            </p:childTnLst>
                          </p:cTn>
                        </p:par>
                      </p:childTnLst>
                    </p:cTn>
                  </p:par>
                  <p:par>
                    <p:cTn id="50" fill="hold">
                      <p:stCondLst>
                        <p:cond delay="indefinite"/>
                      </p:stCondLst>
                      <p:childTnLst>
                        <p:par>
                          <p:cTn id="68"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10" presetClass="entr" presetSubtype="0" fill="hold"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par>
                                <p:cTn id="57" presetID="10" presetClass="entr" presetSubtype="0" fill="hold"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10" presetClass="entr" presetSubtype="0" fill="hold"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childTnLst>
                                </p:cTn>
                              </p:par>
                              <p:par>
                                <p:cTn id="63" presetID="53" presetClass="entr" presetSubtype="16" fill="hold" nodeType="with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fade">
                                      <p:cBhvr>
                                        <p:cTn id="65" dur="550"/>
                                        <p:tgtEl>
                                          <p:spTgt spid="12"/>
                                        </p:tgtEl>
                                      </p:cBhvr>
                                    </p:animEffect>
                                    <p:anim calcmode="lin" valueType="num">
                                      <p:cBhvr>
                                        <p:cTn id="66" dur="550" fill="hold"/>
                                        <p:tgtEl>
                                          <p:spTgt spid="12"/>
                                        </p:tgtEl>
                                        <p:attrNameLst>
                                          <p:attrName>ppt_w</p:attrName>
                                        </p:attrNameLst>
                                      </p:cBhvr>
                                      <p:tavLst>
                                        <p:tav tm="0">
                                          <p:val>
                                            <p:strVal val="#ppt_w*0.8"/>
                                          </p:val>
                                        </p:tav>
                                        <p:tav tm="100000">
                                          <p:val>
                                            <p:strVal val="#ppt_w"/>
                                          </p:val>
                                        </p:tav>
                                      </p:tavLst>
                                    </p:anim>
                                    <p:anim calcmode="lin" valueType="num">
                                      <p:cBhvr>
                                        <p:cTn id="67" dur="550" fill="hold"/>
                                        <p:tgtEl>
                                          <p:spTgt spid="12"/>
                                        </p:tgtEl>
                                        <p:attrNameLst>
                                          <p:attrName>ppt_h</p:attrName>
                                        </p:attrNameLst>
                                      </p:cBhvr>
                                      <p:tavLst>
                                        <p:tav tm="0">
                                          <p:val>
                                            <p:strVal val="#ppt_h*0.8"/>
                                          </p:val>
                                        </p:tav>
                                        <p:tav tm="100000">
                                          <p:val>
                                            <p:strVal val="#ppt_h"/>
                                          </p:val>
                                        </p:tav>
                                      </p:tavLst>
                                    </p:anim>
                                  </p:childTnLst>
                                </p:cTn>
                              </p:par>
                            </p:childTnLst>
                          </p:cTn>
                        </p:par>
                        <p:par>
                          <p:cTn id="74" fill="hold">
                            <p:stCondLst>
                              <p:cond delay="550"/>
                            </p:stCondLst>
                            <p:childTnLst>
                              <p:par>
                                <p:cTn id="69" presetID="53" presetClass="entr" presetSubtype="16" fill="hold" nodeType="after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550"/>
                                        <p:tgtEl>
                                          <p:spTgt spid="13"/>
                                        </p:tgtEl>
                                      </p:cBhvr>
                                    </p:animEffect>
                                    <p:anim calcmode="lin" valueType="num">
                                      <p:cBhvr>
                                        <p:cTn id="72" dur="550" fill="hold"/>
                                        <p:tgtEl>
                                          <p:spTgt spid="13"/>
                                        </p:tgtEl>
                                        <p:attrNameLst>
                                          <p:attrName>ppt_w</p:attrName>
                                        </p:attrNameLst>
                                      </p:cBhvr>
                                      <p:tavLst>
                                        <p:tav tm="0">
                                          <p:val>
                                            <p:strVal val="#ppt_w*0.8"/>
                                          </p:val>
                                        </p:tav>
                                        <p:tav tm="100000">
                                          <p:val>
                                            <p:strVal val="#ppt_w"/>
                                          </p:val>
                                        </p:tav>
                                      </p:tavLst>
                                    </p:anim>
                                    <p:anim calcmode="lin" valueType="num">
                                      <p:cBhvr>
                                        <p:cTn id="73" dur="550" fill="hold"/>
                                        <p:tgtEl>
                                          <p:spTgt spid="13"/>
                                        </p:tgtEl>
                                        <p:attrNameLst>
                                          <p:attrName>ppt_h</p:attrName>
                                        </p:attrNameLst>
                                      </p:cBhvr>
                                      <p:tavLst>
                                        <p:tav tm="0">
                                          <p:val>
                                            <p:strVal val="#ppt_h*0.8"/>
                                          </p:val>
                                        </p:tav>
                                        <p:tav tm="100000">
                                          <p:val>
                                            <p:strVal val="#ppt_h"/>
                                          </p:val>
                                        </p:tav>
                                      </p:tavLst>
                                    </p:anim>
                                  </p:childTnLst>
                                </p:cTn>
                              </p:par>
                            </p:childTnLst>
                          </p:cTn>
                        </p:par>
                        <p:par>
                          <p:cTn id="80" fill="hold">
                            <p:stCondLst>
                              <p:cond delay="1100"/>
                            </p:stCondLst>
                            <p:childTnLst>
                              <p:par>
                                <p:cTn id="75" presetID="53" presetClass="entr" presetSubtype="16" fill="hold" nodeType="after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550"/>
                                        <p:tgtEl>
                                          <p:spTgt spid="14"/>
                                        </p:tgtEl>
                                      </p:cBhvr>
                                    </p:animEffect>
                                    <p:anim calcmode="lin" valueType="num">
                                      <p:cBhvr>
                                        <p:cTn id="78" dur="550" fill="hold"/>
                                        <p:tgtEl>
                                          <p:spTgt spid="14"/>
                                        </p:tgtEl>
                                        <p:attrNameLst>
                                          <p:attrName>ppt_w</p:attrName>
                                        </p:attrNameLst>
                                      </p:cBhvr>
                                      <p:tavLst>
                                        <p:tav tm="0">
                                          <p:val>
                                            <p:strVal val="#ppt_w*0.8"/>
                                          </p:val>
                                        </p:tav>
                                        <p:tav tm="100000">
                                          <p:val>
                                            <p:strVal val="#ppt_w"/>
                                          </p:val>
                                        </p:tav>
                                      </p:tavLst>
                                    </p:anim>
                                    <p:anim calcmode="lin" valueType="num">
                                      <p:cBhvr>
                                        <p:cTn id="79" dur="550" fill="hold"/>
                                        <p:tgtEl>
                                          <p:spTgt spid="14"/>
                                        </p:tgtEl>
                                        <p:attrNameLst>
                                          <p:attrName>ppt_h</p:attrName>
                                        </p:attrNameLst>
                                      </p:cBhvr>
                                      <p:tavLst>
                                        <p:tav tm="0">
                                          <p:val>
                                            <p:strVal val="#ppt_h*0.8"/>
                                          </p:val>
                                        </p:tav>
                                        <p:tav tm="100000">
                                          <p:val>
                                            <p:strVal val="#ppt_h"/>
                                          </p:val>
                                        </p:tav>
                                      </p:tavLst>
                                    </p:anim>
                                  </p:childTnLst>
                                </p:cTn>
                              </p:par>
                            </p:childTnLst>
                          </p:cTn>
                        </p:par>
                        <p:par>
                          <p:cTn id="86" fill="hold">
                            <p:stCondLst>
                              <p:cond delay="1650"/>
                            </p:stCondLst>
                            <p:childTnLst>
                              <p:par>
                                <p:cTn id="81" presetID="53" presetClass="entr" presetSubtype="16" fill="hold" nodeType="after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550"/>
                                        <p:tgtEl>
                                          <p:spTgt spid="15"/>
                                        </p:tgtEl>
                                      </p:cBhvr>
                                    </p:animEffect>
                                    <p:anim calcmode="lin" valueType="num">
                                      <p:cBhvr>
                                        <p:cTn id="84" dur="550" fill="hold"/>
                                        <p:tgtEl>
                                          <p:spTgt spid="15"/>
                                        </p:tgtEl>
                                        <p:attrNameLst>
                                          <p:attrName>ppt_w</p:attrName>
                                        </p:attrNameLst>
                                      </p:cBhvr>
                                      <p:tavLst>
                                        <p:tav tm="0">
                                          <p:val>
                                            <p:strVal val="#ppt_w*0.8"/>
                                          </p:val>
                                        </p:tav>
                                        <p:tav tm="100000">
                                          <p:val>
                                            <p:strVal val="#ppt_w"/>
                                          </p:val>
                                        </p:tav>
                                      </p:tavLst>
                                    </p:anim>
                                    <p:anim calcmode="lin" valueType="num">
                                      <p:cBhvr>
                                        <p:cTn id="85" dur="550" fill="hold"/>
                                        <p:tgtEl>
                                          <p:spTgt spid="15"/>
                                        </p:tgtEl>
                                        <p:attrNameLst>
                                          <p:attrName>ppt_h</p:attrName>
                                        </p:attrNameLst>
                                      </p:cBhvr>
                                      <p:tavLst>
                                        <p:tav tm="0">
                                          <p:val>
                                            <p:strVal val="#ppt_h*0.8"/>
                                          </p:val>
                                        </p:tav>
                                        <p:tav tm="100000">
                                          <p:val>
                                            <p:strVal val="#ppt_h"/>
                                          </p:val>
                                        </p:tav>
                                      </p:tavLst>
                                    </p:anim>
                                  </p:childTnLst>
                                </p:cTn>
                              </p:par>
                            </p:childTnLst>
                          </p:cTn>
                        </p:par>
                        <p:par>
                          <p:cTn id="91" fill="hold">
                            <p:stCondLst>
                              <p:cond delay="2200"/>
                            </p:stCondLst>
                            <p:childTnLst>
                              <p:par>
                                <p:cTn id="87" presetID="42" presetClass="entr" presetSubtype="0" fill="hold" nodeType="after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650"/>
                                        <p:tgtEl>
                                          <p:spTgt spid="20"/>
                                        </p:tgtEl>
                                      </p:cBhvr>
                                    </p:animEffect>
                                    <p:anim calcmode="lin" valueType="num">
                                      <p:cBhvr>
                                        <p:cTn id="90" dur="650" fill="hold"/>
                                        <p:tgtEl>
                                          <p:spTgt spid="20"/>
                                        </p:tgtEl>
                                        <p:attrNameLst>
                                          <p:attrName>ppt_y</p:attrName>
                                        </p:attrNameLst>
                                      </p:cBhvr>
                                      <p:tavLst>
                                        <p:tav tm="0">
                                          <p:val>
                                            <p:strVal val="#ppt_y+0.06"/>
                                          </p:val>
                                        </p:tav>
                                        <p:tav tm="100000">
                                          <p:val>
                                            <p:strVal val="#ppt_y"/>
                                          </p:val>
                                        </p:tav>
                                      </p:tavLst>
                                    </p:anim>
                                  </p:childTnLst>
                                </p:cTn>
                              </p:par>
                            </p:childTnLst>
                          </p:cTn>
                        </p:par>
                      </p:childTnLst>
                    </p:cTn>
                  </p:par>
                  <p:par>
                    <p:cTn id="92" fill="hold">
                      <p:stCondLst>
                        <p:cond delay="indefinite"/>
                      </p:stCondLst>
                      <p:childTnLst>
                        <p:par>
                          <p:cTn id="117"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650"/>
                                        <p:tgtEl>
                                          <p:spTgt spid="21"/>
                                        </p:tgtEl>
                                      </p:cBhvr>
                                    </p:animEffect>
                                    <p:anim calcmode="lin" valueType="num">
                                      <p:cBhvr>
                                        <p:cTn id="96" dur="650" fill="hold"/>
                                        <p:tgtEl>
                                          <p:spTgt spid="21"/>
                                        </p:tgtEl>
                                        <p:attrNameLst>
                                          <p:attrName>ppt_y</p:attrName>
                                        </p:attrNameLst>
                                      </p:cBhvr>
                                      <p:tavLst>
                                        <p:tav tm="0">
                                          <p:val>
                                            <p:strVal val="#ppt_y+0.06"/>
                                          </p:val>
                                        </p:tav>
                                        <p:tav tm="100000">
                                          <p:val>
                                            <p:strVal val="#ppt_y"/>
                                          </p:val>
                                        </p:tav>
                                      </p:tavLst>
                                    </p:anim>
                                  </p:childTnLst>
                                </p:cTn>
                              </p:par>
                              <p:par>
                                <p:cTn id="97" presetID="53" presetClass="entr" presetSubtype="16" fill="hold" nodeType="with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550"/>
                                        <p:tgtEl>
                                          <p:spTgt spid="22"/>
                                        </p:tgtEl>
                                      </p:cBhvr>
                                    </p:animEffect>
                                    <p:anim calcmode="lin" valueType="num">
                                      <p:cBhvr>
                                        <p:cTn id="100" dur="550" fill="hold"/>
                                        <p:tgtEl>
                                          <p:spTgt spid="22"/>
                                        </p:tgtEl>
                                        <p:attrNameLst>
                                          <p:attrName>ppt_w</p:attrName>
                                        </p:attrNameLst>
                                      </p:cBhvr>
                                      <p:tavLst>
                                        <p:tav tm="0">
                                          <p:val>
                                            <p:strVal val="#ppt_w*0.8"/>
                                          </p:val>
                                        </p:tav>
                                        <p:tav tm="100000">
                                          <p:val>
                                            <p:strVal val="#ppt_w"/>
                                          </p:val>
                                        </p:tav>
                                      </p:tavLst>
                                    </p:anim>
                                    <p:anim calcmode="lin" valueType="num">
                                      <p:cBhvr>
                                        <p:cTn id="101" dur="550" fill="hold"/>
                                        <p:tgtEl>
                                          <p:spTgt spid="22"/>
                                        </p:tgtEl>
                                        <p:attrNameLst>
                                          <p:attrName>ppt_h</p:attrName>
                                        </p:attrNameLst>
                                      </p:cBhvr>
                                      <p:tavLst>
                                        <p:tav tm="0">
                                          <p:val>
                                            <p:strVal val="#ppt_h*0.8"/>
                                          </p:val>
                                        </p:tav>
                                        <p:tav tm="100000">
                                          <p:val>
                                            <p:strVal val="#ppt_h"/>
                                          </p:val>
                                        </p:tav>
                                      </p:tavLst>
                                    </p:anim>
                                  </p:childTnLst>
                                </p:cTn>
                              </p:par>
                              <p:par>
                                <p:cTn id="102" presetID="53" presetClass="entr" presetSubtype="16" fill="hold" nodeType="withEffect">
                                  <p:stCondLst>
                                    <p:cond delay="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550"/>
                                        <p:tgtEl>
                                          <p:spTgt spid="23"/>
                                        </p:tgtEl>
                                      </p:cBhvr>
                                    </p:animEffect>
                                    <p:anim calcmode="lin" valueType="num">
                                      <p:cBhvr>
                                        <p:cTn id="105" dur="550" fill="hold"/>
                                        <p:tgtEl>
                                          <p:spTgt spid="23"/>
                                        </p:tgtEl>
                                        <p:attrNameLst>
                                          <p:attrName>ppt_w</p:attrName>
                                        </p:attrNameLst>
                                      </p:cBhvr>
                                      <p:tavLst>
                                        <p:tav tm="0">
                                          <p:val>
                                            <p:strVal val="#ppt_w*0.8"/>
                                          </p:val>
                                        </p:tav>
                                        <p:tav tm="100000">
                                          <p:val>
                                            <p:strVal val="#ppt_w"/>
                                          </p:val>
                                        </p:tav>
                                      </p:tavLst>
                                    </p:anim>
                                    <p:anim calcmode="lin" valueType="num">
                                      <p:cBhvr>
                                        <p:cTn id="106" dur="550" fill="hold"/>
                                        <p:tgtEl>
                                          <p:spTgt spid="23"/>
                                        </p:tgtEl>
                                        <p:attrNameLst>
                                          <p:attrName>ppt_h</p:attrName>
                                        </p:attrNameLst>
                                      </p:cBhvr>
                                      <p:tavLst>
                                        <p:tav tm="0">
                                          <p:val>
                                            <p:strVal val="#ppt_h*0.8"/>
                                          </p:val>
                                        </p:tav>
                                        <p:tav tm="100000">
                                          <p:val>
                                            <p:strVal val="#ppt_h"/>
                                          </p:val>
                                        </p:tav>
                                      </p:tavLst>
                                    </p:anim>
                                  </p:childTnLst>
                                </p:cTn>
                              </p:par>
                              <p:par>
                                <p:cTn id="107" presetID="53" presetClass="entr" presetSubtype="16" fill="hold" nodeType="withEffect">
                                  <p:stCondLst>
                                    <p:cond delay="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550"/>
                                        <p:tgtEl>
                                          <p:spTgt spid="24"/>
                                        </p:tgtEl>
                                      </p:cBhvr>
                                    </p:animEffect>
                                    <p:anim calcmode="lin" valueType="num">
                                      <p:cBhvr>
                                        <p:cTn id="110" dur="550" fill="hold"/>
                                        <p:tgtEl>
                                          <p:spTgt spid="24"/>
                                        </p:tgtEl>
                                        <p:attrNameLst>
                                          <p:attrName>ppt_w</p:attrName>
                                        </p:attrNameLst>
                                      </p:cBhvr>
                                      <p:tavLst>
                                        <p:tav tm="0">
                                          <p:val>
                                            <p:strVal val="#ppt_w*0.8"/>
                                          </p:val>
                                        </p:tav>
                                        <p:tav tm="100000">
                                          <p:val>
                                            <p:strVal val="#ppt_w"/>
                                          </p:val>
                                        </p:tav>
                                      </p:tavLst>
                                    </p:anim>
                                    <p:anim calcmode="lin" valueType="num">
                                      <p:cBhvr>
                                        <p:cTn id="111" dur="550" fill="hold"/>
                                        <p:tgtEl>
                                          <p:spTgt spid="24"/>
                                        </p:tgtEl>
                                        <p:attrNameLst>
                                          <p:attrName>ppt_h</p:attrName>
                                        </p:attrNameLst>
                                      </p:cBhvr>
                                      <p:tavLst>
                                        <p:tav tm="0">
                                          <p:val>
                                            <p:strVal val="#ppt_h*0.8"/>
                                          </p:val>
                                        </p:tav>
                                        <p:tav tm="100000">
                                          <p:val>
                                            <p:strVal val="#ppt_h"/>
                                          </p:val>
                                        </p:tav>
                                      </p:tavLst>
                                    </p:anim>
                                  </p:childTnLst>
                                </p:cTn>
                              </p:par>
                              <p:par>
                                <p:cTn id="112" presetID="53" presetClass="entr" presetSubtype="16" fill="hold" nodeType="withEffect">
                                  <p:stCondLst>
                                    <p:cond delay="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550"/>
                                        <p:tgtEl>
                                          <p:spTgt spid="25"/>
                                        </p:tgtEl>
                                      </p:cBhvr>
                                    </p:animEffect>
                                    <p:anim calcmode="lin" valueType="num">
                                      <p:cBhvr>
                                        <p:cTn id="115" dur="550" fill="hold"/>
                                        <p:tgtEl>
                                          <p:spTgt spid="25"/>
                                        </p:tgtEl>
                                        <p:attrNameLst>
                                          <p:attrName>ppt_w</p:attrName>
                                        </p:attrNameLst>
                                      </p:cBhvr>
                                      <p:tavLst>
                                        <p:tav tm="0">
                                          <p:val>
                                            <p:strVal val="#ppt_w*0.8"/>
                                          </p:val>
                                        </p:tav>
                                        <p:tav tm="100000">
                                          <p:val>
                                            <p:strVal val="#ppt_w"/>
                                          </p:val>
                                        </p:tav>
                                      </p:tavLst>
                                    </p:anim>
                                    <p:anim calcmode="lin" valueType="num">
                                      <p:cBhvr>
                                        <p:cTn id="116" dur="550" fill="hold"/>
                                        <p:tgtEl>
                                          <p:spTgt spid="25"/>
                                        </p:tgtEl>
                                        <p:attrNameLst>
                                          <p:attrName>ppt_h</p:attrName>
                                        </p:attrNameLst>
                                      </p:cBhvr>
                                      <p:tavLst>
                                        <p:tav tm="0">
                                          <p:val>
                                            <p:strVal val="#ppt_h*0.8"/>
                                          </p:val>
                                        </p:tav>
                                        <p:tav tm="100000">
                                          <p:val>
                                            <p:strVal val="#ppt_h"/>
                                          </p:val>
                                        </p:tav>
                                      </p:tavLst>
                                    </p:anim>
                                  </p:childTnLst>
                                </p:cTn>
                              </p:par>
                            </p:childTnLst>
                          </p:cTn>
                        </p:par>
                        <p:par>
                          <p:cTn id="124" fill="hold">
                            <p:stCondLst>
                              <p:cond delay="650"/>
                            </p:stCondLst>
                            <p:childTnLst>
                              <p:par>
                                <p:cTn id="118" presetID="22" presetClass="entr" presetSubtype="8" fill="hold" nodeType="afterEffect">
                                  <p:stCondLst>
                                    <p:cond delay="0"/>
                                  </p:stCondLst>
                                  <p:childTnLst>
                                    <p:set>
                                      <p:cBhvr>
                                        <p:cTn id="119" dur="1" fill="hold">
                                          <p:stCondLst>
                                            <p:cond delay="0"/>
                                          </p:stCondLst>
                                        </p:cTn>
                                        <p:tgtEl>
                                          <p:spTgt spid="26"/>
                                        </p:tgtEl>
                                        <p:attrNameLst>
                                          <p:attrName>style.visibility</p:attrName>
                                        </p:attrNameLst>
                                      </p:cBhvr>
                                      <p:to>
                                        <p:strVal val="visible"/>
                                      </p:to>
                                    </p:set>
                                    <p:animEffect transition="in" filter="wipe(left)">
                                      <p:cBhvr>
                                        <p:cTn id="120" dur="700"/>
                                        <p:tgtEl>
                                          <p:spTgt spid="26"/>
                                        </p:tgtEl>
                                      </p:cBhvr>
                                    </p:animEffect>
                                  </p:childTnLst>
                                </p:cTn>
                              </p:par>
                              <p:par>
                                <p:cTn id="121" presetID="10" presetClass="entr" presetSubtype="0" fill="hold" nodeType="afterEffect">
                                  <p:stCondLst>
                                    <p:cond delay="0"/>
                                  </p:stCondLst>
                                  <p:childTnLst>
                                    <p:set>
                                      <p:cBhvr>
                                        <p:cTn id="122" dur="1" fill="hold">
                                          <p:stCondLst>
                                            <p:cond delay="0"/>
                                          </p:stCondLst>
                                        </p:cTn>
                                        <p:tgtEl>
                                          <p:spTgt spid="27"/>
                                        </p:tgtEl>
                                        <p:attrNameLst>
                                          <p:attrName>style.visibility</p:attrName>
                                        </p:attrNameLst>
                                      </p:cBhvr>
                                      <p:to>
                                        <p:strVal val="visible"/>
                                      </p:to>
                                    </p:set>
                                    <p:animEffect transition="in" filter="fade">
                                      <p:cBhvr>
                                        <p:cTn id="123" dur="500"/>
                                        <p:tgtEl>
                                          <p:spTgt spid="27"/>
                                        </p:tgtEl>
                                      </p:cBhvr>
                                    </p:animEffect>
                                  </p:childTnLst>
                                </p:cTn>
                              </p:par>
                            </p:childTnLst>
                          </p:cTn>
                        </p:par>
                      </p:childTnLst>
                    </p:cTn>
                  </p:par>
                  <p:par>
                    <p:cTn id="125" fill="hold">
                      <p:stCondLst>
                        <p:cond delay="indefinite"/>
                      </p:stCondLst>
                      <p:childTnLst>
                        <p:par>
                          <p:cTn id="135" fill="hold">
                            <p:stCondLst>
                              <p:cond delay="0"/>
                            </p:stCondLst>
                            <p:childTnLst>
                              <p:par>
                                <p:cTn id="126" presetID="42" presetClass="entr" presetSubtype="0" fill="hold" nodeType="clickEffect">
                                  <p:stCondLst>
                                    <p:cond delay="0"/>
                                  </p:stCondLst>
                                  <p:childTnLst>
                                    <p:set>
                                      <p:cBhvr>
                                        <p:cTn id="127" dur="1" fill="hold">
                                          <p:stCondLst>
                                            <p:cond delay="0"/>
                                          </p:stCondLst>
                                        </p:cTn>
                                        <p:tgtEl>
                                          <p:spTgt spid="28"/>
                                        </p:tgtEl>
                                        <p:attrNameLst>
                                          <p:attrName>style.visibility</p:attrName>
                                        </p:attrNameLst>
                                      </p:cBhvr>
                                      <p:to>
                                        <p:strVal val="visible"/>
                                      </p:to>
                                    </p:set>
                                    <p:animEffect transition="in" filter="fade">
                                      <p:cBhvr>
                                        <p:cTn id="128" dur="650"/>
                                        <p:tgtEl>
                                          <p:spTgt spid="28"/>
                                        </p:tgtEl>
                                      </p:cBhvr>
                                    </p:animEffect>
                                    <p:anim calcmode="lin" valueType="num">
                                      <p:cBhvr>
                                        <p:cTn id="129" dur="650" fill="hold"/>
                                        <p:tgtEl>
                                          <p:spTgt spid="28"/>
                                        </p:tgtEl>
                                        <p:attrNameLst>
                                          <p:attrName>ppt_y</p:attrName>
                                        </p:attrNameLst>
                                      </p:cBhvr>
                                      <p:tavLst>
                                        <p:tav tm="0">
                                          <p:val>
                                            <p:strVal val="#ppt_y+0.06"/>
                                          </p:val>
                                        </p:tav>
                                        <p:tav tm="100000">
                                          <p:val>
                                            <p:strVal val="#ppt_y"/>
                                          </p:val>
                                        </p:tav>
                                      </p:tavLst>
                                    </p:anim>
                                  </p:childTnLst>
                                </p:cTn>
                              </p:par>
                              <p:par>
                                <p:cTn id="130" presetID="53" presetClass="entr" presetSubtype="16" fill="hold"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300"/>
                                        <p:tgtEl>
                                          <p:spTgt spid="29"/>
                                        </p:tgtEl>
                                      </p:cBhvr>
                                    </p:animEffect>
                                    <p:anim calcmode="lin" valueType="num">
                                      <p:cBhvr>
                                        <p:cTn id="133" dur="300" fill="hold"/>
                                        <p:tgtEl>
                                          <p:spTgt spid="29"/>
                                        </p:tgtEl>
                                        <p:attrNameLst>
                                          <p:attrName>ppt_w</p:attrName>
                                        </p:attrNameLst>
                                      </p:cBhvr>
                                      <p:tavLst>
                                        <p:tav tm="0">
                                          <p:val>
                                            <p:strVal val="#ppt_w*0.8"/>
                                          </p:val>
                                        </p:tav>
                                        <p:tav tm="100000">
                                          <p:val>
                                            <p:strVal val="#ppt_w"/>
                                          </p:val>
                                        </p:tav>
                                      </p:tavLst>
                                    </p:anim>
                                    <p:anim calcmode="lin" valueType="num">
                                      <p:cBhvr>
                                        <p:cTn id="134" dur="300" fill="hold"/>
                                        <p:tgtEl>
                                          <p:spTgt spid="29"/>
                                        </p:tgtEl>
                                        <p:attrNameLst>
                                          <p:attrName>ppt_h</p:attrName>
                                        </p:attrNameLst>
                                      </p:cBhvr>
                                      <p:tavLst>
                                        <p:tav tm="0">
                                          <p:val>
                                            <p:strVal val="#ppt_h*0.8"/>
                                          </p:val>
                                        </p:tav>
                                        <p:tav tm="100000">
                                          <p:val>
                                            <p:strVal val="#ppt_h"/>
                                          </p:val>
                                        </p:tav>
                                      </p:tavLst>
                                    </p:anim>
                                  </p:childTnLst>
                                </p:cTn>
                              </p:par>
                            </p:childTnLst>
                          </p:cTn>
                        </p:par>
                        <p:par>
                          <p:cTn id="141" fill="hold">
                            <p:stCondLst>
                              <p:cond delay="650"/>
                            </p:stCondLst>
                            <p:childTnLst>
                              <p:par>
                                <p:cTn id="136" presetID="53" presetClass="entr" presetSubtype="16" fill="hold" nodeType="afterEffect">
                                  <p:stCondLst>
                                    <p:cond delay="0"/>
                                  </p:stCondLst>
                                  <p:childTnLst>
                                    <p:set>
                                      <p:cBhvr>
                                        <p:cTn id="137" dur="1" fill="hold">
                                          <p:stCondLst>
                                            <p:cond delay="0"/>
                                          </p:stCondLst>
                                        </p:cTn>
                                        <p:tgtEl>
                                          <p:spTgt spid="30"/>
                                        </p:tgtEl>
                                        <p:attrNameLst>
                                          <p:attrName>style.visibility</p:attrName>
                                        </p:attrNameLst>
                                      </p:cBhvr>
                                      <p:to>
                                        <p:strVal val="visible"/>
                                      </p:to>
                                    </p:set>
                                    <p:animEffect transition="in" filter="fade">
                                      <p:cBhvr>
                                        <p:cTn id="138" dur="300"/>
                                        <p:tgtEl>
                                          <p:spTgt spid="30"/>
                                        </p:tgtEl>
                                      </p:cBhvr>
                                    </p:animEffect>
                                    <p:anim calcmode="lin" valueType="num">
                                      <p:cBhvr>
                                        <p:cTn id="139" dur="300" fill="hold"/>
                                        <p:tgtEl>
                                          <p:spTgt spid="30"/>
                                        </p:tgtEl>
                                        <p:attrNameLst>
                                          <p:attrName>ppt_w</p:attrName>
                                        </p:attrNameLst>
                                      </p:cBhvr>
                                      <p:tavLst>
                                        <p:tav tm="0">
                                          <p:val>
                                            <p:strVal val="#ppt_w*0.8"/>
                                          </p:val>
                                        </p:tav>
                                        <p:tav tm="100000">
                                          <p:val>
                                            <p:strVal val="#ppt_w"/>
                                          </p:val>
                                        </p:tav>
                                      </p:tavLst>
                                    </p:anim>
                                    <p:anim calcmode="lin" valueType="num">
                                      <p:cBhvr>
                                        <p:cTn id="140" dur="300" fill="hold"/>
                                        <p:tgtEl>
                                          <p:spTgt spid="30"/>
                                        </p:tgtEl>
                                        <p:attrNameLst>
                                          <p:attrName>ppt_h</p:attrName>
                                        </p:attrNameLst>
                                      </p:cBhvr>
                                      <p:tavLst>
                                        <p:tav tm="0">
                                          <p:val>
                                            <p:strVal val="#ppt_h*0.8"/>
                                          </p:val>
                                        </p:tav>
                                        <p:tav tm="100000">
                                          <p:val>
                                            <p:strVal val="#ppt_h"/>
                                          </p:val>
                                        </p:tav>
                                      </p:tavLst>
                                    </p:anim>
                                  </p:childTnLst>
                                </p:cTn>
                              </p:par>
                            </p:childTnLst>
                          </p:cTn>
                        </p:par>
                        <p:par>
                          <p:cTn id="147" fill="hold">
                            <p:stCondLst>
                              <p:cond delay="950"/>
                            </p:stCondLst>
                            <p:childTnLst>
                              <p:par>
                                <p:cTn id="142" presetID="53" presetClass="entr" presetSubtype="16" fill="hold" nodeType="afterEffect">
                                  <p:stCondLst>
                                    <p:cond delay="0"/>
                                  </p:stCondLst>
                                  <p:childTnLst>
                                    <p:set>
                                      <p:cBhvr>
                                        <p:cTn id="143" dur="1" fill="hold">
                                          <p:stCondLst>
                                            <p:cond delay="0"/>
                                          </p:stCondLst>
                                        </p:cTn>
                                        <p:tgtEl>
                                          <p:spTgt spid="31"/>
                                        </p:tgtEl>
                                        <p:attrNameLst>
                                          <p:attrName>style.visibility</p:attrName>
                                        </p:attrNameLst>
                                      </p:cBhvr>
                                      <p:to>
                                        <p:strVal val="visible"/>
                                      </p:to>
                                    </p:set>
                                    <p:animEffect transition="in" filter="fade">
                                      <p:cBhvr>
                                        <p:cTn id="144" dur="300"/>
                                        <p:tgtEl>
                                          <p:spTgt spid="31"/>
                                        </p:tgtEl>
                                      </p:cBhvr>
                                    </p:animEffect>
                                    <p:anim calcmode="lin" valueType="num">
                                      <p:cBhvr>
                                        <p:cTn id="145" dur="300" fill="hold"/>
                                        <p:tgtEl>
                                          <p:spTgt spid="31"/>
                                        </p:tgtEl>
                                        <p:attrNameLst>
                                          <p:attrName>ppt_w</p:attrName>
                                        </p:attrNameLst>
                                      </p:cBhvr>
                                      <p:tavLst>
                                        <p:tav tm="0">
                                          <p:val>
                                            <p:strVal val="#ppt_w*0.8"/>
                                          </p:val>
                                        </p:tav>
                                        <p:tav tm="100000">
                                          <p:val>
                                            <p:strVal val="#ppt_w"/>
                                          </p:val>
                                        </p:tav>
                                      </p:tavLst>
                                    </p:anim>
                                    <p:anim calcmode="lin" valueType="num">
                                      <p:cBhvr>
                                        <p:cTn id="146" dur="300" fill="hold"/>
                                        <p:tgtEl>
                                          <p:spTgt spid="31"/>
                                        </p:tgtEl>
                                        <p:attrNameLst>
                                          <p:attrName>ppt_h</p:attrName>
                                        </p:attrNameLst>
                                      </p:cBhvr>
                                      <p:tavLst>
                                        <p:tav tm="0">
                                          <p:val>
                                            <p:strVal val="#ppt_h*0.8"/>
                                          </p:val>
                                        </p:tav>
                                        <p:tav tm="100000">
                                          <p:val>
                                            <p:strVal val="#ppt_h"/>
                                          </p:val>
                                        </p:tav>
                                      </p:tavLst>
                                    </p:anim>
                                  </p:childTnLst>
                                </p:cTn>
                              </p:par>
                            </p:childTnLst>
                          </p:cTn>
                        </p:par>
                        <p:par>
                          <p:cTn id="153" fill="hold">
                            <p:stCondLst>
                              <p:cond delay="1250"/>
                            </p:stCondLst>
                            <p:childTnLst>
                              <p:par>
                                <p:cTn id="148" presetID="53" presetClass="entr" presetSubtype="16" fill="hold" nodeType="afterEffect">
                                  <p:stCondLst>
                                    <p:cond delay="0"/>
                                  </p:stCondLst>
                                  <p:childTnLst>
                                    <p:set>
                                      <p:cBhvr>
                                        <p:cTn id="149" dur="1" fill="hold">
                                          <p:stCondLst>
                                            <p:cond delay="0"/>
                                          </p:stCondLst>
                                        </p:cTn>
                                        <p:tgtEl>
                                          <p:spTgt spid="32"/>
                                        </p:tgtEl>
                                        <p:attrNameLst>
                                          <p:attrName>style.visibility</p:attrName>
                                        </p:attrNameLst>
                                      </p:cBhvr>
                                      <p:to>
                                        <p:strVal val="visible"/>
                                      </p:to>
                                    </p:set>
                                    <p:animEffect transition="in" filter="fade">
                                      <p:cBhvr>
                                        <p:cTn id="150" dur="300"/>
                                        <p:tgtEl>
                                          <p:spTgt spid="32"/>
                                        </p:tgtEl>
                                      </p:cBhvr>
                                    </p:animEffect>
                                    <p:anim calcmode="lin" valueType="num">
                                      <p:cBhvr>
                                        <p:cTn id="151" dur="300" fill="hold"/>
                                        <p:tgtEl>
                                          <p:spTgt spid="32"/>
                                        </p:tgtEl>
                                        <p:attrNameLst>
                                          <p:attrName>ppt_w</p:attrName>
                                        </p:attrNameLst>
                                      </p:cBhvr>
                                      <p:tavLst>
                                        <p:tav tm="0">
                                          <p:val>
                                            <p:strVal val="#ppt_w*0.8"/>
                                          </p:val>
                                        </p:tav>
                                        <p:tav tm="100000">
                                          <p:val>
                                            <p:strVal val="#ppt_w"/>
                                          </p:val>
                                        </p:tav>
                                      </p:tavLst>
                                    </p:anim>
                                    <p:anim calcmode="lin" valueType="num">
                                      <p:cBhvr>
                                        <p:cTn id="152" dur="300" fill="hold"/>
                                        <p:tgtEl>
                                          <p:spTgt spid="32"/>
                                        </p:tgtEl>
                                        <p:attrNameLst>
                                          <p:attrName>ppt_h</p:attrName>
                                        </p:attrNameLst>
                                      </p:cBhvr>
                                      <p:tavLst>
                                        <p:tav tm="0">
                                          <p:val>
                                            <p:strVal val="#ppt_h*0.8"/>
                                          </p:val>
                                        </p:tav>
                                        <p:tav tm="100000">
                                          <p:val>
                                            <p:strVal val="#ppt_h"/>
                                          </p:val>
                                        </p:tav>
                                      </p:tavLst>
                                    </p:anim>
                                  </p:childTnLst>
                                </p:cTn>
                              </p:par>
                            </p:childTnLst>
                          </p:cTn>
                        </p:par>
                        <p:par>
                          <p:cTn id="171" fill="hold">
                            <p:stCondLst>
                              <p:cond delay="1550"/>
                            </p:stCondLst>
                            <p:childTnLst>
                              <p:par>
                                <p:cTn id="154" presetID="53" presetClass="entr" presetSubtype="16" fill="hold" nodeType="afterEffect">
                                  <p:stCondLst>
                                    <p:cond delay="0"/>
                                  </p:stCondLst>
                                  <p:childTnLst>
                                    <p:set>
                                      <p:cBhvr>
                                        <p:cTn id="155" dur="1" fill="hold">
                                          <p:stCondLst>
                                            <p:cond delay="0"/>
                                          </p:stCondLst>
                                        </p:cTn>
                                        <p:tgtEl>
                                          <p:spTgt spid="33"/>
                                        </p:tgtEl>
                                        <p:attrNameLst>
                                          <p:attrName>style.visibility</p:attrName>
                                        </p:attrNameLst>
                                      </p:cBhvr>
                                      <p:to>
                                        <p:strVal val="visible"/>
                                      </p:to>
                                    </p:set>
                                    <p:animEffect transition="in" filter="fade">
                                      <p:cBhvr>
                                        <p:cTn id="156" dur="300"/>
                                        <p:tgtEl>
                                          <p:spTgt spid="33"/>
                                        </p:tgtEl>
                                      </p:cBhvr>
                                    </p:animEffect>
                                    <p:anim calcmode="lin" valueType="num">
                                      <p:cBhvr>
                                        <p:cTn id="157" dur="300" fill="hold"/>
                                        <p:tgtEl>
                                          <p:spTgt spid="33"/>
                                        </p:tgtEl>
                                        <p:attrNameLst>
                                          <p:attrName>ppt_w</p:attrName>
                                        </p:attrNameLst>
                                      </p:cBhvr>
                                      <p:tavLst>
                                        <p:tav tm="0">
                                          <p:val>
                                            <p:strVal val="#ppt_w*0.8"/>
                                          </p:val>
                                        </p:tav>
                                        <p:tav tm="100000">
                                          <p:val>
                                            <p:strVal val="#ppt_w"/>
                                          </p:val>
                                        </p:tav>
                                      </p:tavLst>
                                    </p:anim>
                                    <p:anim calcmode="lin" valueType="num">
                                      <p:cBhvr>
                                        <p:cTn id="158" dur="300" fill="hold"/>
                                        <p:tgtEl>
                                          <p:spTgt spid="33"/>
                                        </p:tgtEl>
                                        <p:attrNameLst>
                                          <p:attrName>ppt_h</p:attrName>
                                        </p:attrNameLst>
                                      </p:cBhvr>
                                      <p:tavLst>
                                        <p:tav tm="0">
                                          <p:val>
                                            <p:strVal val="#ppt_h*0.8"/>
                                          </p:val>
                                        </p:tav>
                                        <p:tav tm="100000">
                                          <p:val>
                                            <p:strVal val="#ppt_h"/>
                                          </p:val>
                                        </p:tav>
                                      </p:tavLst>
                                    </p:anim>
                                  </p:childTnLst>
                                </p:cTn>
                              </p:par>
                              <p:par>
                                <p:cTn id="159" presetID="10" presetClass="entr" presetSubtype="0" fill="hold" nodeType="afterEffect">
                                  <p:stCondLst>
                                    <p:cond delay="0"/>
                                  </p:stCondLst>
                                  <p:childTnLst>
                                    <p:set>
                                      <p:cBhvr>
                                        <p:cTn id="160" dur="1" fill="hold">
                                          <p:stCondLst>
                                            <p:cond delay="0"/>
                                          </p:stCondLst>
                                        </p:cTn>
                                        <p:tgtEl>
                                          <p:spTgt spid="34"/>
                                        </p:tgtEl>
                                        <p:attrNameLst>
                                          <p:attrName>style.visibility</p:attrName>
                                        </p:attrNameLst>
                                      </p:cBhvr>
                                      <p:to>
                                        <p:strVal val="visible"/>
                                      </p:to>
                                    </p:set>
                                    <p:animEffect transition="in" filter="fade">
                                      <p:cBhvr>
                                        <p:cTn id="161" dur="500"/>
                                        <p:tgtEl>
                                          <p:spTgt spid="34"/>
                                        </p:tgtEl>
                                      </p:cBhvr>
                                    </p:animEffect>
                                  </p:childTnLst>
                                </p:cTn>
                              </p:par>
                              <p:par>
                                <p:cTn id="162" presetID="10" presetClass="entr" presetSubtype="0" fill="hold" nodeType="afterEffect">
                                  <p:stCondLst>
                                    <p:cond delay="0"/>
                                  </p:stCondLst>
                                  <p:childTnLst>
                                    <p:set>
                                      <p:cBhvr>
                                        <p:cTn id="163" dur="1" fill="hold">
                                          <p:stCondLst>
                                            <p:cond delay="0"/>
                                          </p:stCondLst>
                                        </p:cTn>
                                        <p:tgtEl>
                                          <p:spTgt spid="35"/>
                                        </p:tgtEl>
                                        <p:attrNameLst>
                                          <p:attrName>style.visibility</p:attrName>
                                        </p:attrNameLst>
                                      </p:cBhvr>
                                      <p:to>
                                        <p:strVal val="visible"/>
                                      </p:to>
                                    </p:set>
                                    <p:animEffect transition="in" filter="fade">
                                      <p:cBhvr>
                                        <p:cTn id="164" dur="500"/>
                                        <p:tgtEl>
                                          <p:spTgt spid="35"/>
                                        </p:tgtEl>
                                      </p:cBhvr>
                                    </p:animEffect>
                                  </p:childTnLst>
                                </p:cTn>
                              </p:par>
                              <p:par>
                                <p:cTn id="165" presetID="10" presetClass="entr" presetSubtype="0" fill="hold" nodeType="afterEffect">
                                  <p:stCondLst>
                                    <p:cond delay="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500"/>
                                        <p:tgtEl>
                                          <p:spTgt spid="36"/>
                                        </p:tgtEl>
                                      </p:cBhvr>
                                    </p:animEffect>
                                  </p:childTnLst>
                                </p:cTn>
                              </p:par>
                              <p:par>
                                <p:cTn id="168" presetID="10" presetClass="entr" presetSubtype="0" fill="hold" nodeType="afterEffect">
                                  <p:stCondLst>
                                    <p:cond delay="0"/>
                                  </p:stCondLst>
                                  <p:childTnLst>
                                    <p:set>
                                      <p:cBhvr>
                                        <p:cTn id="169" dur="1" fill="hold">
                                          <p:stCondLst>
                                            <p:cond delay="0"/>
                                          </p:stCondLst>
                                        </p:cTn>
                                        <p:tgtEl>
                                          <p:spTgt spid="37"/>
                                        </p:tgtEl>
                                        <p:attrNameLst>
                                          <p:attrName>style.visibility</p:attrName>
                                        </p:attrNameLst>
                                      </p:cBhvr>
                                      <p:to>
                                        <p:strVal val="visible"/>
                                      </p:to>
                                    </p:set>
                                    <p:animEffect transition="in" filter="fade">
                                      <p:cBhvr>
                                        <p:cTn id="170" dur="500"/>
                                        <p:tgtEl>
                                          <p:spTgt spid="37"/>
                                        </p:tgtEl>
                                      </p:cBhvr>
                                    </p:animEffect>
                                  </p:childTnLst>
                                </p:cTn>
                              </p:par>
                            </p:childTnLst>
                          </p:cTn>
                        </p:par>
                        <p:par>
                          <p:cTn id="178" fill="hold">
                            <p:stCondLst>
                              <p:cond delay="2050"/>
                            </p:stCondLst>
                            <p:childTnLst>
                              <p:par>
                                <p:cTn id="172" presetID="22" presetClass="entr" presetSubtype="8" fill="hold" nodeType="afterEffect">
                                  <p:stCondLst>
                                    <p:cond delay="0"/>
                                  </p:stCondLst>
                                  <p:childTnLst>
                                    <p:set>
                                      <p:cBhvr>
                                        <p:cTn id="173" dur="1" fill="hold">
                                          <p:stCondLst>
                                            <p:cond delay="0"/>
                                          </p:stCondLst>
                                        </p:cTn>
                                        <p:tgtEl>
                                          <p:spTgt spid="38"/>
                                        </p:tgtEl>
                                        <p:attrNameLst>
                                          <p:attrName>style.visibility</p:attrName>
                                        </p:attrNameLst>
                                      </p:cBhvr>
                                      <p:to>
                                        <p:strVal val="visible"/>
                                      </p:to>
                                    </p:set>
                                    <p:animEffect transition="in" filter="wipe(left)">
                                      <p:cBhvr>
                                        <p:cTn id="174" dur="700"/>
                                        <p:tgtEl>
                                          <p:spTgt spid="38"/>
                                        </p:tgtEl>
                                      </p:cBhvr>
                                    </p:animEffect>
                                  </p:childTnLst>
                                </p:cTn>
                              </p:par>
                              <p:par>
                                <p:cTn id="175" presetID="10" presetClass="entr" presetSubtype="0" fill="hold" nodeType="afterEffect">
                                  <p:stCondLst>
                                    <p:cond delay="0"/>
                                  </p:stCondLst>
                                  <p:childTnLst>
                                    <p:set>
                                      <p:cBhvr>
                                        <p:cTn id="176" dur="1" fill="hold">
                                          <p:stCondLst>
                                            <p:cond delay="0"/>
                                          </p:stCondLst>
                                        </p:cTn>
                                        <p:tgtEl>
                                          <p:spTgt spid="39"/>
                                        </p:tgtEl>
                                        <p:attrNameLst>
                                          <p:attrName>style.visibility</p:attrName>
                                        </p:attrNameLst>
                                      </p:cBhvr>
                                      <p:to>
                                        <p:strVal val="visible"/>
                                      </p:to>
                                    </p:set>
                                    <p:animEffect transition="in" filter="fade">
                                      <p:cBhvr>
                                        <p:cTn id="17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457200"/>
            <a:ext cx="7315200" cy="4572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Gradient boosting + six upgrades</a:t>
            </a:r>
          </a:p>
        </p:txBody>
      </p:sp>
      <p:sp>
        <p:nvSpPr>
          <p:cNvPr id="3" name="TextBox 2"/>
          <p:cNvSpPr txBox="1"/>
          <p:nvPr/>
        </p:nvSpPr>
        <p:spPr>
          <a:xfrm>
            <a:off x="685800" y="777240"/>
            <a:ext cx="9144000" cy="914400"/>
          </a:xfrm>
          <a:prstGeom prst="rect">
            <a:avLst/>
          </a:prstGeom>
          <a:noFill/>
        </p:spPr>
        <p:txBody>
          <a:bodyPr wrap="square" lIns="0" rIns="0" tIns="0" bIns="0" anchor="t">
            <a:spAutoFit/>
          </a:bodyPr>
          <a:lstStyle/>
          <a:p>
            <a:pPr algn="l">
              <a:lnSpc>
                <a:spcPct val="88000"/>
              </a:lnSpc>
              <a:spcAft>
                <a:spcPts val="0"/>
              </a:spcAft>
            </a:pPr>
            <a:r>
              <a:rPr sz="4600" b="0" i="0">
                <a:solidFill>
                  <a:srgbClr val="262A33"/>
                </a:solidFill>
                <a:latin typeface="Bahnschrift Light"/>
              </a:rPr>
              <a:t>WHAT MAKES IT EXTREME</a:t>
            </a:r>
          </a:p>
        </p:txBody>
      </p:sp>
      <p:pic>
        <p:nvPicPr>
          <p:cNvPr id="4" name="Picture 3" descr="dots.png"/>
          <p:cNvPicPr>
            <a:picLocks noChangeAspect="1"/>
          </p:cNvPicPr>
          <p:nvPr/>
        </p:nvPicPr>
        <p:blipFill>
          <a:blip r:embed="rId2"/>
          <a:stretch>
            <a:fillRect/>
          </a:stretch>
        </p:blipFill>
        <p:spPr>
          <a:xfrm>
            <a:off x="9875520" y="411480"/>
            <a:ext cx="1645920" cy="868680"/>
          </a:xfrm>
          <a:prstGeom prst="rect">
            <a:avLst/>
          </a:prstGeom>
        </p:spPr>
      </p:pic>
      <p:sp>
        <p:nvSpPr>
          <p:cNvPr id="5" name="Rounded Rectangle 4"/>
          <p:cNvSpPr/>
          <p:nvPr/>
        </p:nvSpPr>
        <p:spPr>
          <a:xfrm>
            <a:off x="685800" y="1965960"/>
            <a:ext cx="3474720" cy="2011680"/>
          </a:xfrm>
          <a:prstGeom prst="roundRect">
            <a:avLst>
              <a:gd name="adj" fmla="val 6000"/>
            </a:avLst>
          </a:prstGeom>
          <a:no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86968" y="2167128"/>
            <a:ext cx="512064" cy="51206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a:solidFill>
                  <a:srgbClr val="E5E4E2"/>
                </a:solidFill>
                <a:latin typeface="Segoe UI Semibold"/>
              </a:rPr>
              <a:t>1</a:t>
            </a:r>
          </a:p>
        </p:txBody>
      </p:sp>
      <p:sp>
        <p:nvSpPr>
          <p:cNvPr id="7" name="TextBox 6"/>
          <p:cNvSpPr txBox="1"/>
          <p:nvPr/>
        </p:nvSpPr>
        <p:spPr>
          <a:xfrm>
            <a:off x="1554480" y="2221991"/>
            <a:ext cx="2514600" cy="1691640"/>
          </a:xfrm>
          <a:prstGeom prst="rect">
            <a:avLst/>
          </a:prstGeom>
          <a:noFill/>
        </p:spPr>
        <p:txBody>
          <a:bodyPr wrap="square" lIns="0" rIns="0" tIns="0" bIns="0" anchor="t">
            <a:spAutoFit/>
          </a:bodyPr>
          <a:lstStyle/>
          <a:p>
            <a:pPr algn="l">
              <a:spcAft>
                <a:spcPts val="300"/>
              </a:spcAft>
            </a:pPr>
            <a:r>
              <a:rPr sz="1500" b="0" i="0">
                <a:solidFill>
                  <a:srgbClr val="262A33"/>
                </a:solidFill>
                <a:latin typeface="Segoe UI Semibold"/>
              </a:rPr>
              <a:t>Regularized objective</a:t>
            </a:r>
          </a:p>
          <a:p>
            <a:pPr algn="l">
              <a:spcAft>
                <a:spcPts val="300"/>
              </a:spcAft>
            </a:pPr>
            <a:r>
              <a:rPr sz="1300" b="0" i="0">
                <a:solidFill>
                  <a:srgbClr val="5B5F68"/>
                </a:solidFill>
                <a:latin typeface="Segoe UI"/>
              </a:rPr>
              <a:t>loss + γ·T + ½λΣw²</a:t>
            </a:r>
          </a:p>
          <a:p>
            <a:pPr algn="l">
              <a:spcAft>
                <a:spcPts val="300"/>
              </a:spcAft>
            </a:pPr>
            <a:r>
              <a:rPr sz="1300" b="0" i="0">
                <a:solidFill>
                  <a:srgbClr val="5B5F68"/>
                </a:solidFill>
                <a:latin typeface="Segoe UI"/>
              </a:rPr>
              <a:t>Penalizes big trees and extreme leaf values.</a:t>
            </a:r>
          </a:p>
        </p:txBody>
      </p:sp>
      <p:sp>
        <p:nvSpPr>
          <p:cNvPr id="8" name="Rounded Rectangle 7"/>
          <p:cNvSpPr/>
          <p:nvPr/>
        </p:nvSpPr>
        <p:spPr>
          <a:xfrm>
            <a:off x="4389120" y="1965960"/>
            <a:ext cx="3474720" cy="2011680"/>
          </a:xfrm>
          <a:prstGeom prst="roundRect">
            <a:avLst>
              <a:gd name="adj" fmla="val 6000"/>
            </a:avLst>
          </a:prstGeom>
          <a:no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0288" y="2167128"/>
            <a:ext cx="512064" cy="51206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a:solidFill>
                  <a:srgbClr val="E5E4E2"/>
                </a:solidFill>
                <a:latin typeface="Segoe UI Semibold"/>
              </a:rPr>
              <a:t>2</a:t>
            </a:r>
          </a:p>
        </p:txBody>
      </p:sp>
      <p:sp>
        <p:nvSpPr>
          <p:cNvPr id="10" name="TextBox 9"/>
          <p:cNvSpPr txBox="1"/>
          <p:nvPr/>
        </p:nvSpPr>
        <p:spPr>
          <a:xfrm>
            <a:off x="5257800" y="2221991"/>
            <a:ext cx="2514600" cy="1691640"/>
          </a:xfrm>
          <a:prstGeom prst="rect">
            <a:avLst/>
          </a:prstGeom>
          <a:noFill/>
        </p:spPr>
        <p:txBody>
          <a:bodyPr wrap="square" lIns="0" rIns="0" tIns="0" bIns="0" anchor="t">
            <a:spAutoFit/>
          </a:bodyPr>
          <a:lstStyle/>
          <a:p>
            <a:pPr algn="l">
              <a:spcAft>
                <a:spcPts val="300"/>
              </a:spcAft>
            </a:pPr>
            <a:r>
              <a:rPr sz="1500" b="0" i="0">
                <a:solidFill>
                  <a:srgbClr val="262A33"/>
                </a:solidFill>
                <a:latin typeface="Segoe UI Semibold"/>
              </a:rPr>
              <a:t>Second-order math</a:t>
            </a:r>
          </a:p>
          <a:p>
            <a:pPr algn="l">
              <a:spcAft>
                <a:spcPts val="300"/>
              </a:spcAft>
            </a:pPr>
            <a:r>
              <a:rPr sz="1300" b="0" i="0">
                <a:solidFill>
                  <a:srgbClr val="5B5F68"/>
                </a:solidFill>
                <a:latin typeface="Segoe UI"/>
              </a:rPr>
              <a:t>Uses slope g and curvature h.</a:t>
            </a:r>
          </a:p>
          <a:p>
            <a:pPr algn="l">
              <a:spcAft>
                <a:spcPts val="300"/>
              </a:spcAft>
            </a:pPr>
            <a:r>
              <a:rPr sz="1300" b="0" i="0">
                <a:solidFill>
                  <a:srgbClr val="5B5F68"/>
                </a:solidFill>
                <a:latin typeface="Segoe UI"/>
              </a:rPr>
              <a:t>Exact best leaf value: w = −G/(H+λ).</a:t>
            </a:r>
          </a:p>
        </p:txBody>
      </p:sp>
      <p:sp>
        <p:nvSpPr>
          <p:cNvPr id="11" name="Rounded Rectangle 10"/>
          <p:cNvSpPr/>
          <p:nvPr/>
        </p:nvSpPr>
        <p:spPr>
          <a:xfrm>
            <a:off x="8092440" y="1965960"/>
            <a:ext cx="3474720" cy="2011680"/>
          </a:xfrm>
          <a:prstGeom prst="roundRect">
            <a:avLst>
              <a:gd name="adj" fmla="val 6000"/>
            </a:avLst>
          </a:prstGeom>
          <a:no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3608" y="2167128"/>
            <a:ext cx="512064" cy="51206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a:solidFill>
                  <a:srgbClr val="E5E4E2"/>
                </a:solidFill>
                <a:latin typeface="Segoe UI Semibold"/>
              </a:rPr>
              <a:t>3</a:t>
            </a:r>
          </a:p>
        </p:txBody>
      </p:sp>
      <p:sp>
        <p:nvSpPr>
          <p:cNvPr id="13" name="TextBox 12"/>
          <p:cNvSpPr txBox="1"/>
          <p:nvPr/>
        </p:nvSpPr>
        <p:spPr>
          <a:xfrm>
            <a:off x="8961119" y="2221991"/>
            <a:ext cx="2514600" cy="1691640"/>
          </a:xfrm>
          <a:prstGeom prst="rect">
            <a:avLst/>
          </a:prstGeom>
          <a:noFill/>
        </p:spPr>
        <p:txBody>
          <a:bodyPr wrap="square" lIns="0" rIns="0" tIns="0" bIns="0" anchor="t">
            <a:spAutoFit/>
          </a:bodyPr>
          <a:lstStyle/>
          <a:p>
            <a:pPr algn="l">
              <a:spcAft>
                <a:spcPts val="300"/>
              </a:spcAft>
            </a:pPr>
            <a:r>
              <a:rPr sz="1500" b="0" i="0">
                <a:solidFill>
                  <a:srgbClr val="262A33"/>
                </a:solidFill>
                <a:latin typeface="Segoe UI Semibold"/>
              </a:rPr>
              <a:t>Smart split search</a:t>
            </a:r>
          </a:p>
          <a:p>
            <a:pPr algn="l">
              <a:spcAft>
                <a:spcPts val="300"/>
              </a:spcAft>
            </a:pPr>
            <a:r>
              <a:rPr sz="1300" b="0" i="0">
                <a:solidFill>
                  <a:srgbClr val="5B5F68"/>
                </a:solidFill>
                <a:latin typeface="Segoe UI"/>
              </a:rPr>
              <a:t>The Gain formula scores every split.</a:t>
            </a:r>
          </a:p>
          <a:p>
            <a:pPr algn="l">
              <a:spcAft>
                <a:spcPts val="300"/>
              </a:spcAft>
            </a:pPr>
            <a:r>
              <a:rPr sz="1300" b="0" i="0">
                <a:solidFill>
                  <a:srgbClr val="5B5F68"/>
                </a:solidFill>
                <a:latin typeface="Segoe UI"/>
              </a:rPr>
              <a:t>Split only if Gain &gt; γ (built-in pruning).</a:t>
            </a:r>
          </a:p>
        </p:txBody>
      </p:sp>
      <p:sp>
        <p:nvSpPr>
          <p:cNvPr id="14" name="Rounded Rectangle 13"/>
          <p:cNvSpPr/>
          <p:nvPr/>
        </p:nvSpPr>
        <p:spPr>
          <a:xfrm>
            <a:off x="685800" y="4251960"/>
            <a:ext cx="3474720" cy="2011680"/>
          </a:xfrm>
          <a:prstGeom prst="roundRect">
            <a:avLst>
              <a:gd name="adj" fmla="val 6000"/>
            </a:avLst>
          </a:prstGeom>
          <a:no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86968" y="4453128"/>
            <a:ext cx="512064" cy="51206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a:solidFill>
                  <a:srgbClr val="E5E4E2"/>
                </a:solidFill>
                <a:latin typeface="Segoe UI Semibold"/>
              </a:rPr>
              <a:t>4</a:t>
            </a:r>
          </a:p>
        </p:txBody>
      </p:sp>
      <p:sp>
        <p:nvSpPr>
          <p:cNvPr id="16" name="TextBox 15"/>
          <p:cNvSpPr txBox="1"/>
          <p:nvPr/>
        </p:nvSpPr>
        <p:spPr>
          <a:xfrm>
            <a:off x="1554480" y="4507992"/>
            <a:ext cx="2514600" cy="1691640"/>
          </a:xfrm>
          <a:prstGeom prst="rect">
            <a:avLst/>
          </a:prstGeom>
          <a:noFill/>
        </p:spPr>
        <p:txBody>
          <a:bodyPr wrap="square" lIns="0" rIns="0" tIns="0" bIns="0" anchor="t">
            <a:spAutoFit/>
          </a:bodyPr>
          <a:lstStyle/>
          <a:p>
            <a:pPr algn="l">
              <a:spcAft>
                <a:spcPts val="300"/>
              </a:spcAft>
            </a:pPr>
            <a:r>
              <a:rPr sz="1500" b="0" i="0">
                <a:solidFill>
                  <a:srgbClr val="262A33"/>
                </a:solidFill>
                <a:latin typeface="Segoe UI Semibold"/>
              </a:rPr>
              <a:t>Randomness</a:t>
            </a:r>
          </a:p>
          <a:p>
            <a:pPr algn="l">
              <a:spcAft>
                <a:spcPts val="300"/>
              </a:spcAft>
            </a:pPr>
            <a:r>
              <a:rPr sz="1300" b="0" i="0">
                <a:solidFill>
                  <a:srgbClr val="5B5F68"/>
                </a:solidFill>
                <a:latin typeface="Segoe UI"/>
              </a:rPr>
              <a:t>subsample &amp; colsample_bytree: each tree sees only part of the rows and columns.</a:t>
            </a:r>
          </a:p>
        </p:txBody>
      </p:sp>
      <p:sp>
        <p:nvSpPr>
          <p:cNvPr id="17" name="Rounded Rectangle 16"/>
          <p:cNvSpPr/>
          <p:nvPr/>
        </p:nvSpPr>
        <p:spPr>
          <a:xfrm>
            <a:off x="4389120" y="4251960"/>
            <a:ext cx="3474720" cy="2011680"/>
          </a:xfrm>
          <a:prstGeom prst="roundRect">
            <a:avLst>
              <a:gd name="adj" fmla="val 6000"/>
            </a:avLst>
          </a:prstGeom>
          <a:no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590288" y="4453128"/>
            <a:ext cx="512064" cy="51206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a:solidFill>
                  <a:srgbClr val="E5E4E2"/>
                </a:solidFill>
                <a:latin typeface="Segoe UI Semibold"/>
              </a:rPr>
              <a:t>5</a:t>
            </a:r>
          </a:p>
        </p:txBody>
      </p:sp>
      <p:sp>
        <p:nvSpPr>
          <p:cNvPr id="19" name="TextBox 18"/>
          <p:cNvSpPr txBox="1"/>
          <p:nvPr/>
        </p:nvSpPr>
        <p:spPr>
          <a:xfrm>
            <a:off x="5257800" y="4507992"/>
            <a:ext cx="2514600" cy="1691640"/>
          </a:xfrm>
          <a:prstGeom prst="rect">
            <a:avLst/>
          </a:prstGeom>
          <a:noFill/>
        </p:spPr>
        <p:txBody>
          <a:bodyPr wrap="square" lIns="0" rIns="0" tIns="0" bIns="0" anchor="t">
            <a:spAutoFit/>
          </a:bodyPr>
          <a:lstStyle/>
          <a:p>
            <a:pPr algn="l">
              <a:spcAft>
                <a:spcPts val="300"/>
              </a:spcAft>
            </a:pPr>
            <a:r>
              <a:rPr sz="1500" b="0" i="0">
                <a:solidFill>
                  <a:srgbClr val="262A33"/>
                </a:solidFill>
                <a:latin typeface="Segoe UI Semibold"/>
              </a:rPr>
              <a:t>Missing values</a:t>
            </a:r>
          </a:p>
          <a:p>
            <a:pPr algn="l">
              <a:spcAft>
                <a:spcPts val="300"/>
              </a:spcAft>
            </a:pPr>
            <a:r>
              <a:rPr sz="1300" b="0" i="0">
                <a:solidFill>
                  <a:srgbClr val="5B5F68"/>
                </a:solidFill>
                <a:latin typeface="Segoe UI"/>
              </a:rPr>
              <a:t>Learns the best direction for NaN at every split. No imputation needed.</a:t>
            </a:r>
          </a:p>
        </p:txBody>
      </p:sp>
      <p:sp>
        <p:nvSpPr>
          <p:cNvPr id="20" name="Rounded Rectangle 19"/>
          <p:cNvSpPr/>
          <p:nvPr/>
        </p:nvSpPr>
        <p:spPr>
          <a:xfrm>
            <a:off x="8092440" y="4251960"/>
            <a:ext cx="3474720" cy="2011680"/>
          </a:xfrm>
          <a:prstGeom prst="roundRect">
            <a:avLst>
              <a:gd name="adj" fmla="val 6000"/>
            </a:avLst>
          </a:prstGeom>
          <a:no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93608" y="4453128"/>
            <a:ext cx="512064" cy="512064"/>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a:solidFill>
                  <a:srgbClr val="E5E4E2"/>
                </a:solidFill>
                <a:latin typeface="Segoe UI Semibold"/>
              </a:rPr>
              <a:t>6</a:t>
            </a:r>
          </a:p>
        </p:txBody>
      </p:sp>
      <p:sp>
        <p:nvSpPr>
          <p:cNvPr id="22" name="TextBox 21"/>
          <p:cNvSpPr txBox="1"/>
          <p:nvPr/>
        </p:nvSpPr>
        <p:spPr>
          <a:xfrm>
            <a:off x="8961119" y="4507992"/>
            <a:ext cx="2514600" cy="1691640"/>
          </a:xfrm>
          <a:prstGeom prst="rect">
            <a:avLst/>
          </a:prstGeom>
          <a:noFill/>
        </p:spPr>
        <p:txBody>
          <a:bodyPr wrap="square" lIns="0" rIns="0" tIns="0" bIns="0" anchor="t">
            <a:spAutoFit/>
          </a:bodyPr>
          <a:lstStyle/>
          <a:p>
            <a:pPr algn="l">
              <a:spcAft>
                <a:spcPts val="300"/>
              </a:spcAft>
            </a:pPr>
            <a:r>
              <a:rPr sz="1500" b="0" i="0">
                <a:solidFill>
                  <a:srgbClr val="262A33"/>
                </a:solidFill>
                <a:latin typeface="Segoe UI Semibold"/>
              </a:rPr>
              <a:t>Speed</a:t>
            </a:r>
          </a:p>
          <a:p>
            <a:pPr algn="l">
              <a:spcAft>
                <a:spcPts val="300"/>
              </a:spcAft>
            </a:pPr>
            <a:r>
              <a:rPr sz="1300" b="0" i="0">
                <a:solidFill>
                  <a:srgbClr val="5B5F68"/>
                </a:solidFill>
                <a:latin typeface="Segoe UI"/>
              </a:rPr>
              <a:t>Histograms, all CPU cores, cache-aware, GPU.</a:t>
            </a:r>
          </a:p>
          <a:p>
            <a:pPr algn="l">
              <a:spcAft>
                <a:spcPts val="300"/>
              </a:spcAft>
            </a:pPr>
            <a:r>
              <a:rPr sz="1300" b="0" i="0">
                <a:solidFill>
                  <a:srgbClr val="5B5F68"/>
                </a:solidFill>
                <a:latin typeface="Segoe UI"/>
              </a:rPr>
              <a:t>Paper: ~40× faster per tree than scikit-learn.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6" fill="hold">
                      <p:stCondLst>
                        <p:cond delay="indefinite"/>
                      </p:stCondLst>
                      <p:childTnLst>
                        <p:par>
                          <p:cTn id="29"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53" presetClass="entr" presetSubtype="16"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anim calcmode="lin" valueType="num">
                                      <p:cBhvr>
                                        <p:cTn id="23" dur="550" fill="hold"/>
                                        <p:tgtEl>
                                          <p:spTgt spid="6"/>
                                        </p:tgtEl>
                                        <p:attrNameLst>
                                          <p:attrName>ppt_w</p:attrName>
                                        </p:attrNameLst>
                                      </p:cBhvr>
                                      <p:tavLst>
                                        <p:tav tm="0">
                                          <p:val>
                                            <p:strVal val="#ppt_w*0.8"/>
                                          </p:val>
                                        </p:tav>
                                        <p:tav tm="100000">
                                          <p:val>
                                            <p:strVal val="#ppt_w"/>
                                          </p:val>
                                        </p:tav>
                                      </p:tavLst>
                                    </p:anim>
                                    <p:anim calcmode="lin" valueType="num">
                                      <p:cBhvr>
                                        <p:cTn id="24" dur="550" fill="hold"/>
                                        <p:tgtEl>
                                          <p:spTgt spid="6"/>
                                        </p:tgtEl>
                                        <p:attrNameLst>
                                          <p:attrName>ppt_h</p:attrName>
                                        </p:attrNameLst>
                                      </p:cBhvr>
                                      <p:tavLst>
                                        <p:tav tm="0">
                                          <p:val>
                                            <p:strVal val="#ppt_h*0.8"/>
                                          </p:val>
                                        </p:tav>
                                        <p:tav tm="100000">
                                          <p:val>
                                            <p:strVal val="#ppt_h"/>
                                          </p:val>
                                        </p:tav>
                                      </p:tavLst>
                                    </p:anim>
                                  </p:childTnLst>
                                </p:cTn>
                              </p:par>
                              <p:par>
                                <p:cTn id="25" presetID="42"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650"/>
                                        <p:tgtEl>
                                          <p:spTgt spid="7"/>
                                        </p:tgtEl>
                                      </p:cBhvr>
                                    </p:animEffect>
                                    <p:anim calcmode="lin" valueType="num">
                                      <p:cBhvr>
                                        <p:cTn id="28" dur="650" fill="hold"/>
                                        <p:tgtEl>
                                          <p:spTgt spid="7"/>
                                        </p:tgtEl>
                                        <p:attrNameLst>
                                          <p:attrName>ppt_y</p:attrName>
                                        </p:attrNameLst>
                                      </p:cBhvr>
                                      <p:tavLst>
                                        <p:tav tm="0">
                                          <p:val>
                                            <p:strVal val="#ppt_y+0.06"/>
                                          </p:val>
                                        </p:tav>
                                        <p:tav tm="100000">
                                          <p:val>
                                            <p:strVal val="#ppt_y"/>
                                          </p:val>
                                        </p:tav>
                                      </p:tavLst>
                                    </p:anim>
                                  </p:childTnLst>
                                </p:cTn>
                              </p:par>
                            </p:childTnLst>
                          </p:cTn>
                        </p:par>
                      </p:childTnLst>
                    </p:cTn>
                  </p:par>
                  <p:par>
                    <p:cTn id="30" fill="hold">
                      <p:stCondLst>
                        <p:cond delay="indefinite"/>
                      </p:stCondLst>
                      <p:childTnLst>
                        <p:par>
                          <p:cTn id="43"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53" presetClass="entr" presetSubtype="16"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50"/>
                                        <p:tgtEl>
                                          <p:spTgt spid="9"/>
                                        </p:tgtEl>
                                      </p:cBhvr>
                                    </p:animEffect>
                                    <p:anim calcmode="lin" valueType="num">
                                      <p:cBhvr>
                                        <p:cTn id="37" dur="550" fill="hold"/>
                                        <p:tgtEl>
                                          <p:spTgt spid="9"/>
                                        </p:tgtEl>
                                        <p:attrNameLst>
                                          <p:attrName>ppt_w</p:attrName>
                                        </p:attrNameLst>
                                      </p:cBhvr>
                                      <p:tavLst>
                                        <p:tav tm="0">
                                          <p:val>
                                            <p:strVal val="#ppt_w*0.8"/>
                                          </p:val>
                                        </p:tav>
                                        <p:tav tm="100000">
                                          <p:val>
                                            <p:strVal val="#ppt_w"/>
                                          </p:val>
                                        </p:tav>
                                      </p:tavLst>
                                    </p:anim>
                                    <p:anim calcmode="lin" valueType="num">
                                      <p:cBhvr>
                                        <p:cTn id="38" dur="550" fill="hold"/>
                                        <p:tgtEl>
                                          <p:spTgt spid="9"/>
                                        </p:tgtEl>
                                        <p:attrNameLst>
                                          <p:attrName>ppt_h</p:attrName>
                                        </p:attrNameLst>
                                      </p:cBhvr>
                                      <p:tavLst>
                                        <p:tav tm="0">
                                          <p:val>
                                            <p:strVal val="#ppt_h*0.8"/>
                                          </p:val>
                                        </p:tav>
                                        <p:tav tm="100000">
                                          <p:val>
                                            <p:strVal val="#ppt_h"/>
                                          </p:val>
                                        </p:tav>
                                      </p:tavLst>
                                    </p:anim>
                                  </p:childTnLst>
                                </p:cTn>
                              </p:par>
                              <p:par>
                                <p:cTn id="39" presetID="42"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650"/>
                                        <p:tgtEl>
                                          <p:spTgt spid="10"/>
                                        </p:tgtEl>
                                      </p:cBhvr>
                                    </p:animEffect>
                                    <p:anim calcmode="lin" valueType="num">
                                      <p:cBhvr>
                                        <p:cTn id="42" dur="650" fill="hold"/>
                                        <p:tgtEl>
                                          <p:spTgt spid="10"/>
                                        </p:tgtEl>
                                        <p:attrNameLst>
                                          <p:attrName>ppt_y</p:attrName>
                                        </p:attrNameLst>
                                      </p:cBhvr>
                                      <p:tavLst>
                                        <p:tav tm="0">
                                          <p:val>
                                            <p:strVal val="#ppt_y+0.06"/>
                                          </p:val>
                                        </p:tav>
                                        <p:tav tm="100000">
                                          <p:val>
                                            <p:strVal val="#ppt_y"/>
                                          </p:val>
                                        </p:tav>
                                      </p:tavLst>
                                    </p:anim>
                                  </p:childTnLst>
                                </p:cTn>
                              </p:par>
                            </p:childTnLst>
                          </p:cTn>
                        </p:par>
                      </p:childTnLst>
                    </p:cTn>
                  </p:par>
                  <p:par>
                    <p:cTn id="44" fill="hold">
                      <p:stCondLst>
                        <p:cond delay="indefinite"/>
                      </p:stCondLst>
                      <p:childTnLst>
                        <p:par>
                          <p:cTn id="57"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par>
                                <p:cTn id="48" presetID="53" presetClass="entr" presetSubtype="16" fill="hold"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50"/>
                                        <p:tgtEl>
                                          <p:spTgt spid="12"/>
                                        </p:tgtEl>
                                      </p:cBhvr>
                                    </p:animEffect>
                                    <p:anim calcmode="lin" valueType="num">
                                      <p:cBhvr>
                                        <p:cTn id="51" dur="550" fill="hold"/>
                                        <p:tgtEl>
                                          <p:spTgt spid="12"/>
                                        </p:tgtEl>
                                        <p:attrNameLst>
                                          <p:attrName>ppt_w</p:attrName>
                                        </p:attrNameLst>
                                      </p:cBhvr>
                                      <p:tavLst>
                                        <p:tav tm="0">
                                          <p:val>
                                            <p:strVal val="#ppt_w*0.8"/>
                                          </p:val>
                                        </p:tav>
                                        <p:tav tm="100000">
                                          <p:val>
                                            <p:strVal val="#ppt_w"/>
                                          </p:val>
                                        </p:tav>
                                      </p:tavLst>
                                    </p:anim>
                                    <p:anim calcmode="lin" valueType="num">
                                      <p:cBhvr>
                                        <p:cTn id="52" dur="550" fill="hold"/>
                                        <p:tgtEl>
                                          <p:spTgt spid="12"/>
                                        </p:tgtEl>
                                        <p:attrNameLst>
                                          <p:attrName>ppt_h</p:attrName>
                                        </p:attrNameLst>
                                      </p:cBhvr>
                                      <p:tavLst>
                                        <p:tav tm="0">
                                          <p:val>
                                            <p:strVal val="#ppt_h*0.8"/>
                                          </p:val>
                                        </p:tav>
                                        <p:tav tm="100000">
                                          <p:val>
                                            <p:strVal val="#ppt_h"/>
                                          </p:val>
                                        </p:tav>
                                      </p:tavLst>
                                    </p:anim>
                                  </p:childTnLst>
                                </p:cTn>
                              </p:par>
                              <p:par>
                                <p:cTn id="53" presetID="42" presetClass="entr" presetSubtype="0" fill="hold"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650"/>
                                        <p:tgtEl>
                                          <p:spTgt spid="13"/>
                                        </p:tgtEl>
                                      </p:cBhvr>
                                    </p:animEffect>
                                    <p:anim calcmode="lin" valueType="num">
                                      <p:cBhvr>
                                        <p:cTn id="56" dur="650" fill="hold"/>
                                        <p:tgtEl>
                                          <p:spTgt spid="13"/>
                                        </p:tgtEl>
                                        <p:attrNameLst>
                                          <p:attrName>ppt_y</p:attrName>
                                        </p:attrNameLst>
                                      </p:cBhvr>
                                      <p:tavLst>
                                        <p:tav tm="0">
                                          <p:val>
                                            <p:strVal val="#ppt_y+0.06"/>
                                          </p:val>
                                        </p:tav>
                                        <p:tav tm="100000">
                                          <p:val>
                                            <p:strVal val="#ppt_y"/>
                                          </p:val>
                                        </p:tav>
                                      </p:tavLst>
                                    </p:anim>
                                  </p:childTnLst>
                                </p:cTn>
                              </p:par>
                            </p:childTnLst>
                          </p:cTn>
                        </p:par>
                      </p:childTnLst>
                    </p:cTn>
                  </p:par>
                  <p:par>
                    <p:cTn id="58" fill="hold">
                      <p:stCondLst>
                        <p:cond delay="indefinite"/>
                      </p:stCondLst>
                      <p:childTnLst>
                        <p:par>
                          <p:cTn id="71"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childTnLst>
                                </p:cTn>
                              </p:par>
                              <p:par>
                                <p:cTn id="62" presetID="53" presetClass="entr" presetSubtype="16" fill="hold"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50"/>
                                        <p:tgtEl>
                                          <p:spTgt spid="15"/>
                                        </p:tgtEl>
                                      </p:cBhvr>
                                    </p:animEffect>
                                    <p:anim calcmode="lin" valueType="num">
                                      <p:cBhvr>
                                        <p:cTn id="65" dur="550" fill="hold"/>
                                        <p:tgtEl>
                                          <p:spTgt spid="15"/>
                                        </p:tgtEl>
                                        <p:attrNameLst>
                                          <p:attrName>ppt_w</p:attrName>
                                        </p:attrNameLst>
                                      </p:cBhvr>
                                      <p:tavLst>
                                        <p:tav tm="0">
                                          <p:val>
                                            <p:strVal val="#ppt_w*0.8"/>
                                          </p:val>
                                        </p:tav>
                                        <p:tav tm="100000">
                                          <p:val>
                                            <p:strVal val="#ppt_w"/>
                                          </p:val>
                                        </p:tav>
                                      </p:tavLst>
                                    </p:anim>
                                    <p:anim calcmode="lin" valueType="num">
                                      <p:cBhvr>
                                        <p:cTn id="66" dur="550" fill="hold"/>
                                        <p:tgtEl>
                                          <p:spTgt spid="15"/>
                                        </p:tgtEl>
                                        <p:attrNameLst>
                                          <p:attrName>ppt_h</p:attrName>
                                        </p:attrNameLst>
                                      </p:cBhvr>
                                      <p:tavLst>
                                        <p:tav tm="0">
                                          <p:val>
                                            <p:strVal val="#ppt_h*0.8"/>
                                          </p:val>
                                        </p:tav>
                                        <p:tav tm="100000">
                                          <p:val>
                                            <p:strVal val="#ppt_h"/>
                                          </p:val>
                                        </p:tav>
                                      </p:tavLst>
                                    </p:anim>
                                  </p:childTnLst>
                                </p:cTn>
                              </p:par>
                              <p:par>
                                <p:cTn id="67" presetID="42" presetClass="entr" presetSubtype="0" fill="hold"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650"/>
                                        <p:tgtEl>
                                          <p:spTgt spid="16"/>
                                        </p:tgtEl>
                                      </p:cBhvr>
                                    </p:animEffect>
                                    <p:anim calcmode="lin" valueType="num">
                                      <p:cBhvr>
                                        <p:cTn id="70" dur="650" fill="hold"/>
                                        <p:tgtEl>
                                          <p:spTgt spid="16"/>
                                        </p:tgtEl>
                                        <p:attrNameLst>
                                          <p:attrName>ppt_y</p:attrName>
                                        </p:attrNameLst>
                                      </p:cBhvr>
                                      <p:tavLst>
                                        <p:tav tm="0">
                                          <p:val>
                                            <p:strVal val="#ppt_y+0.06"/>
                                          </p:val>
                                        </p:tav>
                                        <p:tav tm="100000">
                                          <p:val>
                                            <p:strVal val="#ppt_y"/>
                                          </p:val>
                                        </p:tav>
                                      </p:tavLst>
                                    </p:anim>
                                  </p:childTnLst>
                                </p:cTn>
                              </p:par>
                            </p:childTnLst>
                          </p:cTn>
                        </p:par>
                      </p:childTnLst>
                    </p:cTn>
                  </p:par>
                  <p:par>
                    <p:cTn id="72" fill="hold">
                      <p:stCondLst>
                        <p:cond delay="indefinite"/>
                      </p:stCondLst>
                      <p:childTnLst>
                        <p:par>
                          <p:cTn id="85"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childTnLst>
                                </p:cTn>
                              </p:par>
                              <p:par>
                                <p:cTn id="76" presetID="53" presetClass="entr" presetSubtype="16" fill="hold" nodeType="with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550"/>
                                        <p:tgtEl>
                                          <p:spTgt spid="18"/>
                                        </p:tgtEl>
                                      </p:cBhvr>
                                    </p:animEffect>
                                    <p:anim calcmode="lin" valueType="num">
                                      <p:cBhvr>
                                        <p:cTn id="79" dur="550" fill="hold"/>
                                        <p:tgtEl>
                                          <p:spTgt spid="18"/>
                                        </p:tgtEl>
                                        <p:attrNameLst>
                                          <p:attrName>ppt_w</p:attrName>
                                        </p:attrNameLst>
                                      </p:cBhvr>
                                      <p:tavLst>
                                        <p:tav tm="0">
                                          <p:val>
                                            <p:strVal val="#ppt_w*0.8"/>
                                          </p:val>
                                        </p:tav>
                                        <p:tav tm="100000">
                                          <p:val>
                                            <p:strVal val="#ppt_w"/>
                                          </p:val>
                                        </p:tav>
                                      </p:tavLst>
                                    </p:anim>
                                    <p:anim calcmode="lin" valueType="num">
                                      <p:cBhvr>
                                        <p:cTn id="80" dur="550" fill="hold"/>
                                        <p:tgtEl>
                                          <p:spTgt spid="18"/>
                                        </p:tgtEl>
                                        <p:attrNameLst>
                                          <p:attrName>ppt_h</p:attrName>
                                        </p:attrNameLst>
                                      </p:cBhvr>
                                      <p:tavLst>
                                        <p:tav tm="0">
                                          <p:val>
                                            <p:strVal val="#ppt_h*0.8"/>
                                          </p:val>
                                        </p:tav>
                                        <p:tav tm="100000">
                                          <p:val>
                                            <p:strVal val="#ppt_h"/>
                                          </p:val>
                                        </p:tav>
                                      </p:tavLst>
                                    </p:anim>
                                  </p:childTnLst>
                                </p:cTn>
                              </p:par>
                              <p:par>
                                <p:cTn id="81" presetID="42" presetClass="entr" presetSubtype="0" fill="hold"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650"/>
                                        <p:tgtEl>
                                          <p:spTgt spid="19"/>
                                        </p:tgtEl>
                                      </p:cBhvr>
                                    </p:animEffect>
                                    <p:anim calcmode="lin" valueType="num">
                                      <p:cBhvr>
                                        <p:cTn id="84" dur="650" fill="hold"/>
                                        <p:tgtEl>
                                          <p:spTgt spid="19"/>
                                        </p:tgtEl>
                                        <p:attrNameLst>
                                          <p:attrName>ppt_y</p:attrName>
                                        </p:attrNameLst>
                                      </p:cBhvr>
                                      <p:tavLst>
                                        <p:tav tm="0">
                                          <p:val>
                                            <p:strVal val="#ppt_y+0.06"/>
                                          </p:val>
                                        </p:tav>
                                        <p:tav tm="100000">
                                          <p:val>
                                            <p:strVal val="#ppt_y"/>
                                          </p:val>
                                        </p:tav>
                                      </p:tavLst>
                                    </p:anim>
                                  </p:childTnLst>
                                </p:cTn>
                              </p:par>
                            </p:childTnLst>
                          </p:cTn>
                        </p:par>
                      </p:childTnLst>
                    </p:cTn>
                  </p:par>
                  <p:par>
                    <p:cTn id="86" fill="hold">
                      <p:stCondLst>
                        <p:cond delay="indefinite"/>
                      </p:stCondLst>
                      <p:childTnLst>
                        <p:par>
                          <p:cTn id="99"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500"/>
                                        <p:tgtEl>
                                          <p:spTgt spid="20"/>
                                        </p:tgtEl>
                                      </p:cBhvr>
                                    </p:animEffect>
                                  </p:childTnLst>
                                </p:cTn>
                              </p:par>
                              <p:par>
                                <p:cTn id="90" presetID="53" presetClass="entr" presetSubtype="16" fill="hold"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50"/>
                                        <p:tgtEl>
                                          <p:spTgt spid="21"/>
                                        </p:tgtEl>
                                      </p:cBhvr>
                                    </p:animEffect>
                                    <p:anim calcmode="lin" valueType="num">
                                      <p:cBhvr>
                                        <p:cTn id="93" dur="550" fill="hold"/>
                                        <p:tgtEl>
                                          <p:spTgt spid="21"/>
                                        </p:tgtEl>
                                        <p:attrNameLst>
                                          <p:attrName>ppt_w</p:attrName>
                                        </p:attrNameLst>
                                      </p:cBhvr>
                                      <p:tavLst>
                                        <p:tav tm="0">
                                          <p:val>
                                            <p:strVal val="#ppt_w*0.8"/>
                                          </p:val>
                                        </p:tav>
                                        <p:tav tm="100000">
                                          <p:val>
                                            <p:strVal val="#ppt_w"/>
                                          </p:val>
                                        </p:tav>
                                      </p:tavLst>
                                    </p:anim>
                                    <p:anim calcmode="lin" valueType="num">
                                      <p:cBhvr>
                                        <p:cTn id="94" dur="550" fill="hold"/>
                                        <p:tgtEl>
                                          <p:spTgt spid="21"/>
                                        </p:tgtEl>
                                        <p:attrNameLst>
                                          <p:attrName>ppt_h</p:attrName>
                                        </p:attrNameLst>
                                      </p:cBhvr>
                                      <p:tavLst>
                                        <p:tav tm="0">
                                          <p:val>
                                            <p:strVal val="#ppt_h*0.8"/>
                                          </p:val>
                                        </p:tav>
                                        <p:tav tm="100000">
                                          <p:val>
                                            <p:strVal val="#ppt_h"/>
                                          </p:val>
                                        </p:tav>
                                      </p:tavLst>
                                    </p:anim>
                                  </p:childTnLst>
                                </p:cTn>
                              </p:par>
                              <p:par>
                                <p:cTn id="95" presetID="42" presetClass="entr" presetSubtype="0"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650"/>
                                        <p:tgtEl>
                                          <p:spTgt spid="22"/>
                                        </p:tgtEl>
                                      </p:cBhvr>
                                    </p:animEffect>
                                    <p:anim calcmode="lin" valueType="num">
                                      <p:cBhvr>
                                        <p:cTn id="98" dur="650" fill="hold"/>
                                        <p:tgtEl>
                                          <p:spTgt spid="22"/>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457200"/>
            <a:ext cx="7315200" cy="4572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Two things XGBoost handles for you</a:t>
            </a:r>
          </a:p>
        </p:txBody>
      </p:sp>
      <p:sp>
        <p:nvSpPr>
          <p:cNvPr id="3" name="TextBox 2"/>
          <p:cNvSpPr txBox="1"/>
          <p:nvPr/>
        </p:nvSpPr>
        <p:spPr>
          <a:xfrm>
            <a:off x="685800" y="777240"/>
            <a:ext cx="9144000" cy="914400"/>
          </a:xfrm>
          <a:prstGeom prst="rect">
            <a:avLst/>
          </a:prstGeom>
          <a:noFill/>
        </p:spPr>
        <p:txBody>
          <a:bodyPr wrap="square" lIns="0" rIns="0" tIns="0" bIns="0" anchor="t">
            <a:spAutoFit/>
          </a:bodyPr>
          <a:lstStyle/>
          <a:p>
            <a:pPr algn="l">
              <a:lnSpc>
                <a:spcPct val="88000"/>
              </a:lnSpc>
              <a:spcAft>
                <a:spcPts val="0"/>
              </a:spcAft>
            </a:pPr>
            <a:r>
              <a:rPr sz="4600" b="0" i="0">
                <a:solidFill>
                  <a:srgbClr val="262A33"/>
                </a:solidFill>
                <a:latin typeface="Bahnschrift Light"/>
              </a:rPr>
              <a:t>BUILT-IN SAFETY FEATURES</a:t>
            </a:r>
          </a:p>
        </p:txBody>
      </p:sp>
      <p:pic>
        <p:nvPicPr>
          <p:cNvPr id="4" name="Picture 3" descr="dots.png"/>
          <p:cNvPicPr>
            <a:picLocks noChangeAspect="1"/>
          </p:cNvPicPr>
          <p:nvPr/>
        </p:nvPicPr>
        <p:blipFill>
          <a:blip r:embed="rId2"/>
          <a:stretch>
            <a:fillRect/>
          </a:stretch>
        </p:blipFill>
        <p:spPr>
          <a:xfrm>
            <a:off x="9875520" y="411480"/>
            <a:ext cx="1645920" cy="868680"/>
          </a:xfrm>
          <a:prstGeom prst="rect">
            <a:avLst/>
          </a:prstGeom>
        </p:spPr>
      </p:pic>
      <p:sp>
        <p:nvSpPr>
          <p:cNvPr id="5" name="TextBox 4"/>
          <p:cNvSpPr txBox="1"/>
          <p:nvPr/>
        </p:nvSpPr>
        <p:spPr>
          <a:xfrm>
            <a:off x="685800" y="1920240"/>
            <a:ext cx="5120640" cy="365760"/>
          </a:xfrm>
          <a:prstGeom prst="rect">
            <a:avLst/>
          </a:prstGeom>
          <a:noFill/>
        </p:spPr>
        <p:txBody>
          <a:bodyPr wrap="square" lIns="0" rIns="0" tIns="0" bIns="0" anchor="t">
            <a:spAutoFit/>
          </a:bodyPr>
          <a:lstStyle/>
          <a:p>
            <a:pPr algn="l">
              <a:spcAft>
                <a:spcPts val="0"/>
              </a:spcAft>
            </a:pPr>
            <a:r>
              <a:rPr sz="1600" b="0" i="0">
                <a:solidFill>
                  <a:srgbClr val="262A33"/>
                </a:solidFill>
                <a:latin typeface="Segoe UI Semibold"/>
              </a:rPr>
              <a:t>1  ·  Missing values</a:t>
            </a:r>
          </a:p>
        </p:txBody>
      </p:sp>
      <p:sp>
        <p:nvSpPr>
          <p:cNvPr id="6" name="Rounded Rectangle 5"/>
          <p:cNvSpPr/>
          <p:nvPr/>
        </p:nvSpPr>
        <p:spPr>
          <a:xfrm>
            <a:off x="1691640" y="2514600"/>
            <a:ext cx="2834640" cy="50292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a:solidFill>
                  <a:srgbClr val="E5E4E2"/>
                </a:solidFill>
                <a:latin typeface="Segoe UI Semibold"/>
              </a:rPr>
              <a:t>income &lt; 3,000 ?</a:t>
            </a:r>
          </a:p>
        </p:txBody>
      </p:sp>
      <p:cxnSp>
        <p:nvCxnSpPr>
          <p:cNvPr id="7" name="Connector 6"/>
          <p:cNvCxnSpPr/>
          <p:nvPr/>
        </p:nvCxnSpPr>
        <p:spPr>
          <a:xfrm flipH="1">
            <a:off x="1600200" y="3017520"/>
            <a:ext cx="868680" cy="868680"/>
          </a:xfrm>
          <a:prstGeom prst="line">
            <a:avLst/>
          </a:prstGeom>
          <a:ln w="1587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749039" y="3017520"/>
            <a:ext cx="868681" cy="868680"/>
          </a:xfrm>
          <a:prstGeom prst="line">
            <a:avLst/>
          </a:prstGeom>
          <a:ln w="15875">
            <a:solidFill>
              <a:srgbClr val="5B5F6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68680" y="3886200"/>
            <a:ext cx="1463040" cy="457200"/>
          </a:xfrm>
          <a:prstGeom prst="roundRect">
            <a:avLst>
              <a:gd name="adj" fmla="val 50000"/>
            </a:avLst>
          </a:prstGeom>
          <a:noFill/>
          <a:ln w="12700">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a:solidFill>
                  <a:srgbClr val="262A33"/>
                </a:solidFill>
                <a:latin typeface="Segoe UI"/>
              </a:rPr>
              <a:t>yes branch</a:t>
            </a:r>
          </a:p>
        </p:txBody>
      </p:sp>
      <p:sp>
        <p:nvSpPr>
          <p:cNvPr id="10" name="Rounded Rectangle 9"/>
          <p:cNvSpPr/>
          <p:nvPr/>
        </p:nvSpPr>
        <p:spPr>
          <a:xfrm>
            <a:off x="3886200" y="3886200"/>
            <a:ext cx="1463040" cy="457200"/>
          </a:xfrm>
          <a:prstGeom prst="roundRect">
            <a:avLst>
              <a:gd name="adj" fmla="val 50000"/>
            </a:avLst>
          </a:prstGeom>
          <a:noFill/>
          <a:ln w="12700">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a:solidFill>
                  <a:srgbClr val="262A33"/>
                </a:solidFill>
                <a:latin typeface="Segoe UI"/>
              </a:rPr>
              <a:t>no branch</a:t>
            </a:r>
          </a:p>
        </p:txBody>
      </p:sp>
      <p:sp>
        <p:nvSpPr>
          <p:cNvPr id="11" name="Rounded Rectangle 10"/>
          <p:cNvSpPr/>
          <p:nvPr/>
        </p:nvSpPr>
        <p:spPr>
          <a:xfrm>
            <a:off x="2560320" y="3429000"/>
            <a:ext cx="1097280" cy="384048"/>
          </a:xfrm>
          <a:prstGeom prst="roundRect">
            <a:avLst>
              <a:gd name="adj" fmla="val 50000"/>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a:solidFill>
                  <a:srgbClr val="E5E4E2"/>
                </a:solidFill>
                <a:latin typeface="Segoe UI Semibold"/>
              </a:rPr>
              <a:t>NaN</a:t>
            </a:r>
          </a:p>
        </p:txBody>
      </p:sp>
      <p:sp>
        <p:nvSpPr>
          <p:cNvPr id="12" name="TextBox 11"/>
          <p:cNvSpPr txBox="1"/>
          <p:nvPr/>
        </p:nvSpPr>
        <p:spPr>
          <a:xfrm>
            <a:off x="868680" y="4434840"/>
            <a:ext cx="1463040" cy="365760"/>
          </a:xfrm>
          <a:prstGeom prst="rect">
            <a:avLst/>
          </a:prstGeom>
          <a:noFill/>
        </p:spPr>
        <p:txBody>
          <a:bodyPr wrap="square" lIns="0" rIns="0" tIns="0" bIns="0" anchor="t">
            <a:spAutoFit/>
          </a:bodyPr>
          <a:lstStyle/>
          <a:p>
            <a:pPr algn="ctr">
              <a:spcAft>
                <a:spcPts val="0"/>
              </a:spcAft>
            </a:pPr>
            <a:r>
              <a:rPr sz="1100" b="0" i="0">
                <a:solidFill>
                  <a:srgbClr val="B5543A"/>
                </a:solidFill>
                <a:latin typeface="Segoe UI"/>
              </a:rPr>
              <a:t>✓ more gain</a:t>
            </a:r>
          </a:p>
        </p:txBody>
      </p:sp>
      <p:sp>
        <p:nvSpPr>
          <p:cNvPr id="13" name="TextBox 12"/>
          <p:cNvSpPr txBox="1"/>
          <p:nvPr/>
        </p:nvSpPr>
        <p:spPr>
          <a:xfrm>
            <a:off x="3886200" y="4434840"/>
            <a:ext cx="1463040" cy="365760"/>
          </a:xfrm>
          <a:prstGeom prst="rect">
            <a:avLst/>
          </a:prstGeom>
          <a:noFill/>
        </p:spPr>
        <p:txBody>
          <a:bodyPr wrap="square" lIns="0" rIns="0" tIns="0" bIns="0" anchor="t">
            <a:spAutoFit/>
          </a:bodyPr>
          <a:lstStyle/>
          <a:p>
            <a:pPr algn="ctr">
              <a:spcAft>
                <a:spcPts val="0"/>
              </a:spcAft>
            </a:pPr>
            <a:r>
              <a:rPr sz="1100" b="0" i="0">
                <a:solidFill>
                  <a:srgbClr val="5B5F68"/>
                </a:solidFill>
                <a:latin typeface="Segoe UI"/>
              </a:rPr>
              <a:t>✗ less gain</a:t>
            </a:r>
          </a:p>
        </p:txBody>
      </p:sp>
      <p:sp>
        <p:nvSpPr>
          <p:cNvPr id="14" name="TextBox 13"/>
          <p:cNvSpPr txBox="1"/>
          <p:nvPr/>
        </p:nvSpPr>
        <p:spPr>
          <a:xfrm>
            <a:off x="685800" y="4937760"/>
            <a:ext cx="5120640" cy="1463040"/>
          </a:xfrm>
          <a:prstGeom prst="rect">
            <a:avLst/>
          </a:prstGeom>
          <a:noFill/>
        </p:spPr>
        <p:txBody>
          <a:bodyPr wrap="square" lIns="0" rIns="0" tIns="0" bIns="0" anchor="t">
            <a:spAutoFit/>
          </a:bodyPr>
          <a:lstStyle/>
          <a:p>
            <a:pPr algn="l">
              <a:spcAft>
                <a:spcPts val="0"/>
              </a:spcAft>
            </a:pPr>
            <a:r>
              <a:rPr sz="1200" b="0" i="0">
                <a:solidFill>
                  <a:srgbClr val="5B5F68"/>
                </a:solidFill>
                <a:latin typeface="Segoe UI"/>
              </a:rPr>
              <a:t>At every split XGBoost tries sending all missing values left, then right, and keeps the side with the higher gain as the default direction. Missing values often carry meaning, so the data decides where they belong.</a:t>
            </a:r>
          </a:p>
        </p:txBody>
      </p:sp>
      <p:sp>
        <p:nvSpPr>
          <p:cNvPr id="15" name="TextBox 14"/>
          <p:cNvSpPr txBox="1"/>
          <p:nvPr/>
        </p:nvSpPr>
        <p:spPr>
          <a:xfrm>
            <a:off x="6400800" y="1920240"/>
            <a:ext cx="5120640" cy="365760"/>
          </a:xfrm>
          <a:prstGeom prst="rect">
            <a:avLst/>
          </a:prstGeom>
          <a:noFill/>
        </p:spPr>
        <p:txBody>
          <a:bodyPr wrap="square" lIns="0" rIns="0" tIns="0" bIns="0" anchor="t">
            <a:spAutoFit/>
          </a:bodyPr>
          <a:lstStyle/>
          <a:p>
            <a:pPr algn="l">
              <a:spcAft>
                <a:spcPts val="0"/>
              </a:spcAft>
            </a:pPr>
            <a:r>
              <a:rPr sz="1600" b="0" i="0">
                <a:solidFill>
                  <a:srgbClr val="262A33"/>
                </a:solidFill>
                <a:latin typeface="Segoe UI Semibold"/>
              </a:rPr>
              <a:t>2  ·  Overfitting brakes</a:t>
            </a:r>
          </a:p>
        </p:txBody>
      </p:sp>
      <p:sp>
        <p:nvSpPr>
          <p:cNvPr id="16" name="TextBox 15"/>
          <p:cNvSpPr txBox="1"/>
          <p:nvPr/>
        </p:nvSpPr>
        <p:spPr>
          <a:xfrm>
            <a:off x="6400800" y="2423160"/>
            <a:ext cx="5120640" cy="2377440"/>
          </a:xfrm>
          <a:prstGeom prst="rect">
            <a:avLst/>
          </a:prstGeom>
          <a:noFill/>
        </p:spPr>
        <p:txBody>
          <a:bodyPr wrap="square" lIns="0" rIns="0" tIns="0" bIns="0" anchor="t">
            <a:spAutoFit/>
          </a:bodyPr>
          <a:lstStyle/>
          <a:p>
            <a:pPr algn="l">
              <a:spcAft>
                <a:spcPts val="700"/>
              </a:spcAft>
            </a:pPr>
            <a:r>
              <a:rPr sz="1200" b="0" i="0">
                <a:solidFill>
                  <a:srgbClr val="262A33"/>
                </a:solidFill>
                <a:latin typeface="Segoe UI Semibold"/>
              </a:rPr>
              <a:t>max_depth</a:t>
            </a:r>
            <a:r>
              <a:rPr sz="1200" b="0" i="0">
                <a:solidFill>
                  <a:srgbClr val="5B5F68"/>
                </a:solidFill>
                <a:latin typeface="Segoe UI"/>
              </a:rPr>
              <a:t>  keep trees shallow</a:t>
            </a:r>
          </a:p>
          <a:p>
            <a:pPr algn="l">
              <a:spcAft>
                <a:spcPts val="700"/>
              </a:spcAft>
            </a:pPr>
            <a:r>
              <a:rPr sz="1200" b="0" i="0">
                <a:solidFill>
                  <a:srgbClr val="262A33"/>
                </a:solidFill>
                <a:latin typeface="Segoe UI Semibold"/>
              </a:rPr>
              <a:t>min_child_weight, gamma</a:t>
            </a:r>
            <a:r>
              <a:rPr sz="1200" b="0" i="0">
                <a:solidFill>
                  <a:srgbClr val="5B5F68"/>
                </a:solidFill>
                <a:latin typeface="Segoe UI"/>
              </a:rPr>
              <a:t>  refuse weak splits</a:t>
            </a:r>
          </a:p>
          <a:p>
            <a:pPr algn="l">
              <a:spcAft>
                <a:spcPts val="700"/>
              </a:spcAft>
            </a:pPr>
            <a:r>
              <a:rPr sz="1200" b="0" i="0">
                <a:solidFill>
                  <a:srgbClr val="262A33"/>
                </a:solidFill>
                <a:latin typeface="Segoe UI Semibold"/>
              </a:rPr>
              <a:t>reg_lambda, reg_alpha</a:t>
            </a:r>
            <a:r>
              <a:rPr sz="1200" b="0" i="0">
                <a:solidFill>
                  <a:srgbClr val="5B5F68"/>
                </a:solidFill>
                <a:latin typeface="Segoe UI"/>
              </a:rPr>
              <a:t>  shrink leaf values</a:t>
            </a:r>
          </a:p>
          <a:p>
            <a:pPr algn="l">
              <a:spcAft>
                <a:spcPts val="700"/>
              </a:spcAft>
            </a:pPr>
            <a:r>
              <a:rPr sz="1200" b="0" i="0">
                <a:solidFill>
                  <a:srgbClr val="262A33"/>
                </a:solidFill>
                <a:latin typeface="Segoe UI Semibold"/>
              </a:rPr>
              <a:t>subsample, colsample_bytree</a:t>
            </a:r>
            <a:r>
              <a:rPr sz="1200" b="0" i="0">
                <a:solidFill>
                  <a:srgbClr val="5B5F68"/>
                </a:solidFill>
                <a:latin typeface="Segoe UI"/>
              </a:rPr>
              <a:t>  add randomness</a:t>
            </a:r>
          </a:p>
          <a:p>
            <a:pPr algn="l">
              <a:spcAft>
                <a:spcPts val="700"/>
              </a:spcAft>
            </a:pPr>
            <a:r>
              <a:rPr sz="1200" b="0" i="0">
                <a:solidFill>
                  <a:srgbClr val="262A33"/>
                </a:solidFill>
                <a:latin typeface="Segoe UI Semibold"/>
              </a:rPr>
              <a:t>learning_rate + early stopping</a:t>
            </a:r>
            <a:r>
              <a:rPr sz="1200" b="0" i="0">
                <a:solidFill>
                  <a:srgbClr val="5B5F68"/>
                </a:solidFill>
                <a:latin typeface="Segoe UI"/>
              </a:rPr>
              <a:t>  small steps, stop in time</a:t>
            </a:r>
          </a:p>
        </p:txBody>
      </p:sp>
      <p:sp>
        <p:nvSpPr>
          <p:cNvPr id="17" name="TextBox 16"/>
          <p:cNvSpPr txBox="1"/>
          <p:nvPr/>
        </p:nvSpPr>
        <p:spPr>
          <a:xfrm>
            <a:off x="6400800" y="4892040"/>
            <a:ext cx="2377440" cy="1188720"/>
          </a:xfrm>
          <a:prstGeom prst="rect">
            <a:avLst/>
          </a:prstGeom>
          <a:noFill/>
        </p:spPr>
        <p:txBody>
          <a:bodyPr wrap="square" lIns="0" rIns="0" tIns="0" bIns="0" anchor="t">
            <a:spAutoFit/>
          </a:bodyPr>
          <a:lstStyle/>
          <a:p>
            <a:pPr algn="l">
              <a:lnSpc>
                <a:spcPct val="95000"/>
              </a:lnSpc>
              <a:spcAft>
                <a:spcPts val="0"/>
              </a:spcAft>
            </a:pPr>
            <a:r>
              <a:rPr sz="3000" b="0" i="0">
                <a:solidFill>
                  <a:srgbClr val="B5543A"/>
                </a:solidFill>
                <a:latin typeface="Bahnschrift Light"/>
              </a:rPr>
              <a:t>train ≈ test</a:t>
            </a:r>
          </a:p>
          <a:p>
            <a:pPr algn="l">
              <a:lnSpc>
                <a:spcPct val="95000"/>
              </a:lnSpc>
              <a:spcAft>
                <a:spcPts val="0"/>
              </a:spcAft>
            </a:pPr>
            <a:r>
              <a:rPr sz="1200" b="0" i="0">
                <a:solidFill>
                  <a:srgbClr val="5B5F68"/>
                </a:solidFill>
                <a:latin typeface="Segoe UI"/>
              </a:rPr>
              <a:t>with the brakes:
the model generalizes</a:t>
            </a:r>
          </a:p>
        </p:txBody>
      </p:sp>
      <p:sp>
        <p:nvSpPr>
          <p:cNvPr id="18" name="TextBox 17"/>
          <p:cNvSpPr txBox="1"/>
          <p:nvPr/>
        </p:nvSpPr>
        <p:spPr>
          <a:xfrm>
            <a:off x="9052560" y="4892040"/>
            <a:ext cx="2468880" cy="1188720"/>
          </a:xfrm>
          <a:prstGeom prst="rect">
            <a:avLst/>
          </a:prstGeom>
          <a:noFill/>
        </p:spPr>
        <p:txBody>
          <a:bodyPr wrap="square" lIns="0" rIns="0" tIns="0" bIns="0" anchor="t">
            <a:spAutoFit/>
          </a:bodyPr>
          <a:lstStyle/>
          <a:p>
            <a:pPr algn="l">
              <a:lnSpc>
                <a:spcPct val="95000"/>
              </a:lnSpc>
              <a:spcAft>
                <a:spcPts val="0"/>
              </a:spcAft>
            </a:pPr>
            <a:r>
              <a:rPr sz="3000" b="0" i="0">
                <a:solidFill>
                  <a:srgbClr val="B5543A"/>
                </a:solidFill>
                <a:latin typeface="Bahnschrift Light"/>
              </a:rPr>
              <a:t>train ≫ test</a:t>
            </a:r>
          </a:p>
          <a:p>
            <a:pPr algn="l">
              <a:lnSpc>
                <a:spcPct val="95000"/>
              </a:lnSpc>
              <a:spcAft>
                <a:spcPts val="0"/>
              </a:spcAft>
            </a:pPr>
            <a:r>
              <a:rPr sz="1200" b="0" i="0">
                <a:solidFill>
                  <a:srgbClr val="5B5F68"/>
                </a:solidFill>
                <a:latin typeface="Segoe UI"/>
              </a:rPr>
              <a:t>without them:
the model memorizes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6" fill="hold">
                      <p:stCondLst>
                        <p:cond delay="indefinite"/>
                      </p:stCondLst>
                      <p:childTnLst>
                        <p:par>
                          <p:cTn id="32"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p:cTn id="20" dur="650" fill="hold"/>
                                        <p:tgtEl>
                                          <p:spTgt spid="5"/>
                                        </p:tgtEl>
                                        <p:attrNameLst>
                                          <p:attrName>ppt_y</p:attrName>
                                        </p:attrNameLst>
                                      </p:cBhvr>
                                      <p:tavLst>
                                        <p:tav tm="0">
                                          <p:val>
                                            <p:strVal val="#ppt_y+0.06"/>
                                          </p:val>
                                        </p:tav>
                                        <p:tav tm="100000">
                                          <p:val>
                                            <p:strVal val="#ppt_y"/>
                                          </p:val>
                                        </p:tav>
                                      </p:tavLst>
                                    </p:anim>
                                  </p:childTnLst>
                                </p:cTn>
                              </p:par>
                              <p:par>
                                <p:cTn id="21" presetID="53" presetClass="entr" presetSubtype="16"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50"/>
                                        <p:tgtEl>
                                          <p:spTgt spid="6"/>
                                        </p:tgtEl>
                                      </p:cBhvr>
                                    </p:animEffect>
                                    <p:anim calcmode="lin" valueType="num">
                                      <p:cBhvr>
                                        <p:cTn id="24" dur="550" fill="hold"/>
                                        <p:tgtEl>
                                          <p:spTgt spid="6"/>
                                        </p:tgtEl>
                                        <p:attrNameLst>
                                          <p:attrName>ppt_w</p:attrName>
                                        </p:attrNameLst>
                                      </p:cBhvr>
                                      <p:tavLst>
                                        <p:tav tm="0">
                                          <p:val>
                                            <p:strVal val="#ppt_w*0.8"/>
                                          </p:val>
                                        </p:tav>
                                        <p:tav tm="100000">
                                          <p:val>
                                            <p:strVal val="#ppt_w"/>
                                          </p:val>
                                        </p:tav>
                                      </p:tavLst>
                                    </p:anim>
                                    <p:anim calcmode="lin" valueType="num">
                                      <p:cBhvr>
                                        <p:cTn id="25" dur="550" fill="hold"/>
                                        <p:tgtEl>
                                          <p:spTgt spid="6"/>
                                        </p:tgtEl>
                                        <p:attrNameLst>
                                          <p:attrName>ppt_h</p:attrName>
                                        </p:attrNameLst>
                                      </p:cBhvr>
                                      <p:tavLst>
                                        <p:tav tm="0">
                                          <p:val>
                                            <p:strVal val="#ppt_h*0.8"/>
                                          </p:val>
                                        </p:tav>
                                        <p:tav tm="100000">
                                          <p:val>
                                            <p:strVal val="#ppt_h"/>
                                          </p:val>
                                        </p:tav>
                                      </p:tavLst>
                                    </p:anim>
                                  </p:childTnLst>
                                </p:cTn>
                              </p:par>
                              <p:par>
                                <p:cTn id="26" presetID="10"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par>
                          <p:cTn id="43" fill="hold">
                            <p:stCondLst>
                              <p:cond delay="650"/>
                            </p:stCondLst>
                            <p:childTnLst>
                              <p:par>
                                <p:cTn id="33" presetID="53" presetClass="entr" presetSubtype="16"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50"/>
                                        <p:tgtEl>
                                          <p:spTgt spid="9"/>
                                        </p:tgtEl>
                                      </p:cBhvr>
                                    </p:animEffect>
                                    <p:anim calcmode="lin" valueType="num">
                                      <p:cBhvr>
                                        <p:cTn id="36" dur="550" fill="hold"/>
                                        <p:tgtEl>
                                          <p:spTgt spid="9"/>
                                        </p:tgtEl>
                                        <p:attrNameLst>
                                          <p:attrName>ppt_w</p:attrName>
                                        </p:attrNameLst>
                                      </p:cBhvr>
                                      <p:tavLst>
                                        <p:tav tm="0">
                                          <p:val>
                                            <p:strVal val="#ppt_w*0.8"/>
                                          </p:val>
                                        </p:tav>
                                        <p:tav tm="100000">
                                          <p:val>
                                            <p:strVal val="#ppt_w"/>
                                          </p:val>
                                        </p:tav>
                                      </p:tavLst>
                                    </p:anim>
                                    <p:anim calcmode="lin" valueType="num">
                                      <p:cBhvr>
                                        <p:cTn id="37" dur="550" fill="hold"/>
                                        <p:tgtEl>
                                          <p:spTgt spid="9"/>
                                        </p:tgtEl>
                                        <p:attrNameLst>
                                          <p:attrName>ppt_h</p:attrName>
                                        </p:attrNameLst>
                                      </p:cBhvr>
                                      <p:tavLst>
                                        <p:tav tm="0">
                                          <p:val>
                                            <p:strVal val="#ppt_h*0.8"/>
                                          </p:val>
                                        </p:tav>
                                        <p:tav tm="100000">
                                          <p:val>
                                            <p:strVal val="#ppt_h"/>
                                          </p:val>
                                        </p:tav>
                                      </p:tavLst>
                                    </p:anim>
                                  </p:childTnLst>
                                </p:cTn>
                              </p:par>
                              <p:par>
                                <p:cTn id="38" presetID="53" presetClass="entr" presetSubtype="16" fill="hold"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50"/>
                                        <p:tgtEl>
                                          <p:spTgt spid="10"/>
                                        </p:tgtEl>
                                      </p:cBhvr>
                                    </p:animEffect>
                                    <p:anim calcmode="lin" valueType="num">
                                      <p:cBhvr>
                                        <p:cTn id="41" dur="550" fill="hold"/>
                                        <p:tgtEl>
                                          <p:spTgt spid="10"/>
                                        </p:tgtEl>
                                        <p:attrNameLst>
                                          <p:attrName>ppt_w</p:attrName>
                                        </p:attrNameLst>
                                      </p:cBhvr>
                                      <p:tavLst>
                                        <p:tav tm="0">
                                          <p:val>
                                            <p:strVal val="#ppt_w*0.8"/>
                                          </p:val>
                                        </p:tav>
                                        <p:tav tm="100000">
                                          <p:val>
                                            <p:strVal val="#ppt_w"/>
                                          </p:val>
                                        </p:tav>
                                      </p:tavLst>
                                    </p:anim>
                                    <p:anim calcmode="lin" valueType="num">
                                      <p:cBhvr>
                                        <p:cTn id="42" dur="550" fill="hold"/>
                                        <p:tgtEl>
                                          <p:spTgt spid="10"/>
                                        </p:tgtEl>
                                        <p:attrNameLst>
                                          <p:attrName>ppt_h</p:attrName>
                                        </p:attrNameLst>
                                      </p:cBhvr>
                                      <p:tavLst>
                                        <p:tav tm="0">
                                          <p:val>
                                            <p:strVal val="#ppt_h*0.8"/>
                                          </p:val>
                                        </p:tav>
                                        <p:tav tm="100000">
                                          <p:val>
                                            <p:strVal val="#ppt_h"/>
                                          </p:val>
                                        </p:tav>
                                      </p:tavLst>
                                    </p:anim>
                                  </p:childTnLst>
                                </p:cTn>
                              </p:par>
                            </p:childTnLst>
                          </p:cTn>
                        </p:par>
                      </p:childTnLst>
                    </p:cTn>
                  </p:par>
                  <p:par>
                    <p:cTn id="44" fill="hold">
                      <p:stCondLst>
                        <p:cond delay="indefinite"/>
                      </p:stCondLst>
                      <p:childTnLst>
                        <p:par>
                          <p:cTn id="50"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50"/>
                                        <p:tgtEl>
                                          <p:spTgt spid="11"/>
                                        </p:tgtEl>
                                      </p:cBhvr>
                                    </p:animEffect>
                                    <p:anim calcmode="lin" valueType="num">
                                      <p:cBhvr>
                                        <p:cTn id="48" dur="550" fill="hold"/>
                                        <p:tgtEl>
                                          <p:spTgt spid="11"/>
                                        </p:tgtEl>
                                        <p:attrNameLst>
                                          <p:attrName>ppt_w</p:attrName>
                                        </p:attrNameLst>
                                      </p:cBhvr>
                                      <p:tavLst>
                                        <p:tav tm="0">
                                          <p:val>
                                            <p:strVal val="#ppt_w*0.8"/>
                                          </p:val>
                                        </p:tav>
                                        <p:tav tm="100000">
                                          <p:val>
                                            <p:strVal val="#ppt_w"/>
                                          </p:val>
                                        </p:tav>
                                      </p:tavLst>
                                    </p:anim>
                                    <p:anim calcmode="lin" valueType="num">
                                      <p:cBhvr>
                                        <p:cTn id="49" dur="550" fill="hold"/>
                                        <p:tgtEl>
                                          <p:spTgt spid="11"/>
                                        </p:tgtEl>
                                        <p:attrNameLst>
                                          <p:attrName>ppt_h</p:attrName>
                                        </p:attrNameLst>
                                      </p:cBhvr>
                                      <p:tavLst>
                                        <p:tav tm="0">
                                          <p:val>
                                            <p:strVal val="#ppt_h*0.8"/>
                                          </p:val>
                                        </p:tav>
                                        <p:tav tm="100000">
                                          <p:val>
                                            <p:strVal val="#ppt_h"/>
                                          </p:val>
                                        </p:tav>
                                      </p:tavLst>
                                    </p:anim>
                                  </p:childTnLst>
                                </p:cTn>
                              </p:par>
                            </p:childTnLst>
                          </p:cTn>
                        </p:par>
                        <p:par>
                          <p:cTn id="59" fill="hold">
                            <p:stCondLst>
                              <p:cond delay="550"/>
                            </p:stCondLst>
                            <p:childTnLst>
                              <p:par>
                                <p:cTn id="51" presetID="42" presetClass="entr" presetSubtype="0" fill="hold" nodeType="after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50"/>
                                        <p:tgtEl>
                                          <p:spTgt spid="12"/>
                                        </p:tgtEl>
                                      </p:cBhvr>
                                    </p:animEffect>
                                    <p:anim calcmode="lin" valueType="num">
                                      <p:cBhvr>
                                        <p:cTn id="54" dur="650" fill="hold"/>
                                        <p:tgtEl>
                                          <p:spTgt spid="12"/>
                                        </p:tgtEl>
                                        <p:attrNameLst>
                                          <p:attrName>ppt_y</p:attrName>
                                        </p:attrNameLst>
                                      </p:cBhvr>
                                      <p:tavLst>
                                        <p:tav tm="0">
                                          <p:val>
                                            <p:strVal val="#ppt_y+0.06"/>
                                          </p:val>
                                        </p:tav>
                                        <p:tav tm="100000">
                                          <p:val>
                                            <p:strVal val="#ppt_y"/>
                                          </p:val>
                                        </p:tav>
                                      </p:tavLst>
                                    </p:anim>
                                  </p:childTnLst>
                                </p:cTn>
                              </p:par>
                              <p:par>
                                <p:cTn id="55" presetID="42" presetClass="entr" presetSubtype="0" fill="hold" nodeType="after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650"/>
                                        <p:tgtEl>
                                          <p:spTgt spid="13"/>
                                        </p:tgtEl>
                                      </p:cBhvr>
                                    </p:animEffect>
                                    <p:anim calcmode="lin" valueType="num">
                                      <p:cBhvr>
                                        <p:cTn id="58" dur="650" fill="hold"/>
                                        <p:tgtEl>
                                          <p:spTgt spid="13"/>
                                        </p:tgtEl>
                                        <p:attrNameLst>
                                          <p:attrName>ppt_y</p:attrName>
                                        </p:attrNameLst>
                                      </p:cBhvr>
                                      <p:tavLst>
                                        <p:tav tm="0">
                                          <p:val>
                                            <p:strVal val="#ppt_y+0.06"/>
                                          </p:val>
                                        </p:tav>
                                        <p:tav tm="100000">
                                          <p:val>
                                            <p:strVal val="#ppt_y"/>
                                          </p:val>
                                        </p:tav>
                                      </p:tavLst>
                                    </p:anim>
                                  </p:childTnLst>
                                </p:cTn>
                              </p:par>
                            </p:childTnLst>
                          </p:cTn>
                        </p:par>
                        <p:par>
                          <p:cTn id="64" fill="hold">
                            <p:stCondLst>
                              <p:cond delay="1200"/>
                            </p:stCondLst>
                            <p:childTnLst>
                              <p:par>
                                <p:cTn id="60" presetID="42" presetClass="entr" presetSubtype="0" fill="hold"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650"/>
                                        <p:tgtEl>
                                          <p:spTgt spid="14"/>
                                        </p:tgtEl>
                                      </p:cBhvr>
                                    </p:animEffect>
                                    <p:anim calcmode="lin" valueType="num">
                                      <p:cBhvr>
                                        <p:cTn id="63" dur="650" fill="hold"/>
                                        <p:tgtEl>
                                          <p:spTgt spid="14"/>
                                        </p:tgtEl>
                                        <p:attrNameLst>
                                          <p:attrName>ppt_y</p:attrName>
                                        </p:attrNameLst>
                                      </p:cBhvr>
                                      <p:tavLst>
                                        <p:tav tm="0">
                                          <p:val>
                                            <p:strVal val="#ppt_y+0.06"/>
                                          </p:val>
                                        </p:tav>
                                        <p:tav tm="100000">
                                          <p:val>
                                            <p:strVal val="#ppt_y"/>
                                          </p:val>
                                        </p:tav>
                                      </p:tavLst>
                                    </p:anim>
                                  </p:childTnLst>
                                </p:cTn>
                              </p:par>
                            </p:childTnLst>
                          </p:cTn>
                        </p:par>
                      </p:childTnLst>
                    </p:cTn>
                  </p:par>
                  <p:par>
                    <p:cTn id="65" fill="hold">
                      <p:stCondLst>
                        <p:cond delay="indefinite"/>
                      </p:stCondLst>
                      <p:childTnLst>
                        <p:par>
                          <p:cTn id="70"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50"/>
                                        <p:tgtEl>
                                          <p:spTgt spid="15"/>
                                        </p:tgtEl>
                                      </p:cBhvr>
                                    </p:animEffect>
                                    <p:anim calcmode="lin" valueType="num">
                                      <p:cBhvr>
                                        <p:cTn id="69" dur="650" fill="hold"/>
                                        <p:tgtEl>
                                          <p:spTgt spid="15"/>
                                        </p:tgtEl>
                                        <p:attrNameLst>
                                          <p:attrName>ppt_y</p:attrName>
                                        </p:attrNameLst>
                                      </p:cBhvr>
                                      <p:tavLst>
                                        <p:tav tm="0">
                                          <p:val>
                                            <p:strVal val="#ppt_y+0.06"/>
                                          </p:val>
                                        </p:tav>
                                        <p:tav tm="100000">
                                          <p:val>
                                            <p:strVal val="#ppt_y"/>
                                          </p:val>
                                        </p:tav>
                                      </p:tavLst>
                                    </p:anim>
                                  </p:childTnLst>
                                </p:cTn>
                              </p:par>
                            </p:childTnLst>
                          </p:cTn>
                        </p:par>
                        <p:par>
                          <p:cTn id="74" fill="hold">
                            <p:stCondLst>
                              <p:cond delay="650"/>
                            </p:stCondLst>
                            <p:childTnLst>
                              <p:par>
                                <p:cTn id="71" presetID="22" presetClass="entr" presetSubtype="8" fill="hold" nodeType="after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wipe(left)">
                                      <p:cBhvr>
                                        <p:cTn id="73" dur="700"/>
                                        <p:tgtEl>
                                          <p:spTgt spid="16"/>
                                        </p:tgtEl>
                                      </p:cBhvr>
                                    </p:animEffect>
                                  </p:childTnLst>
                                </p:cTn>
                              </p:par>
                            </p:childTnLst>
                          </p:cTn>
                        </p:par>
                      </p:childTnLst>
                    </p:cTn>
                  </p:par>
                  <p:par>
                    <p:cTn id="75" fill="hold">
                      <p:stCondLst>
                        <p:cond delay="indefinite"/>
                      </p:stCondLst>
                      <p:childTnLst>
                        <p:par>
                          <p:cTn id="81" fill="hold">
                            <p:stCondLst>
                              <p:cond delay="0"/>
                            </p:stCondLst>
                            <p:childTnLst>
                              <p:par>
                                <p:cTn id="76" presetID="53" presetClass="entr" presetSubtype="16" fill="hold" nodeType="clickEffect">
                                  <p:stCondLst>
                                    <p:cond delay="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550"/>
                                        <p:tgtEl>
                                          <p:spTgt spid="17"/>
                                        </p:tgtEl>
                                      </p:cBhvr>
                                    </p:animEffect>
                                    <p:anim calcmode="lin" valueType="num">
                                      <p:cBhvr>
                                        <p:cTn id="79" dur="550" fill="hold"/>
                                        <p:tgtEl>
                                          <p:spTgt spid="17"/>
                                        </p:tgtEl>
                                        <p:attrNameLst>
                                          <p:attrName>ppt_w</p:attrName>
                                        </p:attrNameLst>
                                      </p:cBhvr>
                                      <p:tavLst>
                                        <p:tav tm="0">
                                          <p:val>
                                            <p:strVal val="#ppt_w*0.8"/>
                                          </p:val>
                                        </p:tav>
                                        <p:tav tm="100000">
                                          <p:val>
                                            <p:strVal val="#ppt_w"/>
                                          </p:val>
                                        </p:tav>
                                      </p:tavLst>
                                    </p:anim>
                                    <p:anim calcmode="lin" valueType="num">
                                      <p:cBhvr>
                                        <p:cTn id="80" dur="550" fill="hold"/>
                                        <p:tgtEl>
                                          <p:spTgt spid="17"/>
                                        </p:tgtEl>
                                        <p:attrNameLst>
                                          <p:attrName>ppt_h</p:attrName>
                                        </p:attrNameLst>
                                      </p:cBhvr>
                                      <p:tavLst>
                                        <p:tav tm="0">
                                          <p:val>
                                            <p:strVal val="#ppt_h*0.8"/>
                                          </p:val>
                                        </p:tav>
                                        <p:tav tm="100000">
                                          <p:val>
                                            <p:strVal val="#ppt_h"/>
                                          </p:val>
                                        </p:tav>
                                      </p:tavLst>
                                    </p:anim>
                                  </p:childTnLst>
                                </p:cTn>
                              </p:par>
                            </p:childTnLst>
                          </p:cTn>
                        </p:par>
                        <p:par>
                          <p:cTn id="87" fill="hold">
                            <p:stCondLst>
                              <p:cond delay="550"/>
                            </p:stCondLst>
                            <p:childTnLst>
                              <p:par>
                                <p:cTn id="82" presetID="53" presetClass="entr" presetSubtype="16" fill="hold" nodeType="after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fade">
                                      <p:cBhvr>
                                        <p:cTn id="84" dur="550"/>
                                        <p:tgtEl>
                                          <p:spTgt spid="18"/>
                                        </p:tgtEl>
                                      </p:cBhvr>
                                    </p:animEffect>
                                    <p:anim calcmode="lin" valueType="num">
                                      <p:cBhvr>
                                        <p:cTn id="85" dur="550" fill="hold"/>
                                        <p:tgtEl>
                                          <p:spTgt spid="18"/>
                                        </p:tgtEl>
                                        <p:attrNameLst>
                                          <p:attrName>ppt_w</p:attrName>
                                        </p:attrNameLst>
                                      </p:cBhvr>
                                      <p:tavLst>
                                        <p:tav tm="0">
                                          <p:val>
                                            <p:strVal val="#ppt_w*0.8"/>
                                          </p:val>
                                        </p:tav>
                                        <p:tav tm="100000">
                                          <p:val>
                                            <p:strVal val="#ppt_w"/>
                                          </p:val>
                                        </p:tav>
                                      </p:tavLst>
                                    </p:anim>
                                    <p:anim calcmode="lin" valueType="num">
                                      <p:cBhvr>
                                        <p:cTn id="86" dur="550" fill="hold"/>
                                        <p:tgtEl>
                                          <p:spTgt spid="18"/>
                                        </p:tgtEl>
                                        <p:attrNameLst>
                                          <p:attrName>ppt_h</p:attrName>
                                        </p:attrNameLst>
                                      </p:cBhvr>
                                      <p:tavLst>
                                        <p:tav tm="0">
                                          <p:val>
                                            <p:strVal val="#ppt_h*0.8"/>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457200"/>
            <a:ext cx="7315200" cy="4572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Hyperparameters · every knob, what it does, which way to turn it</a:t>
            </a:r>
          </a:p>
        </p:txBody>
      </p:sp>
      <p:sp>
        <p:nvSpPr>
          <p:cNvPr id="3" name="TextBox 2"/>
          <p:cNvSpPr txBox="1"/>
          <p:nvPr/>
        </p:nvSpPr>
        <p:spPr>
          <a:xfrm>
            <a:off x="685800" y="777240"/>
            <a:ext cx="9144000" cy="914400"/>
          </a:xfrm>
          <a:prstGeom prst="rect">
            <a:avLst/>
          </a:prstGeom>
          <a:noFill/>
        </p:spPr>
        <p:txBody>
          <a:bodyPr wrap="square" lIns="0" rIns="0" tIns="0" bIns="0" anchor="t">
            <a:spAutoFit/>
          </a:bodyPr>
          <a:lstStyle/>
          <a:p>
            <a:pPr algn="l">
              <a:lnSpc>
                <a:spcPct val="88000"/>
              </a:lnSpc>
              <a:spcAft>
                <a:spcPts val="0"/>
              </a:spcAft>
            </a:pPr>
            <a:r>
              <a:rPr sz="4600" b="0" i="0">
                <a:solidFill>
                  <a:srgbClr val="262A33"/>
                </a:solidFill>
                <a:latin typeface="Bahnschrift Light"/>
              </a:rPr>
              <a:t>THE CONTROL PANEL</a:t>
            </a:r>
          </a:p>
        </p:txBody>
      </p:sp>
      <p:pic>
        <p:nvPicPr>
          <p:cNvPr id="4" name="Picture 3" descr="dots.png"/>
          <p:cNvPicPr>
            <a:picLocks noChangeAspect="1"/>
          </p:cNvPicPr>
          <p:nvPr/>
        </p:nvPicPr>
        <p:blipFill>
          <a:blip r:embed="rId2"/>
          <a:stretch>
            <a:fillRect/>
          </a:stretch>
        </p:blipFill>
        <p:spPr>
          <a:xfrm>
            <a:off x="9875520" y="411480"/>
            <a:ext cx="1645920" cy="868680"/>
          </a:xfrm>
          <a:prstGeom prst="rect">
            <a:avLst/>
          </a:prstGeom>
        </p:spPr>
      </p:pic>
      <p:sp>
        <p:nvSpPr>
          <p:cNvPr id="5" name="Rounded Rectangle 4"/>
          <p:cNvSpPr/>
          <p:nvPr/>
        </p:nvSpPr>
        <p:spPr>
          <a:xfrm>
            <a:off x="7452360" y="1481328"/>
            <a:ext cx="960120" cy="310896"/>
          </a:xfrm>
          <a:prstGeom prst="roundRect">
            <a:avLst>
              <a:gd name="adj" fmla="val 50000"/>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a:solidFill>
                  <a:srgbClr val="E5E4E2"/>
                </a:solidFill>
                <a:latin typeface="Segoe UI Semibold"/>
              </a:rPr>
              <a:t>POWER</a:t>
            </a:r>
          </a:p>
        </p:txBody>
      </p:sp>
      <p:sp>
        <p:nvSpPr>
          <p:cNvPr id="6" name="TextBox 5"/>
          <p:cNvSpPr txBox="1"/>
          <p:nvPr/>
        </p:nvSpPr>
        <p:spPr>
          <a:xfrm>
            <a:off x="8485632" y="1499616"/>
            <a:ext cx="1371600" cy="274320"/>
          </a:xfrm>
          <a:prstGeom prst="rect">
            <a:avLst/>
          </a:prstGeom>
          <a:noFill/>
        </p:spPr>
        <p:txBody>
          <a:bodyPr wrap="square" lIns="0" rIns="0" tIns="0" bIns="0" anchor="t">
            <a:spAutoFit/>
          </a:bodyPr>
          <a:lstStyle/>
          <a:p>
            <a:pPr algn="l">
              <a:spcAft>
                <a:spcPts val="0"/>
              </a:spcAft>
            </a:pPr>
            <a:r>
              <a:rPr sz="1000" b="0" i="0">
                <a:solidFill>
                  <a:srgbClr val="5B5F68"/>
                </a:solidFill>
                <a:latin typeface="Segoe UI"/>
              </a:rPr>
              <a:t>↑ = more complex</a:t>
            </a:r>
          </a:p>
        </p:txBody>
      </p:sp>
      <p:sp>
        <p:nvSpPr>
          <p:cNvPr id="7" name="Rounded Rectangle 6"/>
          <p:cNvSpPr/>
          <p:nvPr/>
        </p:nvSpPr>
        <p:spPr>
          <a:xfrm>
            <a:off x="9738360" y="1481328"/>
            <a:ext cx="960120" cy="310896"/>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a:solidFill>
                  <a:srgbClr val="E5E4E2"/>
                </a:solidFill>
                <a:latin typeface="Segoe UI Semibold"/>
              </a:rPr>
              <a:t>BRAKE</a:t>
            </a:r>
          </a:p>
        </p:txBody>
      </p:sp>
      <p:sp>
        <p:nvSpPr>
          <p:cNvPr id="8" name="TextBox 7"/>
          <p:cNvSpPr txBox="1"/>
          <p:nvPr/>
        </p:nvSpPr>
        <p:spPr>
          <a:xfrm>
            <a:off x="10771632" y="1499616"/>
            <a:ext cx="1097280" cy="274320"/>
          </a:xfrm>
          <a:prstGeom prst="rect">
            <a:avLst/>
          </a:prstGeom>
          <a:noFill/>
        </p:spPr>
        <p:txBody>
          <a:bodyPr wrap="square" lIns="0" rIns="0" tIns="0" bIns="0" anchor="t">
            <a:spAutoFit/>
          </a:bodyPr>
          <a:lstStyle/>
          <a:p>
            <a:pPr algn="l">
              <a:spcAft>
                <a:spcPts val="0"/>
              </a:spcAft>
            </a:pPr>
            <a:r>
              <a:rPr sz="1000" b="0" i="0">
                <a:solidFill>
                  <a:srgbClr val="5B5F68"/>
                </a:solidFill>
                <a:latin typeface="Segoe UI"/>
              </a:rPr>
              <a:t>↑ = simpler</a:t>
            </a:r>
          </a:p>
        </p:txBody>
      </p:sp>
      <p:graphicFrame>
        <p:nvGraphicFramePr>
          <p:cNvPr id="9" name="Table 8"/>
          <p:cNvGraphicFramePr>
            <a:graphicFrameLocks noGrp="1"/>
          </p:cNvGraphicFramePr>
          <p:nvPr/>
        </p:nvGraphicFramePr>
        <p:xfrm>
          <a:off x="548640" y="1920240"/>
          <a:ext cx="11064240" cy="4407408"/>
        </p:xfrm>
        <a:graphic>
          <a:graphicData uri="http://schemas.openxmlformats.org/drawingml/2006/table">
            <a:tbl>
              <a:tblPr firstRow="1" bandRow="1">
                <a:tableStyleId>{5C22544A-7EE6-4342-B048-85BDC9FD1C3A}</a:tableStyleId>
              </a:tblPr>
              <a:tblGrid>
                <a:gridCol w="2011680"/>
                <a:gridCol w="960120"/>
                <a:gridCol w="777240"/>
                <a:gridCol w="2788920"/>
                <a:gridCol w="3108960"/>
                <a:gridCol w="1417320"/>
              </a:tblGrid>
              <a:tr h="384048">
                <a:tc>
                  <a:txBody>
                    <a:bodyPr/>
                    <a:lstStyle/>
                    <a:p>
                      <a:r>
                        <a:rPr sz="1200">
                          <a:solidFill>
                            <a:srgbClr val="E5E4E2"/>
                          </a:solidFill>
                          <a:latin typeface="Segoe UI Semibold"/>
                        </a:rPr>
                        <a:t>Hyperparameter</a:t>
                      </a:r>
                    </a:p>
                  </a:txBody>
                  <a:tcPr anchor="ctr">
                    <a:solidFill>
                      <a:srgbClr val="262A33"/>
                    </a:solidFill>
                  </a:tcPr>
                </a:tc>
                <a:tc>
                  <a:txBody>
                    <a:bodyPr/>
                    <a:lstStyle/>
                    <a:p>
                      <a:r>
                        <a:rPr sz="1200">
                          <a:solidFill>
                            <a:srgbClr val="E5E4E2"/>
                          </a:solidFill>
                          <a:latin typeface="Segoe UI Semibold"/>
                        </a:rPr>
                        <a:t>Type</a:t>
                      </a:r>
                    </a:p>
                  </a:txBody>
                  <a:tcPr anchor="ctr">
                    <a:solidFill>
                      <a:srgbClr val="262A33"/>
                    </a:solidFill>
                  </a:tcPr>
                </a:tc>
                <a:tc>
                  <a:txBody>
                    <a:bodyPr/>
                    <a:lstStyle/>
                    <a:p>
                      <a:r>
                        <a:rPr sz="1200">
                          <a:solidFill>
                            <a:srgbClr val="E5E4E2"/>
                          </a:solidFill>
                          <a:latin typeface="Segoe UI Semibold"/>
                        </a:rPr>
                        <a:t>Default</a:t>
                      </a:r>
                    </a:p>
                  </a:txBody>
                  <a:tcPr anchor="ctr">
                    <a:solidFill>
                      <a:srgbClr val="262A33"/>
                    </a:solidFill>
                  </a:tcPr>
                </a:tc>
                <a:tc>
                  <a:txBody>
                    <a:bodyPr/>
                    <a:lstStyle/>
                    <a:p>
                      <a:r>
                        <a:rPr sz="1200">
                          <a:solidFill>
                            <a:srgbClr val="E5E4E2"/>
                          </a:solidFill>
                          <a:latin typeface="Segoe UI Semibold"/>
                        </a:rPr>
                        <a:t>What it controls</a:t>
                      </a:r>
                    </a:p>
                  </a:txBody>
                  <a:tcPr anchor="ctr">
                    <a:solidFill>
                      <a:srgbClr val="262A33"/>
                    </a:solidFill>
                  </a:tcPr>
                </a:tc>
                <a:tc>
                  <a:txBody>
                    <a:bodyPr/>
                    <a:lstStyle/>
                    <a:p>
                      <a:r>
                        <a:rPr sz="1200">
                          <a:solidFill>
                            <a:srgbClr val="E5E4E2"/>
                          </a:solidFill>
                          <a:latin typeface="Segoe UI Semibold"/>
                        </a:rPr>
                        <a:t>Turn it UP →</a:t>
                      </a:r>
                    </a:p>
                  </a:txBody>
                  <a:tcPr anchor="ctr">
                    <a:solidFill>
                      <a:srgbClr val="262A33"/>
                    </a:solidFill>
                  </a:tcPr>
                </a:tc>
                <a:tc>
                  <a:txBody>
                    <a:bodyPr/>
                    <a:lstStyle/>
                    <a:p>
                      <a:r>
                        <a:rPr sz="1200">
                          <a:solidFill>
                            <a:srgbClr val="E5E4E2"/>
                          </a:solidFill>
                          <a:latin typeface="Segoe UI Semibold"/>
                        </a:rPr>
                        <a:t>Good range</a:t>
                      </a:r>
                    </a:p>
                  </a:txBody>
                  <a:tcPr anchor="ctr">
                    <a:solidFill>
                      <a:srgbClr val="262A33"/>
                    </a:solidFill>
                  </a:tcPr>
                </a:tc>
              </a:tr>
              <a:tr h="402336">
                <a:tc>
                  <a:txBody>
                    <a:bodyPr wrap="square"/>
                    <a:lstStyle/>
                    <a:p>
                      <a:r>
                        <a:rPr sz="1200">
                          <a:solidFill>
                            <a:srgbClr val="262A33"/>
                          </a:solidFill>
                          <a:latin typeface="Consolas"/>
                        </a:rPr>
                        <a:t>max_depth</a:t>
                      </a:r>
                    </a:p>
                  </a:txBody>
                  <a:tcPr marT="18288" marB="18288" anchor="ctr">
                    <a:solidFill>
                      <a:srgbClr val="ECDFDA"/>
                    </a:solidFill>
                  </a:tcPr>
                </a:tc>
                <a:tc>
                  <a:txBody>
                    <a:bodyPr wrap="square"/>
                    <a:lstStyle/>
                    <a:p>
                      <a:pPr algn="ctr"/>
                      <a:r>
                        <a:rPr sz="1150">
                          <a:solidFill>
                            <a:srgbClr val="E5E4E2"/>
                          </a:solidFill>
                          <a:latin typeface="Segoe UI Semibold"/>
                        </a:rPr>
                        <a:t>POWER</a:t>
                      </a:r>
                    </a:p>
                  </a:txBody>
                  <a:tcPr marT="18288" marB="18288" anchor="ctr">
                    <a:solidFill>
                      <a:srgbClr val="B5543A"/>
                    </a:solidFill>
                  </a:tcPr>
                </a:tc>
                <a:tc>
                  <a:txBody>
                    <a:bodyPr wrap="square"/>
                    <a:lstStyle/>
                    <a:p>
                      <a:pPr algn="ctr"/>
                      <a:r>
                        <a:rPr sz="1150">
                          <a:solidFill>
                            <a:srgbClr val="262A33"/>
                          </a:solidFill>
                          <a:latin typeface="Segoe UI Semibold"/>
                        </a:rPr>
                        <a:t>6</a:t>
                      </a:r>
                    </a:p>
                  </a:txBody>
                  <a:tcPr marT="18288" marB="18288" anchor="ctr">
                    <a:solidFill>
                      <a:srgbClr val="ECDFDA"/>
                    </a:solidFill>
                  </a:tcPr>
                </a:tc>
                <a:tc>
                  <a:txBody>
                    <a:bodyPr wrap="square"/>
                    <a:lstStyle/>
                    <a:p>
                      <a:r>
                        <a:rPr sz="1150">
                          <a:solidFill>
                            <a:srgbClr val="262A33"/>
                          </a:solidFill>
                          <a:latin typeface="Segoe UI"/>
                        </a:rPr>
                        <a:t>How deep each tree can grow</a:t>
                      </a:r>
                    </a:p>
                  </a:txBody>
                  <a:tcPr marT="18288" marB="18288" anchor="ctr">
                    <a:solidFill>
                      <a:srgbClr val="ECDFDA"/>
                    </a:solidFill>
                  </a:tcPr>
                </a:tc>
                <a:tc>
                  <a:txBody>
                    <a:bodyPr wrap="square"/>
                    <a:lstStyle/>
                    <a:p>
                      <a:r>
                        <a:rPr sz="1150">
                          <a:solidFill>
                            <a:srgbClr val="B5543A"/>
                          </a:solidFill>
                          <a:latin typeface="Segoe UI"/>
                        </a:rPr>
                        <a:t>More interactions, but overfits faster</a:t>
                      </a:r>
                    </a:p>
                  </a:txBody>
                  <a:tcPr marT="18288" marB="18288" anchor="ctr">
                    <a:solidFill>
                      <a:srgbClr val="ECDFDA"/>
                    </a:solidFill>
                  </a:tcPr>
                </a:tc>
                <a:tc>
                  <a:txBody>
                    <a:bodyPr wrap="square"/>
                    <a:lstStyle/>
                    <a:p>
                      <a:r>
                        <a:rPr sz="1150">
                          <a:solidFill>
                            <a:srgbClr val="262A33"/>
                          </a:solidFill>
                          <a:latin typeface="Segoe UI"/>
                        </a:rPr>
                        <a:t>3 – 8</a:t>
                      </a:r>
                    </a:p>
                  </a:txBody>
                  <a:tcPr marT="18288" marB="18288" anchor="ctr">
                    <a:solidFill>
                      <a:srgbClr val="ECDFDA"/>
                    </a:solidFill>
                  </a:tcPr>
                </a:tc>
              </a:tr>
              <a:tr h="402336">
                <a:tc>
                  <a:txBody>
                    <a:bodyPr wrap="square"/>
                    <a:lstStyle/>
                    <a:p>
                      <a:r>
                        <a:rPr sz="1200">
                          <a:solidFill>
                            <a:srgbClr val="262A33"/>
                          </a:solidFill>
                          <a:latin typeface="Consolas"/>
                        </a:rPr>
                        <a:t>n_estimators</a:t>
                      </a:r>
                    </a:p>
                  </a:txBody>
                  <a:tcPr marT="18288" marB="18288" anchor="ctr">
                    <a:solidFill>
                      <a:srgbClr val="ECDFDA"/>
                    </a:solidFill>
                  </a:tcPr>
                </a:tc>
                <a:tc>
                  <a:txBody>
                    <a:bodyPr wrap="square"/>
                    <a:lstStyle/>
                    <a:p>
                      <a:pPr algn="ctr"/>
                      <a:r>
                        <a:rPr sz="1150">
                          <a:solidFill>
                            <a:srgbClr val="E5E4E2"/>
                          </a:solidFill>
                          <a:latin typeface="Segoe UI Semibold"/>
                        </a:rPr>
                        <a:t>POWER</a:t>
                      </a:r>
                    </a:p>
                  </a:txBody>
                  <a:tcPr marT="18288" marB="18288" anchor="ctr">
                    <a:solidFill>
                      <a:srgbClr val="B5543A"/>
                    </a:solidFill>
                  </a:tcPr>
                </a:tc>
                <a:tc>
                  <a:txBody>
                    <a:bodyPr wrap="square"/>
                    <a:lstStyle/>
                    <a:p>
                      <a:pPr algn="ctr"/>
                      <a:r>
                        <a:rPr sz="1150">
                          <a:solidFill>
                            <a:srgbClr val="262A33"/>
                          </a:solidFill>
                          <a:latin typeface="Segoe UI Semibold"/>
                        </a:rPr>
                        <a:t>100</a:t>
                      </a:r>
                    </a:p>
                  </a:txBody>
                  <a:tcPr marT="18288" marB="18288" anchor="ctr">
                    <a:solidFill>
                      <a:srgbClr val="ECDFDA"/>
                    </a:solidFill>
                  </a:tcPr>
                </a:tc>
                <a:tc>
                  <a:txBody>
                    <a:bodyPr wrap="square"/>
                    <a:lstStyle/>
                    <a:p>
                      <a:r>
                        <a:rPr sz="1150">
                          <a:solidFill>
                            <a:srgbClr val="262A33"/>
                          </a:solidFill>
                          <a:latin typeface="Segoe UI"/>
                        </a:rPr>
                        <a:t>How many trees are added</a:t>
                      </a:r>
                    </a:p>
                  </a:txBody>
                  <a:tcPr marT="18288" marB="18288" anchor="ctr">
                    <a:solidFill>
                      <a:srgbClr val="ECDFDA"/>
                    </a:solidFill>
                  </a:tcPr>
                </a:tc>
                <a:tc>
                  <a:txBody>
                    <a:bodyPr wrap="square"/>
                    <a:lstStyle/>
                    <a:p>
                      <a:r>
                        <a:rPr sz="1150">
                          <a:solidFill>
                            <a:srgbClr val="B5543A"/>
                          </a:solidFill>
                          <a:latin typeface="Segoe UI"/>
                        </a:rPr>
                        <a:t>More capacity: pair it with early stopping</a:t>
                      </a:r>
                    </a:p>
                  </a:txBody>
                  <a:tcPr marT="18288" marB="18288" anchor="ctr">
                    <a:solidFill>
                      <a:srgbClr val="ECDFDA"/>
                    </a:solidFill>
                  </a:tcPr>
                </a:tc>
                <a:tc>
                  <a:txBody>
                    <a:bodyPr wrap="square"/>
                    <a:lstStyle/>
                    <a:p>
                      <a:r>
                        <a:rPr sz="1150">
                          <a:solidFill>
                            <a:srgbClr val="262A33"/>
                          </a:solidFill>
                          <a:latin typeface="Segoe UI"/>
                        </a:rPr>
                        <a:t>100 – 5000</a:t>
                      </a:r>
                    </a:p>
                  </a:txBody>
                  <a:tcPr marT="18288" marB="18288" anchor="ctr">
                    <a:solidFill>
                      <a:srgbClr val="ECDFDA"/>
                    </a:solidFill>
                  </a:tcPr>
                </a:tc>
              </a:tr>
              <a:tr h="402336">
                <a:tc>
                  <a:txBody>
                    <a:bodyPr wrap="square"/>
                    <a:lstStyle/>
                    <a:p>
                      <a:r>
                        <a:rPr sz="1200">
                          <a:solidFill>
                            <a:srgbClr val="262A33"/>
                          </a:solidFill>
                          <a:latin typeface="Consolas"/>
                        </a:rPr>
                        <a:t>learning_rate (η)</a:t>
                      </a:r>
                    </a:p>
                  </a:txBody>
                  <a:tcPr marT="18288" marB="18288" anchor="ctr">
                    <a:solidFill>
                      <a:srgbClr val="ECDFDA"/>
                    </a:solidFill>
                  </a:tcPr>
                </a:tc>
                <a:tc>
                  <a:txBody>
                    <a:bodyPr wrap="square"/>
                    <a:lstStyle/>
                    <a:p>
                      <a:pPr algn="ctr"/>
                      <a:r>
                        <a:rPr sz="1150">
                          <a:solidFill>
                            <a:srgbClr val="E5E4E2"/>
                          </a:solidFill>
                          <a:latin typeface="Segoe UI Semibold"/>
                        </a:rPr>
                        <a:t>POWER</a:t>
                      </a:r>
                    </a:p>
                  </a:txBody>
                  <a:tcPr marT="18288" marB="18288" anchor="ctr">
                    <a:solidFill>
                      <a:srgbClr val="B5543A"/>
                    </a:solidFill>
                  </a:tcPr>
                </a:tc>
                <a:tc>
                  <a:txBody>
                    <a:bodyPr wrap="square"/>
                    <a:lstStyle/>
                    <a:p>
                      <a:pPr algn="ctr"/>
                      <a:r>
                        <a:rPr sz="1150">
                          <a:solidFill>
                            <a:srgbClr val="262A33"/>
                          </a:solidFill>
                          <a:latin typeface="Segoe UI Semibold"/>
                        </a:rPr>
                        <a:t>0.3</a:t>
                      </a:r>
                    </a:p>
                  </a:txBody>
                  <a:tcPr marT="18288" marB="18288" anchor="ctr">
                    <a:solidFill>
                      <a:srgbClr val="ECDFDA"/>
                    </a:solidFill>
                  </a:tcPr>
                </a:tc>
                <a:tc>
                  <a:txBody>
                    <a:bodyPr wrap="square"/>
                    <a:lstStyle/>
                    <a:p>
                      <a:r>
                        <a:rPr sz="1150">
                          <a:solidFill>
                            <a:srgbClr val="262A33"/>
                          </a:solidFill>
                          <a:latin typeface="Segoe UI"/>
                        </a:rPr>
                        <a:t>Size of each tree's step</a:t>
                      </a:r>
                    </a:p>
                  </a:txBody>
                  <a:tcPr marT="18288" marB="18288" anchor="ctr">
                    <a:solidFill>
                      <a:srgbClr val="ECDFDA"/>
                    </a:solidFill>
                  </a:tcPr>
                </a:tc>
                <a:tc>
                  <a:txBody>
                    <a:bodyPr wrap="square"/>
                    <a:lstStyle/>
                    <a:p>
                      <a:r>
                        <a:rPr sz="1150">
                          <a:solidFill>
                            <a:srgbClr val="B5543A"/>
                          </a:solidFill>
                          <a:latin typeface="Segoe UI"/>
                        </a:rPr>
                        <a:t>Learns faster, but less stable</a:t>
                      </a:r>
                    </a:p>
                  </a:txBody>
                  <a:tcPr marT="18288" marB="18288" anchor="ctr">
                    <a:solidFill>
                      <a:srgbClr val="ECDFDA"/>
                    </a:solidFill>
                  </a:tcPr>
                </a:tc>
                <a:tc>
                  <a:txBody>
                    <a:bodyPr wrap="square"/>
                    <a:lstStyle/>
                    <a:p>
                      <a:r>
                        <a:rPr sz="1150">
                          <a:solidFill>
                            <a:srgbClr val="262A33"/>
                          </a:solidFill>
                          <a:latin typeface="Segoe UI"/>
                        </a:rPr>
                        <a:t>0.01 – 0.1</a:t>
                      </a:r>
                    </a:p>
                  </a:txBody>
                  <a:tcPr marT="18288" marB="18288" anchor="ctr">
                    <a:solidFill>
                      <a:srgbClr val="ECDFDA"/>
                    </a:solidFill>
                  </a:tcPr>
                </a:tc>
              </a:tr>
              <a:tr h="402336">
                <a:tc>
                  <a:txBody>
                    <a:bodyPr wrap="square"/>
                    <a:lstStyle/>
                    <a:p>
                      <a:r>
                        <a:rPr sz="1200">
                          <a:solidFill>
                            <a:srgbClr val="262A33"/>
                          </a:solidFill>
                          <a:latin typeface="Consolas"/>
                        </a:rPr>
                        <a:t>min_child_weight</a:t>
                      </a:r>
                    </a:p>
                  </a:txBody>
                  <a:tcPr marT="18288" marB="18288" anchor="ctr">
                    <a:solidFill>
                      <a:srgbClr val="DAD9D6"/>
                    </a:solidFill>
                  </a:tcPr>
                </a:tc>
                <a:tc>
                  <a:txBody>
                    <a:bodyPr wrap="square"/>
                    <a:lstStyle/>
                    <a:p>
                      <a:pPr algn="ctr"/>
                      <a:r>
                        <a:rPr sz="1150">
                          <a:solidFill>
                            <a:srgbClr val="E5E4E2"/>
                          </a:solidFill>
                          <a:latin typeface="Segoe UI Semibold"/>
                        </a:rPr>
                        <a:t>BRAKE</a:t>
                      </a:r>
                    </a:p>
                  </a:txBody>
                  <a:tcPr marT="18288" marB="18288" anchor="ctr">
                    <a:solidFill>
                      <a:srgbClr val="262A33"/>
                    </a:solidFill>
                  </a:tcPr>
                </a:tc>
                <a:tc>
                  <a:txBody>
                    <a:bodyPr wrap="square"/>
                    <a:lstStyle/>
                    <a:p>
                      <a:pPr algn="ctr"/>
                      <a:r>
                        <a:rPr sz="1150">
                          <a:solidFill>
                            <a:srgbClr val="262A33"/>
                          </a:solidFill>
                          <a:latin typeface="Segoe UI Semibold"/>
                        </a:rPr>
                        <a:t>1</a:t>
                      </a:r>
                    </a:p>
                  </a:txBody>
                  <a:tcPr marT="18288" marB="18288" anchor="ctr">
                    <a:solidFill>
                      <a:srgbClr val="DAD9D6"/>
                    </a:solidFill>
                  </a:tcPr>
                </a:tc>
                <a:tc>
                  <a:txBody>
                    <a:bodyPr wrap="square"/>
                    <a:lstStyle/>
                    <a:p>
                      <a:r>
                        <a:rPr sz="1150">
                          <a:solidFill>
                            <a:srgbClr val="262A33"/>
                          </a:solidFill>
                          <a:latin typeface="Segoe UI"/>
                        </a:rPr>
                        <a:t>Minimum sum of h in a leaf</a:t>
                      </a:r>
                    </a:p>
                  </a:txBody>
                  <a:tcPr marT="18288" marB="18288" anchor="ctr">
                    <a:solidFill>
                      <a:srgbClr val="DAD9D6"/>
                    </a:solidFill>
                  </a:tcPr>
                </a:tc>
                <a:tc>
                  <a:txBody>
                    <a:bodyPr wrap="square"/>
                    <a:lstStyle/>
                    <a:p>
                      <a:r>
                        <a:rPr sz="1150">
                          <a:solidFill>
                            <a:srgbClr val="262A33"/>
                          </a:solidFill>
                          <a:latin typeface="Segoe UI"/>
                        </a:rPr>
                        <a:t>Refuses tiny, noisy leaves</a:t>
                      </a:r>
                    </a:p>
                  </a:txBody>
                  <a:tcPr marT="18288" marB="18288" anchor="ctr">
                    <a:solidFill>
                      <a:srgbClr val="DAD9D6"/>
                    </a:solidFill>
                  </a:tcPr>
                </a:tc>
                <a:tc>
                  <a:txBody>
                    <a:bodyPr wrap="square"/>
                    <a:lstStyle/>
                    <a:p>
                      <a:r>
                        <a:rPr sz="1150">
                          <a:solidFill>
                            <a:srgbClr val="262A33"/>
                          </a:solidFill>
                          <a:latin typeface="Segoe UI"/>
                        </a:rPr>
                        <a:t>1 – 10+</a:t>
                      </a:r>
                    </a:p>
                  </a:txBody>
                  <a:tcPr marT="18288" marB="18288" anchor="ctr">
                    <a:solidFill>
                      <a:srgbClr val="DAD9D6"/>
                    </a:solidFill>
                  </a:tcPr>
                </a:tc>
              </a:tr>
              <a:tr h="402336">
                <a:tc>
                  <a:txBody>
                    <a:bodyPr wrap="square"/>
                    <a:lstStyle/>
                    <a:p>
                      <a:r>
                        <a:rPr sz="1200">
                          <a:solidFill>
                            <a:srgbClr val="262A33"/>
                          </a:solidFill>
                          <a:latin typeface="Consolas"/>
                        </a:rPr>
                        <a:t>gamma (γ)</a:t>
                      </a:r>
                    </a:p>
                  </a:txBody>
                  <a:tcPr marT="18288" marB="18288" anchor="ctr">
                    <a:solidFill>
                      <a:srgbClr val="E5E4E2"/>
                    </a:solidFill>
                  </a:tcPr>
                </a:tc>
                <a:tc>
                  <a:txBody>
                    <a:bodyPr wrap="square"/>
                    <a:lstStyle/>
                    <a:p>
                      <a:pPr algn="ctr"/>
                      <a:r>
                        <a:rPr sz="1150">
                          <a:solidFill>
                            <a:srgbClr val="E5E4E2"/>
                          </a:solidFill>
                          <a:latin typeface="Segoe UI Semibold"/>
                        </a:rPr>
                        <a:t>BRAKE</a:t>
                      </a:r>
                    </a:p>
                  </a:txBody>
                  <a:tcPr marT="18288" marB="18288" anchor="ctr">
                    <a:solidFill>
                      <a:srgbClr val="262A33"/>
                    </a:solidFill>
                  </a:tcPr>
                </a:tc>
                <a:tc>
                  <a:txBody>
                    <a:bodyPr wrap="square"/>
                    <a:lstStyle/>
                    <a:p>
                      <a:pPr algn="ctr"/>
                      <a:r>
                        <a:rPr sz="1150">
                          <a:solidFill>
                            <a:srgbClr val="262A33"/>
                          </a:solidFill>
                          <a:latin typeface="Segoe UI Semibold"/>
                        </a:rPr>
                        <a:t>0</a:t>
                      </a:r>
                    </a:p>
                  </a:txBody>
                  <a:tcPr marT="18288" marB="18288" anchor="ctr">
                    <a:solidFill>
                      <a:srgbClr val="E5E4E2"/>
                    </a:solidFill>
                  </a:tcPr>
                </a:tc>
                <a:tc>
                  <a:txBody>
                    <a:bodyPr wrap="square"/>
                    <a:lstStyle/>
                    <a:p>
                      <a:r>
                        <a:rPr sz="1150">
                          <a:solidFill>
                            <a:srgbClr val="262A33"/>
                          </a:solidFill>
                          <a:latin typeface="Segoe UI"/>
                        </a:rPr>
                        <a:t>Minimum gain to make a split</a:t>
                      </a:r>
                    </a:p>
                  </a:txBody>
                  <a:tcPr marT="18288" marB="18288" anchor="ctr">
                    <a:solidFill>
                      <a:srgbClr val="E5E4E2"/>
                    </a:solidFill>
                  </a:tcPr>
                </a:tc>
                <a:tc>
                  <a:txBody>
                    <a:bodyPr wrap="square"/>
                    <a:lstStyle/>
                    <a:p>
                      <a:r>
                        <a:rPr sz="1150">
                          <a:solidFill>
                            <a:srgbClr val="262A33"/>
                          </a:solidFill>
                          <a:latin typeface="Segoe UI"/>
                        </a:rPr>
                        <a:t>Fewer splits (pruning)</a:t>
                      </a:r>
                    </a:p>
                  </a:txBody>
                  <a:tcPr marT="18288" marB="18288" anchor="ctr">
                    <a:solidFill>
                      <a:srgbClr val="E5E4E2"/>
                    </a:solidFill>
                  </a:tcPr>
                </a:tc>
                <a:tc>
                  <a:txBody>
                    <a:bodyPr wrap="square"/>
                    <a:lstStyle/>
                    <a:p>
                      <a:r>
                        <a:rPr sz="1150">
                          <a:solidFill>
                            <a:srgbClr val="262A33"/>
                          </a:solidFill>
                          <a:latin typeface="Segoe UI"/>
                        </a:rPr>
                        <a:t>0 – 5</a:t>
                      </a:r>
                    </a:p>
                  </a:txBody>
                  <a:tcPr marT="18288" marB="18288" anchor="ctr">
                    <a:solidFill>
                      <a:srgbClr val="E5E4E2"/>
                    </a:solidFill>
                  </a:tcPr>
                </a:tc>
              </a:tr>
              <a:tr h="402336">
                <a:tc>
                  <a:txBody>
                    <a:bodyPr wrap="square"/>
                    <a:lstStyle/>
                    <a:p>
                      <a:r>
                        <a:rPr sz="1200">
                          <a:solidFill>
                            <a:srgbClr val="262A33"/>
                          </a:solidFill>
                          <a:latin typeface="Consolas"/>
                        </a:rPr>
                        <a:t>reg_lambda (λ)</a:t>
                      </a:r>
                    </a:p>
                  </a:txBody>
                  <a:tcPr marT="18288" marB="18288" anchor="ctr">
                    <a:solidFill>
                      <a:srgbClr val="DAD9D6"/>
                    </a:solidFill>
                  </a:tcPr>
                </a:tc>
                <a:tc>
                  <a:txBody>
                    <a:bodyPr wrap="square"/>
                    <a:lstStyle/>
                    <a:p>
                      <a:pPr algn="ctr"/>
                      <a:r>
                        <a:rPr sz="1150">
                          <a:solidFill>
                            <a:srgbClr val="E5E4E2"/>
                          </a:solidFill>
                          <a:latin typeface="Segoe UI Semibold"/>
                        </a:rPr>
                        <a:t>BRAKE</a:t>
                      </a:r>
                    </a:p>
                  </a:txBody>
                  <a:tcPr marT="18288" marB="18288" anchor="ctr">
                    <a:solidFill>
                      <a:srgbClr val="262A33"/>
                    </a:solidFill>
                  </a:tcPr>
                </a:tc>
                <a:tc>
                  <a:txBody>
                    <a:bodyPr wrap="square"/>
                    <a:lstStyle/>
                    <a:p>
                      <a:pPr algn="ctr"/>
                      <a:r>
                        <a:rPr sz="1150">
                          <a:solidFill>
                            <a:srgbClr val="262A33"/>
                          </a:solidFill>
                          <a:latin typeface="Segoe UI Semibold"/>
                        </a:rPr>
                        <a:t>1</a:t>
                      </a:r>
                    </a:p>
                  </a:txBody>
                  <a:tcPr marT="18288" marB="18288" anchor="ctr">
                    <a:solidFill>
                      <a:srgbClr val="DAD9D6"/>
                    </a:solidFill>
                  </a:tcPr>
                </a:tc>
                <a:tc>
                  <a:txBody>
                    <a:bodyPr wrap="square"/>
                    <a:lstStyle/>
                    <a:p>
                      <a:r>
                        <a:rPr sz="1150">
                          <a:solidFill>
                            <a:srgbClr val="262A33"/>
                          </a:solidFill>
                          <a:latin typeface="Segoe UI"/>
                        </a:rPr>
                        <a:t>L2 penalty on leaf values</a:t>
                      </a:r>
                    </a:p>
                  </a:txBody>
                  <a:tcPr marT="18288" marB="18288" anchor="ctr">
                    <a:solidFill>
                      <a:srgbClr val="DAD9D6"/>
                    </a:solidFill>
                  </a:tcPr>
                </a:tc>
                <a:tc>
                  <a:txBody>
                    <a:bodyPr wrap="square"/>
                    <a:lstStyle/>
                    <a:p>
                      <a:r>
                        <a:rPr sz="1150">
                          <a:solidFill>
                            <a:srgbClr val="262A33"/>
                          </a:solidFill>
                          <a:latin typeface="Segoe UI"/>
                        </a:rPr>
                        <a:t>Smaller, more cautious leaf values</a:t>
                      </a:r>
                    </a:p>
                  </a:txBody>
                  <a:tcPr marT="18288" marB="18288" anchor="ctr">
                    <a:solidFill>
                      <a:srgbClr val="DAD9D6"/>
                    </a:solidFill>
                  </a:tcPr>
                </a:tc>
                <a:tc>
                  <a:txBody>
                    <a:bodyPr wrap="square"/>
                    <a:lstStyle/>
                    <a:p>
                      <a:r>
                        <a:rPr sz="1150">
                          <a:solidFill>
                            <a:srgbClr val="262A33"/>
                          </a:solidFill>
                          <a:latin typeface="Segoe UI"/>
                        </a:rPr>
                        <a:t>1 – 10</a:t>
                      </a:r>
                    </a:p>
                  </a:txBody>
                  <a:tcPr marT="18288" marB="18288" anchor="ctr">
                    <a:solidFill>
                      <a:srgbClr val="DAD9D6"/>
                    </a:solidFill>
                  </a:tcPr>
                </a:tc>
              </a:tr>
              <a:tr h="402336">
                <a:tc>
                  <a:txBody>
                    <a:bodyPr wrap="square"/>
                    <a:lstStyle/>
                    <a:p>
                      <a:r>
                        <a:rPr sz="1200">
                          <a:solidFill>
                            <a:srgbClr val="262A33"/>
                          </a:solidFill>
                          <a:latin typeface="Consolas"/>
                        </a:rPr>
                        <a:t>reg_alpha (α)</a:t>
                      </a:r>
                    </a:p>
                  </a:txBody>
                  <a:tcPr marT="18288" marB="18288" anchor="ctr">
                    <a:solidFill>
                      <a:srgbClr val="E5E4E2"/>
                    </a:solidFill>
                  </a:tcPr>
                </a:tc>
                <a:tc>
                  <a:txBody>
                    <a:bodyPr wrap="square"/>
                    <a:lstStyle/>
                    <a:p>
                      <a:pPr algn="ctr"/>
                      <a:r>
                        <a:rPr sz="1150">
                          <a:solidFill>
                            <a:srgbClr val="E5E4E2"/>
                          </a:solidFill>
                          <a:latin typeface="Segoe UI Semibold"/>
                        </a:rPr>
                        <a:t>BRAKE</a:t>
                      </a:r>
                    </a:p>
                  </a:txBody>
                  <a:tcPr marT="18288" marB="18288" anchor="ctr">
                    <a:solidFill>
                      <a:srgbClr val="262A33"/>
                    </a:solidFill>
                  </a:tcPr>
                </a:tc>
                <a:tc>
                  <a:txBody>
                    <a:bodyPr wrap="square"/>
                    <a:lstStyle/>
                    <a:p>
                      <a:pPr algn="ctr"/>
                      <a:r>
                        <a:rPr sz="1150">
                          <a:solidFill>
                            <a:srgbClr val="262A33"/>
                          </a:solidFill>
                          <a:latin typeface="Segoe UI Semibold"/>
                        </a:rPr>
                        <a:t>0</a:t>
                      </a:r>
                    </a:p>
                  </a:txBody>
                  <a:tcPr marT="18288" marB="18288" anchor="ctr">
                    <a:solidFill>
                      <a:srgbClr val="E5E4E2"/>
                    </a:solidFill>
                  </a:tcPr>
                </a:tc>
                <a:tc>
                  <a:txBody>
                    <a:bodyPr wrap="square"/>
                    <a:lstStyle/>
                    <a:p>
                      <a:r>
                        <a:rPr sz="1150">
                          <a:solidFill>
                            <a:srgbClr val="262A33"/>
                          </a:solidFill>
                          <a:latin typeface="Segoe UI"/>
                        </a:rPr>
                        <a:t>L1 penalty on leaf values</a:t>
                      </a:r>
                    </a:p>
                  </a:txBody>
                  <a:tcPr marT="18288" marB="18288" anchor="ctr">
                    <a:solidFill>
                      <a:srgbClr val="E5E4E2"/>
                    </a:solidFill>
                  </a:tcPr>
                </a:tc>
                <a:tc>
                  <a:txBody>
                    <a:bodyPr wrap="square"/>
                    <a:lstStyle/>
                    <a:p>
                      <a:r>
                        <a:rPr sz="1150">
                          <a:solidFill>
                            <a:srgbClr val="262A33"/>
                          </a:solidFill>
                          <a:latin typeface="Segoe UI"/>
                        </a:rPr>
                        <a:t>Pushes weak leaves to exactly 0</a:t>
                      </a:r>
                    </a:p>
                  </a:txBody>
                  <a:tcPr marT="18288" marB="18288" anchor="ctr">
                    <a:solidFill>
                      <a:srgbClr val="E5E4E2"/>
                    </a:solidFill>
                  </a:tcPr>
                </a:tc>
                <a:tc>
                  <a:txBody>
                    <a:bodyPr wrap="square"/>
                    <a:lstStyle/>
                    <a:p>
                      <a:r>
                        <a:rPr sz="1150">
                          <a:solidFill>
                            <a:srgbClr val="262A33"/>
                          </a:solidFill>
                          <a:latin typeface="Segoe UI"/>
                        </a:rPr>
                        <a:t>0 – 1</a:t>
                      </a:r>
                    </a:p>
                  </a:txBody>
                  <a:tcPr marT="18288" marB="18288" anchor="ctr">
                    <a:solidFill>
                      <a:srgbClr val="E5E4E2"/>
                    </a:solidFill>
                  </a:tcPr>
                </a:tc>
              </a:tr>
              <a:tr h="402336">
                <a:tc>
                  <a:txBody>
                    <a:bodyPr wrap="square"/>
                    <a:lstStyle/>
                    <a:p>
                      <a:r>
                        <a:rPr sz="1200">
                          <a:solidFill>
                            <a:srgbClr val="262A33"/>
                          </a:solidFill>
                          <a:latin typeface="Consolas"/>
                        </a:rPr>
                        <a:t>subsample</a:t>
                      </a:r>
                    </a:p>
                  </a:txBody>
                  <a:tcPr marT="18288" marB="18288" anchor="ctr">
                    <a:solidFill>
                      <a:srgbClr val="DAD9D6"/>
                    </a:solidFill>
                  </a:tcPr>
                </a:tc>
                <a:tc>
                  <a:txBody>
                    <a:bodyPr wrap="square"/>
                    <a:lstStyle/>
                    <a:p>
                      <a:pPr algn="ctr"/>
                      <a:r>
                        <a:rPr sz="1150">
                          <a:solidFill>
                            <a:srgbClr val="E5E4E2"/>
                          </a:solidFill>
                          <a:latin typeface="Segoe UI Semibold"/>
                        </a:rPr>
                        <a:t>BRAKE*</a:t>
                      </a:r>
                    </a:p>
                  </a:txBody>
                  <a:tcPr marT="18288" marB="18288" anchor="ctr">
                    <a:solidFill>
                      <a:srgbClr val="262A33"/>
                    </a:solidFill>
                  </a:tcPr>
                </a:tc>
                <a:tc>
                  <a:txBody>
                    <a:bodyPr wrap="square"/>
                    <a:lstStyle/>
                    <a:p>
                      <a:pPr algn="ctr"/>
                      <a:r>
                        <a:rPr sz="1150">
                          <a:solidFill>
                            <a:srgbClr val="262A33"/>
                          </a:solidFill>
                          <a:latin typeface="Segoe UI Semibold"/>
                        </a:rPr>
                        <a:t>1.0</a:t>
                      </a:r>
                    </a:p>
                  </a:txBody>
                  <a:tcPr marT="18288" marB="18288" anchor="ctr">
                    <a:solidFill>
                      <a:srgbClr val="DAD9D6"/>
                    </a:solidFill>
                  </a:tcPr>
                </a:tc>
                <a:tc>
                  <a:txBody>
                    <a:bodyPr wrap="square"/>
                    <a:lstStyle/>
                    <a:p>
                      <a:r>
                        <a:rPr sz="1150">
                          <a:solidFill>
                            <a:srgbClr val="262A33"/>
                          </a:solidFill>
                          <a:latin typeface="Segoe UI"/>
                        </a:rPr>
                        <a:t>Share of rows per tree</a:t>
                      </a:r>
                    </a:p>
                  </a:txBody>
                  <a:tcPr marT="18288" marB="18288" anchor="ctr">
                    <a:solidFill>
                      <a:srgbClr val="DAD9D6"/>
                    </a:solidFill>
                  </a:tcPr>
                </a:tc>
                <a:tc>
                  <a:txBody>
                    <a:bodyPr wrap="square"/>
                    <a:lstStyle/>
                    <a:p>
                      <a:r>
                        <a:rPr sz="1150">
                          <a:solidFill>
                            <a:srgbClr val="262A33"/>
                          </a:solidFill>
                          <a:latin typeface="Segoe UI"/>
                        </a:rPr>
                        <a:t>*Lowering it adds randomness</a:t>
                      </a:r>
                    </a:p>
                  </a:txBody>
                  <a:tcPr marT="18288" marB="18288" anchor="ctr">
                    <a:solidFill>
                      <a:srgbClr val="DAD9D6"/>
                    </a:solidFill>
                  </a:tcPr>
                </a:tc>
                <a:tc>
                  <a:txBody>
                    <a:bodyPr wrap="square"/>
                    <a:lstStyle/>
                    <a:p>
                      <a:r>
                        <a:rPr sz="1150">
                          <a:solidFill>
                            <a:srgbClr val="262A33"/>
                          </a:solidFill>
                          <a:latin typeface="Segoe UI"/>
                        </a:rPr>
                        <a:t>0.6 – 0.9</a:t>
                      </a:r>
                    </a:p>
                  </a:txBody>
                  <a:tcPr marT="18288" marB="18288" anchor="ctr">
                    <a:solidFill>
                      <a:srgbClr val="DAD9D6"/>
                    </a:solidFill>
                  </a:tcPr>
                </a:tc>
              </a:tr>
              <a:tr h="402336">
                <a:tc>
                  <a:txBody>
                    <a:bodyPr wrap="square"/>
                    <a:lstStyle/>
                    <a:p>
                      <a:r>
                        <a:rPr sz="1200">
                          <a:solidFill>
                            <a:srgbClr val="262A33"/>
                          </a:solidFill>
                          <a:latin typeface="Consolas"/>
                        </a:rPr>
                        <a:t>colsample_bytree</a:t>
                      </a:r>
                    </a:p>
                  </a:txBody>
                  <a:tcPr marT="18288" marB="18288" anchor="ctr">
                    <a:solidFill>
                      <a:srgbClr val="E5E4E2"/>
                    </a:solidFill>
                  </a:tcPr>
                </a:tc>
                <a:tc>
                  <a:txBody>
                    <a:bodyPr wrap="square"/>
                    <a:lstStyle/>
                    <a:p>
                      <a:pPr algn="ctr"/>
                      <a:r>
                        <a:rPr sz="1150">
                          <a:solidFill>
                            <a:srgbClr val="E5E4E2"/>
                          </a:solidFill>
                          <a:latin typeface="Segoe UI Semibold"/>
                        </a:rPr>
                        <a:t>BRAKE*</a:t>
                      </a:r>
                    </a:p>
                  </a:txBody>
                  <a:tcPr marT="18288" marB="18288" anchor="ctr">
                    <a:solidFill>
                      <a:srgbClr val="262A33"/>
                    </a:solidFill>
                  </a:tcPr>
                </a:tc>
                <a:tc>
                  <a:txBody>
                    <a:bodyPr wrap="square"/>
                    <a:lstStyle/>
                    <a:p>
                      <a:pPr algn="ctr"/>
                      <a:r>
                        <a:rPr sz="1150">
                          <a:solidFill>
                            <a:srgbClr val="262A33"/>
                          </a:solidFill>
                          <a:latin typeface="Segoe UI Semibold"/>
                        </a:rPr>
                        <a:t>1.0</a:t>
                      </a:r>
                    </a:p>
                  </a:txBody>
                  <a:tcPr marT="18288" marB="18288" anchor="ctr">
                    <a:solidFill>
                      <a:srgbClr val="E5E4E2"/>
                    </a:solidFill>
                  </a:tcPr>
                </a:tc>
                <a:tc>
                  <a:txBody>
                    <a:bodyPr wrap="square"/>
                    <a:lstStyle/>
                    <a:p>
                      <a:r>
                        <a:rPr sz="1150">
                          <a:solidFill>
                            <a:srgbClr val="262A33"/>
                          </a:solidFill>
                          <a:latin typeface="Segoe UI"/>
                        </a:rPr>
                        <a:t>Share of columns per tree</a:t>
                      </a:r>
                    </a:p>
                  </a:txBody>
                  <a:tcPr marT="18288" marB="18288" anchor="ctr">
                    <a:solidFill>
                      <a:srgbClr val="E5E4E2"/>
                    </a:solidFill>
                  </a:tcPr>
                </a:tc>
                <a:tc>
                  <a:txBody>
                    <a:bodyPr wrap="square"/>
                    <a:lstStyle/>
                    <a:p>
                      <a:r>
                        <a:rPr sz="1150">
                          <a:solidFill>
                            <a:srgbClr val="262A33"/>
                          </a:solidFill>
                          <a:latin typeface="Segoe UI"/>
                        </a:rPr>
                        <a:t>*Lowering it adds randomness</a:t>
                      </a:r>
                    </a:p>
                  </a:txBody>
                  <a:tcPr marT="18288" marB="18288" anchor="ctr">
                    <a:solidFill>
                      <a:srgbClr val="E5E4E2"/>
                    </a:solidFill>
                  </a:tcPr>
                </a:tc>
                <a:tc>
                  <a:txBody>
                    <a:bodyPr wrap="square"/>
                    <a:lstStyle/>
                    <a:p>
                      <a:r>
                        <a:rPr sz="1150">
                          <a:solidFill>
                            <a:srgbClr val="262A33"/>
                          </a:solidFill>
                          <a:latin typeface="Segoe UI"/>
                        </a:rPr>
                        <a:t>0.5 – 0.9</a:t>
                      </a:r>
                    </a:p>
                  </a:txBody>
                  <a:tcPr marT="18288" marB="18288" anchor="ctr">
                    <a:solidFill>
                      <a:srgbClr val="E5E4E2"/>
                    </a:solidFill>
                  </a:tcPr>
                </a:tc>
              </a:tr>
              <a:tr h="402336">
                <a:tc>
                  <a:txBody>
                    <a:bodyPr wrap="square"/>
                    <a:lstStyle/>
                    <a:p>
                      <a:r>
                        <a:rPr sz="1200">
                          <a:solidFill>
                            <a:srgbClr val="262A33"/>
                          </a:solidFill>
                          <a:latin typeface="Consolas"/>
                        </a:rPr>
                        <a:t>scale_pos_weight</a:t>
                      </a:r>
                    </a:p>
                  </a:txBody>
                  <a:tcPr marT="18288" marB="18288" anchor="ctr">
                    <a:solidFill>
                      <a:srgbClr val="DAD9D6"/>
                    </a:solidFill>
                  </a:tcPr>
                </a:tc>
                <a:tc>
                  <a:txBody>
                    <a:bodyPr wrap="square"/>
                    <a:lstStyle/>
                    <a:p>
                      <a:pPr algn="ctr"/>
                      <a:r>
                        <a:rPr sz="1150">
                          <a:solidFill>
                            <a:srgbClr val="E5E4E2"/>
                          </a:solidFill>
                          <a:latin typeface="Segoe UI Semibold"/>
                        </a:rPr>
                        <a:t>BALANCE</a:t>
                      </a:r>
                    </a:p>
                  </a:txBody>
                  <a:tcPr marT="18288" marB="18288" anchor="ctr">
                    <a:solidFill>
                      <a:srgbClr val="5B5F68"/>
                    </a:solidFill>
                  </a:tcPr>
                </a:tc>
                <a:tc>
                  <a:txBody>
                    <a:bodyPr wrap="square"/>
                    <a:lstStyle/>
                    <a:p>
                      <a:pPr algn="ctr"/>
                      <a:r>
                        <a:rPr sz="1150">
                          <a:solidFill>
                            <a:srgbClr val="262A33"/>
                          </a:solidFill>
                          <a:latin typeface="Segoe UI Semibold"/>
                        </a:rPr>
                        <a:t>1</a:t>
                      </a:r>
                    </a:p>
                  </a:txBody>
                  <a:tcPr marT="18288" marB="18288" anchor="ctr">
                    <a:solidFill>
                      <a:srgbClr val="DAD9D6"/>
                    </a:solidFill>
                  </a:tcPr>
                </a:tc>
                <a:tc>
                  <a:txBody>
                    <a:bodyPr wrap="square"/>
                    <a:lstStyle/>
                    <a:p>
                      <a:r>
                        <a:rPr sz="1150">
                          <a:solidFill>
                            <a:srgbClr val="262A33"/>
                          </a:solidFill>
                          <a:latin typeface="Segoe UI"/>
                        </a:rPr>
                        <a:t>Weight of the positive class</a:t>
                      </a:r>
                    </a:p>
                  </a:txBody>
                  <a:tcPr marT="18288" marB="18288" anchor="ctr">
                    <a:solidFill>
                      <a:srgbClr val="DAD9D6"/>
                    </a:solidFill>
                  </a:tcPr>
                </a:tc>
                <a:tc>
                  <a:txBody>
                    <a:bodyPr wrap="square"/>
                    <a:lstStyle/>
                    <a:p>
                      <a:r>
                        <a:rPr sz="1150">
                          <a:solidFill>
                            <a:srgbClr val="262A33"/>
                          </a:solidFill>
                          <a:latin typeface="Segoe UI"/>
                        </a:rPr>
                        <a:t>Focuses on a rare class</a:t>
                      </a:r>
                    </a:p>
                  </a:txBody>
                  <a:tcPr marT="18288" marB="18288" anchor="ctr">
                    <a:solidFill>
                      <a:srgbClr val="DAD9D6"/>
                    </a:solidFill>
                  </a:tcPr>
                </a:tc>
                <a:tc>
                  <a:txBody>
                    <a:bodyPr wrap="square"/>
                    <a:lstStyle/>
                    <a:p>
                      <a:r>
                        <a:rPr sz="1150">
                          <a:solidFill>
                            <a:srgbClr val="262A33"/>
                          </a:solidFill>
                          <a:latin typeface="Segoe UI"/>
                        </a:rPr>
                        <a:t>≈ negatives / positives</a:t>
                      </a:r>
                    </a:p>
                  </a:txBody>
                  <a:tcPr marT="18288" marB="18288" anchor="ctr">
                    <a:solidFill>
                      <a:srgbClr val="DAD9D6"/>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9" fill="hold">
                            <p:stCondLst>
                              <p:cond delay="900"/>
                            </p:stCondLst>
                            <p:childTnLst>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par>
                          <p:cTn id="23" fill="hold">
                            <p:stCondLst>
                              <p:cond delay="1500"/>
                            </p:stCondLst>
                            <p:childTnLst>
                              <p:par>
                                <p:cTn id="20" presetID="10"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7" fill="hold">
                            <p:stCondLst>
                              <p:cond delay="2250"/>
                            </p:stCondLst>
                            <p:childTnLst>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31" fill="hold">
                            <p:stCondLst>
                              <p:cond delay="3150"/>
                            </p:stCondLst>
                            <p:childTnLst>
                              <p:par>
                                <p:cTn id="28" presetID="10" presetClass="entr" presetSubtype="0" fill="hold"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par>
                    <p:cTn id="32" fill="hold">
                      <p:stCondLst>
                        <p:cond delay="indefinite"/>
                      </p:stCondLst>
                      <p:childTnLst>
                        <p:par>
                          <p:cTn id="36"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down)">
                                      <p:cBhvr>
                                        <p:cTn id="35" dur="8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457200"/>
            <a:ext cx="7315200" cy="4572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Find the sweet spot between underfitting and overfitting</a:t>
            </a:r>
          </a:p>
        </p:txBody>
      </p:sp>
      <p:sp>
        <p:nvSpPr>
          <p:cNvPr id="3" name="TextBox 2"/>
          <p:cNvSpPr txBox="1"/>
          <p:nvPr/>
        </p:nvSpPr>
        <p:spPr>
          <a:xfrm>
            <a:off x="685800" y="777240"/>
            <a:ext cx="9144000" cy="914400"/>
          </a:xfrm>
          <a:prstGeom prst="rect">
            <a:avLst/>
          </a:prstGeom>
          <a:noFill/>
        </p:spPr>
        <p:txBody>
          <a:bodyPr wrap="square" lIns="0" rIns="0" tIns="0" bIns="0" anchor="t">
            <a:spAutoFit/>
          </a:bodyPr>
          <a:lstStyle/>
          <a:p>
            <a:pPr algn="l">
              <a:lnSpc>
                <a:spcPct val="88000"/>
              </a:lnSpc>
              <a:spcAft>
                <a:spcPts val="0"/>
              </a:spcAft>
            </a:pPr>
            <a:r>
              <a:rPr sz="4600" b="0" i="0">
                <a:solidFill>
                  <a:srgbClr val="262A33"/>
                </a:solidFill>
                <a:latin typeface="Bahnschrift Light"/>
              </a:rPr>
              <a:t>TUNING RECIPE</a:t>
            </a:r>
          </a:p>
        </p:txBody>
      </p:sp>
      <p:pic>
        <p:nvPicPr>
          <p:cNvPr id="4" name="Picture 3" descr="dots.png"/>
          <p:cNvPicPr>
            <a:picLocks noChangeAspect="1"/>
          </p:cNvPicPr>
          <p:nvPr/>
        </p:nvPicPr>
        <p:blipFill>
          <a:blip r:embed="rId2"/>
          <a:stretch>
            <a:fillRect/>
          </a:stretch>
        </p:blipFill>
        <p:spPr>
          <a:xfrm>
            <a:off x="9875520" y="411480"/>
            <a:ext cx="1645920" cy="868680"/>
          </a:xfrm>
          <a:prstGeom prst="rect">
            <a:avLst/>
          </a:prstGeom>
        </p:spPr>
      </p:pic>
      <p:pic>
        <p:nvPicPr>
          <p:cNvPr id="5" name="Picture 4" descr="complexity.png"/>
          <p:cNvPicPr>
            <a:picLocks noChangeAspect="1"/>
          </p:cNvPicPr>
          <p:nvPr/>
        </p:nvPicPr>
        <p:blipFill>
          <a:blip r:embed="rId3"/>
          <a:stretch>
            <a:fillRect/>
          </a:stretch>
        </p:blipFill>
        <p:spPr>
          <a:xfrm>
            <a:off x="6903720" y="1641763"/>
            <a:ext cx="4754880" cy="3025832"/>
          </a:xfrm>
          <a:prstGeom prst="rect">
            <a:avLst/>
          </a:prstGeom>
        </p:spPr>
      </p:pic>
      <p:sp>
        <p:nvSpPr>
          <p:cNvPr id="6" name="Rounded Rectangle 5"/>
          <p:cNvSpPr/>
          <p:nvPr/>
        </p:nvSpPr>
        <p:spPr>
          <a:xfrm>
            <a:off x="685800" y="5303520"/>
            <a:ext cx="978408" cy="685800"/>
          </a:xfrm>
          <a:prstGeom prst="roundRect">
            <a:avLst>
              <a:gd name="adj" fmla="val 6000"/>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54864" rIns="54864" tIns="27432" bIns="27432"/>
          <a:lstStyle/>
          <a:p>
            <a:pPr algn="ctr"/>
            <a:r>
              <a:rPr sz="1800">
                <a:solidFill>
                  <a:srgbClr val="E5E4E2"/>
                </a:solidFill>
                <a:latin typeface="Bahnschrift Light"/>
              </a:rPr>
              <a:t>1</a:t>
            </a:r>
          </a:p>
        </p:txBody>
      </p:sp>
      <p:sp>
        <p:nvSpPr>
          <p:cNvPr id="7" name="TextBox 6"/>
          <p:cNvSpPr txBox="1"/>
          <p:nvPr/>
        </p:nvSpPr>
        <p:spPr>
          <a:xfrm>
            <a:off x="667512" y="4681728"/>
            <a:ext cx="1014984" cy="566928"/>
          </a:xfrm>
          <a:prstGeom prst="rect">
            <a:avLst/>
          </a:prstGeom>
          <a:noFill/>
        </p:spPr>
        <p:txBody>
          <a:bodyPr wrap="square" lIns="0" rIns="0" tIns="0" bIns="0" anchor="t">
            <a:spAutoFit/>
          </a:bodyPr>
          <a:lstStyle/>
          <a:p>
            <a:pPr algn="ctr">
              <a:lnSpc>
                <a:spcPct val="95000"/>
              </a:lnSpc>
              <a:spcAft>
                <a:spcPts val="0"/>
              </a:spcAft>
            </a:pPr>
            <a:r>
              <a:rPr sz="1050" b="0" i="0">
                <a:solidFill>
                  <a:srgbClr val="262A33"/>
                </a:solidFill>
                <a:latin typeface="Segoe UI Semibold"/>
              </a:rPr>
              <a:t>Fix η = 0.1</a:t>
            </a:r>
          </a:p>
          <a:p>
            <a:pPr algn="ctr">
              <a:lnSpc>
                <a:spcPct val="95000"/>
              </a:lnSpc>
              <a:spcAft>
                <a:spcPts val="0"/>
              </a:spcAft>
            </a:pPr>
            <a:r>
              <a:rPr sz="950" b="0" i="0">
                <a:solidFill>
                  <a:srgbClr val="5B5F68"/>
                </a:solidFill>
                <a:latin typeface="Segoe UI"/>
              </a:rPr>
              <a:t>+ early stopping</a:t>
            </a:r>
          </a:p>
        </p:txBody>
      </p:sp>
      <p:sp>
        <p:nvSpPr>
          <p:cNvPr id="8" name="Rounded Rectangle 7"/>
          <p:cNvSpPr/>
          <p:nvPr/>
        </p:nvSpPr>
        <p:spPr>
          <a:xfrm>
            <a:off x="1700784" y="4919472"/>
            <a:ext cx="978408" cy="1069848"/>
          </a:xfrm>
          <a:prstGeom prst="roundRect">
            <a:avLst>
              <a:gd name="adj" fmla="val 6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54864" rIns="54864" tIns="27432" bIns="27432"/>
          <a:lstStyle/>
          <a:p>
            <a:pPr algn="ctr"/>
            <a:r>
              <a:rPr sz="1800">
                <a:solidFill>
                  <a:srgbClr val="E5E4E2"/>
                </a:solidFill>
                <a:latin typeface="Bahnschrift Light"/>
              </a:rPr>
              <a:t>2</a:t>
            </a:r>
          </a:p>
        </p:txBody>
      </p:sp>
      <p:sp>
        <p:nvSpPr>
          <p:cNvPr id="9" name="TextBox 8"/>
          <p:cNvSpPr txBox="1"/>
          <p:nvPr/>
        </p:nvSpPr>
        <p:spPr>
          <a:xfrm>
            <a:off x="1682496" y="4297680"/>
            <a:ext cx="1014984" cy="566928"/>
          </a:xfrm>
          <a:prstGeom prst="rect">
            <a:avLst/>
          </a:prstGeom>
          <a:noFill/>
        </p:spPr>
        <p:txBody>
          <a:bodyPr wrap="square" lIns="0" rIns="0" tIns="0" bIns="0" anchor="t">
            <a:spAutoFit/>
          </a:bodyPr>
          <a:lstStyle/>
          <a:p>
            <a:pPr algn="ctr">
              <a:lnSpc>
                <a:spcPct val="95000"/>
              </a:lnSpc>
              <a:spcAft>
                <a:spcPts val="0"/>
              </a:spcAft>
            </a:pPr>
            <a:r>
              <a:rPr sz="1050" b="0" i="0">
                <a:solidFill>
                  <a:srgbClr val="262A33"/>
                </a:solidFill>
                <a:latin typeface="Segoe UI Semibold"/>
              </a:rPr>
              <a:t>max_depth &amp;</a:t>
            </a:r>
          </a:p>
          <a:p>
            <a:pPr algn="ctr">
              <a:lnSpc>
                <a:spcPct val="95000"/>
              </a:lnSpc>
              <a:spcAft>
                <a:spcPts val="0"/>
              </a:spcAft>
            </a:pPr>
            <a:r>
              <a:rPr sz="950" b="0" i="0">
                <a:solidFill>
                  <a:srgbClr val="5B5F68"/>
                </a:solidFill>
                <a:latin typeface="Segoe UI"/>
              </a:rPr>
              <a:t>min_child_weight</a:t>
            </a:r>
          </a:p>
        </p:txBody>
      </p:sp>
      <p:sp>
        <p:nvSpPr>
          <p:cNvPr id="10" name="Rounded Rectangle 9"/>
          <p:cNvSpPr/>
          <p:nvPr/>
        </p:nvSpPr>
        <p:spPr>
          <a:xfrm>
            <a:off x="2715768" y="4535424"/>
            <a:ext cx="978408" cy="1453895"/>
          </a:xfrm>
          <a:prstGeom prst="roundRect">
            <a:avLst>
              <a:gd name="adj" fmla="val 6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54864" rIns="54864" tIns="27432" bIns="27432"/>
          <a:lstStyle/>
          <a:p>
            <a:pPr algn="ctr"/>
            <a:r>
              <a:rPr sz="1800">
                <a:solidFill>
                  <a:srgbClr val="E5E4E2"/>
                </a:solidFill>
                <a:latin typeface="Bahnschrift Light"/>
              </a:rPr>
              <a:t>3</a:t>
            </a:r>
          </a:p>
        </p:txBody>
      </p:sp>
      <p:sp>
        <p:nvSpPr>
          <p:cNvPr id="11" name="TextBox 10"/>
          <p:cNvSpPr txBox="1"/>
          <p:nvPr/>
        </p:nvSpPr>
        <p:spPr>
          <a:xfrm>
            <a:off x="2697480" y="3913632"/>
            <a:ext cx="1014984" cy="566928"/>
          </a:xfrm>
          <a:prstGeom prst="rect">
            <a:avLst/>
          </a:prstGeom>
          <a:noFill/>
        </p:spPr>
        <p:txBody>
          <a:bodyPr wrap="square" lIns="0" rIns="0" tIns="0" bIns="0" anchor="t">
            <a:spAutoFit/>
          </a:bodyPr>
          <a:lstStyle/>
          <a:p>
            <a:pPr algn="ctr">
              <a:lnSpc>
                <a:spcPct val="95000"/>
              </a:lnSpc>
              <a:spcAft>
                <a:spcPts val="0"/>
              </a:spcAft>
            </a:pPr>
            <a:r>
              <a:rPr sz="1050" b="0" i="0">
                <a:solidFill>
                  <a:srgbClr val="262A33"/>
                </a:solidFill>
                <a:latin typeface="Segoe UI Semibold"/>
              </a:rPr>
              <a:t>gamma</a:t>
            </a:r>
          </a:p>
          <a:p>
            <a:pPr algn="ctr">
              <a:lnSpc>
                <a:spcPct val="95000"/>
              </a:lnSpc>
              <a:spcAft>
                <a:spcPts val="0"/>
              </a:spcAft>
            </a:pPr>
            <a:r>
              <a:rPr sz="950" b="0" i="0">
                <a:solidFill>
                  <a:srgbClr val="5B5F68"/>
                </a:solidFill>
                <a:latin typeface="Segoe UI"/>
              </a:rPr>
              <a:t>prune weak splits</a:t>
            </a:r>
          </a:p>
        </p:txBody>
      </p:sp>
      <p:sp>
        <p:nvSpPr>
          <p:cNvPr id="12" name="Rounded Rectangle 11"/>
          <p:cNvSpPr/>
          <p:nvPr/>
        </p:nvSpPr>
        <p:spPr>
          <a:xfrm>
            <a:off x="3730752" y="4151376"/>
            <a:ext cx="978408" cy="1837943"/>
          </a:xfrm>
          <a:prstGeom prst="roundRect">
            <a:avLst>
              <a:gd name="adj" fmla="val 6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54864" rIns="54864" tIns="27432" bIns="27432"/>
          <a:lstStyle/>
          <a:p>
            <a:pPr algn="ctr"/>
            <a:r>
              <a:rPr sz="1800">
                <a:solidFill>
                  <a:srgbClr val="E5E4E2"/>
                </a:solidFill>
                <a:latin typeface="Bahnschrift Light"/>
              </a:rPr>
              <a:t>4</a:t>
            </a:r>
          </a:p>
        </p:txBody>
      </p:sp>
      <p:sp>
        <p:nvSpPr>
          <p:cNvPr id="13" name="TextBox 12"/>
          <p:cNvSpPr txBox="1"/>
          <p:nvPr/>
        </p:nvSpPr>
        <p:spPr>
          <a:xfrm>
            <a:off x="3712464" y="3529584"/>
            <a:ext cx="1014984" cy="566928"/>
          </a:xfrm>
          <a:prstGeom prst="rect">
            <a:avLst/>
          </a:prstGeom>
          <a:noFill/>
        </p:spPr>
        <p:txBody>
          <a:bodyPr wrap="square" lIns="0" rIns="0" tIns="0" bIns="0" anchor="t">
            <a:spAutoFit/>
          </a:bodyPr>
          <a:lstStyle/>
          <a:p>
            <a:pPr algn="ctr">
              <a:lnSpc>
                <a:spcPct val="95000"/>
              </a:lnSpc>
              <a:spcAft>
                <a:spcPts val="0"/>
              </a:spcAft>
            </a:pPr>
            <a:r>
              <a:rPr sz="1050" b="0" i="0">
                <a:solidFill>
                  <a:srgbClr val="262A33"/>
                </a:solidFill>
                <a:latin typeface="Segoe UI Semibold"/>
              </a:rPr>
              <a:t>subsample &amp;</a:t>
            </a:r>
          </a:p>
          <a:p>
            <a:pPr algn="ctr">
              <a:lnSpc>
                <a:spcPct val="95000"/>
              </a:lnSpc>
              <a:spcAft>
                <a:spcPts val="0"/>
              </a:spcAft>
            </a:pPr>
            <a:r>
              <a:rPr sz="950" b="0" i="0">
                <a:solidFill>
                  <a:srgbClr val="5B5F68"/>
                </a:solidFill>
                <a:latin typeface="Segoe UI"/>
              </a:rPr>
              <a:t>colsample_bytree</a:t>
            </a:r>
          </a:p>
        </p:txBody>
      </p:sp>
      <p:sp>
        <p:nvSpPr>
          <p:cNvPr id="14" name="Rounded Rectangle 13"/>
          <p:cNvSpPr/>
          <p:nvPr/>
        </p:nvSpPr>
        <p:spPr>
          <a:xfrm>
            <a:off x="4745736" y="3767328"/>
            <a:ext cx="978408" cy="2221991"/>
          </a:xfrm>
          <a:prstGeom prst="roundRect">
            <a:avLst>
              <a:gd name="adj" fmla="val 6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54864" rIns="54864" tIns="27432" bIns="27432"/>
          <a:lstStyle/>
          <a:p>
            <a:pPr algn="ctr"/>
            <a:r>
              <a:rPr sz="1800">
                <a:solidFill>
                  <a:srgbClr val="E5E4E2"/>
                </a:solidFill>
                <a:latin typeface="Bahnschrift Light"/>
              </a:rPr>
              <a:t>5</a:t>
            </a:r>
          </a:p>
        </p:txBody>
      </p:sp>
      <p:sp>
        <p:nvSpPr>
          <p:cNvPr id="15" name="TextBox 14"/>
          <p:cNvSpPr txBox="1"/>
          <p:nvPr/>
        </p:nvSpPr>
        <p:spPr>
          <a:xfrm>
            <a:off x="4727448" y="3145536"/>
            <a:ext cx="1014984" cy="566928"/>
          </a:xfrm>
          <a:prstGeom prst="rect">
            <a:avLst/>
          </a:prstGeom>
          <a:noFill/>
        </p:spPr>
        <p:txBody>
          <a:bodyPr wrap="square" lIns="0" rIns="0" tIns="0" bIns="0" anchor="t">
            <a:spAutoFit/>
          </a:bodyPr>
          <a:lstStyle/>
          <a:p>
            <a:pPr algn="ctr">
              <a:lnSpc>
                <a:spcPct val="95000"/>
              </a:lnSpc>
              <a:spcAft>
                <a:spcPts val="0"/>
              </a:spcAft>
            </a:pPr>
            <a:r>
              <a:rPr sz="1050" b="0" i="0">
                <a:solidFill>
                  <a:srgbClr val="262A33"/>
                </a:solidFill>
                <a:latin typeface="Segoe UI Semibold"/>
              </a:rPr>
              <a:t>λ and α</a:t>
            </a:r>
          </a:p>
          <a:p>
            <a:pPr algn="ctr">
              <a:lnSpc>
                <a:spcPct val="95000"/>
              </a:lnSpc>
              <a:spcAft>
                <a:spcPts val="0"/>
              </a:spcAft>
            </a:pPr>
            <a:r>
              <a:rPr sz="950" b="0" i="0">
                <a:solidFill>
                  <a:srgbClr val="5B5F68"/>
                </a:solidFill>
                <a:latin typeface="Segoe UI"/>
              </a:rPr>
              <a:t>penalties</a:t>
            </a:r>
          </a:p>
        </p:txBody>
      </p:sp>
      <p:sp>
        <p:nvSpPr>
          <p:cNvPr id="16" name="Rounded Rectangle 15"/>
          <p:cNvSpPr/>
          <p:nvPr/>
        </p:nvSpPr>
        <p:spPr>
          <a:xfrm>
            <a:off x="5760720" y="3383279"/>
            <a:ext cx="978408" cy="2606040"/>
          </a:xfrm>
          <a:prstGeom prst="roundRect">
            <a:avLst>
              <a:gd name="adj" fmla="val 6000"/>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54864" rIns="54864" tIns="27432" bIns="27432"/>
          <a:lstStyle/>
          <a:p>
            <a:pPr algn="ctr"/>
            <a:r>
              <a:rPr sz="1800">
                <a:solidFill>
                  <a:srgbClr val="E5E4E2"/>
                </a:solidFill>
                <a:latin typeface="Bahnschrift Light"/>
              </a:rPr>
              <a:t>6</a:t>
            </a:r>
          </a:p>
        </p:txBody>
      </p:sp>
      <p:sp>
        <p:nvSpPr>
          <p:cNvPr id="17" name="TextBox 16"/>
          <p:cNvSpPr txBox="1"/>
          <p:nvPr/>
        </p:nvSpPr>
        <p:spPr>
          <a:xfrm>
            <a:off x="5742432" y="2761487"/>
            <a:ext cx="1014984" cy="566928"/>
          </a:xfrm>
          <a:prstGeom prst="rect">
            <a:avLst/>
          </a:prstGeom>
          <a:noFill/>
        </p:spPr>
        <p:txBody>
          <a:bodyPr wrap="square" lIns="0" rIns="0" tIns="0" bIns="0" anchor="t">
            <a:spAutoFit/>
          </a:bodyPr>
          <a:lstStyle/>
          <a:p>
            <a:pPr algn="ctr">
              <a:lnSpc>
                <a:spcPct val="95000"/>
              </a:lnSpc>
              <a:spcAft>
                <a:spcPts val="0"/>
              </a:spcAft>
            </a:pPr>
            <a:r>
              <a:rPr sz="1050" b="0" i="0">
                <a:solidFill>
                  <a:srgbClr val="262A33"/>
                </a:solidFill>
                <a:latin typeface="Segoe UI Semibold"/>
              </a:rPr>
              <a:t>Lower η,</a:t>
            </a:r>
          </a:p>
          <a:p>
            <a:pPr algn="ctr">
              <a:lnSpc>
                <a:spcPct val="95000"/>
              </a:lnSpc>
              <a:spcAft>
                <a:spcPts val="0"/>
              </a:spcAft>
            </a:pPr>
            <a:r>
              <a:rPr sz="950" b="0" i="0">
                <a:solidFill>
                  <a:srgbClr val="5B5F68"/>
                </a:solidFill>
                <a:latin typeface="Segoe UI"/>
              </a:rPr>
              <a:t>add more trees</a:t>
            </a:r>
          </a:p>
        </p:txBody>
      </p:sp>
      <p:sp>
        <p:nvSpPr>
          <p:cNvPr id="18" name="hop0"/>
          <p:cNvSpPr/>
          <p:nvPr/>
        </p:nvSpPr>
        <p:spPr>
          <a:xfrm>
            <a:off x="1065276" y="4416552"/>
            <a:ext cx="219456" cy="219456"/>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op1"/>
          <p:cNvSpPr/>
          <p:nvPr/>
        </p:nvSpPr>
        <p:spPr>
          <a:xfrm>
            <a:off x="2080260" y="4032504"/>
            <a:ext cx="219456" cy="219456"/>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op2"/>
          <p:cNvSpPr/>
          <p:nvPr/>
        </p:nvSpPr>
        <p:spPr>
          <a:xfrm>
            <a:off x="3095244" y="3648456"/>
            <a:ext cx="219456" cy="219456"/>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op3"/>
          <p:cNvSpPr/>
          <p:nvPr/>
        </p:nvSpPr>
        <p:spPr>
          <a:xfrm>
            <a:off x="4110228" y="3264408"/>
            <a:ext cx="219456" cy="219456"/>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op4"/>
          <p:cNvSpPr/>
          <p:nvPr/>
        </p:nvSpPr>
        <p:spPr>
          <a:xfrm>
            <a:off x="5125212" y="2880360"/>
            <a:ext cx="219456" cy="219456"/>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op5"/>
          <p:cNvSpPr/>
          <p:nvPr/>
        </p:nvSpPr>
        <p:spPr>
          <a:xfrm>
            <a:off x="6140196" y="2496311"/>
            <a:ext cx="219456" cy="219456"/>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0" y="4937760"/>
            <a:ext cx="4663440" cy="1371600"/>
          </a:xfrm>
          <a:prstGeom prst="rect">
            <a:avLst/>
          </a:prstGeom>
          <a:noFill/>
        </p:spPr>
        <p:txBody>
          <a:bodyPr wrap="square" lIns="0" rIns="0" tIns="0" bIns="0" anchor="t">
            <a:spAutoFit/>
          </a:bodyPr>
          <a:lstStyle/>
          <a:p>
            <a:pPr algn="l">
              <a:lnSpc>
                <a:spcPct val="105000"/>
              </a:lnSpc>
              <a:spcAft>
                <a:spcPts val="0"/>
              </a:spcAft>
            </a:pPr>
            <a:r>
              <a:rPr sz="1300" b="0" i="0">
                <a:solidFill>
                  <a:srgbClr val="B5543A"/>
                </a:solidFill>
                <a:latin typeface="Segoe UI Semibold"/>
              </a:rPr>
              <a:t>Rule: </a:t>
            </a:r>
            <a:r>
              <a:rPr sz="1300" b="0" i="0">
                <a:solidFill>
                  <a:srgbClr val="262A33"/>
                </a:solidFill>
                <a:latin typeface="Segoe UI"/>
              </a:rPr>
              <a:t>tune on a validation set or with cross-validation, never on the test set. Use RandomizedSearchCV to try many combinations quickly.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21" fill="hold">
                            <p:stCondLst>
                              <p:cond delay="900"/>
                            </p:stCondLst>
                            <p:childTnLst>
                              <p:par>
                                <p:cTn id="16" presetID="53" presetClass="entr" presetSubtype="16"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p:cTn id="19" dur="550" fill="hold"/>
                                        <p:tgtEl>
                                          <p:spTgt spid="5"/>
                                        </p:tgtEl>
                                        <p:attrNameLst>
                                          <p:attrName>ppt_w</p:attrName>
                                        </p:attrNameLst>
                                      </p:cBhvr>
                                      <p:tavLst>
                                        <p:tav tm="0">
                                          <p:val>
                                            <p:strVal val="#ppt_w*0.8"/>
                                          </p:val>
                                        </p:tav>
                                        <p:tav tm="100000">
                                          <p:val>
                                            <p:strVal val="#ppt_w"/>
                                          </p:val>
                                        </p:tav>
                                      </p:tavLst>
                                    </p:anim>
                                    <p:anim calcmode="lin" valueType="num">
                                      <p:cBhvr>
                                        <p:cTn id="20" dur="550" fill="hold"/>
                                        <p:tgtEl>
                                          <p:spTgt spid="5"/>
                                        </p:tgtEl>
                                        <p:attrNameLst>
                                          <p:attrName>ppt_h</p:attrName>
                                        </p:attrNameLst>
                                      </p:cBhvr>
                                      <p:tavLst>
                                        <p:tav tm="0">
                                          <p:val>
                                            <p:strVal val="#ppt_h*0.8"/>
                                          </p:val>
                                        </p:tav>
                                        <p:tav tm="100000">
                                          <p:val>
                                            <p:strVal val="#ppt_h"/>
                                          </p:val>
                                        </p:tav>
                                      </p:tavLst>
                                    </p:anim>
                                  </p:childTnLst>
                                </p:cTn>
                              </p:par>
                            </p:childTnLst>
                          </p:cTn>
                        </p:par>
                      </p:childTnLst>
                    </p:cTn>
                  </p:par>
                  <p:par>
                    <p:cTn id="22" fill="hold">
                      <p:stCondLst>
                        <p:cond delay="indefinite"/>
                      </p:stCondLst>
                      <p:childTnLst>
                        <p:par>
                          <p:cTn id="30"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800"/>
                                        <p:tgtEl>
                                          <p:spTgt spid="6"/>
                                        </p:tgtEl>
                                      </p:cBhvr>
                                    </p:animEffect>
                                  </p:childTnLst>
                                </p:cTn>
                              </p:par>
                              <p:par>
                                <p:cTn id="26" presetID="42"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50"/>
                                        <p:tgtEl>
                                          <p:spTgt spid="7"/>
                                        </p:tgtEl>
                                      </p:cBhvr>
                                    </p:animEffect>
                                    <p:anim calcmode="lin" valueType="num">
                                      <p:cBhvr>
                                        <p:cTn id="29" dur="650" fill="hold"/>
                                        <p:tgtEl>
                                          <p:spTgt spid="7"/>
                                        </p:tgtEl>
                                        <p:attrNameLst>
                                          <p:attrName>ppt_y</p:attrName>
                                        </p:attrNameLst>
                                      </p:cBhvr>
                                      <p:tavLst>
                                        <p:tav tm="0">
                                          <p:val>
                                            <p:strVal val="#ppt_y+0.06"/>
                                          </p:val>
                                        </p:tav>
                                        <p:tav tm="100000">
                                          <p:val>
                                            <p:strVal val="#ppt_y"/>
                                          </p:val>
                                        </p:tav>
                                      </p:tavLst>
                                    </p:anim>
                                  </p:childTnLst>
                                </p:cTn>
                              </p:par>
                            </p:childTnLst>
                          </p:cTn>
                        </p:par>
                        <p:par>
                          <p:cTn id="36" fill="hold">
                            <p:stCondLst>
                              <p:cond delay="800"/>
                            </p:stCondLst>
                            <p:childTnLst>
                              <p:par>
                                <p:cTn id="31" presetID="53" presetClass="entr" presetSubtype="16" fill="hold"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50"/>
                                        <p:tgtEl>
                                          <p:spTgt spid="18"/>
                                        </p:tgtEl>
                                      </p:cBhvr>
                                    </p:animEffect>
                                    <p:anim calcmode="lin" valueType="num">
                                      <p:cBhvr>
                                        <p:cTn id="34" dur="550" fill="hold"/>
                                        <p:tgtEl>
                                          <p:spTgt spid="18"/>
                                        </p:tgtEl>
                                        <p:attrNameLst>
                                          <p:attrName>ppt_w</p:attrName>
                                        </p:attrNameLst>
                                      </p:cBhvr>
                                      <p:tavLst>
                                        <p:tav tm="0">
                                          <p:val>
                                            <p:strVal val="#ppt_w*0.8"/>
                                          </p:val>
                                        </p:tav>
                                        <p:tav tm="100000">
                                          <p:val>
                                            <p:strVal val="#ppt_w"/>
                                          </p:val>
                                        </p:tav>
                                      </p:tavLst>
                                    </p:anim>
                                    <p:anim calcmode="lin" valueType="num">
                                      <p:cBhvr>
                                        <p:cTn id="35" dur="550" fill="hold"/>
                                        <p:tgtEl>
                                          <p:spTgt spid="18"/>
                                        </p:tgtEl>
                                        <p:attrNameLst>
                                          <p:attrName>ppt_h</p:attrName>
                                        </p:attrNameLst>
                                      </p:cBhvr>
                                      <p:tavLst>
                                        <p:tav tm="0">
                                          <p:val>
                                            <p:strVal val="#ppt_h*0.8"/>
                                          </p:val>
                                        </p:tav>
                                        <p:tav tm="100000">
                                          <p:val>
                                            <p:strVal val="#ppt_h"/>
                                          </p:val>
                                        </p:tav>
                                      </p:tavLst>
                                    </p:anim>
                                  </p:childTnLst>
                                </p:cTn>
                              </p:par>
                            </p:childTnLst>
                          </p:cTn>
                        </p:par>
                      </p:childTnLst>
                    </p:cTn>
                  </p:par>
                  <p:par>
                    <p:cTn id="37" fill="hold">
                      <p:stCondLst>
                        <p:cond delay="indefinite"/>
                      </p:stCondLst>
                      <p:childTnLst>
                        <p:par>
                          <p:cTn id="45"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down)">
                                      <p:cBhvr>
                                        <p:cTn id="40" dur="800"/>
                                        <p:tgtEl>
                                          <p:spTgt spid="8"/>
                                        </p:tgtEl>
                                      </p:cBhvr>
                                    </p:animEffect>
                                  </p:childTnLst>
                                </p:cTn>
                              </p:par>
                              <p:par>
                                <p:cTn id="41" presetID="42" presetClass="entr" presetSubtype="0" fill="hold"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650"/>
                                        <p:tgtEl>
                                          <p:spTgt spid="9"/>
                                        </p:tgtEl>
                                      </p:cBhvr>
                                    </p:animEffect>
                                    <p:anim calcmode="lin" valueType="num">
                                      <p:cBhvr>
                                        <p:cTn id="44" dur="650" fill="hold"/>
                                        <p:tgtEl>
                                          <p:spTgt spid="9"/>
                                        </p:tgtEl>
                                        <p:attrNameLst>
                                          <p:attrName>ppt_y</p:attrName>
                                        </p:attrNameLst>
                                      </p:cBhvr>
                                      <p:tavLst>
                                        <p:tav tm="0">
                                          <p:val>
                                            <p:strVal val="#ppt_y+0.06"/>
                                          </p:val>
                                        </p:tav>
                                        <p:tav tm="100000">
                                          <p:val>
                                            <p:strVal val="#ppt_y"/>
                                          </p:val>
                                        </p:tav>
                                      </p:tavLst>
                                    </p:anim>
                                  </p:childTnLst>
                                </p:cTn>
                              </p:par>
                            </p:childTnLst>
                          </p:cTn>
                        </p:par>
                        <p:par>
                          <p:cTn id="48" fill="hold">
                            <p:stCondLst>
                              <p:cond delay="800"/>
                            </p:stCondLst>
                            <p:childTnLst>
                              <p:par>
                                <p:cTn id="46" presetID="0" presetClass="path" presetSubtype="0" fill="hold" nodeType="afterEffect">
                                  <p:stCondLst>
                                    <p:cond delay="0"/>
                                  </p:stCondLst>
                                  <p:childTnLst>
                                    <p:animMotion origin="layout" path="M 0 0 L 0.04163 -0.08600 L 0.08325 -0.05600 E" pathEditMode="relative" ptsTypes="">
                                      <p:cBhvr>
                                        <p:cTn id="47" dur="500" accel="20000" decel="50000" fill="hold"/>
                                        <p:tgtEl>
                                          <p:spTgt spid="18"/>
                                        </p:tgtEl>
                                        <p:attrNameLst>
                                          <p:attrName>ppt_x</p:attrName>
                                          <p:attrName>ppt_y</p:attrName>
                                        </p:attrNameLst>
                                      </p:cBhvr>
                                    </p:animMotion>
                                  </p:childTnLst>
                                </p:cTn>
                              </p:par>
                            </p:childTnLst>
                          </p:cTn>
                        </p:par>
                        <p:par>
                          <p:cTn id="53" fill="hold">
                            <p:stCondLst>
                              <p:cond delay="1300"/>
                            </p:stCondLst>
                            <p:childTnLst>
                              <p:par>
                                <p:cTn id="49" presetID="1" presetClass="exit" presetSubtype="0" fill="hold" nodeType="afterEffect">
                                  <p:stCondLst>
                                    <p:cond delay="0"/>
                                  </p:stCondLst>
                                  <p:childTnLst>
                                    <p:set>
                                      <p:cBhvr>
                                        <p:cTn id="50" dur="1" fill="hold">
                                          <p:stCondLst>
                                            <p:cond delay="0"/>
                                          </p:stCondLst>
                                        </p:cTn>
                                        <p:tgtEl>
                                          <p:spTgt spid="18"/>
                                        </p:tgtEl>
                                        <p:attrNameLst>
                                          <p:attrName>style.visibility</p:attrName>
                                        </p:attrNameLst>
                                      </p:cBhvr>
                                      <p:to>
                                        <p:strVal val="hidden"/>
                                      </p:to>
                                    </p:set>
                                  </p:childTnLst>
                                </p:cTn>
                              </p:par>
                              <p:par>
                                <p:cTn id="51" presetID="1" presetClass="entr" presetSubtype="0" fill="hold" nodeType="after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4" fill="hold">
                      <p:stCondLst>
                        <p:cond delay="indefinite"/>
                      </p:stCondLst>
                      <p:childTnLst>
                        <p:par>
                          <p:cTn id="62"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down)">
                                      <p:cBhvr>
                                        <p:cTn id="57" dur="800"/>
                                        <p:tgtEl>
                                          <p:spTgt spid="10"/>
                                        </p:tgtEl>
                                      </p:cBhvr>
                                    </p:animEffect>
                                  </p:childTnLst>
                                </p:cTn>
                              </p:par>
                              <p:par>
                                <p:cTn id="58" presetID="42" presetClass="entr" presetSubtype="0" fill="hold"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650"/>
                                        <p:tgtEl>
                                          <p:spTgt spid="11"/>
                                        </p:tgtEl>
                                      </p:cBhvr>
                                    </p:animEffect>
                                    <p:anim calcmode="lin" valueType="num">
                                      <p:cBhvr>
                                        <p:cTn id="61" dur="650" fill="hold"/>
                                        <p:tgtEl>
                                          <p:spTgt spid="11"/>
                                        </p:tgtEl>
                                        <p:attrNameLst>
                                          <p:attrName>ppt_y</p:attrName>
                                        </p:attrNameLst>
                                      </p:cBhvr>
                                      <p:tavLst>
                                        <p:tav tm="0">
                                          <p:val>
                                            <p:strVal val="#ppt_y+0.06"/>
                                          </p:val>
                                        </p:tav>
                                        <p:tav tm="100000">
                                          <p:val>
                                            <p:strVal val="#ppt_y"/>
                                          </p:val>
                                        </p:tav>
                                      </p:tavLst>
                                    </p:anim>
                                  </p:childTnLst>
                                </p:cTn>
                              </p:par>
                            </p:childTnLst>
                          </p:cTn>
                        </p:par>
                        <p:par>
                          <p:cTn id="65" fill="hold">
                            <p:stCondLst>
                              <p:cond delay="800"/>
                            </p:stCondLst>
                            <p:childTnLst>
                              <p:par>
                                <p:cTn id="63" presetID="0" presetClass="path" presetSubtype="0" fill="hold" nodeType="afterEffect">
                                  <p:stCondLst>
                                    <p:cond delay="0"/>
                                  </p:stCondLst>
                                  <p:childTnLst>
                                    <p:animMotion origin="layout" path="M 0 0 L 0.04163 -0.08600 L 0.08325 -0.05600 E" pathEditMode="relative" ptsTypes="">
                                      <p:cBhvr>
                                        <p:cTn id="64" dur="500" accel="20000" decel="50000" fill="hold"/>
                                        <p:tgtEl>
                                          <p:spTgt spid="19"/>
                                        </p:tgtEl>
                                        <p:attrNameLst>
                                          <p:attrName>ppt_x</p:attrName>
                                          <p:attrName>ppt_y</p:attrName>
                                        </p:attrNameLst>
                                      </p:cBhvr>
                                    </p:animMotion>
                                  </p:childTnLst>
                                </p:cTn>
                              </p:par>
                            </p:childTnLst>
                          </p:cTn>
                        </p:par>
                        <p:par>
                          <p:cTn id="70" fill="hold">
                            <p:stCondLst>
                              <p:cond delay="1300"/>
                            </p:stCondLst>
                            <p:childTnLst>
                              <p:par>
                                <p:cTn id="66" presetID="1" presetClass="exit" presetSubtype="0" fill="hold" nodeType="afterEffect">
                                  <p:stCondLst>
                                    <p:cond delay="0"/>
                                  </p:stCondLst>
                                  <p:childTnLst>
                                    <p:set>
                                      <p:cBhvr>
                                        <p:cTn id="67" dur="1" fill="hold">
                                          <p:stCondLst>
                                            <p:cond delay="0"/>
                                          </p:stCondLst>
                                        </p:cTn>
                                        <p:tgtEl>
                                          <p:spTgt spid="19"/>
                                        </p:tgtEl>
                                        <p:attrNameLst>
                                          <p:attrName>style.visibility</p:attrName>
                                        </p:attrNameLst>
                                      </p:cBhvr>
                                      <p:to>
                                        <p:strVal val="hidden"/>
                                      </p:to>
                                    </p:set>
                                  </p:childTnLst>
                                </p:cTn>
                              </p:par>
                              <p:par>
                                <p:cTn id="68" presetID="1" presetClass="entr" presetSubtype="0" fill="hold" nodeType="afterEffect">
                                  <p:stCondLst>
                                    <p:cond delay="0"/>
                                  </p:stCondLst>
                                  <p:childTnLst>
                                    <p:set>
                                      <p:cBhvr>
                                        <p:cTn id="69" dur="1" fill="hold">
                                          <p:stCondLst>
                                            <p:cond delay="0"/>
                                          </p:stCondLst>
                                        </p:cTn>
                                        <p:tgtEl>
                                          <p:spTgt spid="20"/>
                                        </p:tgtEl>
                                        <p:attrNameLst>
                                          <p:attrName>style.visibility</p:attrName>
                                        </p:attrNameLst>
                                      </p:cBhvr>
                                      <p:to>
                                        <p:strVal val="visible"/>
                                      </p:to>
                                    </p:set>
                                  </p:childTnLst>
                                </p:cTn>
                              </p:par>
                            </p:childTnLst>
                          </p:cTn>
                        </p:par>
                      </p:childTnLst>
                    </p:cTn>
                  </p:par>
                  <p:par>
                    <p:cTn id="71" fill="hold">
                      <p:stCondLst>
                        <p:cond delay="indefinite"/>
                      </p:stCondLst>
                      <p:childTnLst>
                        <p:par>
                          <p:cTn id="79"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wipe(down)">
                                      <p:cBhvr>
                                        <p:cTn id="74" dur="800"/>
                                        <p:tgtEl>
                                          <p:spTgt spid="12"/>
                                        </p:tgtEl>
                                      </p:cBhvr>
                                    </p:animEffect>
                                  </p:childTnLst>
                                </p:cTn>
                              </p:par>
                              <p:par>
                                <p:cTn id="75" presetID="42" presetClass="entr" presetSubtype="0" fill="hold" nodeType="with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fade">
                                      <p:cBhvr>
                                        <p:cTn id="77" dur="650"/>
                                        <p:tgtEl>
                                          <p:spTgt spid="13"/>
                                        </p:tgtEl>
                                      </p:cBhvr>
                                    </p:animEffect>
                                    <p:anim calcmode="lin" valueType="num">
                                      <p:cBhvr>
                                        <p:cTn id="78" dur="650" fill="hold"/>
                                        <p:tgtEl>
                                          <p:spTgt spid="13"/>
                                        </p:tgtEl>
                                        <p:attrNameLst>
                                          <p:attrName>ppt_y</p:attrName>
                                        </p:attrNameLst>
                                      </p:cBhvr>
                                      <p:tavLst>
                                        <p:tav tm="0">
                                          <p:val>
                                            <p:strVal val="#ppt_y+0.06"/>
                                          </p:val>
                                        </p:tav>
                                        <p:tav tm="100000">
                                          <p:val>
                                            <p:strVal val="#ppt_y"/>
                                          </p:val>
                                        </p:tav>
                                      </p:tavLst>
                                    </p:anim>
                                  </p:childTnLst>
                                </p:cTn>
                              </p:par>
                            </p:childTnLst>
                          </p:cTn>
                        </p:par>
                        <p:par>
                          <p:cTn id="82" fill="hold">
                            <p:stCondLst>
                              <p:cond delay="800"/>
                            </p:stCondLst>
                            <p:childTnLst>
                              <p:par>
                                <p:cTn id="80" presetID="0" presetClass="path" presetSubtype="0" fill="hold" nodeType="afterEffect">
                                  <p:stCondLst>
                                    <p:cond delay="0"/>
                                  </p:stCondLst>
                                  <p:childTnLst>
                                    <p:animMotion origin="layout" path="M 0 0 L 0.04163 -0.08600 L 0.08325 -0.05600 E" pathEditMode="relative" ptsTypes="">
                                      <p:cBhvr>
                                        <p:cTn id="81" dur="500" accel="20000" decel="50000" fill="hold"/>
                                        <p:tgtEl>
                                          <p:spTgt spid="20"/>
                                        </p:tgtEl>
                                        <p:attrNameLst>
                                          <p:attrName>ppt_x</p:attrName>
                                          <p:attrName>ppt_y</p:attrName>
                                        </p:attrNameLst>
                                      </p:cBhvr>
                                    </p:animMotion>
                                  </p:childTnLst>
                                </p:cTn>
                              </p:par>
                            </p:childTnLst>
                          </p:cTn>
                        </p:par>
                        <p:par>
                          <p:cTn id="87" fill="hold">
                            <p:stCondLst>
                              <p:cond delay="1300"/>
                            </p:stCondLst>
                            <p:childTnLst>
                              <p:par>
                                <p:cTn id="83" presetID="1" presetClass="exit" presetSubtype="0" fill="hold" nodeType="afterEffect">
                                  <p:stCondLst>
                                    <p:cond delay="0"/>
                                  </p:stCondLst>
                                  <p:childTnLst>
                                    <p:set>
                                      <p:cBhvr>
                                        <p:cTn id="84" dur="1" fill="hold">
                                          <p:stCondLst>
                                            <p:cond delay="0"/>
                                          </p:stCondLst>
                                        </p:cTn>
                                        <p:tgtEl>
                                          <p:spTgt spid="20"/>
                                        </p:tgtEl>
                                        <p:attrNameLst>
                                          <p:attrName>style.visibility</p:attrName>
                                        </p:attrNameLst>
                                      </p:cBhvr>
                                      <p:to>
                                        <p:strVal val="hidden"/>
                                      </p:to>
                                    </p:set>
                                  </p:childTnLst>
                                </p:cTn>
                              </p:par>
                              <p:par>
                                <p:cTn id="85" presetID="1" presetClass="entr" presetSubtype="0" fill="hold" nodeType="afterEffect">
                                  <p:stCondLst>
                                    <p:cond delay="0"/>
                                  </p:stCondLst>
                                  <p:childTnLst>
                                    <p:set>
                                      <p:cBhvr>
                                        <p:cTn id="86" dur="1" fill="hold">
                                          <p:stCondLst>
                                            <p:cond delay="0"/>
                                          </p:stCondLst>
                                        </p:cTn>
                                        <p:tgtEl>
                                          <p:spTgt spid="21"/>
                                        </p:tgtEl>
                                        <p:attrNameLst>
                                          <p:attrName>style.visibility</p:attrName>
                                        </p:attrNameLst>
                                      </p:cBhvr>
                                      <p:to>
                                        <p:strVal val="visible"/>
                                      </p:to>
                                    </p:set>
                                  </p:childTnLst>
                                </p:cTn>
                              </p:par>
                            </p:childTnLst>
                          </p:cTn>
                        </p:par>
                      </p:childTnLst>
                    </p:cTn>
                  </p:par>
                  <p:par>
                    <p:cTn id="88" fill="hold">
                      <p:stCondLst>
                        <p:cond delay="indefinite"/>
                      </p:stCondLst>
                      <p:childTnLst>
                        <p:par>
                          <p:cTn id="96"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14"/>
                                        </p:tgtEl>
                                        <p:attrNameLst>
                                          <p:attrName>style.visibility</p:attrName>
                                        </p:attrNameLst>
                                      </p:cBhvr>
                                      <p:to>
                                        <p:strVal val="visible"/>
                                      </p:to>
                                    </p:set>
                                    <p:animEffect transition="in" filter="wipe(down)">
                                      <p:cBhvr>
                                        <p:cTn id="91" dur="800"/>
                                        <p:tgtEl>
                                          <p:spTgt spid="14"/>
                                        </p:tgtEl>
                                      </p:cBhvr>
                                    </p:animEffect>
                                  </p:childTnLst>
                                </p:cTn>
                              </p:par>
                              <p:par>
                                <p:cTn id="92" presetID="42" presetClass="entr" presetSubtype="0" fill="hold" nodeType="withEffect">
                                  <p:stCondLst>
                                    <p:cond delay="0"/>
                                  </p:stCondLst>
                                  <p:childTnLst>
                                    <p:set>
                                      <p:cBhvr>
                                        <p:cTn id="93" dur="1" fill="hold">
                                          <p:stCondLst>
                                            <p:cond delay="0"/>
                                          </p:stCondLst>
                                        </p:cTn>
                                        <p:tgtEl>
                                          <p:spTgt spid="15"/>
                                        </p:tgtEl>
                                        <p:attrNameLst>
                                          <p:attrName>style.visibility</p:attrName>
                                        </p:attrNameLst>
                                      </p:cBhvr>
                                      <p:to>
                                        <p:strVal val="visible"/>
                                      </p:to>
                                    </p:set>
                                    <p:animEffect transition="in" filter="fade">
                                      <p:cBhvr>
                                        <p:cTn id="94" dur="650"/>
                                        <p:tgtEl>
                                          <p:spTgt spid="15"/>
                                        </p:tgtEl>
                                      </p:cBhvr>
                                    </p:animEffect>
                                    <p:anim calcmode="lin" valueType="num">
                                      <p:cBhvr>
                                        <p:cTn id="95" dur="650" fill="hold"/>
                                        <p:tgtEl>
                                          <p:spTgt spid="15"/>
                                        </p:tgtEl>
                                        <p:attrNameLst>
                                          <p:attrName>ppt_y</p:attrName>
                                        </p:attrNameLst>
                                      </p:cBhvr>
                                      <p:tavLst>
                                        <p:tav tm="0">
                                          <p:val>
                                            <p:strVal val="#ppt_y+0.06"/>
                                          </p:val>
                                        </p:tav>
                                        <p:tav tm="100000">
                                          <p:val>
                                            <p:strVal val="#ppt_y"/>
                                          </p:val>
                                        </p:tav>
                                      </p:tavLst>
                                    </p:anim>
                                  </p:childTnLst>
                                </p:cTn>
                              </p:par>
                            </p:childTnLst>
                          </p:cTn>
                        </p:par>
                        <p:par>
                          <p:cTn id="99" fill="hold">
                            <p:stCondLst>
                              <p:cond delay="800"/>
                            </p:stCondLst>
                            <p:childTnLst>
                              <p:par>
                                <p:cTn id="97" presetID="0" presetClass="path" presetSubtype="0" fill="hold" nodeType="afterEffect">
                                  <p:stCondLst>
                                    <p:cond delay="0"/>
                                  </p:stCondLst>
                                  <p:childTnLst>
                                    <p:animMotion origin="layout" path="M 0 0 L 0.04163 -0.08600 L 0.08325 -0.05600 E" pathEditMode="relative" ptsTypes="">
                                      <p:cBhvr>
                                        <p:cTn id="98" dur="500" accel="20000" decel="50000" fill="hold"/>
                                        <p:tgtEl>
                                          <p:spTgt spid="21"/>
                                        </p:tgtEl>
                                        <p:attrNameLst>
                                          <p:attrName>ppt_x</p:attrName>
                                          <p:attrName>ppt_y</p:attrName>
                                        </p:attrNameLst>
                                      </p:cBhvr>
                                    </p:animMotion>
                                  </p:childTnLst>
                                </p:cTn>
                              </p:par>
                            </p:childTnLst>
                          </p:cTn>
                        </p:par>
                        <p:par>
                          <p:cTn id="104" fill="hold">
                            <p:stCondLst>
                              <p:cond delay="1300"/>
                            </p:stCondLst>
                            <p:childTnLst>
                              <p:par>
                                <p:cTn id="100" presetID="1" presetClass="exit" presetSubtype="0" fill="hold" nodeType="afterEffect">
                                  <p:stCondLst>
                                    <p:cond delay="0"/>
                                  </p:stCondLst>
                                  <p:childTnLst>
                                    <p:set>
                                      <p:cBhvr>
                                        <p:cTn id="101" dur="1" fill="hold">
                                          <p:stCondLst>
                                            <p:cond delay="0"/>
                                          </p:stCondLst>
                                        </p:cTn>
                                        <p:tgtEl>
                                          <p:spTgt spid="21"/>
                                        </p:tgtEl>
                                        <p:attrNameLst>
                                          <p:attrName>style.visibility</p:attrName>
                                        </p:attrNameLst>
                                      </p:cBhvr>
                                      <p:to>
                                        <p:strVal val="hidden"/>
                                      </p:to>
                                    </p:set>
                                  </p:childTnLst>
                                </p:cTn>
                              </p:par>
                              <p:par>
                                <p:cTn id="102" presetID="1" presetClass="entr" presetSubtype="0" fill="hold" nodeType="afterEffect">
                                  <p:stCondLst>
                                    <p:cond delay="0"/>
                                  </p:stCondLst>
                                  <p:childTnLst>
                                    <p:set>
                                      <p:cBhvr>
                                        <p:cTn id="103" dur="1" fill="hold">
                                          <p:stCondLst>
                                            <p:cond delay="0"/>
                                          </p:stCondLst>
                                        </p:cTn>
                                        <p:tgtEl>
                                          <p:spTgt spid="22"/>
                                        </p:tgtEl>
                                        <p:attrNameLst>
                                          <p:attrName>style.visibility</p:attrName>
                                        </p:attrNameLst>
                                      </p:cBhvr>
                                      <p:to>
                                        <p:strVal val="visible"/>
                                      </p:to>
                                    </p:set>
                                  </p:childTnLst>
                                </p:cTn>
                              </p:par>
                            </p:childTnLst>
                          </p:cTn>
                        </p:par>
                      </p:childTnLst>
                    </p:cTn>
                  </p:par>
                  <p:par>
                    <p:cTn id="105" fill="hold">
                      <p:stCondLst>
                        <p:cond delay="indefinite"/>
                      </p:stCondLst>
                      <p:childTnLst>
                        <p:par>
                          <p:cTn id="113" fill="hold">
                            <p:stCondLst>
                              <p:cond delay="0"/>
                            </p:stCondLst>
                            <p:childTnLst>
                              <p:par>
                                <p:cTn id="106" presetID="22" presetClass="entr" presetSubtype="1" fill="hold" nodeType="clickEffect">
                                  <p:stCondLst>
                                    <p:cond delay="0"/>
                                  </p:stCondLst>
                                  <p:childTnLst>
                                    <p:set>
                                      <p:cBhvr>
                                        <p:cTn id="107" dur="1" fill="hold">
                                          <p:stCondLst>
                                            <p:cond delay="0"/>
                                          </p:stCondLst>
                                        </p:cTn>
                                        <p:tgtEl>
                                          <p:spTgt spid="16"/>
                                        </p:tgtEl>
                                        <p:attrNameLst>
                                          <p:attrName>style.visibility</p:attrName>
                                        </p:attrNameLst>
                                      </p:cBhvr>
                                      <p:to>
                                        <p:strVal val="visible"/>
                                      </p:to>
                                    </p:set>
                                    <p:animEffect transition="in" filter="wipe(down)">
                                      <p:cBhvr>
                                        <p:cTn id="108" dur="800"/>
                                        <p:tgtEl>
                                          <p:spTgt spid="16"/>
                                        </p:tgtEl>
                                      </p:cBhvr>
                                    </p:animEffect>
                                  </p:childTnLst>
                                </p:cTn>
                              </p:par>
                              <p:par>
                                <p:cTn id="109" presetID="42" presetClass="entr" presetSubtype="0" fill="hold" nodeType="withEffect">
                                  <p:stCondLst>
                                    <p:cond delay="0"/>
                                  </p:stCondLst>
                                  <p:childTnLst>
                                    <p:set>
                                      <p:cBhvr>
                                        <p:cTn id="110" dur="1" fill="hold">
                                          <p:stCondLst>
                                            <p:cond delay="0"/>
                                          </p:stCondLst>
                                        </p:cTn>
                                        <p:tgtEl>
                                          <p:spTgt spid="17"/>
                                        </p:tgtEl>
                                        <p:attrNameLst>
                                          <p:attrName>style.visibility</p:attrName>
                                        </p:attrNameLst>
                                      </p:cBhvr>
                                      <p:to>
                                        <p:strVal val="visible"/>
                                      </p:to>
                                    </p:set>
                                    <p:animEffect transition="in" filter="fade">
                                      <p:cBhvr>
                                        <p:cTn id="111" dur="650"/>
                                        <p:tgtEl>
                                          <p:spTgt spid="17"/>
                                        </p:tgtEl>
                                      </p:cBhvr>
                                    </p:animEffect>
                                    <p:anim calcmode="lin" valueType="num">
                                      <p:cBhvr>
                                        <p:cTn id="112" dur="650" fill="hold"/>
                                        <p:tgtEl>
                                          <p:spTgt spid="17"/>
                                        </p:tgtEl>
                                        <p:attrNameLst>
                                          <p:attrName>ppt_y</p:attrName>
                                        </p:attrNameLst>
                                      </p:cBhvr>
                                      <p:tavLst>
                                        <p:tav tm="0">
                                          <p:val>
                                            <p:strVal val="#ppt_y+0.06"/>
                                          </p:val>
                                        </p:tav>
                                        <p:tav tm="100000">
                                          <p:val>
                                            <p:strVal val="#ppt_y"/>
                                          </p:val>
                                        </p:tav>
                                      </p:tavLst>
                                    </p:anim>
                                  </p:childTnLst>
                                </p:cTn>
                              </p:par>
                            </p:childTnLst>
                          </p:cTn>
                        </p:par>
                        <p:par>
                          <p:cTn id="116" fill="hold">
                            <p:stCondLst>
                              <p:cond delay="800"/>
                            </p:stCondLst>
                            <p:childTnLst>
                              <p:par>
                                <p:cTn id="114" presetID="0" presetClass="path" presetSubtype="0" fill="hold" nodeType="afterEffect">
                                  <p:stCondLst>
                                    <p:cond delay="0"/>
                                  </p:stCondLst>
                                  <p:childTnLst>
                                    <p:animMotion origin="layout" path="M 0 0 L 0.04163 -0.08600 L 0.08325 -0.05600 E" pathEditMode="relative" ptsTypes="">
                                      <p:cBhvr>
                                        <p:cTn id="115" dur="500" accel="20000" decel="50000" fill="hold"/>
                                        <p:tgtEl>
                                          <p:spTgt spid="22"/>
                                        </p:tgtEl>
                                        <p:attrNameLst>
                                          <p:attrName>ppt_x</p:attrName>
                                          <p:attrName>ppt_y</p:attrName>
                                        </p:attrNameLst>
                                      </p:cBhvr>
                                    </p:animMotion>
                                  </p:childTnLst>
                                </p:cTn>
                              </p:par>
                            </p:childTnLst>
                          </p:cTn>
                        </p:par>
                        <p:par>
                          <p:cTn id="121" fill="hold">
                            <p:stCondLst>
                              <p:cond delay="1300"/>
                            </p:stCondLst>
                            <p:childTnLst>
                              <p:par>
                                <p:cTn id="117" presetID="1" presetClass="exit" presetSubtype="0" fill="hold" nodeType="afterEffect">
                                  <p:stCondLst>
                                    <p:cond delay="0"/>
                                  </p:stCondLst>
                                  <p:childTnLst>
                                    <p:set>
                                      <p:cBhvr>
                                        <p:cTn id="118" dur="1" fill="hold">
                                          <p:stCondLst>
                                            <p:cond delay="0"/>
                                          </p:stCondLst>
                                        </p:cTn>
                                        <p:tgtEl>
                                          <p:spTgt spid="22"/>
                                        </p:tgtEl>
                                        <p:attrNameLst>
                                          <p:attrName>style.visibility</p:attrName>
                                        </p:attrNameLst>
                                      </p:cBhvr>
                                      <p:to>
                                        <p:strVal val="hidden"/>
                                      </p:to>
                                    </p:set>
                                  </p:childTnLst>
                                </p:cTn>
                              </p:par>
                              <p:par>
                                <p:cTn id="119" presetID="1" presetClass="entr" presetSubtype="0" fill="hold" nodeType="afterEffect">
                                  <p:stCondLst>
                                    <p:cond delay="0"/>
                                  </p:stCondLst>
                                  <p:childTnLst>
                                    <p:set>
                                      <p:cBhvr>
                                        <p:cTn id="120" dur="1" fill="hold">
                                          <p:stCondLst>
                                            <p:cond delay="0"/>
                                          </p:stCondLst>
                                        </p:cTn>
                                        <p:tgtEl>
                                          <p:spTgt spid="23"/>
                                        </p:tgtEl>
                                        <p:attrNameLst>
                                          <p:attrName>style.visibility</p:attrName>
                                        </p:attrNameLst>
                                      </p:cBhvr>
                                      <p:to>
                                        <p:strVal val="visible"/>
                                      </p:to>
                                    </p:set>
                                  </p:childTnLst>
                                </p:cTn>
                              </p:par>
                            </p:childTnLst>
                          </p:cTn>
                        </p:par>
                      </p:childTnLst>
                    </p:cTn>
                  </p:par>
                  <p:par>
                    <p:cTn id="122" fill="hold">
                      <p:stCondLst>
                        <p:cond delay="indefinite"/>
                      </p:stCondLst>
                      <p:childTnLst>
                        <p:par>
                          <p:cTn id="127" fill="hold">
                            <p:stCondLst>
                              <p:cond delay="0"/>
                            </p:stCondLst>
                            <p:childTnLst>
                              <p:par>
                                <p:cTn id="123" presetID="42" presetClass="entr" presetSubtype="0" fill="hold" nodeType="clickEffect">
                                  <p:stCondLst>
                                    <p:cond delay="0"/>
                                  </p:stCondLst>
                                  <p:childTnLst>
                                    <p:set>
                                      <p:cBhvr>
                                        <p:cTn id="124" dur="1" fill="hold">
                                          <p:stCondLst>
                                            <p:cond delay="0"/>
                                          </p:stCondLst>
                                        </p:cTn>
                                        <p:tgtEl>
                                          <p:spTgt spid="24"/>
                                        </p:tgtEl>
                                        <p:attrNameLst>
                                          <p:attrName>style.visibility</p:attrName>
                                        </p:attrNameLst>
                                      </p:cBhvr>
                                      <p:to>
                                        <p:strVal val="visible"/>
                                      </p:to>
                                    </p:set>
                                    <p:animEffect transition="in" filter="fade">
                                      <p:cBhvr>
                                        <p:cTn id="125" dur="650"/>
                                        <p:tgtEl>
                                          <p:spTgt spid="24"/>
                                        </p:tgtEl>
                                      </p:cBhvr>
                                    </p:animEffect>
                                    <p:anim calcmode="lin" valueType="num">
                                      <p:cBhvr>
                                        <p:cTn id="126" dur="650" fill="hold"/>
                                        <p:tgtEl>
                                          <p:spTgt spid="24"/>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457200"/>
            <a:ext cx="7315200" cy="4572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The recipe XGBoost repeats for every tree</a:t>
            </a:r>
          </a:p>
        </p:txBody>
      </p:sp>
      <p:sp>
        <p:nvSpPr>
          <p:cNvPr id="3" name="TextBox 2"/>
          <p:cNvSpPr txBox="1"/>
          <p:nvPr/>
        </p:nvSpPr>
        <p:spPr>
          <a:xfrm>
            <a:off x="685800" y="777240"/>
            <a:ext cx="9144000" cy="914400"/>
          </a:xfrm>
          <a:prstGeom prst="rect">
            <a:avLst/>
          </a:prstGeom>
          <a:noFill/>
        </p:spPr>
        <p:txBody>
          <a:bodyPr wrap="square" lIns="0" rIns="0" tIns="0" bIns="0" anchor="t">
            <a:spAutoFit/>
          </a:bodyPr>
          <a:lstStyle/>
          <a:p>
            <a:pPr algn="l">
              <a:lnSpc>
                <a:spcPct val="88000"/>
              </a:lnSpc>
              <a:spcAft>
                <a:spcPts val="0"/>
              </a:spcAft>
            </a:pPr>
            <a:r>
              <a:rPr sz="4600" b="0" i="0">
                <a:solidFill>
                  <a:srgbClr val="262A33"/>
                </a:solidFill>
                <a:latin typeface="Bahnschrift Light"/>
              </a:rPr>
              <a:t>HOW ONE TREE IS BUILT</a:t>
            </a:r>
          </a:p>
        </p:txBody>
      </p:sp>
      <p:pic>
        <p:nvPicPr>
          <p:cNvPr id="4" name="Picture 3" descr="dots.png"/>
          <p:cNvPicPr>
            <a:picLocks noChangeAspect="1"/>
          </p:cNvPicPr>
          <p:nvPr/>
        </p:nvPicPr>
        <p:blipFill>
          <a:blip r:embed="rId2"/>
          <a:stretch>
            <a:fillRect/>
          </a:stretch>
        </p:blipFill>
        <p:spPr>
          <a:xfrm>
            <a:off x="9875520" y="411480"/>
            <a:ext cx="1645920" cy="868680"/>
          </a:xfrm>
          <a:prstGeom prst="rect">
            <a:avLst/>
          </a:prstGeom>
        </p:spPr>
      </p:pic>
      <p:cxnSp>
        <p:nvCxnSpPr>
          <p:cNvPr id="5" name="Connector 4"/>
          <p:cNvCxnSpPr/>
          <p:nvPr/>
        </p:nvCxnSpPr>
        <p:spPr>
          <a:xfrm>
            <a:off x="1143000" y="3017520"/>
            <a:ext cx="9875520" cy="0"/>
          </a:xfrm>
          <a:prstGeom prst="line">
            <a:avLst/>
          </a:prstGeom>
          <a:ln w="12700">
            <a:solidFill>
              <a:srgbClr val="262A33"/>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59536" y="2734056"/>
            <a:ext cx="566928" cy="566928"/>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a:solidFill>
                  <a:srgbClr val="E5E4E2"/>
                </a:solidFill>
                <a:latin typeface="Segoe UI Semibold"/>
              </a:rPr>
              <a:t>1</a:t>
            </a:r>
          </a:p>
        </p:txBody>
      </p:sp>
      <p:sp>
        <p:nvSpPr>
          <p:cNvPr id="7" name="TextBox 6"/>
          <p:cNvSpPr txBox="1"/>
          <p:nvPr/>
        </p:nvSpPr>
        <p:spPr>
          <a:xfrm>
            <a:off x="274320" y="3657600"/>
            <a:ext cx="1737360" cy="1737360"/>
          </a:xfrm>
          <a:prstGeom prst="rect">
            <a:avLst/>
          </a:prstGeom>
          <a:noFill/>
        </p:spPr>
        <p:txBody>
          <a:bodyPr wrap="square" lIns="0" rIns="0" tIns="0" bIns="0" anchor="t">
            <a:spAutoFit/>
          </a:bodyPr>
          <a:lstStyle/>
          <a:p>
            <a:pPr algn="ctr">
              <a:spcAft>
                <a:spcPts val="400"/>
              </a:spcAft>
            </a:pPr>
            <a:r>
              <a:rPr sz="1300" b="0" i="0">
                <a:solidFill>
                  <a:srgbClr val="262A33"/>
                </a:solidFill>
                <a:latin typeface="Segoe UI Semibold"/>
              </a:rPr>
              <a:t>Compute g and h</a:t>
            </a:r>
          </a:p>
          <a:p>
            <a:pPr algn="ctr">
              <a:spcAft>
                <a:spcPts val="400"/>
              </a:spcAft>
            </a:pPr>
            <a:r>
              <a:rPr sz="1100" b="0" i="0">
                <a:solidFill>
                  <a:srgbClr val="5B5F68"/>
                </a:solidFill>
                <a:latin typeface="Segoe UI"/>
              </a:rPr>
              <a:t>for every training sample, from the current predictions</a:t>
            </a:r>
          </a:p>
        </p:txBody>
      </p:sp>
      <p:sp>
        <p:nvSpPr>
          <p:cNvPr id="8" name="Oval 7"/>
          <p:cNvSpPr/>
          <p:nvPr/>
        </p:nvSpPr>
        <p:spPr>
          <a:xfrm>
            <a:off x="2834640" y="2734056"/>
            <a:ext cx="566928" cy="566928"/>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a:solidFill>
                  <a:srgbClr val="E5E4E2"/>
                </a:solidFill>
                <a:latin typeface="Segoe UI Semibold"/>
              </a:rPr>
              <a:t>2</a:t>
            </a:r>
          </a:p>
        </p:txBody>
      </p:sp>
      <p:sp>
        <p:nvSpPr>
          <p:cNvPr id="9" name="TextBox 8"/>
          <p:cNvSpPr txBox="1"/>
          <p:nvPr/>
        </p:nvSpPr>
        <p:spPr>
          <a:xfrm>
            <a:off x="2249424" y="3657600"/>
            <a:ext cx="1737360" cy="1737360"/>
          </a:xfrm>
          <a:prstGeom prst="rect">
            <a:avLst/>
          </a:prstGeom>
          <a:noFill/>
        </p:spPr>
        <p:txBody>
          <a:bodyPr wrap="square" lIns="0" rIns="0" tIns="0" bIns="0" anchor="t">
            <a:spAutoFit/>
          </a:bodyPr>
          <a:lstStyle/>
          <a:p>
            <a:pPr algn="ctr">
              <a:spcAft>
                <a:spcPts val="400"/>
              </a:spcAft>
            </a:pPr>
            <a:r>
              <a:rPr sz="1300" b="0" i="0">
                <a:solidFill>
                  <a:srgbClr val="262A33"/>
                </a:solidFill>
                <a:latin typeface="Segoe UI Semibold"/>
              </a:rPr>
              <a:t>Scan the splits</a:t>
            </a:r>
          </a:p>
          <a:p>
            <a:pPr algn="ctr">
              <a:spcAft>
                <a:spcPts val="400"/>
              </a:spcAft>
            </a:pPr>
            <a:r>
              <a:rPr sz="1100" b="0" i="0">
                <a:solidFill>
                  <a:srgbClr val="5B5F68"/>
                </a:solidFill>
                <a:latin typeface="Segoe UI"/>
              </a:rPr>
              <a:t>every feature, every histogram bin: sum G and H left and right</a:t>
            </a:r>
          </a:p>
        </p:txBody>
      </p:sp>
      <p:sp>
        <p:nvSpPr>
          <p:cNvPr id="10" name="Oval 9"/>
          <p:cNvSpPr/>
          <p:nvPr/>
        </p:nvSpPr>
        <p:spPr>
          <a:xfrm>
            <a:off x="4809744" y="2734056"/>
            <a:ext cx="566928" cy="566928"/>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a:solidFill>
                  <a:srgbClr val="E5E4E2"/>
                </a:solidFill>
                <a:latin typeface="Segoe UI Semibold"/>
              </a:rPr>
              <a:t>3</a:t>
            </a:r>
          </a:p>
        </p:txBody>
      </p:sp>
      <p:sp>
        <p:nvSpPr>
          <p:cNvPr id="11" name="TextBox 10"/>
          <p:cNvSpPr txBox="1"/>
          <p:nvPr/>
        </p:nvSpPr>
        <p:spPr>
          <a:xfrm>
            <a:off x="4224528" y="3657600"/>
            <a:ext cx="1737360" cy="1737360"/>
          </a:xfrm>
          <a:prstGeom prst="rect">
            <a:avLst/>
          </a:prstGeom>
          <a:noFill/>
        </p:spPr>
        <p:txBody>
          <a:bodyPr wrap="square" lIns="0" rIns="0" tIns="0" bIns="0" anchor="t">
            <a:spAutoFit/>
          </a:bodyPr>
          <a:lstStyle/>
          <a:p>
            <a:pPr algn="ctr">
              <a:spcAft>
                <a:spcPts val="400"/>
              </a:spcAft>
            </a:pPr>
            <a:r>
              <a:rPr sz="1300" b="0" i="0">
                <a:solidFill>
                  <a:srgbClr val="262A33"/>
                </a:solidFill>
                <a:latin typeface="Segoe UI Semibold"/>
              </a:rPr>
              <a:t>Keep the best</a:t>
            </a:r>
          </a:p>
          <a:p>
            <a:pPr algn="ctr">
              <a:spcAft>
                <a:spcPts val="400"/>
              </a:spcAft>
            </a:pPr>
            <a:r>
              <a:rPr sz="1100" b="0" i="0">
                <a:solidFill>
                  <a:srgbClr val="5B5F68"/>
                </a:solidFill>
                <a:latin typeface="Segoe UI"/>
              </a:rPr>
              <a:t>highest Gain wins, plus the best side for missing values</a:t>
            </a:r>
          </a:p>
        </p:txBody>
      </p:sp>
      <p:sp>
        <p:nvSpPr>
          <p:cNvPr id="12" name="Oval 11"/>
          <p:cNvSpPr/>
          <p:nvPr/>
        </p:nvSpPr>
        <p:spPr>
          <a:xfrm>
            <a:off x="6784848" y="2734056"/>
            <a:ext cx="566928" cy="566928"/>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a:solidFill>
                  <a:srgbClr val="E5E4E2"/>
                </a:solidFill>
                <a:latin typeface="Segoe UI Semibold"/>
              </a:rPr>
              <a:t>4</a:t>
            </a:r>
          </a:p>
        </p:txBody>
      </p:sp>
      <p:sp>
        <p:nvSpPr>
          <p:cNvPr id="13" name="TextBox 12"/>
          <p:cNvSpPr txBox="1"/>
          <p:nvPr/>
        </p:nvSpPr>
        <p:spPr>
          <a:xfrm>
            <a:off x="6199632" y="3657600"/>
            <a:ext cx="1737360" cy="1737360"/>
          </a:xfrm>
          <a:prstGeom prst="rect">
            <a:avLst/>
          </a:prstGeom>
          <a:noFill/>
        </p:spPr>
        <p:txBody>
          <a:bodyPr wrap="square" lIns="0" rIns="0" tIns="0" bIns="0" anchor="t">
            <a:spAutoFit/>
          </a:bodyPr>
          <a:lstStyle/>
          <a:p>
            <a:pPr algn="ctr">
              <a:spcAft>
                <a:spcPts val="400"/>
              </a:spcAft>
            </a:pPr>
            <a:r>
              <a:rPr sz="1300" b="0" i="0">
                <a:solidFill>
                  <a:srgbClr val="262A33"/>
                </a:solidFill>
                <a:latin typeface="Segoe UI Semibold"/>
              </a:rPr>
              <a:t>Grow or stop</a:t>
            </a:r>
          </a:p>
          <a:p>
            <a:pPr algn="ctr">
              <a:spcAft>
                <a:spcPts val="400"/>
              </a:spcAft>
            </a:pPr>
            <a:r>
              <a:rPr sz="1100" b="0" i="0">
                <a:solidFill>
                  <a:srgbClr val="5B5F68"/>
                </a:solidFill>
                <a:latin typeface="Segoe UI"/>
              </a:rPr>
              <a:t>stop at max_depth, when H &lt; min_child_weight, or Gain ≤ γ</a:t>
            </a:r>
          </a:p>
        </p:txBody>
      </p:sp>
      <p:sp>
        <p:nvSpPr>
          <p:cNvPr id="14" name="Oval 13"/>
          <p:cNvSpPr/>
          <p:nvPr/>
        </p:nvSpPr>
        <p:spPr>
          <a:xfrm>
            <a:off x="8759952" y="2734056"/>
            <a:ext cx="566928" cy="566928"/>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a:solidFill>
                  <a:srgbClr val="E5E4E2"/>
                </a:solidFill>
                <a:latin typeface="Segoe UI Semibold"/>
              </a:rPr>
              <a:t>5</a:t>
            </a:r>
          </a:p>
        </p:txBody>
      </p:sp>
      <p:sp>
        <p:nvSpPr>
          <p:cNvPr id="15" name="TextBox 14"/>
          <p:cNvSpPr txBox="1"/>
          <p:nvPr/>
        </p:nvSpPr>
        <p:spPr>
          <a:xfrm>
            <a:off x="8174736" y="3657600"/>
            <a:ext cx="1737360" cy="1737360"/>
          </a:xfrm>
          <a:prstGeom prst="rect">
            <a:avLst/>
          </a:prstGeom>
          <a:noFill/>
        </p:spPr>
        <p:txBody>
          <a:bodyPr wrap="square" lIns="0" rIns="0" tIns="0" bIns="0" anchor="t">
            <a:spAutoFit/>
          </a:bodyPr>
          <a:lstStyle/>
          <a:p>
            <a:pPr algn="ctr">
              <a:spcAft>
                <a:spcPts val="400"/>
              </a:spcAft>
            </a:pPr>
            <a:r>
              <a:rPr sz="1300" b="0" i="0">
                <a:solidFill>
                  <a:srgbClr val="262A33"/>
                </a:solidFill>
                <a:latin typeface="Segoe UI Semibold"/>
              </a:rPr>
              <a:t>Set leaf values</a:t>
            </a:r>
          </a:p>
          <a:p>
            <a:pPr algn="ctr">
              <a:spcAft>
                <a:spcPts val="400"/>
              </a:spcAft>
            </a:pPr>
            <a:r>
              <a:rPr sz="1100" b="0" i="0">
                <a:solidFill>
                  <a:srgbClr val="5B5F68"/>
                </a:solidFill>
                <a:latin typeface="Segoe UI"/>
              </a:rPr>
              <a:t>w = −G / (H + λ) for every leaf</a:t>
            </a:r>
          </a:p>
        </p:txBody>
      </p:sp>
      <p:sp>
        <p:nvSpPr>
          <p:cNvPr id="16" name="Oval 15"/>
          <p:cNvSpPr/>
          <p:nvPr/>
        </p:nvSpPr>
        <p:spPr>
          <a:xfrm>
            <a:off x="10735056" y="2734056"/>
            <a:ext cx="566928" cy="566928"/>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a:solidFill>
                  <a:srgbClr val="E5E4E2"/>
                </a:solidFill>
                <a:latin typeface="Segoe UI Semibold"/>
              </a:rPr>
              <a:t>6</a:t>
            </a:r>
          </a:p>
        </p:txBody>
      </p:sp>
      <p:sp>
        <p:nvSpPr>
          <p:cNvPr id="17" name="TextBox 16"/>
          <p:cNvSpPr txBox="1"/>
          <p:nvPr/>
        </p:nvSpPr>
        <p:spPr>
          <a:xfrm>
            <a:off x="10149840" y="3657600"/>
            <a:ext cx="1737360" cy="1737360"/>
          </a:xfrm>
          <a:prstGeom prst="rect">
            <a:avLst/>
          </a:prstGeom>
          <a:noFill/>
        </p:spPr>
        <p:txBody>
          <a:bodyPr wrap="square" lIns="0" rIns="0" tIns="0" bIns="0" anchor="t">
            <a:spAutoFit/>
          </a:bodyPr>
          <a:lstStyle/>
          <a:p>
            <a:pPr algn="ctr">
              <a:spcAft>
                <a:spcPts val="400"/>
              </a:spcAft>
            </a:pPr>
            <a:r>
              <a:rPr sz="1300" b="0" i="0">
                <a:solidFill>
                  <a:srgbClr val="262A33"/>
                </a:solidFill>
                <a:latin typeface="Segoe UI Semibold"/>
              </a:rPr>
              <a:t>Update &amp; repeat</a:t>
            </a:r>
          </a:p>
          <a:p>
            <a:pPr algn="ctr">
              <a:spcAft>
                <a:spcPts val="400"/>
              </a:spcAft>
            </a:pPr>
            <a:r>
              <a:rPr sz="1100" b="0" i="0">
                <a:solidFill>
                  <a:srgbClr val="5B5F68"/>
                </a:solidFill>
                <a:latin typeface="Segoe UI"/>
              </a:rPr>
              <a:t>add η·w to the predictions, then build the next tree</a:t>
            </a:r>
          </a:p>
        </p:txBody>
      </p:sp>
      <p:sp>
        <p:nvSpPr>
          <p:cNvPr id="18" name="rb0"/>
          <p:cNvSpPr/>
          <p:nvPr/>
        </p:nvSpPr>
        <p:spPr>
          <a:xfrm>
            <a:off x="1005840" y="2313432"/>
            <a:ext cx="274320" cy="274320"/>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b1"/>
          <p:cNvSpPr/>
          <p:nvPr/>
        </p:nvSpPr>
        <p:spPr>
          <a:xfrm>
            <a:off x="2980944" y="2313432"/>
            <a:ext cx="274320" cy="274320"/>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b2"/>
          <p:cNvSpPr/>
          <p:nvPr/>
        </p:nvSpPr>
        <p:spPr>
          <a:xfrm>
            <a:off x="4956048" y="2313432"/>
            <a:ext cx="274320" cy="274320"/>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b3"/>
          <p:cNvSpPr/>
          <p:nvPr/>
        </p:nvSpPr>
        <p:spPr>
          <a:xfrm>
            <a:off x="6931152" y="2313432"/>
            <a:ext cx="274320" cy="274320"/>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b4"/>
          <p:cNvSpPr/>
          <p:nvPr/>
        </p:nvSpPr>
        <p:spPr>
          <a:xfrm>
            <a:off x="8906256" y="2313432"/>
            <a:ext cx="274320" cy="274320"/>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b5"/>
          <p:cNvSpPr/>
          <p:nvPr/>
        </p:nvSpPr>
        <p:spPr>
          <a:xfrm>
            <a:off x="10881360" y="2313432"/>
            <a:ext cx="274320" cy="274320"/>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715000"/>
            <a:ext cx="10789920" cy="548640"/>
          </a:xfrm>
          <a:prstGeom prst="rect">
            <a:avLst/>
          </a:prstGeom>
          <a:noFill/>
        </p:spPr>
        <p:txBody>
          <a:bodyPr wrap="square" lIns="0" rIns="0" tIns="0" bIns="0" anchor="t">
            <a:spAutoFit/>
          </a:bodyPr>
          <a:lstStyle/>
          <a:p>
            <a:pPr algn="ctr">
              <a:spcAft>
                <a:spcPts val="0"/>
              </a:spcAft>
            </a:pPr>
            <a:r>
              <a:rPr sz="2000" b="0" i="0">
                <a:solidFill>
                  <a:srgbClr val="B5543A"/>
                </a:solidFill>
                <a:latin typeface="Segoe UI"/>
              </a:rPr>
              <a:t>↺  </a:t>
            </a:r>
            <a:r>
              <a:rPr sz="1300" b="0" i="0">
                <a:solidFill>
                  <a:srgbClr val="262A33"/>
                </a:solidFill>
                <a:latin typeface="Segoe UI"/>
              </a:rPr>
              <a:t>Repeat for the next tree. Early stopping watches the validation loss and stops when it no longer improves.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9" fill="hold">
                            <p:stCondLst>
                              <p:cond delay="900"/>
                            </p:stCondLst>
                            <p:childTnLst>
                              <p:par>
                                <p:cTn id="16" presetID="22" presetClass="entr" presetSubtype="8"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700"/>
                                        <p:tgtEl>
                                          <p:spTgt spid="5"/>
                                        </p:tgtEl>
                                      </p:cBhvr>
                                    </p:animEffect>
                                  </p:childTnLst>
                                </p:cTn>
                              </p:par>
                            </p:childTnLst>
                          </p:cTn>
                        </p:par>
                        <p:par>
                          <p:cTn id="25" fill="hold">
                            <p:stCondLst>
                              <p:cond delay="1500"/>
                            </p:stCondLst>
                            <p:childTnLst>
                              <p:par>
                                <p:cTn id="20" presetID="53" presetClass="entr" presetSubtype="16"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anim calcmode="lin" valueType="num">
                                      <p:cBhvr>
                                        <p:cTn id="23" dur="550" fill="hold"/>
                                        <p:tgtEl>
                                          <p:spTgt spid="6"/>
                                        </p:tgtEl>
                                        <p:attrNameLst>
                                          <p:attrName>ppt_w</p:attrName>
                                        </p:attrNameLst>
                                      </p:cBhvr>
                                      <p:tavLst>
                                        <p:tav tm="0">
                                          <p:val>
                                            <p:strVal val="#ppt_w*0.8"/>
                                          </p:val>
                                        </p:tav>
                                        <p:tav tm="100000">
                                          <p:val>
                                            <p:strVal val="#ppt_w"/>
                                          </p:val>
                                        </p:tav>
                                      </p:tavLst>
                                    </p:anim>
                                    <p:anim calcmode="lin" valueType="num">
                                      <p:cBhvr>
                                        <p:cTn id="24" dur="550" fill="hold"/>
                                        <p:tgtEl>
                                          <p:spTgt spid="6"/>
                                        </p:tgtEl>
                                        <p:attrNameLst>
                                          <p:attrName>ppt_h</p:attrName>
                                        </p:attrNameLst>
                                      </p:cBhvr>
                                      <p:tavLst>
                                        <p:tav tm="0">
                                          <p:val>
                                            <p:strVal val="#ppt_h*0.8"/>
                                          </p:val>
                                        </p:tav>
                                        <p:tav tm="100000">
                                          <p:val>
                                            <p:strVal val="#ppt_h"/>
                                          </p:val>
                                        </p:tav>
                                      </p:tavLst>
                                    </p:anim>
                                  </p:childTnLst>
                                </p:cTn>
                              </p:par>
                            </p:childTnLst>
                          </p:cTn>
                        </p:par>
                        <p:par>
                          <p:cTn id="31" fill="hold">
                            <p:stCondLst>
                              <p:cond delay="2250"/>
                            </p:stCondLst>
                            <p:childTnLst>
                              <p:par>
                                <p:cTn id="26" presetID="53" presetClass="entr" presetSubtype="16"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50"/>
                                        <p:tgtEl>
                                          <p:spTgt spid="8"/>
                                        </p:tgtEl>
                                      </p:cBhvr>
                                    </p:animEffect>
                                    <p:anim calcmode="lin" valueType="num">
                                      <p:cBhvr>
                                        <p:cTn id="29" dur="550" fill="hold"/>
                                        <p:tgtEl>
                                          <p:spTgt spid="8"/>
                                        </p:tgtEl>
                                        <p:attrNameLst>
                                          <p:attrName>ppt_w</p:attrName>
                                        </p:attrNameLst>
                                      </p:cBhvr>
                                      <p:tavLst>
                                        <p:tav tm="0">
                                          <p:val>
                                            <p:strVal val="#ppt_w*0.8"/>
                                          </p:val>
                                        </p:tav>
                                        <p:tav tm="100000">
                                          <p:val>
                                            <p:strVal val="#ppt_w"/>
                                          </p:val>
                                        </p:tav>
                                      </p:tavLst>
                                    </p:anim>
                                    <p:anim calcmode="lin" valueType="num">
                                      <p:cBhvr>
                                        <p:cTn id="30" dur="550" fill="hold"/>
                                        <p:tgtEl>
                                          <p:spTgt spid="8"/>
                                        </p:tgtEl>
                                        <p:attrNameLst>
                                          <p:attrName>ppt_h</p:attrName>
                                        </p:attrNameLst>
                                      </p:cBhvr>
                                      <p:tavLst>
                                        <p:tav tm="0">
                                          <p:val>
                                            <p:strVal val="#ppt_h*0.8"/>
                                          </p:val>
                                        </p:tav>
                                        <p:tav tm="100000">
                                          <p:val>
                                            <p:strVal val="#ppt_h"/>
                                          </p:val>
                                        </p:tav>
                                      </p:tavLst>
                                    </p:anim>
                                  </p:childTnLst>
                                </p:cTn>
                              </p:par>
                            </p:childTnLst>
                          </p:cTn>
                        </p:par>
                        <p:par>
                          <p:cTn id="37" fill="hold">
                            <p:stCondLst>
                              <p:cond delay="3150"/>
                            </p:stCondLst>
                            <p:childTnLst>
                              <p:par>
                                <p:cTn id="32" presetID="53" presetClass="entr" presetSubtype="16"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anim calcmode="lin" valueType="num">
                                      <p:cBhvr>
                                        <p:cTn id="35" dur="550" fill="hold"/>
                                        <p:tgtEl>
                                          <p:spTgt spid="10"/>
                                        </p:tgtEl>
                                        <p:attrNameLst>
                                          <p:attrName>ppt_w</p:attrName>
                                        </p:attrNameLst>
                                      </p:cBhvr>
                                      <p:tavLst>
                                        <p:tav tm="0">
                                          <p:val>
                                            <p:strVal val="#ppt_w*0.8"/>
                                          </p:val>
                                        </p:tav>
                                        <p:tav tm="100000">
                                          <p:val>
                                            <p:strVal val="#ppt_w"/>
                                          </p:val>
                                        </p:tav>
                                      </p:tavLst>
                                    </p:anim>
                                    <p:anim calcmode="lin" valueType="num">
                                      <p:cBhvr>
                                        <p:cTn id="36" dur="550" fill="hold"/>
                                        <p:tgtEl>
                                          <p:spTgt spid="10"/>
                                        </p:tgtEl>
                                        <p:attrNameLst>
                                          <p:attrName>ppt_h</p:attrName>
                                        </p:attrNameLst>
                                      </p:cBhvr>
                                      <p:tavLst>
                                        <p:tav tm="0">
                                          <p:val>
                                            <p:strVal val="#ppt_h*0.8"/>
                                          </p:val>
                                        </p:tav>
                                        <p:tav tm="100000">
                                          <p:val>
                                            <p:strVal val="#ppt_h"/>
                                          </p:val>
                                        </p:tav>
                                      </p:tavLst>
                                    </p:anim>
                                  </p:childTnLst>
                                </p:cTn>
                              </p:par>
                            </p:childTnLst>
                          </p:cTn>
                        </p:par>
                        <p:par>
                          <p:cTn id="43" fill="hold">
                            <p:stCondLst>
                              <p:cond delay="4200"/>
                            </p:stCondLst>
                            <p:childTnLst>
                              <p:par>
                                <p:cTn id="38" presetID="53" presetClass="entr" presetSubtype="16"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50"/>
                                        <p:tgtEl>
                                          <p:spTgt spid="12"/>
                                        </p:tgtEl>
                                      </p:cBhvr>
                                    </p:animEffect>
                                    <p:anim calcmode="lin" valueType="num">
                                      <p:cBhvr>
                                        <p:cTn id="41" dur="550" fill="hold"/>
                                        <p:tgtEl>
                                          <p:spTgt spid="12"/>
                                        </p:tgtEl>
                                        <p:attrNameLst>
                                          <p:attrName>ppt_w</p:attrName>
                                        </p:attrNameLst>
                                      </p:cBhvr>
                                      <p:tavLst>
                                        <p:tav tm="0">
                                          <p:val>
                                            <p:strVal val="#ppt_w*0.8"/>
                                          </p:val>
                                        </p:tav>
                                        <p:tav tm="100000">
                                          <p:val>
                                            <p:strVal val="#ppt_w"/>
                                          </p:val>
                                        </p:tav>
                                      </p:tavLst>
                                    </p:anim>
                                    <p:anim calcmode="lin" valueType="num">
                                      <p:cBhvr>
                                        <p:cTn id="42" dur="550" fill="hold"/>
                                        <p:tgtEl>
                                          <p:spTgt spid="12"/>
                                        </p:tgtEl>
                                        <p:attrNameLst>
                                          <p:attrName>ppt_h</p:attrName>
                                        </p:attrNameLst>
                                      </p:cBhvr>
                                      <p:tavLst>
                                        <p:tav tm="0">
                                          <p:val>
                                            <p:strVal val="#ppt_h*0.8"/>
                                          </p:val>
                                        </p:tav>
                                        <p:tav tm="100000">
                                          <p:val>
                                            <p:strVal val="#ppt_h"/>
                                          </p:val>
                                        </p:tav>
                                      </p:tavLst>
                                    </p:anim>
                                  </p:childTnLst>
                                </p:cTn>
                              </p:par>
                            </p:childTnLst>
                          </p:cTn>
                        </p:par>
                        <p:par>
                          <p:cTn id="49" fill="hold">
                            <p:stCondLst>
                              <p:cond delay="5400"/>
                            </p:stCondLst>
                            <p:childTnLst>
                              <p:par>
                                <p:cTn id="44" presetID="53" presetClass="entr" presetSubtype="16" fill="hold"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50"/>
                                        <p:tgtEl>
                                          <p:spTgt spid="14"/>
                                        </p:tgtEl>
                                      </p:cBhvr>
                                    </p:animEffect>
                                    <p:anim calcmode="lin" valueType="num">
                                      <p:cBhvr>
                                        <p:cTn id="47" dur="550" fill="hold"/>
                                        <p:tgtEl>
                                          <p:spTgt spid="14"/>
                                        </p:tgtEl>
                                        <p:attrNameLst>
                                          <p:attrName>ppt_w</p:attrName>
                                        </p:attrNameLst>
                                      </p:cBhvr>
                                      <p:tavLst>
                                        <p:tav tm="0">
                                          <p:val>
                                            <p:strVal val="#ppt_w*0.8"/>
                                          </p:val>
                                        </p:tav>
                                        <p:tav tm="100000">
                                          <p:val>
                                            <p:strVal val="#ppt_w"/>
                                          </p:val>
                                        </p:tav>
                                      </p:tavLst>
                                    </p:anim>
                                    <p:anim calcmode="lin" valueType="num">
                                      <p:cBhvr>
                                        <p:cTn id="48" dur="550" fill="hold"/>
                                        <p:tgtEl>
                                          <p:spTgt spid="14"/>
                                        </p:tgtEl>
                                        <p:attrNameLst>
                                          <p:attrName>ppt_h</p:attrName>
                                        </p:attrNameLst>
                                      </p:cBhvr>
                                      <p:tavLst>
                                        <p:tav tm="0">
                                          <p:val>
                                            <p:strVal val="#ppt_h*0.8"/>
                                          </p:val>
                                        </p:tav>
                                        <p:tav tm="100000">
                                          <p:val>
                                            <p:strVal val="#ppt_h"/>
                                          </p:val>
                                        </p:tav>
                                      </p:tavLst>
                                    </p:anim>
                                  </p:childTnLst>
                                </p:cTn>
                              </p:par>
                            </p:childTnLst>
                          </p:cTn>
                        </p:par>
                        <p:par>
                          <p:cTn id="55" fill="hold">
                            <p:stCondLst>
                              <p:cond delay="6750"/>
                            </p:stCondLst>
                            <p:childTnLst>
                              <p:par>
                                <p:cTn id="50" presetID="53" presetClass="entr" presetSubtype="16"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p:cTn id="53" dur="550" fill="hold"/>
                                        <p:tgtEl>
                                          <p:spTgt spid="16"/>
                                        </p:tgtEl>
                                        <p:attrNameLst>
                                          <p:attrName>ppt_w</p:attrName>
                                        </p:attrNameLst>
                                      </p:cBhvr>
                                      <p:tavLst>
                                        <p:tav tm="0">
                                          <p:val>
                                            <p:strVal val="#ppt_w*0.8"/>
                                          </p:val>
                                        </p:tav>
                                        <p:tav tm="100000">
                                          <p:val>
                                            <p:strVal val="#ppt_w"/>
                                          </p:val>
                                        </p:tav>
                                      </p:tavLst>
                                    </p:anim>
                                    <p:anim calcmode="lin" valueType="num">
                                      <p:cBhvr>
                                        <p:cTn id="54" dur="550" fill="hold"/>
                                        <p:tgtEl>
                                          <p:spTgt spid="16"/>
                                        </p:tgtEl>
                                        <p:attrNameLst>
                                          <p:attrName>ppt_h</p:attrName>
                                        </p:attrNameLst>
                                      </p:cBhvr>
                                      <p:tavLst>
                                        <p:tav tm="0">
                                          <p:val>
                                            <p:strVal val="#ppt_h*0.8"/>
                                          </p:val>
                                        </p:tav>
                                        <p:tav tm="100000">
                                          <p:val>
                                            <p:strVal val="#ppt_h"/>
                                          </p:val>
                                        </p:tav>
                                      </p:tavLst>
                                    </p:anim>
                                  </p:childTnLst>
                                </p:cTn>
                              </p:par>
                            </p:childTnLst>
                          </p:cTn>
                        </p:par>
                        <p:par>
                          <p:cTn id="61" fill="hold">
                            <p:stCondLst>
                              <p:cond delay="8250"/>
                            </p:stCondLst>
                            <p:childTnLst>
                              <p:par>
                                <p:cTn id="56" presetID="53" presetClass="entr" presetSubtype="16"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p:cTn id="59" dur="550" fill="hold"/>
                                        <p:tgtEl>
                                          <p:spTgt spid="18"/>
                                        </p:tgtEl>
                                        <p:attrNameLst>
                                          <p:attrName>ppt_w</p:attrName>
                                        </p:attrNameLst>
                                      </p:cBhvr>
                                      <p:tavLst>
                                        <p:tav tm="0">
                                          <p:val>
                                            <p:strVal val="#ppt_w*0.8"/>
                                          </p:val>
                                        </p:tav>
                                        <p:tav tm="100000">
                                          <p:val>
                                            <p:strVal val="#ppt_w"/>
                                          </p:val>
                                        </p:tav>
                                      </p:tavLst>
                                    </p:anim>
                                    <p:anim calcmode="lin" valueType="num">
                                      <p:cBhvr>
                                        <p:cTn id="60" dur="550" fill="hold"/>
                                        <p:tgtEl>
                                          <p:spTgt spid="18"/>
                                        </p:tgtEl>
                                        <p:attrNameLst>
                                          <p:attrName>ppt_h</p:attrName>
                                        </p:attrNameLst>
                                      </p:cBhvr>
                                      <p:tavLst>
                                        <p:tav tm="0">
                                          <p:val>
                                            <p:strVal val="#ppt_h*0.8"/>
                                          </p:val>
                                        </p:tav>
                                        <p:tav tm="100000">
                                          <p:val>
                                            <p:strVal val="#ppt_h"/>
                                          </p:val>
                                        </p:tav>
                                      </p:tavLst>
                                    </p:anim>
                                  </p:childTnLst>
                                </p:cTn>
                              </p:par>
                            </p:childTnLst>
                          </p:cTn>
                        </p:par>
                        <p:par>
                          <p:cTn id="66" fill="hold">
                            <p:stCondLst>
                              <p:cond delay="9900"/>
                            </p:stCondLst>
                            <p:childTnLst>
                              <p:par>
                                <p:cTn id="62" presetID="42" presetClass="entr" presetSubtype="0" fill="hold" nodeType="with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fade">
                                      <p:cBhvr>
                                        <p:cTn id="64" dur="650"/>
                                        <p:tgtEl>
                                          <p:spTgt spid="7"/>
                                        </p:tgtEl>
                                      </p:cBhvr>
                                    </p:animEffect>
                                    <p:anim calcmode="lin" valueType="num">
                                      <p:cBhvr>
                                        <p:cTn id="65" dur="650" fill="hold"/>
                                        <p:tgtEl>
                                          <p:spTgt spid="7"/>
                                        </p:tgtEl>
                                        <p:attrNameLst>
                                          <p:attrName>ppt_y</p:attrName>
                                        </p:attrNameLst>
                                      </p:cBhvr>
                                      <p:tavLst>
                                        <p:tav tm="0">
                                          <p:val>
                                            <p:strVal val="#ppt_y+0.06"/>
                                          </p:val>
                                        </p:tav>
                                        <p:tav tm="100000">
                                          <p:val>
                                            <p:strVal val="#ppt_y"/>
                                          </p:val>
                                        </p:tav>
                                      </p:tavLst>
                                    </p:anim>
                                  </p:childTnLst>
                                </p:cTn>
                              </p:par>
                            </p:childTnLst>
                          </p:cTn>
                        </p:par>
                      </p:childTnLst>
                    </p:cTn>
                  </p:par>
                  <p:par>
                    <p:cTn id="67" fill="hold">
                      <p:stCondLst>
                        <p:cond delay="indefinite"/>
                      </p:stCondLst>
                      <p:childTnLst>
                        <p:par>
                          <p:cTn id="70" fill="hold">
                            <p:stCondLst>
                              <p:cond delay="0"/>
                            </p:stCondLst>
                            <p:childTnLst>
                              <p:par>
                                <p:cTn id="68" presetID="0" presetClass="path" presetSubtype="0" fill="hold" nodeType="clickEffect">
                                  <p:stCondLst>
                                    <p:cond delay="0"/>
                                  </p:stCondLst>
                                  <p:childTnLst>
                                    <p:animMotion origin="layout" path="M 0 0 L 0.16200 0 E" pathEditMode="relative" ptsTypes="">
                                      <p:cBhvr>
                                        <p:cTn id="69" dur="600" accel="20000" decel="50000" fill="hold"/>
                                        <p:tgtEl>
                                          <p:spTgt spid="18"/>
                                        </p:tgtEl>
                                        <p:attrNameLst>
                                          <p:attrName>ppt_x</p:attrName>
                                          <p:attrName>ppt_y</p:attrName>
                                        </p:attrNameLst>
                                      </p:cBhvr>
                                    </p:animMotion>
                                  </p:childTnLst>
                                </p:cTn>
                              </p:par>
                            </p:childTnLst>
                          </p:cTn>
                        </p:par>
                        <p:par>
                          <p:cTn id="79" fill="hold">
                            <p:stCondLst>
                              <p:cond delay="600"/>
                            </p:stCondLst>
                            <p:childTnLst>
                              <p:par>
                                <p:cTn id="71" presetID="1" presetClass="exit" presetSubtype="0" fill="hold" nodeType="afterEffect">
                                  <p:stCondLst>
                                    <p:cond delay="0"/>
                                  </p:stCondLst>
                                  <p:childTnLst>
                                    <p:set>
                                      <p:cBhvr>
                                        <p:cTn id="72" dur="1" fill="hold">
                                          <p:stCondLst>
                                            <p:cond delay="0"/>
                                          </p:stCondLst>
                                        </p:cTn>
                                        <p:tgtEl>
                                          <p:spTgt spid="18"/>
                                        </p:tgtEl>
                                        <p:attrNameLst>
                                          <p:attrName>style.visibility</p:attrName>
                                        </p:attrNameLst>
                                      </p:cBhvr>
                                      <p:to>
                                        <p:strVal val="hidden"/>
                                      </p:to>
                                    </p:set>
                                  </p:childTnLst>
                                </p:cTn>
                              </p:par>
                              <p:par>
                                <p:cTn id="73" presetID="1" presetClass="entr" presetSubtype="0" fill="hold" nodeType="afterEffect">
                                  <p:stCondLst>
                                    <p:cond delay="0"/>
                                  </p:stCondLst>
                                  <p:childTnLst>
                                    <p:set>
                                      <p:cBhvr>
                                        <p:cTn id="74" dur="1" fill="hold">
                                          <p:stCondLst>
                                            <p:cond delay="0"/>
                                          </p:stCondLst>
                                        </p:cTn>
                                        <p:tgtEl>
                                          <p:spTgt spid="19"/>
                                        </p:tgtEl>
                                        <p:attrNameLst>
                                          <p:attrName>style.visibility</p:attrName>
                                        </p:attrNameLst>
                                      </p:cBhvr>
                                      <p:to>
                                        <p:strVal val="visible"/>
                                      </p:to>
                                    </p:set>
                                  </p:childTnLst>
                                </p:cTn>
                              </p:par>
                              <p:par>
                                <p:cTn id="75" presetID="42" presetClass="entr" presetSubtype="0" fill="hold" nodeType="afterEffect">
                                  <p:stCondLst>
                                    <p:cond delay="0"/>
                                  </p:stCondLst>
                                  <p:childTnLst>
                                    <p:set>
                                      <p:cBhvr>
                                        <p:cTn id="76" dur="1" fill="hold">
                                          <p:stCondLst>
                                            <p:cond delay="0"/>
                                          </p:stCondLst>
                                        </p:cTn>
                                        <p:tgtEl>
                                          <p:spTgt spid="9"/>
                                        </p:tgtEl>
                                        <p:attrNameLst>
                                          <p:attrName>style.visibility</p:attrName>
                                        </p:attrNameLst>
                                      </p:cBhvr>
                                      <p:to>
                                        <p:strVal val="visible"/>
                                      </p:to>
                                    </p:set>
                                    <p:animEffect transition="in" filter="fade">
                                      <p:cBhvr>
                                        <p:cTn id="77" dur="650"/>
                                        <p:tgtEl>
                                          <p:spTgt spid="9"/>
                                        </p:tgtEl>
                                      </p:cBhvr>
                                    </p:animEffect>
                                    <p:anim calcmode="lin" valueType="num">
                                      <p:cBhvr>
                                        <p:cTn id="78" dur="650" fill="hold"/>
                                        <p:tgtEl>
                                          <p:spTgt spid="9"/>
                                        </p:tgtEl>
                                        <p:attrNameLst>
                                          <p:attrName>ppt_y</p:attrName>
                                        </p:attrNameLst>
                                      </p:cBhvr>
                                      <p:tavLst>
                                        <p:tav tm="0">
                                          <p:val>
                                            <p:strVal val="#ppt_y+0.06"/>
                                          </p:val>
                                        </p:tav>
                                        <p:tav tm="100000">
                                          <p:val>
                                            <p:strVal val="#ppt_y"/>
                                          </p:val>
                                        </p:tav>
                                      </p:tavLst>
                                    </p:anim>
                                  </p:childTnLst>
                                </p:cTn>
                              </p:par>
                            </p:childTnLst>
                          </p:cTn>
                        </p:par>
                      </p:childTnLst>
                    </p:cTn>
                  </p:par>
                  <p:par>
                    <p:cTn id="80" fill="hold">
                      <p:stCondLst>
                        <p:cond delay="indefinite"/>
                      </p:stCondLst>
                      <p:childTnLst>
                        <p:par>
                          <p:cTn id="83" fill="hold">
                            <p:stCondLst>
                              <p:cond delay="0"/>
                            </p:stCondLst>
                            <p:childTnLst>
                              <p:par>
                                <p:cTn id="81" presetID="0" presetClass="path" presetSubtype="0" fill="hold" nodeType="clickEffect">
                                  <p:stCondLst>
                                    <p:cond delay="0"/>
                                  </p:stCondLst>
                                  <p:childTnLst>
                                    <p:animMotion origin="layout" path="M 0 0 L 0.16200 0 E" pathEditMode="relative" ptsTypes="">
                                      <p:cBhvr>
                                        <p:cTn id="82" dur="600" accel="20000" decel="50000" fill="hold"/>
                                        <p:tgtEl>
                                          <p:spTgt spid="19"/>
                                        </p:tgtEl>
                                        <p:attrNameLst>
                                          <p:attrName>ppt_x</p:attrName>
                                          <p:attrName>ppt_y</p:attrName>
                                        </p:attrNameLst>
                                      </p:cBhvr>
                                    </p:animMotion>
                                  </p:childTnLst>
                                </p:cTn>
                              </p:par>
                            </p:childTnLst>
                          </p:cTn>
                        </p:par>
                        <p:par>
                          <p:cTn id="92" fill="hold">
                            <p:stCondLst>
                              <p:cond delay="600"/>
                            </p:stCondLst>
                            <p:childTnLst>
                              <p:par>
                                <p:cTn id="84" presetID="1" presetClass="exit" presetSubtype="0" fill="hold" nodeType="afterEffect">
                                  <p:stCondLst>
                                    <p:cond delay="0"/>
                                  </p:stCondLst>
                                  <p:childTnLst>
                                    <p:set>
                                      <p:cBhvr>
                                        <p:cTn id="85" dur="1" fill="hold">
                                          <p:stCondLst>
                                            <p:cond delay="0"/>
                                          </p:stCondLst>
                                        </p:cTn>
                                        <p:tgtEl>
                                          <p:spTgt spid="19"/>
                                        </p:tgtEl>
                                        <p:attrNameLst>
                                          <p:attrName>style.visibility</p:attrName>
                                        </p:attrNameLst>
                                      </p:cBhvr>
                                      <p:to>
                                        <p:strVal val="hidden"/>
                                      </p:to>
                                    </p:set>
                                  </p:childTnLst>
                                </p:cTn>
                              </p:par>
                              <p:par>
                                <p:cTn id="86" presetID="1" presetClass="entr" presetSubtype="0" fill="hold" nodeType="afterEffect">
                                  <p:stCondLst>
                                    <p:cond delay="0"/>
                                  </p:stCondLst>
                                  <p:childTnLst>
                                    <p:set>
                                      <p:cBhvr>
                                        <p:cTn id="87" dur="1" fill="hold">
                                          <p:stCondLst>
                                            <p:cond delay="0"/>
                                          </p:stCondLst>
                                        </p:cTn>
                                        <p:tgtEl>
                                          <p:spTgt spid="20"/>
                                        </p:tgtEl>
                                        <p:attrNameLst>
                                          <p:attrName>style.visibility</p:attrName>
                                        </p:attrNameLst>
                                      </p:cBhvr>
                                      <p:to>
                                        <p:strVal val="visible"/>
                                      </p:to>
                                    </p:set>
                                  </p:childTnLst>
                                </p:cTn>
                              </p:par>
                              <p:par>
                                <p:cTn id="88" presetID="42" presetClass="entr" presetSubtype="0" fill="hold" nodeType="afterEffect">
                                  <p:stCondLst>
                                    <p:cond delay="0"/>
                                  </p:stCondLst>
                                  <p:childTnLst>
                                    <p:set>
                                      <p:cBhvr>
                                        <p:cTn id="89" dur="1" fill="hold">
                                          <p:stCondLst>
                                            <p:cond delay="0"/>
                                          </p:stCondLst>
                                        </p:cTn>
                                        <p:tgtEl>
                                          <p:spTgt spid="11"/>
                                        </p:tgtEl>
                                        <p:attrNameLst>
                                          <p:attrName>style.visibility</p:attrName>
                                        </p:attrNameLst>
                                      </p:cBhvr>
                                      <p:to>
                                        <p:strVal val="visible"/>
                                      </p:to>
                                    </p:set>
                                    <p:animEffect transition="in" filter="fade">
                                      <p:cBhvr>
                                        <p:cTn id="90" dur="650"/>
                                        <p:tgtEl>
                                          <p:spTgt spid="11"/>
                                        </p:tgtEl>
                                      </p:cBhvr>
                                    </p:animEffect>
                                    <p:anim calcmode="lin" valueType="num">
                                      <p:cBhvr>
                                        <p:cTn id="91" dur="650" fill="hold"/>
                                        <p:tgtEl>
                                          <p:spTgt spid="11"/>
                                        </p:tgtEl>
                                        <p:attrNameLst>
                                          <p:attrName>ppt_y</p:attrName>
                                        </p:attrNameLst>
                                      </p:cBhvr>
                                      <p:tavLst>
                                        <p:tav tm="0">
                                          <p:val>
                                            <p:strVal val="#ppt_y+0.06"/>
                                          </p:val>
                                        </p:tav>
                                        <p:tav tm="100000">
                                          <p:val>
                                            <p:strVal val="#ppt_y"/>
                                          </p:val>
                                        </p:tav>
                                      </p:tavLst>
                                    </p:anim>
                                  </p:childTnLst>
                                </p:cTn>
                              </p:par>
                            </p:childTnLst>
                          </p:cTn>
                        </p:par>
                      </p:childTnLst>
                    </p:cTn>
                  </p:par>
                  <p:par>
                    <p:cTn id="93" fill="hold">
                      <p:stCondLst>
                        <p:cond delay="indefinite"/>
                      </p:stCondLst>
                      <p:childTnLst>
                        <p:par>
                          <p:cTn id="96" fill="hold">
                            <p:stCondLst>
                              <p:cond delay="0"/>
                            </p:stCondLst>
                            <p:childTnLst>
                              <p:par>
                                <p:cTn id="94" presetID="0" presetClass="path" presetSubtype="0" fill="hold" nodeType="clickEffect">
                                  <p:stCondLst>
                                    <p:cond delay="0"/>
                                  </p:stCondLst>
                                  <p:childTnLst>
                                    <p:animMotion origin="layout" path="M 0 0 L 0.16200 0 E" pathEditMode="relative" ptsTypes="">
                                      <p:cBhvr>
                                        <p:cTn id="95" dur="600" accel="20000" decel="50000" fill="hold"/>
                                        <p:tgtEl>
                                          <p:spTgt spid="20"/>
                                        </p:tgtEl>
                                        <p:attrNameLst>
                                          <p:attrName>ppt_x</p:attrName>
                                          <p:attrName>ppt_y</p:attrName>
                                        </p:attrNameLst>
                                      </p:cBhvr>
                                    </p:animMotion>
                                  </p:childTnLst>
                                </p:cTn>
                              </p:par>
                            </p:childTnLst>
                          </p:cTn>
                        </p:par>
                        <p:par>
                          <p:cTn id="105" fill="hold">
                            <p:stCondLst>
                              <p:cond delay="600"/>
                            </p:stCondLst>
                            <p:childTnLst>
                              <p:par>
                                <p:cTn id="97" presetID="1" presetClass="exit" presetSubtype="0" fill="hold" nodeType="afterEffect">
                                  <p:stCondLst>
                                    <p:cond delay="0"/>
                                  </p:stCondLst>
                                  <p:childTnLst>
                                    <p:set>
                                      <p:cBhvr>
                                        <p:cTn id="98" dur="1" fill="hold">
                                          <p:stCondLst>
                                            <p:cond delay="0"/>
                                          </p:stCondLst>
                                        </p:cTn>
                                        <p:tgtEl>
                                          <p:spTgt spid="20"/>
                                        </p:tgtEl>
                                        <p:attrNameLst>
                                          <p:attrName>style.visibility</p:attrName>
                                        </p:attrNameLst>
                                      </p:cBhvr>
                                      <p:to>
                                        <p:strVal val="hidden"/>
                                      </p:to>
                                    </p:set>
                                  </p:childTnLst>
                                </p:cTn>
                              </p:par>
                              <p:par>
                                <p:cTn id="99" presetID="1" presetClass="entr" presetSubtype="0" fill="hold" nodeType="afterEffect">
                                  <p:stCondLst>
                                    <p:cond delay="0"/>
                                  </p:stCondLst>
                                  <p:childTnLst>
                                    <p:set>
                                      <p:cBhvr>
                                        <p:cTn id="100" dur="1" fill="hold">
                                          <p:stCondLst>
                                            <p:cond delay="0"/>
                                          </p:stCondLst>
                                        </p:cTn>
                                        <p:tgtEl>
                                          <p:spTgt spid="21"/>
                                        </p:tgtEl>
                                        <p:attrNameLst>
                                          <p:attrName>style.visibility</p:attrName>
                                        </p:attrNameLst>
                                      </p:cBhvr>
                                      <p:to>
                                        <p:strVal val="visible"/>
                                      </p:to>
                                    </p:set>
                                  </p:childTnLst>
                                </p:cTn>
                              </p:par>
                              <p:par>
                                <p:cTn id="101" presetID="42" presetClass="entr" presetSubtype="0" fill="hold" nodeType="afterEffect">
                                  <p:stCondLst>
                                    <p:cond delay="0"/>
                                  </p:stCondLst>
                                  <p:childTnLst>
                                    <p:set>
                                      <p:cBhvr>
                                        <p:cTn id="102" dur="1" fill="hold">
                                          <p:stCondLst>
                                            <p:cond delay="0"/>
                                          </p:stCondLst>
                                        </p:cTn>
                                        <p:tgtEl>
                                          <p:spTgt spid="13"/>
                                        </p:tgtEl>
                                        <p:attrNameLst>
                                          <p:attrName>style.visibility</p:attrName>
                                        </p:attrNameLst>
                                      </p:cBhvr>
                                      <p:to>
                                        <p:strVal val="visible"/>
                                      </p:to>
                                    </p:set>
                                    <p:animEffect transition="in" filter="fade">
                                      <p:cBhvr>
                                        <p:cTn id="103" dur="650"/>
                                        <p:tgtEl>
                                          <p:spTgt spid="13"/>
                                        </p:tgtEl>
                                      </p:cBhvr>
                                    </p:animEffect>
                                    <p:anim calcmode="lin" valueType="num">
                                      <p:cBhvr>
                                        <p:cTn id="104" dur="650" fill="hold"/>
                                        <p:tgtEl>
                                          <p:spTgt spid="13"/>
                                        </p:tgtEl>
                                        <p:attrNameLst>
                                          <p:attrName>ppt_y</p:attrName>
                                        </p:attrNameLst>
                                      </p:cBhvr>
                                      <p:tavLst>
                                        <p:tav tm="0">
                                          <p:val>
                                            <p:strVal val="#ppt_y+0.06"/>
                                          </p:val>
                                        </p:tav>
                                        <p:tav tm="100000">
                                          <p:val>
                                            <p:strVal val="#ppt_y"/>
                                          </p:val>
                                        </p:tav>
                                      </p:tavLst>
                                    </p:anim>
                                  </p:childTnLst>
                                </p:cTn>
                              </p:par>
                            </p:childTnLst>
                          </p:cTn>
                        </p:par>
                      </p:childTnLst>
                    </p:cTn>
                  </p:par>
                  <p:par>
                    <p:cTn id="106" fill="hold">
                      <p:stCondLst>
                        <p:cond delay="indefinite"/>
                      </p:stCondLst>
                      <p:childTnLst>
                        <p:par>
                          <p:cTn id="109" fill="hold">
                            <p:stCondLst>
                              <p:cond delay="0"/>
                            </p:stCondLst>
                            <p:childTnLst>
                              <p:par>
                                <p:cTn id="107" presetID="0" presetClass="path" presetSubtype="0" fill="hold" nodeType="clickEffect">
                                  <p:stCondLst>
                                    <p:cond delay="0"/>
                                  </p:stCondLst>
                                  <p:childTnLst>
                                    <p:animMotion origin="layout" path="M 0 0 L 0.16200 0 E" pathEditMode="relative" ptsTypes="">
                                      <p:cBhvr>
                                        <p:cTn id="108" dur="600" accel="20000" decel="50000" fill="hold"/>
                                        <p:tgtEl>
                                          <p:spTgt spid="21"/>
                                        </p:tgtEl>
                                        <p:attrNameLst>
                                          <p:attrName>ppt_x</p:attrName>
                                          <p:attrName>ppt_y</p:attrName>
                                        </p:attrNameLst>
                                      </p:cBhvr>
                                    </p:animMotion>
                                  </p:childTnLst>
                                </p:cTn>
                              </p:par>
                            </p:childTnLst>
                          </p:cTn>
                        </p:par>
                        <p:par>
                          <p:cTn id="118" fill="hold">
                            <p:stCondLst>
                              <p:cond delay="600"/>
                            </p:stCondLst>
                            <p:childTnLst>
                              <p:par>
                                <p:cTn id="110" presetID="1" presetClass="exit" presetSubtype="0" fill="hold" nodeType="afterEffect">
                                  <p:stCondLst>
                                    <p:cond delay="0"/>
                                  </p:stCondLst>
                                  <p:childTnLst>
                                    <p:set>
                                      <p:cBhvr>
                                        <p:cTn id="111" dur="1" fill="hold">
                                          <p:stCondLst>
                                            <p:cond delay="0"/>
                                          </p:stCondLst>
                                        </p:cTn>
                                        <p:tgtEl>
                                          <p:spTgt spid="21"/>
                                        </p:tgtEl>
                                        <p:attrNameLst>
                                          <p:attrName>style.visibility</p:attrName>
                                        </p:attrNameLst>
                                      </p:cBhvr>
                                      <p:to>
                                        <p:strVal val="hidden"/>
                                      </p:to>
                                    </p:set>
                                  </p:childTnLst>
                                </p:cTn>
                              </p:par>
                              <p:par>
                                <p:cTn id="112" presetID="1" presetClass="entr" presetSubtype="0" fill="hold" nodeType="afterEffect">
                                  <p:stCondLst>
                                    <p:cond delay="0"/>
                                  </p:stCondLst>
                                  <p:childTnLst>
                                    <p:set>
                                      <p:cBhvr>
                                        <p:cTn id="113" dur="1" fill="hold">
                                          <p:stCondLst>
                                            <p:cond delay="0"/>
                                          </p:stCondLst>
                                        </p:cTn>
                                        <p:tgtEl>
                                          <p:spTgt spid="22"/>
                                        </p:tgtEl>
                                        <p:attrNameLst>
                                          <p:attrName>style.visibility</p:attrName>
                                        </p:attrNameLst>
                                      </p:cBhvr>
                                      <p:to>
                                        <p:strVal val="visible"/>
                                      </p:to>
                                    </p:set>
                                  </p:childTnLst>
                                </p:cTn>
                              </p:par>
                              <p:par>
                                <p:cTn id="114" presetID="42" presetClass="entr" presetSubtype="0" fill="hold" nodeType="afterEffect">
                                  <p:stCondLst>
                                    <p:cond delay="0"/>
                                  </p:stCondLst>
                                  <p:childTnLst>
                                    <p:set>
                                      <p:cBhvr>
                                        <p:cTn id="115" dur="1" fill="hold">
                                          <p:stCondLst>
                                            <p:cond delay="0"/>
                                          </p:stCondLst>
                                        </p:cTn>
                                        <p:tgtEl>
                                          <p:spTgt spid="15"/>
                                        </p:tgtEl>
                                        <p:attrNameLst>
                                          <p:attrName>style.visibility</p:attrName>
                                        </p:attrNameLst>
                                      </p:cBhvr>
                                      <p:to>
                                        <p:strVal val="visible"/>
                                      </p:to>
                                    </p:set>
                                    <p:animEffect transition="in" filter="fade">
                                      <p:cBhvr>
                                        <p:cTn id="116" dur="650"/>
                                        <p:tgtEl>
                                          <p:spTgt spid="15"/>
                                        </p:tgtEl>
                                      </p:cBhvr>
                                    </p:animEffect>
                                    <p:anim calcmode="lin" valueType="num">
                                      <p:cBhvr>
                                        <p:cTn id="117" dur="650" fill="hold"/>
                                        <p:tgtEl>
                                          <p:spTgt spid="15"/>
                                        </p:tgtEl>
                                        <p:attrNameLst>
                                          <p:attrName>ppt_y</p:attrName>
                                        </p:attrNameLst>
                                      </p:cBhvr>
                                      <p:tavLst>
                                        <p:tav tm="0">
                                          <p:val>
                                            <p:strVal val="#ppt_y+0.06"/>
                                          </p:val>
                                        </p:tav>
                                        <p:tav tm="100000">
                                          <p:val>
                                            <p:strVal val="#ppt_y"/>
                                          </p:val>
                                        </p:tav>
                                      </p:tavLst>
                                    </p:anim>
                                  </p:childTnLst>
                                </p:cTn>
                              </p:par>
                            </p:childTnLst>
                          </p:cTn>
                        </p:par>
                      </p:childTnLst>
                    </p:cTn>
                  </p:par>
                  <p:par>
                    <p:cTn id="119" fill="hold">
                      <p:stCondLst>
                        <p:cond delay="indefinite"/>
                      </p:stCondLst>
                      <p:childTnLst>
                        <p:par>
                          <p:cTn id="122" fill="hold">
                            <p:stCondLst>
                              <p:cond delay="0"/>
                            </p:stCondLst>
                            <p:childTnLst>
                              <p:par>
                                <p:cTn id="120" presetID="0" presetClass="path" presetSubtype="0" fill="hold" nodeType="clickEffect">
                                  <p:stCondLst>
                                    <p:cond delay="0"/>
                                  </p:stCondLst>
                                  <p:childTnLst>
                                    <p:animMotion origin="layout" path="M 0 0 L 0.16200 0 E" pathEditMode="relative" ptsTypes="">
                                      <p:cBhvr>
                                        <p:cTn id="121" dur="600" accel="20000" decel="50000" fill="hold"/>
                                        <p:tgtEl>
                                          <p:spTgt spid="22"/>
                                        </p:tgtEl>
                                        <p:attrNameLst>
                                          <p:attrName>ppt_x</p:attrName>
                                          <p:attrName>ppt_y</p:attrName>
                                        </p:attrNameLst>
                                      </p:cBhvr>
                                    </p:animMotion>
                                  </p:childTnLst>
                                </p:cTn>
                              </p:par>
                            </p:childTnLst>
                          </p:cTn>
                        </p:par>
                        <p:par>
                          <p:cTn id="131" fill="hold">
                            <p:stCondLst>
                              <p:cond delay="600"/>
                            </p:stCondLst>
                            <p:childTnLst>
                              <p:par>
                                <p:cTn id="123" presetID="1" presetClass="exit" presetSubtype="0" fill="hold" nodeType="afterEffect">
                                  <p:stCondLst>
                                    <p:cond delay="0"/>
                                  </p:stCondLst>
                                  <p:childTnLst>
                                    <p:set>
                                      <p:cBhvr>
                                        <p:cTn id="124" dur="1" fill="hold">
                                          <p:stCondLst>
                                            <p:cond delay="0"/>
                                          </p:stCondLst>
                                        </p:cTn>
                                        <p:tgtEl>
                                          <p:spTgt spid="22"/>
                                        </p:tgtEl>
                                        <p:attrNameLst>
                                          <p:attrName>style.visibility</p:attrName>
                                        </p:attrNameLst>
                                      </p:cBhvr>
                                      <p:to>
                                        <p:strVal val="hidden"/>
                                      </p:to>
                                    </p:set>
                                  </p:childTnLst>
                                </p:cTn>
                              </p:par>
                              <p:par>
                                <p:cTn id="125" presetID="1" presetClass="entr" presetSubtype="0" fill="hold" nodeType="afterEffect">
                                  <p:stCondLst>
                                    <p:cond delay="0"/>
                                  </p:stCondLst>
                                  <p:childTnLst>
                                    <p:set>
                                      <p:cBhvr>
                                        <p:cTn id="126" dur="1" fill="hold">
                                          <p:stCondLst>
                                            <p:cond delay="0"/>
                                          </p:stCondLst>
                                        </p:cTn>
                                        <p:tgtEl>
                                          <p:spTgt spid="23"/>
                                        </p:tgtEl>
                                        <p:attrNameLst>
                                          <p:attrName>style.visibility</p:attrName>
                                        </p:attrNameLst>
                                      </p:cBhvr>
                                      <p:to>
                                        <p:strVal val="visible"/>
                                      </p:to>
                                    </p:set>
                                  </p:childTnLst>
                                </p:cTn>
                              </p:par>
                              <p:par>
                                <p:cTn id="127" presetID="42" presetClass="entr" presetSubtype="0" fill="hold" nodeType="afterEffect">
                                  <p:stCondLst>
                                    <p:cond delay="0"/>
                                  </p:stCondLst>
                                  <p:childTnLst>
                                    <p:set>
                                      <p:cBhvr>
                                        <p:cTn id="128" dur="1" fill="hold">
                                          <p:stCondLst>
                                            <p:cond delay="0"/>
                                          </p:stCondLst>
                                        </p:cTn>
                                        <p:tgtEl>
                                          <p:spTgt spid="17"/>
                                        </p:tgtEl>
                                        <p:attrNameLst>
                                          <p:attrName>style.visibility</p:attrName>
                                        </p:attrNameLst>
                                      </p:cBhvr>
                                      <p:to>
                                        <p:strVal val="visible"/>
                                      </p:to>
                                    </p:set>
                                    <p:animEffect transition="in" filter="fade">
                                      <p:cBhvr>
                                        <p:cTn id="129" dur="650"/>
                                        <p:tgtEl>
                                          <p:spTgt spid="17"/>
                                        </p:tgtEl>
                                      </p:cBhvr>
                                    </p:animEffect>
                                    <p:anim calcmode="lin" valueType="num">
                                      <p:cBhvr>
                                        <p:cTn id="130" dur="650" fill="hold"/>
                                        <p:tgtEl>
                                          <p:spTgt spid="17"/>
                                        </p:tgtEl>
                                        <p:attrNameLst>
                                          <p:attrName>ppt_y</p:attrName>
                                        </p:attrNameLst>
                                      </p:cBhvr>
                                      <p:tavLst>
                                        <p:tav tm="0">
                                          <p:val>
                                            <p:strVal val="#ppt_y+0.06"/>
                                          </p:val>
                                        </p:tav>
                                        <p:tav tm="100000">
                                          <p:val>
                                            <p:strVal val="#ppt_y"/>
                                          </p:val>
                                        </p:tav>
                                      </p:tavLst>
                                    </p:anim>
                                  </p:childTnLst>
                                </p:cTn>
                              </p:par>
                            </p:childTnLst>
                          </p:cTn>
                        </p:par>
                      </p:childTnLst>
                    </p:cTn>
                  </p:par>
                  <p:par>
                    <p:cTn id="132" fill="hold">
                      <p:stCondLst>
                        <p:cond delay="indefinite"/>
                      </p:stCondLst>
                      <p:childTnLst>
                        <p:par>
                          <p:cTn id="135" fill="hold">
                            <p:stCondLst>
                              <p:cond delay="0"/>
                            </p:stCondLst>
                            <p:childTnLst>
                              <p:par>
                                <p:cTn id="133" presetID="0" presetClass="path" presetSubtype="0" fill="hold" nodeType="clickEffect">
                                  <p:stCondLst>
                                    <p:cond delay="0"/>
                                  </p:stCondLst>
                                  <p:childTnLst>
                                    <p:animMotion origin="layout" path="M 0 0 L -0.81002 0 E" pathEditMode="relative" ptsTypes="">
                                      <p:cBhvr>
                                        <p:cTn id="134" dur="1200" accel="20000" decel="50000" fill="hold"/>
                                        <p:tgtEl>
                                          <p:spTgt spid="23"/>
                                        </p:tgtEl>
                                        <p:attrNameLst>
                                          <p:attrName>ppt_x</p:attrName>
                                          <p:attrName>ppt_y</p:attrName>
                                        </p:attrNameLst>
                                      </p:cBhvr>
                                    </p:animMotion>
                                  </p:childTnLst>
                                </p:cTn>
                              </p:par>
                            </p:childTnLst>
                          </p:cTn>
                        </p:par>
                        <p:par>
                          <p:cTn id="140" fill="hold">
                            <p:stCondLst>
                              <p:cond delay="1200"/>
                            </p:stCondLst>
                            <p:childTnLst>
                              <p:par>
                                <p:cTn id="136" presetID="42" presetClass="entr" presetSubtype="0" fill="hold" nodeType="afterEffect">
                                  <p:stCondLst>
                                    <p:cond delay="0"/>
                                  </p:stCondLst>
                                  <p:childTnLst>
                                    <p:set>
                                      <p:cBhvr>
                                        <p:cTn id="137" dur="1" fill="hold">
                                          <p:stCondLst>
                                            <p:cond delay="0"/>
                                          </p:stCondLst>
                                        </p:cTn>
                                        <p:tgtEl>
                                          <p:spTgt spid="24"/>
                                        </p:tgtEl>
                                        <p:attrNameLst>
                                          <p:attrName>style.visibility</p:attrName>
                                        </p:attrNameLst>
                                      </p:cBhvr>
                                      <p:to>
                                        <p:strVal val="visible"/>
                                      </p:to>
                                    </p:set>
                                    <p:animEffect transition="in" filter="fade">
                                      <p:cBhvr>
                                        <p:cTn id="138" dur="650"/>
                                        <p:tgtEl>
                                          <p:spTgt spid="24"/>
                                        </p:tgtEl>
                                      </p:cBhvr>
                                    </p:animEffect>
                                    <p:anim calcmode="lin" valueType="num">
                                      <p:cBhvr>
                                        <p:cTn id="139" dur="650" fill="hold"/>
                                        <p:tgtEl>
                                          <p:spTgt spid="24"/>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457200"/>
            <a:ext cx="7315200" cy="4572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A worked example · classification (1 / 2)</a:t>
            </a:r>
          </a:p>
        </p:txBody>
      </p:sp>
      <p:sp>
        <p:nvSpPr>
          <p:cNvPr id="3" name="TextBox 2"/>
          <p:cNvSpPr txBox="1"/>
          <p:nvPr/>
        </p:nvSpPr>
        <p:spPr>
          <a:xfrm>
            <a:off x="685800" y="777240"/>
            <a:ext cx="9144000" cy="914400"/>
          </a:xfrm>
          <a:prstGeom prst="rect">
            <a:avLst/>
          </a:prstGeom>
          <a:noFill/>
        </p:spPr>
        <p:txBody>
          <a:bodyPr wrap="square" lIns="0" rIns="0" tIns="0" bIns="0" anchor="t">
            <a:spAutoFit/>
          </a:bodyPr>
          <a:lstStyle/>
          <a:p>
            <a:pPr algn="l">
              <a:lnSpc>
                <a:spcPct val="88000"/>
              </a:lnSpc>
              <a:spcAft>
                <a:spcPts val="0"/>
              </a:spcAft>
            </a:pPr>
            <a:r>
              <a:rPr sz="4600" b="0" i="0">
                <a:solidFill>
                  <a:srgbClr val="262A33"/>
                </a:solidFill>
                <a:latin typeface="Bahnschrift Light"/>
              </a:rPr>
              <a:t>LET'S DO ONE TREE BY HAND</a:t>
            </a:r>
          </a:p>
        </p:txBody>
      </p:sp>
      <p:pic>
        <p:nvPicPr>
          <p:cNvPr id="4" name="Picture 3" descr="dots.png"/>
          <p:cNvPicPr>
            <a:picLocks noChangeAspect="1"/>
          </p:cNvPicPr>
          <p:nvPr/>
        </p:nvPicPr>
        <p:blipFill>
          <a:blip r:embed="rId2"/>
          <a:stretch>
            <a:fillRect/>
          </a:stretch>
        </p:blipFill>
        <p:spPr>
          <a:xfrm>
            <a:off x="9875520" y="411480"/>
            <a:ext cx="1645920" cy="868680"/>
          </a:xfrm>
          <a:prstGeom prst="rect">
            <a:avLst/>
          </a:prstGeom>
        </p:spPr>
      </p:pic>
      <p:sp>
        <p:nvSpPr>
          <p:cNvPr id="5" name="TextBox 4"/>
          <p:cNvSpPr txBox="1"/>
          <p:nvPr/>
        </p:nvSpPr>
        <p:spPr>
          <a:xfrm>
            <a:off x="685800" y="1828800"/>
            <a:ext cx="5120640" cy="457200"/>
          </a:xfrm>
          <a:prstGeom prst="rect">
            <a:avLst/>
          </a:prstGeom>
          <a:noFill/>
        </p:spPr>
        <p:txBody>
          <a:bodyPr wrap="square" lIns="0" rIns="0" tIns="0" bIns="0" anchor="t">
            <a:spAutoFit/>
          </a:bodyPr>
          <a:lstStyle/>
          <a:p>
            <a:pPr algn="l">
              <a:spcAft>
                <a:spcPts val="0"/>
              </a:spcAft>
            </a:pPr>
            <a:r>
              <a:rPr sz="1400" b="0" i="0">
                <a:solidFill>
                  <a:srgbClr val="262A33"/>
                </a:solidFill>
                <a:latin typeface="Segoe UI Semibold"/>
              </a:rPr>
              <a:t>Will a website visitor buy?  (1 = yes, 0 = no)</a:t>
            </a:r>
          </a:p>
        </p:txBody>
      </p:sp>
      <p:graphicFrame>
        <p:nvGraphicFramePr>
          <p:cNvPr id="6" name="Table 5"/>
          <p:cNvGraphicFramePr>
            <a:graphicFrameLocks noGrp="1"/>
          </p:cNvGraphicFramePr>
          <p:nvPr/>
        </p:nvGraphicFramePr>
        <p:xfrm>
          <a:off x="685800" y="2331720"/>
          <a:ext cx="4754880" cy="2103120"/>
        </p:xfrm>
        <a:graphic>
          <a:graphicData uri="http://schemas.openxmlformats.org/drawingml/2006/table">
            <a:tbl>
              <a:tblPr firstRow="1" bandRow="1">
                <a:tableStyleId>{5C22544A-7EE6-4342-B048-85BDC9FD1C3A}</a:tableStyleId>
              </a:tblPr>
              <a:tblGrid>
                <a:gridCol w="1280160"/>
                <a:gridCol w="1920240"/>
                <a:gridCol w="1554480"/>
              </a:tblGrid>
              <a:tr h="420624">
                <a:tc>
                  <a:txBody>
                    <a:bodyPr/>
                    <a:lstStyle/>
                    <a:p>
                      <a:pPr algn="ctr"/>
                      <a:r>
                        <a:rPr sz="1300">
                          <a:solidFill>
                            <a:srgbClr val="E5E4E2"/>
                          </a:solidFill>
                          <a:latin typeface="Segoe UI Semibold"/>
                        </a:rPr>
                        <a:t>Visitor</a:t>
                      </a:r>
                    </a:p>
                  </a:txBody>
                  <a:tcPr>
                    <a:solidFill>
                      <a:srgbClr val="262A33"/>
                    </a:solidFill>
                  </a:tcPr>
                </a:tc>
                <a:tc>
                  <a:txBody>
                    <a:bodyPr/>
                    <a:lstStyle/>
                    <a:p>
                      <a:pPr algn="ctr"/>
                      <a:r>
                        <a:rPr sz="1300">
                          <a:solidFill>
                            <a:srgbClr val="E5E4E2"/>
                          </a:solidFill>
                          <a:latin typeface="Segoe UI Semibold"/>
                        </a:rPr>
                        <a:t>Minutes on site</a:t>
                      </a:r>
                    </a:p>
                  </a:txBody>
                  <a:tcPr>
                    <a:solidFill>
                      <a:srgbClr val="262A33"/>
                    </a:solidFill>
                  </a:tcPr>
                </a:tc>
                <a:tc>
                  <a:txBody>
                    <a:bodyPr/>
                    <a:lstStyle/>
                    <a:p>
                      <a:pPr algn="ctr"/>
                      <a:r>
                        <a:rPr sz="1300">
                          <a:solidFill>
                            <a:srgbClr val="E5E4E2"/>
                          </a:solidFill>
                          <a:latin typeface="Segoe UI Semibold"/>
                        </a:rPr>
                        <a:t>Bought (y)</a:t>
                      </a:r>
                    </a:p>
                  </a:txBody>
                  <a:tcPr>
                    <a:solidFill>
                      <a:srgbClr val="262A33"/>
                    </a:solidFill>
                  </a:tcPr>
                </a:tc>
              </a:tr>
              <a:tr h="420624">
                <a:tc>
                  <a:txBody>
                    <a:bodyPr/>
                    <a:lstStyle/>
                    <a:p>
                      <a:pPr algn="ctr"/>
                      <a:r>
                        <a:rPr sz="1300">
                          <a:solidFill>
                            <a:srgbClr val="262A33"/>
                          </a:solidFill>
                          <a:latin typeface="Segoe UI"/>
                        </a:rPr>
                        <a:t>A</a:t>
                      </a:r>
                    </a:p>
                  </a:txBody>
                  <a:tcPr>
                    <a:solidFill>
                      <a:srgbClr val="E5E4E2"/>
                    </a:solidFill>
                  </a:tcPr>
                </a:tc>
                <a:tc>
                  <a:txBody>
                    <a:bodyPr/>
                    <a:lstStyle/>
                    <a:p>
                      <a:pPr algn="ctr"/>
                      <a:r>
                        <a:rPr sz="1300">
                          <a:solidFill>
                            <a:srgbClr val="262A33"/>
                          </a:solidFill>
                          <a:latin typeface="Segoe UI"/>
                        </a:rPr>
                        <a:t>2</a:t>
                      </a:r>
                    </a:p>
                  </a:txBody>
                  <a:tcPr>
                    <a:solidFill>
                      <a:srgbClr val="E5E4E2"/>
                    </a:solidFill>
                  </a:tcPr>
                </a:tc>
                <a:tc>
                  <a:txBody>
                    <a:bodyPr/>
                    <a:lstStyle/>
                    <a:p>
                      <a:pPr algn="ctr"/>
                      <a:r>
                        <a:rPr sz="1300">
                          <a:solidFill>
                            <a:srgbClr val="262A33"/>
                          </a:solidFill>
                          <a:latin typeface="Segoe UI"/>
                        </a:rPr>
                        <a:t>0</a:t>
                      </a:r>
                    </a:p>
                  </a:txBody>
                  <a:tcPr>
                    <a:solidFill>
                      <a:srgbClr val="E5E4E2"/>
                    </a:solidFill>
                  </a:tcPr>
                </a:tc>
              </a:tr>
              <a:tr h="420624">
                <a:tc>
                  <a:txBody>
                    <a:bodyPr/>
                    <a:lstStyle/>
                    <a:p>
                      <a:pPr algn="ctr"/>
                      <a:r>
                        <a:rPr sz="1300">
                          <a:solidFill>
                            <a:srgbClr val="262A33"/>
                          </a:solidFill>
                          <a:latin typeface="Segoe UI"/>
                        </a:rPr>
                        <a:t>B</a:t>
                      </a:r>
                    </a:p>
                  </a:txBody>
                  <a:tcPr>
                    <a:solidFill>
                      <a:srgbClr val="DAD9D6"/>
                    </a:solidFill>
                  </a:tcPr>
                </a:tc>
                <a:tc>
                  <a:txBody>
                    <a:bodyPr/>
                    <a:lstStyle/>
                    <a:p>
                      <a:pPr algn="ctr"/>
                      <a:r>
                        <a:rPr sz="1300">
                          <a:solidFill>
                            <a:srgbClr val="262A33"/>
                          </a:solidFill>
                          <a:latin typeface="Segoe UI"/>
                        </a:rPr>
                        <a:t>5</a:t>
                      </a:r>
                    </a:p>
                  </a:txBody>
                  <a:tcPr>
                    <a:solidFill>
                      <a:srgbClr val="DAD9D6"/>
                    </a:solidFill>
                  </a:tcPr>
                </a:tc>
                <a:tc>
                  <a:txBody>
                    <a:bodyPr/>
                    <a:lstStyle/>
                    <a:p>
                      <a:pPr algn="ctr"/>
                      <a:r>
                        <a:rPr sz="1300">
                          <a:solidFill>
                            <a:srgbClr val="262A33"/>
                          </a:solidFill>
                          <a:latin typeface="Segoe UI"/>
                        </a:rPr>
                        <a:t>0</a:t>
                      </a:r>
                    </a:p>
                  </a:txBody>
                  <a:tcPr>
                    <a:solidFill>
                      <a:srgbClr val="DAD9D6"/>
                    </a:solidFill>
                  </a:tcPr>
                </a:tc>
              </a:tr>
              <a:tr h="420624">
                <a:tc>
                  <a:txBody>
                    <a:bodyPr/>
                    <a:lstStyle/>
                    <a:p>
                      <a:pPr algn="ctr"/>
                      <a:r>
                        <a:rPr sz="1300">
                          <a:solidFill>
                            <a:srgbClr val="262A33"/>
                          </a:solidFill>
                          <a:latin typeface="Segoe UI"/>
                        </a:rPr>
                        <a:t>C</a:t>
                      </a:r>
                    </a:p>
                  </a:txBody>
                  <a:tcPr>
                    <a:solidFill>
                      <a:srgbClr val="E5E4E2"/>
                    </a:solidFill>
                  </a:tcPr>
                </a:tc>
                <a:tc>
                  <a:txBody>
                    <a:bodyPr/>
                    <a:lstStyle/>
                    <a:p>
                      <a:pPr algn="ctr"/>
                      <a:r>
                        <a:rPr sz="1300">
                          <a:solidFill>
                            <a:srgbClr val="262A33"/>
                          </a:solidFill>
                          <a:latin typeface="Segoe UI"/>
                        </a:rPr>
                        <a:t>12</a:t>
                      </a:r>
                    </a:p>
                  </a:txBody>
                  <a:tcPr>
                    <a:solidFill>
                      <a:srgbClr val="E5E4E2"/>
                    </a:solidFill>
                  </a:tcPr>
                </a:tc>
                <a:tc>
                  <a:txBody>
                    <a:bodyPr/>
                    <a:lstStyle/>
                    <a:p>
                      <a:pPr algn="ctr"/>
                      <a:r>
                        <a:rPr sz="1300">
                          <a:solidFill>
                            <a:srgbClr val="B5543A"/>
                          </a:solidFill>
                          <a:latin typeface="Segoe UI"/>
                        </a:rPr>
                        <a:t>1</a:t>
                      </a:r>
                    </a:p>
                  </a:txBody>
                  <a:tcPr>
                    <a:solidFill>
                      <a:srgbClr val="E5E4E2"/>
                    </a:solidFill>
                  </a:tcPr>
                </a:tc>
              </a:tr>
              <a:tr h="420624">
                <a:tc>
                  <a:txBody>
                    <a:bodyPr/>
                    <a:lstStyle/>
                    <a:p>
                      <a:pPr algn="ctr"/>
                      <a:r>
                        <a:rPr sz="1300">
                          <a:solidFill>
                            <a:srgbClr val="262A33"/>
                          </a:solidFill>
                          <a:latin typeface="Segoe UI"/>
                        </a:rPr>
                        <a:t>D</a:t>
                      </a:r>
                    </a:p>
                  </a:txBody>
                  <a:tcPr>
                    <a:solidFill>
                      <a:srgbClr val="DAD9D6"/>
                    </a:solidFill>
                  </a:tcPr>
                </a:tc>
                <a:tc>
                  <a:txBody>
                    <a:bodyPr/>
                    <a:lstStyle/>
                    <a:p>
                      <a:pPr algn="ctr"/>
                      <a:r>
                        <a:rPr sz="1300">
                          <a:solidFill>
                            <a:srgbClr val="262A33"/>
                          </a:solidFill>
                          <a:latin typeface="Segoe UI"/>
                        </a:rPr>
                        <a:t>20</a:t>
                      </a:r>
                    </a:p>
                  </a:txBody>
                  <a:tcPr>
                    <a:solidFill>
                      <a:srgbClr val="DAD9D6"/>
                    </a:solidFill>
                  </a:tcPr>
                </a:tc>
                <a:tc>
                  <a:txBody>
                    <a:bodyPr/>
                    <a:lstStyle/>
                    <a:p>
                      <a:pPr algn="ctr"/>
                      <a:r>
                        <a:rPr sz="1300">
                          <a:solidFill>
                            <a:srgbClr val="B5543A"/>
                          </a:solidFill>
                          <a:latin typeface="Segoe UI"/>
                        </a:rPr>
                        <a:t>1</a:t>
                      </a:r>
                    </a:p>
                  </a:txBody>
                  <a:tcPr>
                    <a:solidFill>
                      <a:srgbClr val="DAD9D6"/>
                    </a:solidFill>
                  </a:tcPr>
                </a:tc>
              </a:tr>
            </a:tbl>
          </a:graphicData>
        </a:graphic>
      </p:graphicFrame>
      <p:sp>
        <p:nvSpPr>
          <p:cNvPr id="7" name="TextBox 6"/>
          <p:cNvSpPr txBox="1"/>
          <p:nvPr/>
        </p:nvSpPr>
        <p:spPr>
          <a:xfrm>
            <a:off x="685800" y="4617720"/>
            <a:ext cx="4937760" cy="1097280"/>
          </a:xfrm>
          <a:prstGeom prst="rect">
            <a:avLst/>
          </a:prstGeom>
          <a:noFill/>
        </p:spPr>
        <p:txBody>
          <a:bodyPr wrap="square" lIns="0" rIns="0" tIns="0" bIns="0" anchor="t">
            <a:spAutoFit/>
          </a:bodyPr>
          <a:lstStyle/>
          <a:p>
            <a:pPr algn="l">
              <a:spcAft>
                <a:spcPts val="0"/>
              </a:spcAft>
            </a:pPr>
            <a:r>
              <a:rPr sz="1200" b="0" i="0">
                <a:solidFill>
                  <a:srgbClr val="262A33"/>
                </a:solidFill>
                <a:latin typeface="Segoe UI Semibold"/>
              </a:rPr>
              <a:t>Settings: </a:t>
            </a:r>
            <a:r>
              <a:rPr sz="1200" b="0" i="0">
                <a:solidFill>
                  <a:srgbClr val="5B5F68"/>
                </a:solidFill>
                <a:latin typeface="Segoe UI"/>
              </a:rPr>
              <a:t>λ = 1,  γ = 0,  learning rate η = 0.3,  log loss</a:t>
            </a:r>
          </a:p>
        </p:txBody>
      </p:sp>
      <p:sp>
        <p:nvSpPr>
          <p:cNvPr id="8" name="TextBox 7"/>
          <p:cNvSpPr txBox="1"/>
          <p:nvPr/>
        </p:nvSpPr>
        <p:spPr>
          <a:xfrm>
            <a:off x="6035040" y="1828800"/>
            <a:ext cx="5577840" cy="365760"/>
          </a:xfrm>
          <a:prstGeom prst="rect">
            <a:avLst/>
          </a:prstGeom>
          <a:noFill/>
        </p:spPr>
        <p:txBody>
          <a:bodyPr wrap="square" lIns="0" rIns="0" tIns="0" bIns="0" anchor="t">
            <a:spAutoFit/>
          </a:bodyPr>
          <a:lstStyle/>
          <a:p>
            <a:pPr algn="l">
              <a:spcAft>
                <a:spcPts val="0"/>
              </a:spcAft>
            </a:pPr>
            <a:r>
              <a:rPr sz="1800" b="0" i="0">
                <a:solidFill>
                  <a:srgbClr val="B5543A"/>
                </a:solidFill>
                <a:latin typeface="Bahnschrift Light"/>
              </a:rPr>
              <a:t>1  </a:t>
            </a:r>
            <a:r>
              <a:rPr sz="1400" b="0" i="0">
                <a:solidFill>
                  <a:srgbClr val="262A33"/>
                </a:solidFill>
                <a:latin typeface="Segoe UI Semibold"/>
              </a:rPr>
              <a:t>Start: the same guess for everyone</a:t>
            </a:r>
          </a:p>
        </p:txBody>
      </p:sp>
      <p:sp>
        <p:nvSpPr>
          <p:cNvPr id="9" name="TextBox 8"/>
          <p:cNvSpPr txBox="1"/>
          <p:nvPr/>
        </p:nvSpPr>
        <p:spPr>
          <a:xfrm>
            <a:off x="6400800" y="2240280"/>
            <a:ext cx="5212080" cy="640080"/>
          </a:xfrm>
          <a:prstGeom prst="rect">
            <a:avLst/>
          </a:prstGeom>
          <a:noFill/>
        </p:spPr>
        <p:txBody>
          <a:bodyPr wrap="square" lIns="0" rIns="0" tIns="0" bIns="0" anchor="t">
            <a:spAutoFit/>
          </a:bodyPr>
          <a:lstStyle/>
          <a:p>
            <a:pPr algn="l">
              <a:spcAft>
                <a:spcPts val="0"/>
              </a:spcAft>
            </a:pPr>
            <a:r>
              <a:rPr sz="1400" b="0" i="0">
                <a:solidFill>
                  <a:srgbClr val="262A33"/>
                </a:solidFill>
                <a:latin typeface="Consolas"/>
              </a:rPr>
              <a:t>p₀ = 0.5  (log-odds z = 0)</a:t>
            </a:r>
          </a:p>
        </p:txBody>
      </p:sp>
      <p:sp>
        <p:nvSpPr>
          <p:cNvPr id="10" name="TextBox 9"/>
          <p:cNvSpPr txBox="1"/>
          <p:nvPr/>
        </p:nvSpPr>
        <p:spPr>
          <a:xfrm>
            <a:off x="6035040" y="2788920"/>
            <a:ext cx="5577840" cy="365760"/>
          </a:xfrm>
          <a:prstGeom prst="rect">
            <a:avLst/>
          </a:prstGeom>
          <a:noFill/>
        </p:spPr>
        <p:txBody>
          <a:bodyPr wrap="square" lIns="0" rIns="0" tIns="0" bIns="0" anchor="t">
            <a:spAutoFit/>
          </a:bodyPr>
          <a:lstStyle/>
          <a:p>
            <a:pPr algn="l">
              <a:spcAft>
                <a:spcPts val="0"/>
              </a:spcAft>
            </a:pPr>
            <a:r>
              <a:rPr sz="1800" b="0" i="0">
                <a:solidFill>
                  <a:srgbClr val="B5543A"/>
                </a:solidFill>
                <a:latin typeface="Bahnschrift Light"/>
              </a:rPr>
              <a:t>2  </a:t>
            </a:r>
            <a:r>
              <a:rPr sz="1400" b="0" i="0">
                <a:solidFill>
                  <a:srgbClr val="262A33"/>
                </a:solidFill>
                <a:latin typeface="Segoe UI Semibold"/>
              </a:rPr>
              <a:t>Gradient and hessian of every visitor</a:t>
            </a:r>
          </a:p>
        </p:txBody>
      </p:sp>
      <p:pic>
        <p:nvPicPr>
          <p:cNvPr id="11" name="Picture 10" descr="logloss_gh.png"/>
          <p:cNvPicPr>
            <a:picLocks noChangeAspect="1"/>
          </p:cNvPicPr>
          <p:nvPr/>
        </p:nvPicPr>
        <p:blipFill>
          <a:blip r:embed="rId3"/>
          <a:stretch>
            <a:fillRect/>
          </a:stretch>
        </p:blipFill>
        <p:spPr>
          <a:xfrm>
            <a:off x="6400800" y="3246120"/>
            <a:ext cx="2606040" cy="274320"/>
          </a:xfrm>
          <a:prstGeom prst="rect">
            <a:avLst/>
          </a:prstGeom>
        </p:spPr>
      </p:pic>
      <p:sp>
        <p:nvSpPr>
          <p:cNvPr id="12" name="TextBox 11"/>
          <p:cNvSpPr txBox="1"/>
          <p:nvPr/>
        </p:nvSpPr>
        <p:spPr>
          <a:xfrm>
            <a:off x="6400800" y="3657600"/>
            <a:ext cx="5212080" cy="1188720"/>
          </a:xfrm>
          <a:prstGeom prst="rect">
            <a:avLst/>
          </a:prstGeom>
          <a:noFill/>
        </p:spPr>
        <p:txBody>
          <a:bodyPr wrap="square" lIns="0" rIns="0" tIns="0" bIns="0" anchor="t">
            <a:spAutoFit/>
          </a:bodyPr>
          <a:lstStyle/>
          <a:p>
            <a:pPr algn="l">
              <a:spcAft>
                <a:spcPts val="400"/>
              </a:spcAft>
            </a:pPr>
            <a:r>
              <a:rPr sz="1300" b="0" i="0">
                <a:solidFill>
                  <a:srgbClr val="262A33"/>
                </a:solidFill>
                <a:latin typeface="Consolas"/>
              </a:rPr>
              <a:t>A, B (y = 0):  g = 0.5 − 0 = +0.5    h = 0.25</a:t>
            </a:r>
          </a:p>
          <a:p>
            <a:pPr algn="l">
              <a:spcAft>
                <a:spcPts val="400"/>
              </a:spcAft>
            </a:pPr>
            <a:r>
              <a:rPr sz="1300" b="0" i="0">
                <a:solidFill>
                  <a:srgbClr val="262A33"/>
                </a:solidFill>
                <a:latin typeface="Consolas"/>
              </a:rPr>
              <a:t>C, D (y = 1):  g = 0.5 − 1 = −0.5    h = 0.25</a:t>
            </a:r>
          </a:p>
          <a:p>
            <a:pPr algn="l">
              <a:spcAft>
                <a:spcPts val="400"/>
              </a:spcAft>
            </a:pPr>
            <a:r>
              <a:rPr sz="1100" b="0" i="1">
                <a:solidFill>
                  <a:srgbClr val="5B5F68"/>
                </a:solidFill>
                <a:latin typeface="Segoe UI"/>
              </a:rPr>
              <a:t>+ g means 'predicted too high', − g 'too low'</a:t>
            </a:r>
          </a:p>
        </p:txBody>
      </p:sp>
      <p:sp>
        <p:nvSpPr>
          <p:cNvPr id="13" name="TextBox 12"/>
          <p:cNvSpPr txBox="1"/>
          <p:nvPr/>
        </p:nvSpPr>
        <p:spPr>
          <a:xfrm>
            <a:off x="6035040" y="4800600"/>
            <a:ext cx="5577840" cy="365760"/>
          </a:xfrm>
          <a:prstGeom prst="rect">
            <a:avLst/>
          </a:prstGeom>
          <a:noFill/>
        </p:spPr>
        <p:txBody>
          <a:bodyPr wrap="square" lIns="0" rIns="0" tIns="0" bIns="0" anchor="t">
            <a:spAutoFit/>
          </a:bodyPr>
          <a:lstStyle/>
          <a:p>
            <a:pPr algn="l">
              <a:spcAft>
                <a:spcPts val="0"/>
              </a:spcAft>
            </a:pPr>
            <a:r>
              <a:rPr sz="1800" b="0" i="0">
                <a:solidFill>
                  <a:srgbClr val="B5543A"/>
                </a:solidFill>
                <a:latin typeface="Bahnschrift Light"/>
              </a:rPr>
              <a:t>3  </a:t>
            </a:r>
            <a:r>
              <a:rPr sz="1400" b="0" i="0">
                <a:solidFill>
                  <a:srgbClr val="262A33"/>
                </a:solidFill>
                <a:latin typeface="Segoe UI Semibold"/>
              </a:rPr>
              <a:t>Before any split (all 4 together)</a:t>
            </a:r>
          </a:p>
        </p:txBody>
      </p:sp>
      <p:sp>
        <p:nvSpPr>
          <p:cNvPr id="14" name="TextBox 13"/>
          <p:cNvSpPr txBox="1"/>
          <p:nvPr/>
        </p:nvSpPr>
        <p:spPr>
          <a:xfrm>
            <a:off x="6400800" y="5212080"/>
            <a:ext cx="5212080" cy="822960"/>
          </a:xfrm>
          <a:prstGeom prst="rect">
            <a:avLst/>
          </a:prstGeom>
          <a:noFill/>
        </p:spPr>
        <p:txBody>
          <a:bodyPr wrap="square" lIns="0" rIns="0" tIns="0" bIns="0" anchor="t">
            <a:spAutoFit/>
          </a:bodyPr>
          <a:lstStyle/>
          <a:p>
            <a:pPr algn="l">
              <a:spcAft>
                <a:spcPts val="300"/>
              </a:spcAft>
            </a:pPr>
            <a:r>
              <a:rPr sz="1300" b="0" i="0">
                <a:solidFill>
                  <a:srgbClr val="262A33"/>
                </a:solidFill>
                <a:latin typeface="Consolas"/>
              </a:rPr>
              <a:t>G = 0.5 + 0.5 − 0.5 − 0.5 = 0      H = 4 × 0.25 = 1.0</a:t>
            </a:r>
          </a:p>
          <a:p>
            <a:pPr algn="l">
              <a:spcAft>
                <a:spcPts val="300"/>
              </a:spcAft>
            </a:pPr>
            <a:r>
              <a:rPr sz="1100" b="0" i="1">
                <a:solidFill>
                  <a:srgbClr val="5B5F68"/>
                </a:solidFill>
                <a:latin typeface="Segoe UI"/>
              </a:rPr>
              <a:t>G = 0: one leaf for everyone would not help at all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6" fill="hold">
                      <p:stCondLst>
                        <p:cond delay="indefinite"/>
                      </p:stCondLst>
                      <p:childTnLst>
                        <p:par>
                          <p:cTn id="21"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p:cTn id="20" dur="650" fill="hold"/>
                                        <p:tgtEl>
                                          <p:spTgt spid="5"/>
                                        </p:tgtEl>
                                        <p:attrNameLst>
                                          <p:attrName>ppt_y</p:attrName>
                                        </p:attrNameLst>
                                      </p:cBhvr>
                                      <p:tavLst>
                                        <p:tav tm="0">
                                          <p:val>
                                            <p:strVal val="#ppt_y+0.06"/>
                                          </p:val>
                                        </p:tav>
                                        <p:tav tm="100000">
                                          <p:val>
                                            <p:strVal val="#ppt_y"/>
                                          </p:val>
                                        </p:tav>
                                      </p:tavLst>
                                    </p:anim>
                                  </p:childTnLst>
                                </p:cTn>
                              </p:par>
                            </p:childTnLst>
                          </p:cTn>
                        </p:par>
                        <p:par>
                          <p:cTn id="29" fill="hold">
                            <p:stCondLst>
                              <p:cond delay="650"/>
                            </p:stCondLst>
                            <p:childTnLst>
                              <p:par>
                                <p:cTn id="22" presetID="22" presetClass="entr" presetSubtype="1"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800"/>
                                        <p:tgtEl>
                                          <p:spTgt spid="6"/>
                                        </p:tgtEl>
                                      </p:cBhvr>
                                    </p:animEffect>
                                  </p:childTnLst>
                                </p:cTn>
                              </p:par>
                              <p:par>
                                <p:cTn id="25" presetID="42" presetClass="entr" presetSubtype="0"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650"/>
                                        <p:tgtEl>
                                          <p:spTgt spid="7"/>
                                        </p:tgtEl>
                                      </p:cBhvr>
                                    </p:animEffect>
                                    <p:anim calcmode="lin" valueType="num">
                                      <p:cBhvr>
                                        <p:cTn id="28" dur="650" fill="hold"/>
                                        <p:tgtEl>
                                          <p:spTgt spid="7"/>
                                        </p:tgtEl>
                                        <p:attrNameLst>
                                          <p:attrName>ppt_y</p:attrName>
                                        </p:attrNameLst>
                                      </p:cBhvr>
                                      <p:tavLst>
                                        <p:tav tm="0">
                                          <p:val>
                                            <p:strVal val="#ppt_y+0.06"/>
                                          </p:val>
                                        </p:tav>
                                        <p:tav tm="100000">
                                          <p:val>
                                            <p:strVal val="#ppt_y"/>
                                          </p:val>
                                        </p:tav>
                                      </p:tavLst>
                                    </p:anim>
                                  </p:childTnLst>
                                </p:cTn>
                              </p:par>
                            </p:childTnLst>
                          </p:cTn>
                        </p:par>
                      </p:childTnLst>
                    </p:cTn>
                  </p:par>
                  <p:par>
                    <p:cTn id="30" fill="hold">
                      <p:stCondLst>
                        <p:cond delay="indefinite"/>
                      </p:stCondLst>
                      <p:childTnLst>
                        <p:par>
                          <p:cTn id="35"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50"/>
                                        <p:tgtEl>
                                          <p:spTgt spid="8"/>
                                        </p:tgtEl>
                                      </p:cBhvr>
                                    </p:animEffect>
                                    <p:anim calcmode="lin" valueType="num">
                                      <p:cBhvr>
                                        <p:cTn id="34" dur="650" fill="hold"/>
                                        <p:tgtEl>
                                          <p:spTgt spid="8"/>
                                        </p:tgtEl>
                                        <p:attrNameLst>
                                          <p:attrName>ppt_y</p:attrName>
                                        </p:attrNameLst>
                                      </p:cBhvr>
                                      <p:tavLst>
                                        <p:tav tm="0">
                                          <p:val>
                                            <p:strVal val="#ppt_y+0.06"/>
                                          </p:val>
                                        </p:tav>
                                        <p:tav tm="100000">
                                          <p:val>
                                            <p:strVal val="#ppt_y"/>
                                          </p:val>
                                        </p:tav>
                                      </p:tavLst>
                                    </p:anim>
                                  </p:childTnLst>
                                </p:cTn>
                              </p:par>
                            </p:childTnLst>
                          </p:cTn>
                        </p:par>
                        <p:par>
                          <p:cTn id="39" fill="hold">
                            <p:stCondLst>
                              <p:cond delay="650"/>
                            </p:stCondLst>
                            <p:childTnLst>
                              <p:par>
                                <p:cTn id="36" presetID="22" presetClass="entr" presetSubtype="8" fill="hold"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700"/>
                                        <p:tgtEl>
                                          <p:spTgt spid="9"/>
                                        </p:tgtEl>
                                      </p:cBhvr>
                                    </p:animEffect>
                                  </p:childTnLst>
                                </p:cTn>
                              </p:par>
                            </p:childTnLst>
                          </p:cTn>
                        </p:par>
                      </p:childTnLst>
                    </p:cTn>
                  </p:par>
                  <p:par>
                    <p:cTn id="40" fill="hold">
                      <p:stCondLst>
                        <p:cond delay="indefinite"/>
                      </p:stCondLst>
                      <p:childTnLst>
                        <p:par>
                          <p:cTn id="45"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50"/>
                                        <p:tgtEl>
                                          <p:spTgt spid="10"/>
                                        </p:tgtEl>
                                      </p:cBhvr>
                                    </p:animEffect>
                                    <p:anim calcmode="lin" valueType="num">
                                      <p:cBhvr>
                                        <p:cTn id="44" dur="650" fill="hold"/>
                                        <p:tgtEl>
                                          <p:spTgt spid="10"/>
                                        </p:tgtEl>
                                        <p:attrNameLst>
                                          <p:attrName>ppt_y</p:attrName>
                                        </p:attrNameLst>
                                      </p:cBhvr>
                                      <p:tavLst>
                                        <p:tav tm="0">
                                          <p:val>
                                            <p:strVal val="#ppt_y+0.06"/>
                                          </p:val>
                                        </p:tav>
                                        <p:tav tm="100000">
                                          <p:val>
                                            <p:strVal val="#ppt_y"/>
                                          </p:val>
                                        </p:tav>
                                      </p:tavLst>
                                    </p:anim>
                                  </p:childTnLst>
                                </p:cTn>
                              </p:par>
                            </p:childTnLst>
                          </p:cTn>
                        </p:par>
                        <p:par>
                          <p:cTn id="49" fill="hold">
                            <p:stCondLst>
                              <p:cond delay="650"/>
                            </p:stCondLst>
                            <p:childTnLst>
                              <p:par>
                                <p:cTn id="46" presetID="22" presetClass="entr" presetSubtype="8" fill="hold"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left)">
                                      <p:cBhvr>
                                        <p:cTn id="48" dur="700"/>
                                        <p:tgtEl>
                                          <p:spTgt spid="11"/>
                                        </p:tgtEl>
                                      </p:cBhvr>
                                    </p:animEffect>
                                  </p:childTnLst>
                                </p:cTn>
                              </p:par>
                            </p:childTnLst>
                          </p:cTn>
                        </p:par>
                        <p:par>
                          <p:cTn id="54" fill="hold">
                            <p:stCondLst>
                              <p:cond delay="1350"/>
                            </p:stCondLst>
                            <p:childTnLst>
                              <p:par>
                                <p:cTn id="50" presetID="42" presetClass="entr" presetSubtype="0" fill="hold" nodeType="after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650"/>
                                        <p:tgtEl>
                                          <p:spTgt spid="12"/>
                                        </p:tgtEl>
                                      </p:cBhvr>
                                    </p:animEffect>
                                    <p:anim calcmode="lin" valueType="num">
                                      <p:cBhvr>
                                        <p:cTn id="53" dur="650" fill="hold"/>
                                        <p:tgtEl>
                                          <p:spTgt spid="12"/>
                                        </p:tgtEl>
                                        <p:attrNameLst>
                                          <p:attrName>ppt_y</p:attrName>
                                        </p:attrNameLst>
                                      </p:cBhvr>
                                      <p:tavLst>
                                        <p:tav tm="0">
                                          <p:val>
                                            <p:strVal val="#ppt_y+0.06"/>
                                          </p:val>
                                        </p:tav>
                                        <p:tav tm="100000">
                                          <p:val>
                                            <p:strVal val="#ppt_y"/>
                                          </p:val>
                                        </p:tav>
                                      </p:tavLst>
                                    </p:anim>
                                  </p:childTnLst>
                                </p:cTn>
                              </p:par>
                            </p:childTnLst>
                          </p:cTn>
                        </p:par>
                      </p:childTnLst>
                    </p:cTn>
                  </p:par>
                  <p:par>
                    <p:cTn id="55" fill="hold">
                      <p:stCondLst>
                        <p:cond delay="indefinite"/>
                      </p:stCondLst>
                      <p:childTnLst>
                        <p:par>
                          <p:cTn id="60"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50"/>
                                        <p:tgtEl>
                                          <p:spTgt spid="13"/>
                                        </p:tgtEl>
                                      </p:cBhvr>
                                    </p:animEffect>
                                    <p:anim calcmode="lin" valueType="num">
                                      <p:cBhvr>
                                        <p:cTn id="59" dur="650" fill="hold"/>
                                        <p:tgtEl>
                                          <p:spTgt spid="13"/>
                                        </p:tgtEl>
                                        <p:attrNameLst>
                                          <p:attrName>ppt_y</p:attrName>
                                        </p:attrNameLst>
                                      </p:cBhvr>
                                      <p:tavLst>
                                        <p:tav tm="0">
                                          <p:val>
                                            <p:strVal val="#ppt_y+0.06"/>
                                          </p:val>
                                        </p:tav>
                                        <p:tav tm="100000">
                                          <p:val>
                                            <p:strVal val="#ppt_y"/>
                                          </p:val>
                                        </p:tav>
                                      </p:tavLst>
                                    </p:anim>
                                  </p:childTnLst>
                                </p:cTn>
                              </p:par>
                            </p:childTnLst>
                          </p:cTn>
                        </p:par>
                        <p:par>
                          <p:cTn id="65" fill="hold">
                            <p:stCondLst>
                              <p:cond delay="650"/>
                            </p:stCondLst>
                            <p:childTnLst>
                              <p:par>
                                <p:cTn id="61" presetID="42" presetClass="entr" presetSubtype="0" fill="hold" nodeType="after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50"/>
                                        <p:tgtEl>
                                          <p:spTgt spid="14"/>
                                        </p:tgtEl>
                                      </p:cBhvr>
                                    </p:animEffect>
                                    <p:anim calcmode="lin" valueType="num">
                                      <p:cBhvr>
                                        <p:cTn id="64" dur="650" fill="hold"/>
                                        <p:tgtEl>
                                          <p:spTgt spid="14"/>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457200"/>
            <a:ext cx="7315200" cy="4572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A worked example · classification (2 / 2)</a:t>
            </a:r>
          </a:p>
        </p:txBody>
      </p:sp>
      <p:sp>
        <p:nvSpPr>
          <p:cNvPr id="3" name="TextBox 2"/>
          <p:cNvSpPr txBox="1"/>
          <p:nvPr/>
        </p:nvSpPr>
        <p:spPr>
          <a:xfrm>
            <a:off x="685800" y="777240"/>
            <a:ext cx="9144000" cy="914400"/>
          </a:xfrm>
          <a:prstGeom prst="rect">
            <a:avLst/>
          </a:prstGeom>
          <a:noFill/>
        </p:spPr>
        <p:txBody>
          <a:bodyPr wrap="square" lIns="0" rIns="0" tIns="0" bIns="0" anchor="t">
            <a:spAutoFit/>
          </a:bodyPr>
          <a:lstStyle/>
          <a:p>
            <a:pPr algn="l">
              <a:lnSpc>
                <a:spcPct val="88000"/>
              </a:lnSpc>
              <a:spcAft>
                <a:spcPts val="0"/>
              </a:spcAft>
            </a:pPr>
            <a:r>
              <a:rPr sz="4600" b="0" i="0">
                <a:solidFill>
                  <a:srgbClr val="262A33"/>
                </a:solidFill>
                <a:latin typeface="Bahnschrift Light"/>
              </a:rPr>
              <a:t>SPLIT, LEAF VALUES, UPDATE</a:t>
            </a:r>
          </a:p>
        </p:txBody>
      </p:sp>
      <p:pic>
        <p:nvPicPr>
          <p:cNvPr id="4" name="Picture 3" descr="dots.png"/>
          <p:cNvPicPr>
            <a:picLocks noChangeAspect="1"/>
          </p:cNvPicPr>
          <p:nvPr/>
        </p:nvPicPr>
        <p:blipFill>
          <a:blip r:embed="rId2"/>
          <a:stretch>
            <a:fillRect/>
          </a:stretch>
        </p:blipFill>
        <p:spPr>
          <a:xfrm>
            <a:off x="9875520" y="411480"/>
            <a:ext cx="1645920" cy="868680"/>
          </a:xfrm>
          <a:prstGeom prst="rect">
            <a:avLst/>
          </a:prstGeom>
        </p:spPr>
      </p:pic>
      <p:sp>
        <p:nvSpPr>
          <p:cNvPr id="5" name="Rounded Rectangle 4"/>
          <p:cNvSpPr/>
          <p:nvPr/>
        </p:nvSpPr>
        <p:spPr>
          <a:xfrm>
            <a:off x="1417320" y="1965960"/>
            <a:ext cx="2377440" cy="502920"/>
          </a:xfrm>
          <a:prstGeom prst="roundRect">
            <a:avLst>
              <a:gd name="adj" fmla="val 50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a:solidFill>
                  <a:srgbClr val="E5E4E2"/>
                </a:solidFill>
                <a:latin typeface="Segoe UI Semibold"/>
              </a:rPr>
              <a:t>minutes &lt; 10 ?</a:t>
            </a:r>
          </a:p>
        </p:txBody>
      </p:sp>
      <p:cxnSp>
        <p:nvCxnSpPr>
          <p:cNvPr id="6" name="Connector 5"/>
          <p:cNvCxnSpPr/>
          <p:nvPr/>
        </p:nvCxnSpPr>
        <p:spPr>
          <a:xfrm flipH="1">
            <a:off x="1417320" y="2468880"/>
            <a:ext cx="731520" cy="731520"/>
          </a:xfrm>
          <a:prstGeom prst="line">
            <a:avLst/>
          </a:prstGeom>
          <a:ln w="1587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063240" y="2468880"/>
            <a:ext cx="731520" cy="731520"/>
          </a:xfrm>
          <a:prstGeom prst="line">
            <a:avLst/>
          </a:prstGeom>
          <a:ln w="15875">
            <a:solidFill>
              <a:srgbClr val="5B5F6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3200400"/>
            <a:ext cx="1737360" cy="1051560"/>
          </a:xfrm>
          <a:prstGeom prst="roundRect">
            <a:avLst>
              <a:gd name="adj" fmla="val 12000"/>
            </a:avLst>
          </a:prstGeom>
          <a:noFill/>
          <a:ln w="12700">
            <a:solidFill>
              <a:srgbClr val="262A3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a:solidFill>
                  <a:srgbClr val="262A33"/>
                </a:solidFill>
                <a:latin typeface="Segoe UI Semibold"/>
              </a:rPr>
              <a:t>A, B</a:t>
            </a:r>
          </a:p>
          <a:p>
            <a:pPr algn="ctr"/>
            <a:r>
              <a:rPr sz="1100">
                <a:solidFill>
                  <a:srgbClr val="262A33"/>
                </a:solidFill>
                <a:latin typeface="Consolas"/>
              </a:rPr>
              <a:t>G = +1.0</a:t>
            </a:r>
          </a:p>
          <a:p>
            <a:pPr algn="ctr"/>
            <a:r>
              <a:rPr sz="1100">
                <a:solidFill>
                  <a:srgbClr val="262A33"/>
                </a:solidFill>
                <a:latin typeface="Consolas"/>
              </a:rPr>
              <a:t>H = 0.5</a:t>
            </a:r>
          </a:p>
        </p:txBody>
      </p:sp>
      <p:sp>
        <p:nvSpPr>
          <p:cNvPr id="9" name="Rounded Rectangle 8"/>
          <p:cNvSpPr/>
          <p:nvPr/>
        </p:nvSpPr>
        <p:spPr>
          <a:xfrm>
            <a:off x="2926080" y="3200400"/>
            <a:ext cx="1737360" cy="1051560"/>
          </a:xfrm>
          <a:prstGeom prst="roundRect">
            <a:avLst>
              <a:gd name="adj" fmla="val 12000"/>
            </a:avLst>
          </a:prstGeom>
          <a:noFill/>
          <a:ln w="12700">
            <a:solidFill>
              <a:srgbClr val="B554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a:solidFill>
                  <a:srgbClr val="B5543A"/>
                </a:solidFill>
                <a:latin typeface="Segoe UI Semibold"/>
              </a:rPr>
              <a:t>C, D</a:t>
            </a:r>
          </a:p>
          <a:p>
            <a:pPr algn="ctr"/>
            <a:r>
              <a:rPr sz="1100">
                <a:solidFill>
                  <a:srgbClr val="262A33"/>
                </a:solidFill>
                <a:latin typeface="Consolas"/>
              </a:rPr>
              <a:t>G = −1.0</a:t>
            </a:r>
          </a:p>
          <a:p>
            <a:pPr algn="ctr"/>
            <a:r>
              <a:rPr sz="1100">
                <a:solidFill>
                  <a:srgbClr val="262A33"/>
                </a:solidFill>
                <a:latin typeface="Consolas"/>
              </a:rPr>
              <a:t>H = 0.5</a:t>
            </a:r>
          </a:p>
        </p:txBody>
      </p:sp>
      <p:sp>
        <p:nvSpPr>
          <p:cNvPr id="10" name="Oval 9"/>
          <p:cNvSpPr/>
          <p:nvPr/>
        </p:nvSpPr>
        <p:spPr>
          <a:xfrm>
            <a:off x="982980" y="4457700"/>
            <a:ext cx="868680" cy="868680"/>
          </a:xfrm>
          <a:prstGeom prst="ellipse">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27432" bIns="27432"/>
          <a:lstStyle/>
          <a:p>
            <a:pPr algn="ctr"/>
            <a:r>
              <a:rPr sz="1300">
                <a:solidFill>
                  <a:srgbClr val="E5E4E2"/>
                </a:solidFill>
                <a:latin typeface="Segoe UI Semibold"/>
              </a:rPr>
              <a:t>−0.67</a:t>
            </a:r>
          </a:p>
        </p:txBody>
      </p:sp>
      <p:sp>
        <p:nvSpPr>
          <p:cNvPr id="11" name="Oval 10"/>
          <p:cNvSpPr/>
          <p:nvPr/>
        </p:nvSpPr>
        <p:spPr>
          <a:xfrm>
            <a:off x="3360420" y="4457700"/>
            <a:ext cx="868680" cy="868680"/>
          </a:xfrm>
          <a:prstGeom prst="ellipse">
            <a:avLst/>
          </a:prstGeom>
          <a:solidFill>
            <a:srgbClr val="B55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27432" bIns="27432"/>
          <a:lstStyle/>
          <a:p>
            <a:pPr algn="ctr"/>
            <a:r>
              <a:rPr sz="1300">
                <a:solidFill>
                  <a:srgbClr val="E5E4E2"/>
                </a:solidFill>
                <a:latin typeface="Segoe UI Semibold"/>
              </a:rPr>
              <a:t>+0.67</a:t>
            </a:r>
          </a:p>
        </p:txBody>
      </p:sp>
      <p:cxnSp>
        <p:nvCxnSpPr>
          <p:cNvPr id="12" name="Connector 11"/>
          <p:cNvCxnSpPr/>
          <p:nvPr/>
        </p:nvCxnSpPr>
        <p:spPr>
          <a:xfrm>
            <a:off x="1417320" y="4251960"/>
            <a:ext cx="0" cy="210312"/>
          </a:xfrm>
          <a:prstGeom prst="line">
            <a:avLst/>
          </a:prstGeom>
          <a:ln w="15875">
            <a:solidFill>
              <a:srgbClr val="5B5F6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794760" y="4251960"/>
            <a:ext cx="0" cy="210312"/>
          </a:xfrm>
          <a:prstGeom prst="line">
            <a:avLst/>
          </a:prstGeom>
          <a:ln w="15875">
            <a:solidFill>
              <a:srgbClr val="5B5F6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5486400"/>
            <a:ext cx="4206240" cy="457200"/>
          </a:xfrm>
          <a:prstGeom prst="rect">
            <a:avLst/>
          </a:prstGeom>
          <a:noFill/>
        </p:spPr>
        <p:txBody>
          <a:bodyPr wrap="square" lIns="0" rIns="0" tIns="0" bIns="0" anchor="t">
            <a:spAutoFit/>
          </a:bodyPr>
          <a:lstStyle/>
          <a:p>
            <a:pPr algn="ctr">
              <a:spcAft>
                <a:spcPts val="0"/>
              </a:spcAft>
            </a:pPr>
            <a:r>
              <a:rPr sz="1100" b="0" i="1">
                <a:solidFill>
                  <a:srgbClr val="5B5F68"/>
                </a:solidFill>
                <a:latin typeface="Segoe UI"/>
              </a:rPr>
              <a:t>leaf values w</a:t>
            </a:r>
          </a:p>
        </p:txBody>
      </p:sp>
      <p:sp>
        <p:nvSpPr>
          <p:cNvPr id="15" name="TextBox 14"/>
          <p:cNvSpPr txBox="1"/>
          <p:nvPr/>
        </p:nvSpPr>
        <p:spPr>
          <a:xfrm>
            <a:off x="5486400" y="1874519"/>
            <a:ext cx="6126480" cy="365760"/>
          </a:xfrm>
          <a:prstGeom prst="rect">
            <a:avLst/>
          </a:prstGeom>
          <a:noFill/>
        </p:spPr>
        <p:txBody>
          <a:bodyPr wrap="square" lIns="0" rIns="0" tIns="0" bIns="0" anchor="t">
            <a:spAutoFit/>
          </a:bodyPr>
          <a:lstStyle/>
          <a:p>
            <a:pPr algn="l">
              <a:spcAft>
                <a:spcPts val="0"/>
              </a:spcAft>
            </a:pPr>
            <a:r>
              <a:rPr sz="1800" b="0" i="0">
                <a:solidFill>
                  <a:srgbClr val="B5543A"/>
                </a:solidFill>
                <a:latin typeface="Bahnschrift Light"/>
              </a:rPr>
              <a:t>4  </a:t>
            </a:r>
            <a:r>
              <a:rPr sz="1400" b="0" i="0">
                <a:solidFill>
                  <a:srgbClr val="262A33"/>
                </a:solidFill>
                <a:latin typeface="Segoe UI Semibold"/>
              </a:rPr>
              <a:t>Is the split worth it?  Gain</a:t>
            </a:r>
          </a:p>
        </p:txBody>
      </p:sp>
      <p:sp>
        <p:nvSpPr>
          <p:cNvPr id="16" name="TextBox 15"/>
          <p:cNvSpPr txBox="1"/>
          <p:nvPr/>
        </p:nvSpPr>
        <p:spPr>
          <a:xfrm>
            <a:off x="5852160" y="2286000"/>
            <a:ext cx="5760720" cy="822960"/>
          </a:xfrm>
          <a:prstGeom prst="rect">
            <a:avLst/>
          </a:prstGeom>
          <a:noFill/>
        </p:spPr>
        <p:txBody>
          <a:bodyPr wrap="square" lIns="0" rIns="0" tIns="0" bIns="0" anchor="t">
            <a:spAutoFit/>
          </a:bodyPr>
          <a:lstStyle/>
          <a:p>
            <a:pPr algn="l">
              <a:spcAft>
                <a:spcPts val="200"/>
              </a:spcAft>
            </a:pPr>
            <a:r>
              <a:rPr sz="1250" b="0" i="0">
                <a:solidFill>
                  <a:srgbClr val="262A33"/>
                </a:solidFill>
                <a:latin typeface="Consolas"/>
              </a:rPr>
              <a:t>½ [ 1.0²/(0.5+1) + (−1.0)²/(0.5+1) − 0²/(1+1) ] − 0</a:t>
            </a:r>
          </a:p>
          <a:p>
            <a:pPr algn="l">
              <a:spcAft>
                <a:spcPts val="200"/>
              </a:spcAft>
            </a:pPr>
            <a:r>
              <a:rPr sz="1250" b="0" i="0">
                <a:solidFill>
                  <a:srgbClr val="262A33"/>
                </a:solidFill>
                <a:latin typeface="Consolas"/>
              </a:rPr>
              <a:t>= ½ [ 0.667 + 0.667 − 0 ] = </a:t>
            </a:r>
            <a:r>
              <a:rPr sz="1250" b="0" i="0">
                <a:solidFill>
                  <a:srgbClr val="B5543A"/>
                </a:solidFill>
                <a:latin typeface="Consolas"/>
              </a:rPr>
              <a:t>0.67 &gt; 0  ✓ split!</a:t>
            </a:r>
          </a:p>
        </p:txBody>
      </p:sp>
      <p:sp>
        <p:nvSpPr>
          <p:cNvPr id="17" name="TextBox 16"/>
          <p:cNvSpPr txBox="1"/>
          <p:nvPr/>
        </p:nvSpPr>
        <p:spPr>
          <a:xfrm>
            <a:off x="5486400" y="3200400"/>
            <a:ext cx="6126480" cy="365760"/>
          </a:xfrm>
          <a:prstGeom prst="rect">
            <a:avLst/>
          </a:prstGeom>
          <a:noFill/>
        </p:spPr>
        <p:txBody>
          <a:bodyPr wrap="square" lIns="0" rIns="0" tIns="0" bIns="0" anchor="t">
            <a:spAutoFit/>
          </a:bodyPr>
          <a:lstStyle/>
          <a:p>
            <a:pPr algn="l">
              <a:spcAft>
                <a:spcPts val="0"/>
              </a:spcAft>
            </a:pPr>
            <a:r>
              <a:rPr sz="1800" b="0" i="0">
                <a:solidFill>
                  <a:srgbClr val="B5543A"/>
                </a:solidFill>
                <a:latin typeface="Bahnschrift Light"/>
              </a:rPr>
              <a:t>5  </a:t>
            </a:r>
            <a:r>
              <a:rPr sz="1400" b="0" i="0">
                <a:solidFill>
                  <a:srgbClr val="262A33"/>
                </a:solidFill>
                <a:latin typeface="Segoe UI Semibold"/>
              </a:rPr>
              <a:t>Best leaf values  w = −G/(H+λ)</a:t>
            </a:r>
          </a:p>
        </p:txBody>
      </p:sp>
      <p:sp>
        <p:nvSpPr>
          <p:cNvPr id="18" name="TextBox 17"/>
          <p:cNvSpPr txBox="1"/>
          <p:nvPr/>
        </p:nvSpPr>
        <p:spPr>
          <a:xfrm>
            <a:off x="5852160" y="3611880"/>
            <a:ext cx="5760720" cy="548640"/>
          </a:xfrm>
          <a:prstGeom prst="rect">
            <a:avLst/>
          </a:prstGeom>
          <a:noFill/>
        </p:spPr>
        <p:txBody>
          <a:bodyPr wrap="square" lIns="0" rIns="0" tIns="0" bIns="0" anchor="t">
            <a:spAutoFit/>
          </a:bodyPr>
          <a:lstStyle/>
          <a:p>
            <a:pPr algn="l">
              <a:spcAft>
                <a:spcPts val="0"/>
              </a:spcAft>
            </a:pPr>
            <a:r>
              <a:rPr sz="1250" b="0" i="0">
                <a:solidFill>
                  <a:srgbClr val="262A33"/>
                </a:solidFill>
                <a:latin typeface="Consolas"/>
              </a:rPr>
              <a:t>left: −1.0/(0.5+1) = −0.67     right: +1.0/1.5 = +0.67</a:t>
            </a:r>
          </a:p>
        </p:txBody>
      </p:sp>
      <p:sp>
        <p:nvSpPr>
          <p:cNvPr id="19" name="TextBox 18"/>
          <p:cNvSpPr txBox="1"/>
          <p:nvPr/>
        </p:nvSpPr>
        <p:spPr>
          <a:xfrm>
            <a:off x="5486400" y="4206240"/>
            <a:ext cx="6126480" cy="365760"/>
          </a:xfrm>
          <a:prstGeom prst="rect">
            <a:avLst/>
          </a:prstGeom>
          <a:noFill/>
        </p:spPr>
        <p:txBody>
          <a:bodyPr wrap="square" lIns="0" rIns="0" tIns="0" bIns="0" anchor="t">
            <a:spAutoFit/>
          </a:bodyPr>
          <a:lstStyle/>
          <a:p>
            <a:pPr algn="l">
              <a:spcAft>
                <a:spcPts val="0"/>
              </a:spcAft>
            </a:pPr>
            <a:r>
              <a:rPr sz="1800" b="0" i="0">
                <a:solidFill>
                  <a:srgbClr val="B5543A"/>
                </a:solidFill>
                <a:latin typeface="Bahnschrift Light"/>
              </a:rPr>
              <a:t>6  </a:t>
            </a:r>
            <a:r>
              <a:rPr sz="1400" b="0" i="0">
                <a:solidFill>
                  <a:srgbClr val="262A33"/>
                </a:solidFill>
                <a:latin typeface="Segoe UI Semibold"/>
              </a:rPr>
              <a:t>Update with η = 0.3, then sigmoid</a:t>
            </a:r>
          </a:p>
        </p:txBody>
      </p:sp>
      <p:sp>
        <p:nvSpPr>
          <p:cNvPr id="20" name="TextBox 19"/>
          <p:cNvSpPr txBox="1"/>
          <p:nvPr/>
        </p:nvSpPr>
        <p:spPr>
          <a:xfrm>
            <a:off x="5852160" y="4617720"/>
            <a:ext cx="5760720" cy="822960"/>
          </a:xfrm>
          <a:prstGeom prst="rect">
            <a:avLst/>
          </a:prstGeom>
          <a:noFill/>
        </p:spPr>
        <p:txBody>
          <a:bodyPr wrap="square" lIns="0" rIns="0" tIns="0" bIns="0" anchor="t">
            <a:spAutoFit/>
          </a:bodyPr>
          <a:lstStyle/>
          <a:p>
            <a:pPr algn="l">
              <a:spcAft>
                <a:spcPts val="200"/>
              </a:spcAft>
            </a:pPr>
            <a:r>
              <a:rPr sz="1250" b="0" i="0">
                <a:solidFill>
                  <a:srgbClr val="262A33"/>
                </a:solidFill>
                <a:latin typeface="Consolas"/>
              </a:rPr>
              <a:t>A, B: z = 0 + 0.3·(−0.67) = −0.2  →  p = 0.45</a:t>
            </a:r>
          </a:p>
          <a:p>
            <a:pPr algn="l">
              <a:spcAft>
                <a:spcPts val="200"/>
              </a:spcAft>
            </a:pPr>
            <a:r>
              <a:rPr sz="1250" b="0" i="0">
                <a:solidFill>
                  <a:srgbClr val="262A33"/>
                </a:solidFill>
                <a:latin typeface="Consolas"/>
              </a:rPr>
              <a:t>C, D: z = 0 + 0.3·(+0.67) = +0.2  →  p = 0.55</a:t>
            </a:r>
          </a:p>
        </p:txBody>
      </p:sp>
      <p:sp>
        <p:nvSpPr>
          <p:cNvPr id="21" name="TextBox 20"/>
          <p:cNvSpPr txBox="1"/>
          <p:nvPr/>
        </p:nvSpPr>
        <p:spPr>
          <a:xfrm>
            <a:off x="5486400" y="5532120"/>
            <a:ext cx="6126480" cy="822960"/>
          </a:xfrm>
          <a:prstGeom prst="rect">
            <a:avLst/>
          </a:prstGeom>
          <a:noFill/>
        </p:spPr>
        <p:txBody>
          <a:bodyPr wrap="square" lIns="0" rIns="0" tIns="0" bIns="0" anchor="t">
            <a:spAutoFit/>
          </a:bodyPr>
          <a:lstStyle/>
          <a:p>
            <a:pPr algn="l">
              <a:lnSpc>
                <a:spcPct val="105000"/>
              </a:lnSpc>
              <a:spcAft>
                <a:spcPts val="0"/>
              </a:spcAft>
            </a:pPr>
            <a:r>
              <a:rPr sz="1400" b="0" i="0">
                <a:solidFill>
                  <a:srgbClr val="B5543A"/>
                </a:solidFill>
                <a:latin typeface="Segoe UI Semibold"/>
              </a:rPr>
              <a:t>Every probability moved toward the truth. </a:t>
            </a:r>
            <a:r>
              <a:rPr sz="1300" b="0" i="0">
                <a:solidFill>
                  <a:srgbClr val="262A33"/>
                </a:solidFill>
                <a:latin typeface="Segoe UI"/>
              </a:rPr>
              <a:t>Log loss 0.693 → 0.598 after one tree. The next tree starts from p = 0.45 / 0.55.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6" fill="hold">
                      <p:stCondLst>
                        <p:cond delay="indefinite"/>
                      </p:stCondLst>
                      <p:childTnLst>
                        <p:par>
                          <p:cTn id="28"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anim calcmode="lin" valueType="num">
                                      <p:cBhvr>
                                        <p:cTn id="20" dur="550" fill="hold"/>
                                        <p:tgtEl>
                                          <p:spTgt spid="5"/>
                                        </p:tgtEl>
                                        <p:attrNameLst>
                                          <p:attrName>ppt_w</p:attrName>
                                        </p:attrNameLst>
                                      </p:cBhvr>
                                      <p:tavLst>
                                        <p:tav tm="0">
                                          <p:val>
                                            <p:strVal val="#ppt_w*0.8"/>
                                          </p:val>
                                        </p:tav>
                                        <p:tav tm="100000">
                                          <p:val>
                                            <p:strVal val="#ppt_w"/>
                                          </p:val>
                                        </p:tav>
                                      </p:tavLst>
                                    </p:anim>
                                    <p:anim calcmode="lin" valueType="num">
                                      <p:cBhvr>
                                        <p:cTn id="21" dur="550" fill="hold"/>
                                        <p:tgtEl>
                                          <p:spTgt spid="5"/>
                                        </p:tgtEl>
                                        <p:attrNameLst>
                                          <p:attrName>ppt_h</p:attrName>
                                        </p:attrNameLst>
                                      </p:cBhvr>
                                      <p:tavLst>
                                        <p:tav tm="0">
                                          <p:val>
                                            <p:strVal val="#ppt_h*0.8"/>
                                          </p:val>
                                        </p:tav>
                                        <p:tav tm="100000">
                                          <p:val>
                                            <p:strVal val="#ppt_h"/>
                                          </p:val>
                                        </p:tav>
                                      </p:tavLst>
                                    </p:anim>
                                  </p:childTnLst>
                                </p:cTn>
                              </p:par>
                              <p:par>
                                <p:cTn id="22" presetID="10"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par>
                                <p:cTn id="25" presetID="10"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par>
                          <p:cTn id="39" fill="hold">
                            <p:stCondLst>
                              <p:cond delay="550"/>
                            </p:stCondLst>
                            <p:childTnLst>
                              <p:par>
                                <p:cTn id="29" presetID="53" presetClass="entr" presetSubtype="16"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50"/>
                                        <p:tgtEl>
                                          <p:spTgt spid="8"/>
                                        </p:tgtEl>
                                      </p:cBhvr>
                                    </p:animEffect>
                                    <p:anim calcmode="lin" valueType="num">
                                      <p:cBhvr>
                                        <p:cTn id="32" dur="550" fill="hold"/>
                                        <p:tgtEl>
                                          <p:spTgt spid="8"/>
                                        </p:tgtEl>
                                        <p:attrNameLst>
                                          <p:attrName>ppt_w</p:attrName>
                                        </p:attrNameLst>
                                      </p:cBhvr>
                                      <p:tavLst>
                                        <p:tav tm="0">
                                          <p:val>
                                            <p:strVal val="#ppt_w*0.8"/>
                                          </p:val>
                                        </p:tav>
                                        <p:tav tm="100000">
                                          <p:val>
                                            <p:strVal val="#ppt_w"/>
                                          </p:val>
                                        </p:tav>
                                      </p:tavLst>
                                    </p:anim>
                                    <p:anim calcmode="lin" valueType="num">
                                      <p:cBhvr>
                                        <p:cTn id="33" dur="550" fill="hold"/>
                                        <p:tgtEl>
                                          <p:spTgt spid="8"/>
                                        </p:tgtEl>
                                        <p:attrNameLst>
                                          <p:attrName>ppt_h</p:attrName>
                                        </p:attrNameLst>
                                      </p:cBhvr>
                                      <p:tavLst>
                                        <p:tav tm="0">
                                          <p:val>
                                            <p:strVal val="#ppt_h*0.8"/>
                                          </p:val>
                                        </p:tav>
                                        <p:tav tm="100000">
                                          <p:val>
                                            <p:strVal val="#ppt_h"/>
                                          </p:val>
                                        </p:tav>
                                      </p:tavLst>
                                    </p:anim>
                                  </p:childTnLst>
                                </p:cTn>
                              </p:par>
                              <p:par>
                                <p:cTn id="34" presetID="53" presetClass="entr" presetSubtype="16"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50"/>
                                        <p:tgtEl>
                                          <p:spTgt spid="9"/>
                                        </p:tgtEl>
                                      </p:cBhvr>
                                    </p:animEffect>
                                    <p:anim calcmode="lin" valueType="num">
                                      <p:cBhvr>
                                        <p:cTn id="37" dur="550" fill="hold"/>
                                        <p:tgtEl>
                                          <p:spTgt spid="9"/>
                                        </p:tgtEl>
                                        <p:attrNameLst>
                                          <p:attrName>ppt_w</p:attrName>
                                        </p:attrNameLst>
                                      </p:cBhvr>
                                      <p:tavLst>
                                        <p:tav tm="0">
                                          <p:val>
                                            <p:strVal val="#ppt_w*0.8"/>
                                          </p:val>
                                        </p:tav>
                                        <p:tav tm="100000">
                                          <p:val>
                                            <p:strVal val="#ppt_w"/>
                                          </p:val>
                                        </p:tav>
                                      </p:tavLst>
                                    </p:anim>
                                    <p:anim calcmode="lin" valueType="num">
                                      <p:cBhvr>
                                        <p:cTn id="38" dur="550" fill="hold"/>
                                        <p:tgtEl>
                                          <p:spTgt spid="9"/>
                                        </p:tgtEl>
                                        <p:attrNameLst>
                                          <p:attrName>ppt_h</p:attrName>
                                        </p:attrNameLst>
                                      </p:cBhvr>
                                      <p:tavLst>
                                        <p:tav tm="0">
                                          <p:val>
                                            <p:strVal val="#ppt_h*0.8"/>
                                          </p:val>
                                        </p:tav>
                                        <p:tav tm="100000">
                                          <p:val>
                                            <p:strVal val="#ppt_h"/>
                                          </p:val>
                                        </p:tav>
                                      </p:tavLst>
                                    </p:anim>
                                  </p:childTnLst>
                                </p:cTn>
                              </p:par>
                            </p:childTnLst>
                          </p:cTn>
                        </p:par>
                      </p:childTnLst>
                    </p:cTn>
                  </p:par>
                  <p:par>
                    <p:cTn id="40" fill="hold">
                      <p:stCondLst>
                        <p:cond delay="indefinite"/>
                      </p:stCondLst>
                      <p:childTnLst>
                        <p:par>
                          <p:cTn id="45"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650"/>
                                        <p:tgtEl>
                                          <p:spTgt spid="15"/>
                                        </p:tgtEl>
                                      </p:cBhvr>
                                    </p:animEffect>
                                    <p:anim calcmode="lin" valueType="num">
                                      <p:cBhvr>
                                        <p:cTn id="44" dur="650" fill="hold"/>
                                        <p:tgtEl>
                                          <p:spTgt spid="15"/>
                                        </p:tgtEl>
                                        <p:attrNameLst>
                                          <p:attrName>ppt_y</p:attrName>
                                        </p:attrNameLst>
                                      </p:cBhvr>
                                      <p:tavLst>
                                        <p:tav tm="0">
                                          <p:val>
                                            <p:strVal val="#ppt_y+0.06"/>
                                          </p:val>
                                        </p:tav>
                                        <p:tav tm="100000">
                                          <p:val>
                                            <p:strVal val="#ppt_y"/>
                                          </p:val>
                                        </p:tav>
                                      </p:tavLst>
                                    </p:anim>
                                  </p:childTnLst>
                                </p:cTn>
                              </p:par>
                            </p:childTnLst>
                          </p:cTn>
                        </p:par>
                        <p:par>
                          <p:cTn id="49" fill="hold">
                            <p:stCondLst>
                              <p:cond delay="650"/>
                            </p:stCondLst>
                            <p:childTnLst>
                              <p:par>
                                <p:cTn id="46" presetID="22" presetClass="entr" presetSubtype="8" fill="hold" nodeType="after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wipe(left)">
                                      <p:cBhvr>
                                        <p:cTn id="48" dur="700"/>
                                        <p:tgtEl>
                                          <p:spTgt spid="16"/>
                                        </p:tgtEl>
                                      </p:cBhvr>
                                    </p:animEffect>
                                  </p:childTnLst>
                                </p:cTn>
                              </p:par>
                            </p:childTnLst>
                          </p:cTn>
                        </p:par>
                      </p:childTnLst>
                    </p:cTn>
                  </p:par>
                  <p:par>
                    <p:cTn id="50" fill="hold">
                      <p:stCondLst>
                        <p:cond delay="indefinite"/>
                      </p:stCondLst>
                      <p:childTnLst>
                        <p:par>
                          <p:cTn id="55"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650"/>
                                        <p:tgtEl>
                                          <p:spTgt spid="17"/>
                                        </p:tgtEl>
                                      </p:cBhvr>
                                    </p:animEffect>
                                    <p:anim calcmode="lin" valueType="num">
                                      <p:cBhvr>
                                        <p:cTn id="54" dur="650" fill="hold"/>
                                        <p:tgtEl>
                                          <p:spTgt spid="17"/>
                                        </p:tgtEl>
                                        <p:attrNameLst>
                                          <p:attrName>ppt_y</p:attrName>
                                        </p:attrNameLst>
                                      </p:cBhvr>
                                      <p:tavLst>
                                        <p:tav tm="0">
                                          <p:val>
                                            <p:strVal val="#ppt_y+0.06"/>
                                          </p:val>
                                        </p:tav>
                                        <p:tav tm="100000">
                                          <p:val>
                                            <p:strVal val="#ppt_y"/>
                                          </p:val>
                                        </p:tav>
                                      </p:tavLst>
                                    </p:anim>
                                  </p:childTnLst>
                                </p:cTn>
                              </p:par>
                            </p:childTnLst>
                          </p:cTn>
                        </p:par>
                        <p:par>
                          <p:cTn id="65" fill="hold">
                            <p:stCondLst>
                              <p:cond delay="650"/>
                            </p:stCondLst>
                            <p:childTnLst>
                              <p:par>
                                <p:cTn id="56" presetID="22" presetClass="entr" presetSubtype="8" fill="hold"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left)">
                                      <p:cBhvr>
                                        <p:cTn id="58" dur="700"/>
                                        <p:tgtEl>
                                          <p:spTgt spid="18"/>
                                        </p:tgtEl>
                                      </p:cBhvr>
                                    </p:animEffect>
                                  </p:childTnLst>
                                </p:cTn>
                              </p:par>
                              <p:par>
                                <p:cTn id="59" presetID="10" presetClass="entr" presetSubtype="0" fill="hold"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10" presetClass="entr" presetSubtype="0" fill="hold"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childTnLst>
                          </p:cTn>
                        </p:par>
                        <p:par>
                          <p:cTn id="80" fill="hold">
                            <p:stCondLst>
                              <p:cond delay="1350"/>
                            </p:stCondLst>
                            <p:childTnLst>
                              <p:par>
                                <p:cTn id="66" presetID="53" presetClass="entr" presetSubtype="16" fill="hold" nodeType="afterEffect">
                                  <p:stCondLst>
                                    <p:cond delay="0"/>
                                  </p:stCondLst>
                                  <p:childTnLst>
                                    <p:set>
                                      <p:cBhvr>
                                        <p:cTn id="67" dur="1" fill="hold">
                                          <p:stCondLst>
                                            <p:cond delay="0"/>
                                          </p:stCondLst>
                                        </p:cTn>
                                        <p:tgtEl>
                                          <p:spTgt spid="10"/>
                                        </p:tgtEl>
                                        <p:attrNameLst>
                                          <p:attrName>style.visibility</p:attrName>
                                        </p:attrNameLst>
                                      </p:cBhvr>
                                      <p:to>
                                        <p:strVal val="visible"/>
                                      </p:to>
                                    </p:set>
                                    <p:animEffect transition="in" filter="fade">
                                      <p:cBhvr>
                                        <p:cTn id="68" dur="550"/>
                                        <p:tgtEl>
                                          <p:spTgt spid="10"/>
                                        </p:tgtEl>
                                      </p:cBhvr>
                                    </p:animEffect>
                                    <p:anim calcmode="lin" valueType="num">
                                      <p:cBhvr>
                                        <p:cTn id="69" dur="550" fill="hold"/>
                                        <p:tgtEl>
                                          <p:spTgt spid="10"/>
                                        </p:tgtEl>
                                        <p:attrNameLst>
                                          <p:attrName>ppt_w</p:attrName>
                                        </p:attrNameLst>
                                      </p:cBhvr>
                                      <p:tavLst>
                                        <p:tav tm="0">
                                          <p:val>
                                            <p:strVal val="#ppt_w*0.8"/>
                                          </p:val>
                                        </p:tav>
                                        <p:tav tm="100000">
                                          <p:val>
                                            <p:strVal val="#ppt_w"/>
                                          </p:val>
                                        </p:tav>
                                      </p:tavLst>
                                    </p:anim>
                                    <p:anim calcmode="lin" valueType="num">
                                      <p:cBhvr>
                                        <p:cTn id="70" dur="550" fill="hold"/>
                                        <p:tgtEl>
                                          <p:spTgt spid="10"/>
                                        </p:tgtEl>
                                        <p:attrNameLst>
                                          <p:attrName>ppt_h</p:attrName>
                                        </p:attrNameLst>
                                      </p:cBhvr>
                                      <p:tavLst>
                                        <p:tav tm="0">
                                          <p:val>
                                            <p:strVal val="#ppt_h*0.8"/>
                                          </p:val>
                                        </p:tav>
                                        <p:tav tm="100000">
                                          <p:val>
                                            <p:strVal val="#ppt_h"/>
                                          </p:val>
                                        </p:tav>
                                      </p:tavLst>
                                    </p:anim>
                                  </p:childTnLst>
                                </p:cTn>
                              </p:par>
                              <p:par>
                                <p:cTn id="71" presetID="53" presetClass="entr" presetSubtype="16" fill="hold" nodeType="after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fade">
                                      <p:cBhvr>
                                        <p:cTn id="73" dur="550"/>
                                        <p:tgtEl>
                                          <p:spTgt spid="11"/>
                                        </p:tgtEl>
                                      </p:cBhvr>
                                    </p:animEffect>
                                    <p:anim calcmode="lin" valueType="num">
                                      <p:cBhvr>
                                        <p:cTn id="74" dur="550" fill="hold"/>
                                        <p:tgtEl>
                                          <p:spTgt spid="11"/>
                                        </p:tgtEl>
                                        <p:attrNameLst>
                                          <p:attrName>ppt_w</p:attrName>
                                        </p:attrNameLst>
                                      </p:cBhvr>
                                      <p:tavLst>
                                        <p:tav tm="0">
                                          <p:val>
                                            <p:strVal val="#ppt_w*0.8"/>
                                          </p:val>
                                        </p:tav>
                                        <p:tav tm="100000">
                                          <p:val>
                                            <p:strVal val="#ppt_w"/>
                                          </p:val>
                                        </p:tav>
                                      </p:tavLst>
                                    </p:anim>
                                    <p:anim calcmode="lin" valueType="num">
                                      <p:cBhvr>
                                        <p:cTn id="75" dur="550" fill="hold"/>
                                        <p:tgtEl>
                                          <p:spTgt spid="11"/>
                                        </p:tgtEl>
                                        <p:attrNameLst>
                                          <p:attrName>ppt_h</p:attrName>
                                        </p:attrNameLst>
                                      </p:cBhvr>
                                      <p:tavLst>
                                        <p:tav tm="0">
                                          <p:val>
                                            <p:strVal val="#ppt_h*0.8"/>
                                          </p:val>
                                        </p:tav>
                                        <p:tav tm="100000">
                                          <p:val>
                                            <p:strVal val="#ppt_h"/>
                                          </p:val>
                                        </p:tav>
                                      </p:tavLst>
                                    </p:anim>
                                  </p:childTnLst>
                                </p:cTn>
                              </p:par>
                              <p:par>
                                <p:cTn id="76" presetID="42" presetClass="entr" presetSubtype="0" fill="hold" nodeType="afterEffect">
                                  <p:stCondLst>
                                    <p:cond delay="0"/>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650"/>
                                        <p:tgtEl>
                                          <p:spTgt spid="14"/>
                                        </p:tgtEl>
                                      </p:cBhvr>
                                    </p:animEffect>
                                    <p:anim calcmode="lin" valueType="num">
                                      <p:cBhvr>
                                        <p:cTn id="79" dur="650" fill="hold"/>
                                        <p:tgtEl>
                                          <p:spTgt spid="14"/>
                                        </p:tgtEl>
                                        <p:attrNameLst>
                                          <p:attrName>ppt_y</p:attrName>
                                        </p:attrNameLst>
                                      </p:cBhvr>
                                      <p:tavLst>
                                        <p:tav tm="0">
                                          <p:val>
                                            <p:strVal val="#ppt_y+0.06"/>
                                          </p:val>
                                        </p:tav>
                                        <p:tav tm="100000">
                                          <p:val>
                                            <p:strVal val="#ppt_y"/>
                                          </p:val>
                                        </p:tav>
                                      </p:tavLst>
                                    </p:anim>
                                  </p:childTnLst>
                                </p:cTn>
                              </p:par>
                            </p:childTnLst>
                          </p:cTn>
                        </p:par>
                      </p:childTnLst>
                    </p:cTn>
                  </p:par>
                  <p:par>
                    <p:cTn id="81" fill="hold">
                      <p:stCondLst>
                        <p:cond delay="indefinite"/>
                      </p:stCondLst>
                      <p:childTnLst>
                        <p:par>
                          <p:cTn id="86"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650"/>
                                        <p:tgtEl>
                                          <p:spTgt spid="19"/>
                                        </p:tgtEl>
                                      </p:cBhvr>
                                    </p:animEffect>
                                    <p:anim calcmode="lin" valueType="num">
                                      <p:cBhvr>
                                        <p:cTn id="85" dur="650" fill="hold"/>
                                        <p:tgtEl>
                                          <p:spTgt spid="19"/>
                                        </p:tgtEl>
                                        <p:attrNameLst>
                                          <p:attrName>ppt_y</p:attrName>
                                        </p:attrNameLst>
                                      </p:cBhvr>
                                      <p:tavLst>
                                        <p:tav tm="0">
                                          <p:val>
                                            <p:strVal val="#ppt_y+0.06"/>
                                          </p:val>
                                        </p:tav>
                                        <p:tav tm="100000">
                                          <p:val>
                                            <p:strVal val="#ppt_y"/>
                                          </p:val>
                                        </p:tav>
                                      </p:tavLst>
                                    </p:anim>
                                  </p:childTnLst>
                                </p:cTn>
                              </p:par>
                            </p:childTnLst>
                          </p:cTn>
                        </p:par>
                        <p:par>
                          <p:cTn id="90" fill="hold">
                            <p:stCondLst>
                              <p:cond delay="650"/>
                            </p:stCondLst>
                            <p:childTnLst>
                              <p:par>
                                <p:cTn id="87" presetID="22" presetClass="entr" presetSubtype="8" fill="hold" nodeType="after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wipe(left)">
                                      <p:cBhvr>
                                        <p:cTn id="89" dur="700"/>
                                        <p:tgtEl>
                                          <p:spTgt spid="20"/>
                                        </p:tgtEl>
                                      </p:cBhvr>
                                    </p:animEffect>
                                  </p:childTnLst>
                                </p:cTn>
                              </p:par>
                            </p:childTnLst>
                          </p:cTn>
                        </p:par>
                      </p:childTnLst>
                    </p:cTn>
                  </p:par>
                  <p:par>
                    <p:cTn id="91" fill="hold">
                      <p:stCondLst>
                        <p:cond delay="indefinite"/>
                      </p:stCondLst>
                      <p:childTnLst>
                        <p:par>
                          <p:cTn id="96" fill="hold">
                            <p:stCondLst>
                              <p:cond delay="0"/>
                            </p:stCondLst>
                            <p:childTnLst>
                              <p:par>
                                <p:cTn id="92" presetID="42" presetClass="entr" presetSubtype="0" fill="hold" nodeType="click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650"/>
                                        <p:tgtEl>
                                          <p:spTgt spid="21"/>
                                        </p:tgtEl>
                                      </p:cBhvr>
                                    </p:animEffect>
                                    <p:anim calcmode="lin" valueType="num">
                                      <p:cBhvr>
                                        <p:cTn id="95" dur="650" fill="hold"/>
                                        <p:tgtEl>
                                          <p:spTgt spid="21"/>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457200"/>
            <a:ext cx="7315200" cy="4572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Everything you need to run XGBoost in Python</a:t>
            </a:r>
          </a:p>
        </p:txBody>
      </p:sp>
      <p:sp>
        <p:nvSpPr>
          <p:cNvPr id="3" name="TextBox 2"/>
          <p:cNvSpPr txBox="1"/>
          <p:nvPr/>
        </p:nvSpPr>
        <p:spPr>
          <a:xfrm>
            <a:off x="685800" y="777240"/>
            <a:ext cx="9144000" cy="914400"/>
          </a:xfrm>
          <a:prstGeom prst="rect">
            <a:avLst/>
          </a:prstGeom>
          <a:noFill/>
        </p:spPr>
        <p:txBody>
          <a:bodyPr wrap="square" lIns="0" rIns="0" tIns="0" bIns="0" anchor="t">
            <a:spAutoFit/>
          </a:bodyPr>
          <a:lstStyle/>
          <a:p>
            <a:pPr algn="l">
              <a:lnSpc>
                <a:spcPct val="88000"/>
              </a:lnSpc>
              <a:spcAft>
                <a:spcPts val="0"/>
              </a:spcAft>
            </a:pPr>
            <a:r>
              <a:rPr sz="4600" b="0" i="0">
                <a:solidFill>
                  <a:srgbClr val="262A33"/>
                </a:solidFill>
                <a:latin typeface="Bahnschrift Light"/>
              </a:rPr>
              <a:t>INSTALL &amp; IMPORT</a:t>
            </a:r>
          </a:p>
        </p:txBody>
      </p:sp>
      <p:pic>
        <p:nvPicPr>
          <p:cNvPr id="4" name="Picture 3" descr="dots.png"/>
          <p:cNvPicPr>
            <a:picLocks noChangeAspect="1"/>
          </p:cNvPicPr>
          <p:nvPr/>
        </p:nvPicPr>
        <p:blipFill>
          <a:blip r:embed="rId2"/>
          <a:stretch>
            <a:fillRect/>
          </a:stretch>
        </p:blipFill>
        <p:spPr>
          <a:xfrm>
            <a:off x="9875520" y="411480"/>
            <a:ext cx="1645920" cy="868680"/>
          </a:xfrm>
          <a:prstGeom prst="rect">
            <a:avLst/>
          </a:prstGeom>
        </p:spPr>
      </p:pic>
      <p:sp>
        <p:nvSpPr>
          <p:cNvPr id="5" name="TextBox 4"/>
          <p:cNvSpPr txBox="1"/>
          <p:nvPr/>
        </p:nvSpPr>
        <p:spPr>
          <a:xfrm>
            <a:off x="685800" y="1828800"/>
            <a:ext cx="5303520" cy="365760"/>
          </a:xfrm>
          <a:prstGeom prst="rect">
            <a:avLst/>
          </a:prstGeom>
          <a:noFill/>
        </p:spPr>
        <p:txBody>
          <a:bodyPr wrap="square" lIns="0" rIns="0" tIns="0" bIns="0" anchor="t">
            <a:spAutoFit/>
          </a:bodyPr>
          <a:lstStyle/>
          <a:p>
            <a:pPr algn="l">
              <a:spcAft>
                <a:spcPts val="0"/>
              </a:spcAft>
            </a:pPr>
            <a:r>
              <a:rPr sz="1800" b="0" i="0">
                <a:solidFill>
                  <a:srgbClr val="B5543A"/>
                </a:solidFill>
                <a:latin typeface="Bahnschrift Light"/>
              </a:rPr>
              <a:t>1  </a:t>
            </a:r>
            <a:r>
              <a:rPr sz="1400" b="0" i="0">
                <a:solidFill>
                  <a:srgbClr val="262A33"/>
                </a:solidFill>
                <a:latin typeface="Segoe UI Semibold"/>
              </a:rPr>
              <a:t>Install (terminal)</a:t>
            </a:r>
          </a:p>
        </p:txBody>
      </p:sp>
      <p:sp>
        <p:nvSpPr>
          <p:cNvPr id="6" name="Rounded Rectangle 5"/>
          <p:cNvSpPr/>
          <p:nvPr/>
        </p:nvSpPr>
        <p:spPr>
          <a:xfrm>
            <a:off x="685800" y="2286000"/>
            <a:ext cx="5303520" cy="914400"/>
          </a:xfrm>
          <a:prstGeom prst="roundRect">
            <a:avLst>
              <a:gd name="adj" fmla="val 5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r>
              <a:rPr sz="1300">
                <a:solidFill>
                  <a:srgbClr val="E08A6B"/>
                </a:solidFill>
                <a:latin typeface="Consolas"/>
              </a:rPr>
              <a:t>pip install </a:t>
            </a:r>
            <a:r>
              <a:rPr sz="1300">
                <a:solidFill>
                  <a:srgbClr val="EEEDEB"/>
                </a:solidFill>
                <a:latin typeface="Consolas"/>
              </a:rPr>
              <a:t>xgboost scikit-learn pandas shap</a:t>
            </a:r>
          </a:p>
          <a:p>
            <a:pPr algn="l"/>
            <a:r>
              <a:rPr sz="1300">
                <a:solidFill>
                  <a:srgbClr val="9A9EA6"/>
                </a:solidFill>
                <a:latin typeface="Consolas"/>
              </a:rPr>
              <a:t># or: conda install -c conda-forge py-xgboost</a:t>
            </a:r>
          </a:p>
        </p:txBody>
      </p:sp>
      <p:sp>
        <p:nvSpPr>
          <p:cNvPr id="7" name="TextBox 6"/>
          <p:cNvSpPr txBox="1"/>
          <p:nvPr/>
        </p:nvSpPr>
        <p:spPr>
          <a:xfrm>
            <a:off x="685800" y="3429000"/>
            <a:ext cx="5303520" cy="365760"/>
          </a:xfrm>
          <a:prstGeom prst="rect">
            <a:avLst/>
          </a:prstGeom>
          <a:noFill/>
        </p:spPr>
        <p:txBody>
          <a:bodyPr wrap="square" lIns="0" rIns="0" tIns="0" bIns="0" anchor="t">
            <a:spAutoFit/>
          </a:bodyPr>
          <a:lstStyle/>
          <a:p>
            <a:pPr algn="l">
              <a:spcAft>
                <a:spcPts val="0"/>
              </a:spcAft>
            </a:pPr>
            <a:r>
              <a:rPr sz="1800" b="0" i="0">
                <a:solidFill>
                  <a:srgbClr val="B5543A"/>
                </a:solidFill>
                <a:latin typeface="Bahnschrift Light"/>
              </a:rPr>
              <a:t>2  </a:t>
            </a:r>
            <a:r>
              <a:rPr sz="1400" b="0" i="0">
                <a:solidFill>
                  <a:srgbClr val="262A33"/>
                </a:solidFill>
                <a:latin typeface="Segoe UI Semibold"/>
              </a:rPr>
              <a:t>Import</a:t>
            </a:r>
          </a:p>
        </p:txBody>
      </p:sp>
      <p:sp>
        <p:nvSpPr>
          <p:cNvPr id="8" name="Rounded Rectangle 7"/>
          <p:cNvSpPr/>
          <p:nvPr/>
        </p:nvSpPr>
        <p:spPr>
          <a:xfrm>
            <a:off x="685800" y="3886200"/>
            <a:ext cx="5303520" cy="960120"/>
          </a:xfrm>
          <a:prstGeom prst="roundRect">
            <a:avLst>
              <a:gd name="adj" fmla="val 5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r>
              <a:rPr sz="1300">
                <a:solidFill>
                  <a:srgbClr val="E08A6B"/>
                </a:solidFill>
                <a:latin typeface="Consolas"/>
              </a:rPr>
              <a:t>import </a:t>
            </a:r>
            <a:r>
              <a:rPr sz="1300">
                <a:solidFill>
                  <a:srgbClr val="EEEDEB"/>
                </a:solidFill>
                <a:latin typeface="Consolas"/>
              </a:rPr>
              <a:t>xgboost </a:t>
            </a:r>
            <a:r>
              <a:rPr sz="1300">
                <a:solidFill>
                  <a:srgbClr val="E08A6B"/>
                </a:solidFill>
                <a:latin typeface="Consolas"/>
              </a:rPr>
              <a:t>as </a:t>
            </a:r>
            <a:r>
              <a:rPr sz="1300">
                <a:solidFill>
                  <a:srgbClr val="EEEDEB"/>
                </a:solidFill>
                <a:latin typeface="Consolas"/>
              </a:rPr>
              <a:t>xgb</a:t>
            </a:r>
          </a:p>
          <a:p>
            <a:pPr algn="l"/>
            <a:r>
              <a:rPr sz="1300">
                <a:solidFill>
                  <a:srgbClr val="E08A6B"/>
                </a:solidFill>
                <a:latin typeface="Consolas"/>
              </a:rPr>
              <a:t>from </a:t>
            </a:r>
            <a:r>
              <a:rPr sz="1300">
                <a:solidFill>
                  <a:srgbClr val="EEEDEB"/>
                </a:solidFill>
                <a:latin typeface="Consolas"/>
              </a:rPr>
              <a:t>xgboost </a:t>
            </a:r>
            <a:r>
              <a:rPr sz="1300">
                <a:solidFill>
                  <a:srgbClr val="E08A6B"/>
                </a:solidFill>
                <a:latin typeface="Consolas"/>
              </a:rPr>
              <a:t>import </a:t>
            </a:r>
            <a:r>
              <a:rPr sz="1300">
                <a:solidFill>
                  <a:srgbClr val="EEEDEB"/>
                </a:solidFill>
                <a:latin typeface="Consolas"/>
              </a:rPr>
              <a:t>XGBClassifier, XGBRegressor</a:t>
            </a:r>
          </a:p>
        </p:txBody>
      </p:sp>
      <p:sp>
        <p:nvSpPr>
          <p:cNvPr id="9" name="TextBox 8"/>
          <p:cNvSpPr txBox="1"/>
          <p:nvPr/>
        </p:nvSpPr>
        <p:spPr>
          <a:xfrm>
            <a:off x="685800" y="5029200"/>
            <a:ext cx="5303520" cy="1188720"/>
          </a:xfrm>
          <a:prstGeom prst="rect">
            <a:avLst/>
          </a:prstGeom>
          <a:noFill/>
        </p:spPr>
        <p:txBody>
          <a:bodyPr wrap="square" lIns="0" rIns="0" tIns="0" bIns="0" anchor="t">
            <a:spAutoFit/>
          </a:bodyPr>
          <a:lstStyle/>
          <a:p>
            <a:pPr algn="l">
              <a:spcAft>
                <a:spcPts val="400"/>
              </a:spcAft>
            </a:pPr>
            <a:r>
              <a:rPr sz="1200" b="0" i="0">
                <a:solidFill>
                  <a:srgbClr val="262A33"/>
                </a:solidFill>
                <a:latin typeface="Segoe UI Semibold"/>
              </a:rPr>
              <a:t>Versions we used: </a:t>
            </a:r>
            <a:r>
              <a:rPr sz="1200" b="0" i="0">
                <a:solidFill>
                  <a:srgbClr val="5B5F68"/>
                </a:solidFill>
                <a:latin typeface="Segoe UI"/>
              </a:rPr>
              <a:t>xgboost 3.2 · scikit-learn 1.9 · pandas 3.0 · shap 0.51 · Python 3.11</a:t>
            </a:r>
          </a:p>
          <a:p>
            <a:pPr algn="l">
              <a:spcAft>
                <a:spcPts val="400"/>
              </a:spcAft>
            </a:pPr>
            <a:r>
              <a:rPr sz="1100" b="0" i="1">
                <a:solidFill>
                  <a:srgbClr val="5B5F68"/>
                </a:solidFill>
                <a:latin typeface="Segoe UI"/>
              </a:rPr>
              <a:t>GPU: add device="cuda".  Native API: xgb.DMatrix + xgb.train.</a:t>
            </a:r>
          </a:p>
        </p:txBody>
      </p:sp>
      <p:sp>
        <p:nvSpPr>
          <p:cNvPr id="10" name="TextBox 9"/>
          <p:cNvSpPr txBox="1"/>
          <p:nvPr/>
        </p:nvSpPr>
        <p:spPr>
          <a:xfrm>
            <a:off x="6355080" y="1828800"/>
            <a:ext cx="5303520" cy="365760"/>
          </a:xfrm>
          <a:prstGeom prst="rect">
            <a:avLst/>
          </a:prstGeom>
          <a:noFill/>
        </p:spPr>
        <p:txBody>
          <a:bodyPr wrap="square" lIns="0" rIns="0" tIns="0" bIns="0" anchor="t">
            <a:spAutoFit/>
          </a:bodyPr>
          <a:lstStyle/>
          <a:p>
            <a:pPr algn="l">
              <a:spcAft>
                <a:spcPts val="0"/>
              </a:spcAft>
            </a:pPr>
            <a:r>
              <a:rPr sz="1800" b="0" i="0">
                <a:solidFill>
                  <a:srgbClr val="B5543A"/>
                </a:solidFill>
                <a:latin typeface="Bahnschrift Light"/>
              </a:rPr>
              <a:t>3  </a:t>
            </a:r>
            <a:r>
              <a:rPr sz="1400" b="0" i="0">
                <a:solidFill>
                  <a:srgbClr val="262A33"/>
                </a:solidFill>
                <a:latin typeface="Segoe UI Semibold"/>
              </a:rPr>
              <a:t>Train &amp; predict (scikit-learn style)</a:t>
            </a:r>
          </a:p>
        </p:txBody>
      </p:sp>
      <p:sp>
        <p:nvSpPr>
          <p:cNvPr id="11" name="Rounded Rectangle 10"/>
          <p:cNvSpPr/>
          <p:nvPr/>
        </p:nvSpPr>
        <p:spPr>
          <a:xfrm>
            <a:off x="6355080" y="2286000"/>
            <a:ext cx="5257800" cy="3931920"/>
          </a:xfrm>
          <a:prstGeom prst="roundRect">
            <a:avLst>
              <a:gd name="adj" fmla="val 5000"/>
            </a:avLst>
          </a:prstGeom>
          <a:solidFill>
            <a:srgbClr val="26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r>
              <a:rPr sz="1250">
                <a:solidFill>
                  <a:srgbClr val="EEEDEB"/>
                </a:solidFill>
                <a:latin typeface="Consolas"/>
              </a:rPr>
              <a:t>model = XGBClassifier(</a:t>
            </a:r>
          </a:p>
          <a:p>
            <a:pPr algn="l"/>
            <a:r>
              <a:rPr sz="1250">
                <a:solidFill>
                  <a:srgbClr val="EEEDEB"/>
                </a:solidFill>
                <a:latin typeface="Consolas"/>
              </a:rPr>
              <a:t>    n_estimators=</a:t>
            </a:r>
            <a:r>
              <a:rPr sz="1250">
                <a:solidFill>
                  <a:srgbClr val="E08A6B"/>
                </a:solidFill>
                <a:latin typeface="Consolas"/>
              </a:rPr>
              <a:t>3000</a:t>
            </a:r>
            <a:r>
              <a:rPr sz="1250">
                <a:solidFill>
                  <a:srgbClr val="EEEDEB"/>
                </a:solidFill>
                <a:latin typeface="Consolas"/>
              </a:rPr>
              <a:t>,</a:t>
            </a:r>
          </a:p>
          <a:p>
            <a:pPr algn="l"/>
            <a:r>
              <a:rPr sz="1250">
                <a:solidFill>
                  <a:srgbClr val="EEEDEB"/>
                </a:solidFill>
                <a:latin typeface="Consolas"/>
              </a:rPr>
              <a:t>    learning_rate=</a:t>
            </a:r>
            <a:r>
              <a:rPr sz="1250">
                <a:solidFill>
                  <a:srgbClr val="E08A6B"/>
                </a:solidFill>
                <a:latin typeface="Consolas"/>
              </a:rPr>
              <a:t>0.05</a:t>
            </a:r>
            <a:r>
              <a:rPr sz="1250">
                <a:solidFill>
                  <a:srgbClr val="EEEDEB"/>
                </a:solidFill>
                <a:latin typeface="Consolas"/>
              </a:rPr>
              <a:t>,</a:t>
            </a:r>
          </a:p>
          <a:p>
            <a:pPr algn="l"/>
            <a:r>
              <a:rPr sz="1250">
                <a:solidFill>
                  <a:srgbClr val="EEEDEB"/>
                </a:solidFill>
                <a:latin typeface="Consolas"/>
              </a:rPr>
              <a:t>    max_depth=</a:t>
            </a:r>
            <a:r>
              <a:rPr sz="1250">
                <a:solidFill>
                  <a:srgbClr val="E08A6B"/>
                </a:solidFill>
                <a:latin typeface="Consolas"/>
              </a:rPr>
              <a:t>6</a:t>
            </a:r>
            <a:r>
              <a:rPr sz="1250">
                <a:solidFill>
                  <a:srgbClr val="EEEDEB"/>
                </a:solidFill>
                <a:latin typeface="Consolas"/>
              </a:rPr>
              <a:t>,</a:t>
            </a:r>
          </a:p>
          <a:p>
            <a:pPr algn="l"/>
            <a:r>
              <a:rPr sz="1250">
                <a:solidFill>
                  <a:srgbClr val="EEEDEB"/>
                </a:solidFill>
                <a:latin typeface="Consolas"/>
              </a:rPr>
              <a:t>    early_stopping_rounds=</a:t>
            </a:r>
            <a:r>
              <a:rPr sz="1250">
                <a:solidFill>
                  <a:srgbClr val="E08A6B"/>
                </a:solidFill>
                <a:latin typeface="Consolas"/>
              </a:rPr>
              <a:t>100</a:t>
            </a:r>
            <a:r>
              <a:rPr sz="1250">
                <a:solidFill>
                  <a:srgbClr val="EEEDEB"/>
                </a:solidFill>
                <a:latin typeface="Consolas"/>
              </a:rPr>
              <a:t>,</a:t>
            </a:r>
          </a:p>
          <a:p>
            <a:pPr algn="l"/>
            <a:r>
              <a:rPr sz="1250">
                <a:solidFill>
                  <a:srgbClr val="EEEDEB"/>
                </a:solidFill>
                <a:latin typeface="Consolas"/>
              </a:rPr>
              <a:t>    eval_metric=</a:t>
            </a:r>
            <a:r>
              <a:rPr sz="1250">
                <a:solidFill>
                  <a:srgbClr val="E08A6B"/>
                </a:solidFill>
                <a:latin typeface="Consolas"/>
              </a:rPr>
              <a:t>"logloss"</a:t>
            </a:r>
            <a:r>
              <a:rPr sz="1250">
                <a:solidFill>
                  <a:srgbClr val="EEEDEB"/>
                </a:solidFill>
                <a:latin typeface="Consolas"/>
              </a:rPr>
              <a:t>)</a:t>
            </a:r>
          </a:p>
          <a:p>
            <a:pPr algn="l"/>
            <a:r>
              <a:rPr sz="1250">
                <a:solidFill>
                  <a:srgbClr val="EEEDEB"/>
                </a:solidFill>
                <a:latin typeface="Consolas"/>
              </a:rPr>
              <a:t/>
            </a:r>
          </a:p>
          <a:p>
            <a:pPr algn="l"/>
            <a:r>
              <a:rPr sz="1250">
                <a:solidFill>
                  <a:srgbClr val="EEEDEB"/>
                </a:solidFill>
                <a:latin typeface="Consolas"/>
              </a:rPr>
              <a:t>model.fit(X_train, y_train,</a:t>
            </a:r>
          </a:p>
          <a:p>
            <a:pPr algn="l"/>
            <a:r>
              <a:rPr sz="1250">
                <a:solidFill>
                  <a:srgbClr val="EEEDEB"/>
                </a:solidFill>
                <a:latin typeface="Consolas"/>
              </a:rPr>
              <a:t>          eval_set=[(X_val, y_val)])</a:t>
            </a:r>
          </a:p>
          <a:p>
            <a:pPr algn="l"/>
            <a:r>
              <a:rPr sz="1250">
                <a:solidFill>
                  <a:srgbClr val="EEEDEB"/>
                </a:solidFill>
                <a:latin typeface="Consolas"/>
              </a:rPr>
              <a:t/>
            </a:r>
          </a:p>
          <a:p>
            <a:pPr algn="l"/>
            <a:r>
              <a:rPr sz="1250">
                <a:solidFill>
                  <a:srgbClr val="EEEDEB"/>
                </a:solidFill>
                <a:latin typeface="Consolas"/>
              </a:rPr>
              <a:t>proba = model.predict_proba(X_test)[:, </a:t>
            </a:r>
            <a:r>
              <a:rPr sz="1250">
                <a:solidFill>
                  <a:srgbClr val="E08A6B"/>
                </a:solidFill>
                <a:latin typeface="Consolas"/>
              </a:rPr>
              <a:t>1</a:t>
            </a:r>
            <a:r>
              <a:rPr sz="1250">
                <a:solidFill>
                  <a:srgbClr val="EEEDEB"/>
                </a:solidFill>
                <a:latin typeface="Consolas"/>
              </a:rPr>
              <a:t>]</a:t>
            </a:r>
          </a:p>
          <a:p>
            <a:pPr algn="l"/>
            <a:r>
              <a:rPr sz="1250">
                <a:solidFill>
                  <a:srgbClr val="9A9EA6"/>
                </a:solidFill>
                <a:latin typeface="Consolas"/>
              </a:rPr>
              <a:t># NaN can stay in X: no imputation needed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6" fill="hold">
                      <p:stCondLst>
                        <p:cond delay="indefinite"/>
                      </p:stCondLst>
                      <p:childTnLst>
                        <p:par>
                          <p:cTn id="21"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p:cTn id="20" dur="650" fill="hold"/>
                                        <p:tgtEl>
                                          <p:spTgt spid="5"/>
                                        </p:tgtEl>
                                        <p:attrNameLst>
                                          <p:attrName>ppt_y</p:attrName>
                                        </p:attrNameLst>
                                      </p:cBhvr>
                                      <p:tavLst>
                                        <p:tav tm="0">
                                          <p:val>
                                            <p:strVal val="#ppt_y+0.06"/>
                                          </p:val>
                                        </p:tav>
                                        <p:tav tm="100000">
                                          <p:val>
                                            <p:strVal val="#ppt_y"/>
                                          </p:val>
                                        </p:tav>
                                      </p:tavLst>
                                    </p:anim>
                                  </p:childTnLst>
                                </p:cTn>
                              </p:par>
                            </p:childTnLst>
                          </p:cTn>
                        </p:par>
                        <p:par>
                          <p:cTn id="25" fill="hold">
                            <p:stCondLst>
                              <p:cond delay="650"/>
                            </p:stCondLst>
                            <p:childTnLst>
                              <p:par>
                                <p:cTn id="22" presetID="22" presetClass="entr" presetSubtype="8"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700"/>
                                        <p:tgtEl>
                                          <p:spTgt spid="6"/>
                                        </p:tgtEl>
                                      </p:cBhvr>
                                    </p:animEffect>
                                  </p:childTnLst>
                                </p:cTn>
                              </p:par>
                            </p:childTnLst>
                          </p:cTn>
                        </p:par>
                      </p:childTnLst>
                    </p:cTn>
                  </p:par>
                  <p:par>
                    <p:cTn id="26" fill="hold">
                      <p:stCondLst>
                        <p:cond delay="indefinite"/>
                      </p:stCondLst>
                      <p:childTnLst>
                        <p:par>
                          <p:cTn id="31"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650"/>
                                        <p:tgtEl>
                                          <p:spTgt spid="7"/>
                                        </p:tgtEl>
                                      </p:cBhvr>
                                    </p:animEffect>
                                    <p:anim calcmode="lin" valueType="num">
                                      <p:cBhvr>
                                        <p:cTn id="30" dur="650" fill="hold"/>
                                        <p:tgtEl>
                                          <p:spTgt spid="7"/>
                                        </p:tgtEl>
                                        <p:attrNameLst>
                                          <p:attrName>ppt_y</p:attrName>
                                        </p:attrNameLst>
                                      </p:cBhvr>
                                      <p:tavLst>
                                        <p:tav tm="0">
                                          <p:val>
                                            <p:strVal val="#ppt_y+0.06"/>
                                          </p:val>
                                        </p:tav>
                                        <p:tav tm="100000">
                                          <p:val>
                                            <p:strVal val="#ppt_y"/>
                                          </p:val>
                                        </p:tav>
                                      </p:tavLst>
                                    </p:anim>
                                  </p:childTnLst>
                                </p:cTn>
                              </p:par>
                            </p:childTnLst>
                          </p:cTn>
                        </p:par>
                        <p:par>
                          <p:cTn id="35" fill="hold">
                            <p:stCondLst>
                              <p:cond delay="650"/>
                            </p:stCondLst>
                            <p:childTnLst>
                              <p:par>
                                <p:cTn id="32" presetID="22" presetClass="entr" presetSubtype="8"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700"/>
                                        <p:tgtEl>
                                          <p:spTgt spid="8"/>
                                        </p:tgtEl>
                                      </p:cBhvr>
                                    </p:animEffect>
                                  </p:childTnLst>
                                </p:cTn>
                              </p:par>
                            </p:childTnLst>
                          </p:cTn>
                        </p:par>
                        <p:par>
                          <p:cTn id="40" fill="hold">
                            <p:stCondLst>
                              <p:cond delay="1350"/>
                            </p:stCondLst>
                            <p:childTnLst>
                              <p:par>
                                <p:cTn id="36" presetID="42" presetClass="entr" presetSubtype="0" fill="hold"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50"/>
                                        <p:tgtEl>
                                          <p:spTgt spid="9"/>
                                        </p:tgtEl>
                                      </p:cBhvr>
                                    </p:animEffect>
                                    <p:anim calcmode="lin" valueType="num">
                                      <p:cBhvr>
                                        <p:cTn id="39" dur="650" fill="hold"/>
                                        <p:tgtEl>
                                          <p:spTgt spid="9"/>
                                        </p:tgtEl>
                                        <p:attrNameLst>
                                          <p:attrName>ppt_y</p:attrName>
                                        </p:attrNameLst>
                                      </p:cBhvr>
                                      <p:tavLst>
                                        <p:tav tm="0">
                                          <p:val>
                                            <p:strVal val="#ppt_y+0.06"/>
                                          </p:val>
                                        </p:tav>
                                        <p:tav tm="100000">
                                          <p:val>
                                            <p:strVal val="#ppt_y"/>
                                          </p:val>
                                        </p:tav>
                                      </p:tavLst>
                                    </p:anim>
                                  </p:childTnLst>
                                </p:cTn>
                              </p:par>
                            </p:childTnLst>
                          </p:cTn>
                        </p:par>
                      </p:childTnLst>
                    </p:cTn>
                  </p:par>
                  <p:par>
                    <p:cTn id="41" fill="hold">
                      <p:stCondLst>
                        <p:cond delay="indefinite"/>
                      </p:stCondLst>
                      <p:childTnLst>
                        <p:par>
                          <p:cTn id="46"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650"/>
                                        <p:tgtEl>
                                          <p:spTgt spid="10"/>
                                        </p:tgtEl>
                                      </p:cBhvr>
                                    </p:animEffect>
                                    <p:anim calcmode="lin" valueType="num">
                                      <p:cBhvr>
                                        <p:cTn id="45" dur="650" fill="hold"/>
                                        <p:tgtEl>
                                          <p:spTgt spid="10"/>
                                        </p:tgtEl>
                                        <p:attrNameLst>
                                          <p:attrName>ppt_y</p:attrName>
                                        </p:attrNameLst>
                                      </p:cBhvr>
                                      <p:tavLst>
                                        <p:tav tm="0">
                                          <p:val>
                                            <p:strVal val="#ppt_y+0.06"/>
                                          </p:val>
                                        </p:tav>
                                        <p:tav tm="100000">
                                          <p:val>
                                            <p:strVal val="#ppt_y"/>
                                          </p:val>
                                        </p:tav>
                                      </p:tavLst>
                                    </p:anim>
                                  </p:childTnLst>
                                </p:cTn>
                              </p:par>
                            </p:childTnLst>
                          </p:cTn>
                        </p:par>
                        <p:par>
                          <p:cTn id="50" fill="hold">
                            <p:stCondLst>
                              <p:cond delay="650"/>
                            </p:stCondLst>
                            <p:childTnLst>
                              <p:par>
                                <p:cTn id="47" presetID="22" presetClass="entr" presetSubtype="1" fill="hold"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down)">
                                      <p:cBhvr>
                                        <p:cTn id="49" dur="8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E5E4E2"/>
        </a:solidFill>
        <a:effectLst/>
      </p:bgPr>
    </p:bg>
    <p:spTree>
      <p:nvGrpSpPr>
        <p:cNvPr id="1" name=""/>
        <p:cNvGrpSpPr/>
        <p:nvPr/>
      </p:nvGrpSpPr>
      <p:grpSpPr/>
      <p:sp>
        <p:nvSpPr>
          <p:cNvPr id="2" name="TextBox 1"/>
          <p:cNvSpPr txBox="1"/>
          <p:nvPr/>
        </p:nvSpPr>
        <p:spPr>
          <a:xfrm>
            <a:off x="685800" y="457200"/>
            <a:ext cx="7315200" cy="457200"/>
          </a:xfrm>
          <a:prstGeom prst="rect">
            <a:avLst/>
          </a:prstGeom>
          <a:noFill/>
        </p:spPr>
        <p:txBody>
          <a:bodyPr wrap="square" lIns="0" rIns="0" tIns="0" bIns="0" anchor="t">
            <a:spAutoFit/>
          </a:bodyPr>
          <a:lstStyle/>
          <a:p>
            <a:pPr algn="l">
              <a:lnSpc>
                <a:spcPct val="100000"/>
              </a:lnSpc>
              <a:spcAft>
                <a:spcPts val="0"/>
              </a:spcAft>
            </a:pPr>
            <a:r>
              <a:rPr sz="1800" b="0" i="0">
                <a:solidFill>
                  <a:srgbClr val="262A33"/>
                </a:solidFill>
                <a:latin typeface="Segoe UI"/>
              </a:rPr>
              <a:t>Higgs_Boson.ipynb in ten steps</a:t>
            </a:r>
          </a:p>
        </p:txBody>
      </p:sp>
      <p:sp>
        <p:nvSpPr>
          <p:cNvPr id="3" name="TextBox 2"/>
          <p:cNvSpPr txBox="1"/>
          <p:nvPr/>
        </p:nvSpPr>
        <p:spPr>
          <a:xfrm>
            <a:off x="685800" y="777240"/>
            <a:ext cx="9144000" cy="914400"/>
          </a:xfrm>
          <a:prstGeom prst="rect">
            <a:avLst/>
          </a:prstGeom>
          <a:noFill/>
        </p:spPr>
        <p:txBody>
          <a:bodyPr wrap="square" lIns="0" rIns="0" tIns="0" bIns="0" anchor="t">
            <a:spAutoFit/>
          </a:bodyPr>
          <a:lstStyle/>
          <a:p>
            <a:pPr algn="l">
              <a:lnSpc>
                <a:spcPct val="88000"/>
              </a:lnSpc>
              <a:spcAft>
                <a:spcPts val="0"/>
              </a:spcAft>
            </a:pPr>
            <a:r>
              <a:rPr sz="4600" b="0" i="0">
                <a:solidFill>
                  <a:srgbClr val="262A33"/>
                </a:solidFill>
                <a:latin typeface="Bahnschrift Light"/>
              </a:rPr>
              <a:t>OUR NOTEBOOK ROADMAP</a:t>
            </a:r>
          </a:p>
        </p:txBody>
      </p:sp>
      <p:pic>
        <p:nvPicPr>
          <p:cNvPr id="4" name="Picture 3" descr="dots.png"/>
          <p:cNvPicPr>
            <a:picLocks noChangeAspect="1"/>
          </p:cNvPicPr>
          <p:nvPr/>
        </p:nvPicPr>
        <p:blipFill>
          <a:blip r:embed="rId2"/>
          <a:stretch>
            <a:fillRect/>
          </a:stretch>
        </p:blipFill>
        <p:spPr>
          <a:xfrm>
            <a:off x="9875520" y="411480"/>
            <a:ext cx="1645920" cy="868680"/>
          </a:xfrm>
          <a:prstGeom prst="rect">
            <a:avLst/>
          </a:prstGeom>
        </p:spPr>
      </p:pic>
      <p:sp>
        <p:nvSpPr>
          <p:cNvPr id="5" name="Rounded Rectangle 4"/>
          <p:cNvSpPr/>
          <p:nvPr/>
        </p:nvSpPr>
        <p:spPr>
          <a:xfrm>
            <a:off x="685800" y="2057400"/>
            <a:ext cx="2057400" cy="1874519"/>
          </a:xfrm>
          <a:prstGeom prst="roundRect">
            <a:avLst>
              <a:gd name="adj" fmla="val 8000"/>
            </a:avLst>
          </a:prstGeom>
          <a:no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167128"/>
            <a:ext cx="914400" cy="548640"/>
          </a:xfrm>
          <a:prstGeom prst="rect">
            <a:avLst/>
          </a:prstGeom>
          <a:noFill/>
        </p:spPr>
        <p:txBody>
          <a:bodyPr wrap="square" lIns="0" rIns="0" tIns="0" bIns="0" anchor="t">
            <a:spAutoFit/>
          </a:bodyPr>
          <a:lstStyle/>
          <a:p>
            <a:pPr algn="l">
              <a:spcAft>
                <a:spcPts val="0"/>
              </a:spcAft>
            </a:pPr>
            <a:r>
              <a:rPr sz="3000" b="0" i="0">
                <a:solidFill>
                  <a:srgbClr val="B5543A"/>
                </a:solidFill>
                <a:latin typeface="Bahnschrift Light"/>
              </a:rPr>
              <a:t>0</a:t>
            </a:r>
          </a:p>
        </p:txBody>
      </p:sp>
      <p:sp>
        <p:nvSpPr>
          <p:cNvPr id="7" name="TextBox 6"/>
          <p:cNvSpPr txBox="1"/>
          <p:nvPr/>
        </p:nvSpPr>
        <p:spPr>
          <a:xfrm>
            <a:off x="850392" y="2743200"/>
            <a:ext cx="1783080" cy="1143000"/>
          </a:xfrm>
          <a:prstGeom prst="rect">
            <a:avLst/>
          </a:prstGeom>
          <a:noFill/>
        </p:spPr>
        <p:txBody>
          <a:bodyPr wrap="square" lIns="0" rIns="0" tIns="0" bIns="0" anchor="t">
            <a:spAutoFit/>
          </a:bodyPr>
          <a:lstStyle/>
          <a:p>
            <a:pPr algn="l">
              <a:spcAft>
                <a:spcPts val="300"/>
              </a:spcAft>
            </a:pPr>
            <a:r>
              <a:rPr sz="1300" b="0" i="0">
                <a:solidFill>
                  <a:srgbClr val="262A33"/>
                </a:solidFill>
                <a:latin typeface="Segoe UI Semibold"/>
              </a:rPr>
              <a:t>Setup</a:t>
            </a:r>
          </a:p>
          <a:p>
            <a:pPr algn="l">
              <a:spcAft>
                <a:spcPts val="300"/>
              </a:spcAft>
            </a:pPr>
            <a:r>
              <a:rPr sz="1050" b="0" i="0">
                <a:solidFill>
                  <a:srgbClr val="5B5F68"/>
                </a:solidFill>
                <a:latin typeface="Segoe UI"/>
              </a:rPr>
              <a:t>xgboost 3.2, shap, sklearn</a:t>
            </a:r>
          </a:p>
        </p:txBody>
      </p:sp>
      <p:sp>
        <p:nvSpPr>
          <p:cNvPr id="8" name="Rounded Rectangle 7"/>
          <p:cNvSpPr/>
          <p:nvPr/>
        </p:nvSpPr>
        <p:spPr>
          <a:xfrm>
            <a:off x="2926080" y="2057400"/>
            <a:ext cx="2057400" cy="1874519"/>
          </a:xfrm>
          <a:prstGeom prst="roundRect">
            <a:avLst>
              <a:gd name="adj" fmla="val 8000"/>
            </a:avLst>
          </a:prstGeom>
          <a:no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90672" y="2167128"/>
            <a:ext cx="914400" cy="548640"/>
          </a:xfrm>
          <a:prstGeom prst="rect">
            <a:avLst/>
          </a:prstGeom>
          <a:noFill/>
        </p:spPr>
        <p:txBody>
          <a:bodyPr wrap="square" lIns="0" rIns="0" tIns="0" bIns="0" anchor="t">
            <a:spAutoFit/>
          </a:bodyPr>
          <a:lstStyle/>
          <a:p>
            <a:pPr algn="l">
              <a:spcAft>
                <a:spcPts val="0"/>
              </a:spcAft>
            </a:pPr>
            <a:r>
              <a:rPr sz="3000" b="0" i="0">
                <a:solidFill>
                  <a:srgbClr val="B5543A"/>
                </a:solidFill>
                <a:latin typeface="Bahnschrift Light"/>
              </a:rPr>
              <a:t>1</a:t>
            </a:r>
          </a:p>
        </p:txBody>
      </p:sp>
      <p:sp>
        <p:nvSpPr>
          <p:cNvPr id="10" name="TextBox 9"/>
          <p:cNvSpPr txBox="1"/>
          <p:nvPr/>
        </p:nvSpPr>
        <p:spPr>
          <a:xfrm>
            <a:off x="3090672" y="2743200"/>
            <a:ext cx="1783080" cy="1143000"/>
          </a:xfrm>
          <a:prstGeom prst="rect">
            <a:avLst/>
          </a:prstGeom>
          <a:noFill/>
        </p:spPr>
        <p:txBody>
          <a:bodyPr wrap="square" lIns="0" rIns="0" tIns="0" bIns="0" anchor="t">
            <a:spAutoFit/>
          </a:bodyPr>
          <a:lstStyle/>
          <a:p>
            <a:pPr algn="l">
              <a:spcAft>
                <a:spcPts val="300"/>
              </a:spcAft>
            </a:pPr>
            <a:r>
              <a:rPr sz="1300" b="0" i="0">
                <a:solidFill>
                  <a:srgbClr val="262A33"/>
                </a:solidFill>
                <a:latin typeface="Segoe UI Semibold"/>
              </a:rPr>
              <a:t>Dataset</a:t>
            </a:r>
          </a:p>
          <a:p>
            <a:pPr algn="l">
              <a:spcAft>
                <a:spcPts val="300"/>
              </a:spcAft>
            </a:pPr>
            <a:r>
              <a:rPr sz="1050" b="0" i="0">
                <a:solidFill>
                  <a:srgbClr val="5B5F68"/>
                </a:solidFill>
                <a:latin typeface="Segoe UI"/>
              </a:rPr>
              <a:t>818k events → 250k training rows</a:t>
            </a:r>
          </a:p>
        </p:txBody>
      </p:sp>
      <p:sp>
        <p:nvSpPr>
          <p:cNvPr id="11" name="Rounded Rectangle 10"/>
          <p:cNvSpPr/>
          <p:nvPr/>
        </p:nvSpPr>
        <p:spPr>
          <a:xfrm>
            <a:off x="5166360" y="2057400"/>
            <a:ext cx="2057400" cy="1874519"/>
          </a:xfrm>
          <a:prstGeom prst="roundRect">
            <a:avLst>
              <a:gd name="adj" fmla="val 8000"/>
            </a:avLst>
          </a:prstGeom>
          <a:no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0952" y="2167128"/>
            <a:ext cx="914400" cy="548640"/>
          </a:xfrm>
          <a:prstGeom prst="rect">
            <a:avLst/>
          </a:prstGeom>
          <a:noFill/>
        </p:spPr>
        <p:txBody>
          <a:bodyPr wrap="square" lIns="0" rIns="0" tIns="0" bIns="0" anchor="t">
            <a:spAutoFit/>
          </a:bodyPr>
          <a:lstStyle/>
          <a:p>
            <a:pPr algn="l">
              <a:spcAft>
                <a:spcPts val="0"/>
              </a:spcAft>
            </a:pPr>
            <a:r>
              <a:rPr sz="3000" b="0" i="0">
                <a:solidFill>
                  <a:srgbClr val="B5543A"/>
                </a:solidFill>
                <a:latin typeface="Bahnschrift Light"/>
              </a:rPr>
              <a:t>2</a:t>
            </a:r>
          </a:p>
        </p:txBody>
      </p:sp>
      <p:sp>
        <p:nvSpPr>
          <p:cNvPr id="13" name="TextBox 12"/>
          <p:cNvSpPr txBox="1"/>
          <p:nvPr/>
        </p:nvSpPr>
        <p:spPr>
          <a:xfrm>
            <a:off x="5330952" y="2743200"/>
            <a:ext cx="1783080" cy="1143000"/>
          </a:xfrm>
          <a:prstGeom prst="rect">
            <a:avLst/>
          </a:prstGeom>
          <a:noFill/>
        </p:spPr>
        <p:txBody>
          <a:bodyPr wrap="square" lIns="0" rIns="0" tIns="0" bIns="0" anchor="t">
            <a:spAutoFit/>
          </a:bodyPr>
          <a:lstStyle/>
          <a:p>
            <a:pPr algn="l">
              <a:spcAft>
                <a:spcPts val="300"/>
              </a:spcAft>
            </a:pPr>
            <a:r>
              <a:rPr sz="1300" b="0" i="0">
                <a:solidFill>
                  <a:srgbClr val="262A33"/>
                </a:solidFill>
                <a:latin typeface="Segoe UI Semibold"/>
              </a:rPr>
              <a:t>EDA</a:t>
            </a:r>
          </a:p>
          <a:p>
            <a:pPr algn="l">
              <a:spcAft>
                <a:spcPts val="300"/>
              </a:spcAft>
            </a:pPr>
            <a:r>
              <a:rPr sz="1050" b="0" i="0">
                <a:solidFill>
                  <a:srgbClr val="5B5F68"/>
                </a:solidFill>
                <a:latin typeface="Segoe UI"/>
              </a:rPr>
              <a:t>72.8% of rows miss a value; the mass bump</a:t>
            </a:r>
          </a:p>
        </p:txBody>
      </p:sp>
      <p:sp>
        <p:nvSpPr>
          <p:cNvPr id="14" name="Rounded Rectangle 13"/>
          <p:cNvSpPr/>
          <p:nvPr/>
        </p:nvSpPr>
        <p:spPr>
          <a:xfrm>
            <a:off x="7406640" y="2057400"/>
            <a:ext cx="2057400" cy="1874519"/>
          </a:xfrm>
          <a:prstGeom prst="roundRect">
            <a:avLst>
              <a:gd name="adj" fmla="val 8000"/>
            </a:avLst>
          </a:prstGeom>
          <a:no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71232" y="2167128"/>
            <a:ext cx="914400" cy="548640"/>
          </a:xfrm>
          <a:prstGeom prst="rect">
            <a:avLst/>
          </a:prstGeom>
          <a:noFill/>
        </p:spPr>
        <p:txBody>
          <a:bodyPr wrap="square" lIns="0" rIns="0" tIns="0" bIns="0" anchor="t">
            <a:spAutoFit/>
          </a:bodyPr>
          <a:lstStyle/>
          <a:p>
            <a:pPr algn="l">
              <a:spcAft>
                <a:spcPts val="0"/>
              </a:spcAft>
            </a:pPr>
            <a:r>
              <a:rPr sz="3000" b="0" i="0">
                <a:solidFill>
                  <a:srgbClr val="B5543A"/>
                </a:solidFill>
                <a:latin typeface="Bahnschrift Light"/>
              </a:rPr>
              <a:t>3</a:t>
            </a:r>
          </a:p>
        </p:txBody>
      </p:sp>
      <p:sp>
        <p:nvSpPr>
          <p:cNvPr id="16" name="TextBox 15"/>
          <p:cNvSpPr txBox="1"/>
          <p:nvPr/>
        </p:nvSpPr>
        <p:spPr>
          <a:xfrm>
            <a:off x="7571232" y="2743200"/>
            <a:ext cx="1783080" cy="1143000"/>
          </a:xfrm>
          <a:prstGeom prst="rect">
            <a:avLst/>
          </a:prstGeom>
          <a:noFill/>
        </p:spPr>
        <p:txBody>
          <a:bodyPr wrap="square" lIns="0" rIns="0" tIns="0" bIns="0" anchor="t">
            <a:spAutoFit/>
          </a:bodyPr>
          <a:lstStyle/>
          <a:p>
            <a:pPr algn="l">
              <a:spcAft>
                <a:spcPts val="300"/>
              </a:spcAft>
            </a:pPr>
            <a:r>
              <a:rPr sz="1300" b="0" i="0">
                <a:solidFill>
                  <a:srgbClr val="262A33"/>
                </a:solidFill>
                <a:latin typeface="Segoe UI Semibold"/>
              </a:rPr>
              <a:t>Preprocessing</a:t>
            </a:r>
          </a:p>
          <a:p>
            <a:pPr algn="l">
              <a:spcAft>
                <a:spcPts val="300"/>
              </a:spcAft>
            </a:pPr>
            <a:r>
              <a:rPr sz="1050" b="0" i="0">
                <a:solidFill>
                  <a:srgbClr val="5B5F68"/>
                </a:solidFill>
                <a:latin typeface="Segoe UI"/>
              </a:rPr>
              <a:t>−999 → NaN, drop Weight, 70/15/15 split</a:t>
            </a:r>
          </a:p>
        </p:txBody>
      </p:sp>
      <p:sp>
        <p:nvSpPr>
          <p:cNvPr id="17" name="Rounded Rectangle 16"/>
          <p:cNvSpPr/>
          <p:nvPr/>
        </p:nvSpPr>
        <p:spPr>
          <a:xfrm>
            <a:off x="9646920" y="2057400"/>
            <a:ext cx="2057400" cy="1874519"/>
          </a:xfrm>
          <a:prstGeom prst="roundRect">
            <a:avLst>
              <a:gd name="adj" fmla="val 8000"/>
            </a:avLst>
          </a:prstGeom>
          <a:no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1512" y="2167128"/>
            <a:ext cx="914400" cy="548640"/>
          </a:xfrm>
          <a:prstGeom prst="rect">
            <a:avLst/>
          </a:prstGeom>
          <a:noFill/>
        </p:spPr>
        <p:txBody>
          <a:bodyPr wrap="square" lIns="0" rIns="0" tIns="0" bIns="0" anchor="t">
            <a:spAutoFit/>
          </a:bodyPr>
          <a:lstStyle/>
          <a:p>
            <a:pPr algn="l">
              <a:spcAft>
                <a:spcPts val="0"/>
              </a:spcAft>
            </a:pPr>
            <a:r>
              <a:rPr sz="3000" b="0" i="0">
                <a:solidFill>
                  <a:srgbClr val="B5543A"/>
                </a:solidFill>
                <a:latin typeface="Bahnschrift Light"/>
              </a:rPr>
              <a:t>4</a:t>
            </a:r>
          </a:p>
        </p:txBody>
      </p:sp>
      <p:sp>
        <p:nvSpPr>
          <p:cNvPr id="19" name="TextBox 18"/>
          <p:cNvSpPr txBox="1"/>
          <p:nvPr/>
        </p:nvSpPr>
        <p:spPr>
          <a:xfrm>
            <a:off x="9811512" y="2743200"/>
            <a:ext cx="1783080" cy="1143000"/>
          </a:xfrm>
          <a:prstGeom prst="rect">
            <a:avLst/>
          </a:prstGeom>
          <a:noFill/>
        </p:spPr>
        <p:txBody>
          <a:bodyPr wrap="square" lIns="0" rIns="0" tIns="0" bIns="0" anchor="t">
            <a:spAutoFit/>
          </a:bodyPr>
          <a:lstStyle/>
          <a:p>
            <a:pPr algn="l">
              <a:spcAft>
                <a:spcPts val="300"/>
              </a:spcAft>
            </a:pPr>
            <a:r>
              <a:rPr sz="1300" b="0" i="0">
                <a:solidFill>
                  <a:srgbClr val="262A33"/>
                </a:solidFill>
                <a:latin typeface="Segoe UI Semibold"/>
              </a:rPr>
              <a:t>Default model</a:t>
            </a:r>
          </a:p>
          <a:p>
            <a:pPr algn="l">
              <a:spcAft>
                <a:spcPts val="300"/>
              </a:spcAft>
            </a:pPr>
            <a:r>
              <a:rPr sz="1050" b="0" i="0">
                <a:solidFill>
                  <a:srgbClr val="5B5F68"/>
                </a:solidFill>
                <a:latin typeface="Segoe UI"/>
              </a:rPr>
              <a:t>100 trees · AUC 0.906 in 0.6 s</a:t>
            </a:r>
          </a:p>
        </p:txBody>
      </p:sp>
      <p:sp>
        <p:nvSpPr>
          <p:cNvPr id="20" name="Rounded Rectangle 19"/>
          <p:cNvSpPr/>
          <p:nvPr/>
        </p:nvSpPr>
        <p:spPr>
          <a:xfrm>
            <a:off x="685800" y="4297680"/>
            <a:ext cx="2057400" cy="1874519"/>
          </a:xfrm>
          <a:prstGeom prst="roundRect">
            <a:avLst>
              <a:gd name="adj" fmla="val 8000"/>
            </a:avLst>
          </a:prstGeom>
          <a:solidFill>
            <a:srgbClr val="ECDFDA"/>
          </a:solid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4407408"/>
            <a:ext cx="914400" cy="548640"/>
          </a:xfrm>
          <a:prstGeom prst="rect">
            <a:avLst/>
          </a:prstGeom>
          <a:noFill/>
        </p:spPr>
        <p:txBody>
          <a:bodyPr wrap="square" lIns="0" rIns="0" tIns="0" bIns="0" anchor="t">
            <a:spAutoFit/>
          </a:bodyPr>
          <a:lstStyle/>
          <a:p>
            <a:pPr algn="l">
              <a:spcAft>
                <a:spcPts val="0"/>
              </a:spcAft>
            </a:pPr>
            <a:r>
              <a:rPr sz="3000" b="0" i="0">
                <a:solidFill>
                  <a:srgbClr val="B5543A"/>
                </a:solidFill>
                <a:latin typeface="Bahnschrift Light"/>
              </a:rPr>
              <a:t>5</a:t>
            </a:r>
          </a:p>
        </p:txBody>
      </p:sp>
      <p:sp>
        <p:nvSpPr>
          <p:cNvPr id="22" name="TextBox 21"/>
          <p:cNvSpPr txBox="1"/>
          <p:nvPr/>
        </p:nvSpPr>
        <p:spPr>
          <a:xfrm>
            <a:off x="850392" y="4983480"/>
            <a:ext cx="1783080" cy="1143000"/>
          </a:xfrm>
          <a:prstGeom prst="rect">
            <a:avLst/>
          </a:prstGeom>
          <a:noFill/>
        </p:spPr>
        <p:txBody>
          <a:bodyPr wrap="square" lIns="0" rIns="0" tIns="0" bIns="0" anchor="t">
            <a:spAutoFit/>
          </a:bodyPr>
          <a:lstStyle/>
          <a:p>
            <a:pPr algn="l">
              <a:spcAft>
                <a:spcPts val="300"/>
              </a:spcAft>
            </a:pPr>
            <a:r>
              <a:rPr sz="1300" b="0" i="0">
                <a:solidFill>
                  <a:srgbClr val="262A33"/>
                </a:solidFill>
                <a:latin typeface="Segoe UI Semibold"/>
              </a:rPr>
              <a:t>Tuning</a:t>
            </a:r>
          </a:p>
          <a:p>
            <a:pPr algn="l">
              <a:spcAft>
                <a:spcPts val="300"/>
              </a:spcAft>
            </a:pPr>
            <a:r>
              <a:rPr sz="1050" b="0" i="0">
                <a:solidFill>
                  <a:srgbClr val="5B5F68"/>
                </a:solidFill>
                <a:latin typeface="Segoe UI"/>
              </a:rPr>
              <a:t>RandomizedSearchCV + early stopping: 778 trees</a:t>
            </a:r>
          </a:p>
        </p:txBody>
      </p:sp>
      <p:sp>
        <p:nvSpPr>
          <p:cNvPr id="23" name="Rounded Rectangle 22"/>
          <p:cNvSpPr/>
          <p:nvPr/>
        </p:nvSpPr>
        <p:spPr>
          <a:xfrm>
            <a:off x="2926080" y="4297680"/>
            <a:ext cx="2057400" cy="1874519"/>
          </a:xfrm>
          <a:prstGeom prst="roundRect">
            <a:avLst>
              <a:gd name="adj" fmla="val 8000"/>
            </a:avLst>
          </a:prstGeom>
          <a:solidFill>
            <a:srgbClr val="ECDFDA"/>
          </a:solid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90672" y="4407408"/>
            <a:ext cx="914400" cy="548640"/>
          </a:xfrm>
          <a:prstGeom prst="rect">
            <a:avLst/>
          </a:prstGeom>
          <a:noFill/>
        </p:spPr>
        <p:txBody>
          <a:bodyPr wrap="square" lIns="0" rIns="0" tIns="0" bIns="0" anchor="t">
            <a:spAutoFit/>
          </a:bodyPr>
          <a:lstStyle/>
          <a:p>
            <a:pPr algn="l">
              <a:spcAft>
                <a:spcPts val="0"/>
              </a:spcAft>
            </a:pPr>
            <a:r>
              <a:rPr sz="3000" b="0" i="0">
                <a:solidFill>
                  <a:srgbClr val="B5543A"/>
                </a:solidFill>
                <a:latin typeface="Bahnschrift Light"/>
              </a:rPr>
              <a:t>6</a:t>
            </a:r>
          </a:p>
        </p:txBody>
      </p:sp>
      <p:sp>
        <p:nvSpPr>
          <p:cNvPr id="25" name="TextBox 24"/>
          <p:cNvSpPr txBox="1"/>
          <p:nvPr/>
        </p:nvSpPr>
        <p:spPr>
          <a:xfrm>
            <a:off x="3090672" y="4983480"/>
            <a:ext cx="1783080" cy="1143000"/>
          </a:xfrm>
          <a:prstGeom prst="rect">
            <a:avLst/>
          </a:prstGeom>
          <a:noFill/>
        </p:spPr>
        <p:txBody>
          <a:bodyPr wrap="square" lIns="0" rIns="0" tIns="0" bIns="0" anchor="t">
            <a:spAutoFit/>
          </a:bodyPr>
          <a:lstStyle/>
          <a:p>
            <a:pPr algn="l">
              <a:spcAft>
                <a:spcPts val="300"/>
              </a:spcAft>
            </a:pPr>
            <a:r>
              <a:rPr sz="1300" b="0" i="0">
                <a:solidFill>
                  <a:srgbClr val="262A33"/>
                </a:solidFill>
                <a:latin typeface="Segoe UI Semibold"/>
              </a:rPr>
              <a:t>Evaluation</a:t>
            </a:r>
          </a:p>
          <a:p>
            <a:pPr algn="l">
              <a:spcAft>
                <a:spcPts val="300"/>
              </a:spcAft>
            </a:pPr>
            <a:r>
              <a:rPr sz="1050" b="0" i="0">
                <a:solidFill>
                  <a:srgbClr val="5B5F68"/>
                </a:solidFill>
                <a:latin typeface="Segoe UI"/>
              </a:rPr>
              <a:t>AUC 0.911 · overfitting check · AMS 3.34</a:t>
            </a:r>
          </a:p>
        </p:txBody>
      </p:sp>
      <p:sp>
        <p:nvSpPr>
          <p:cNvPr id="26" name="Rounded Rectangle 25"/>
          <p:cNvSpPr/>
          <p:nvPr/>
        </p:nvSpPr>
        <p:spPr>
          <a:xfrm>
            <a:off x="5166360" y="4297680"/>
            <a:ext cx="2057400" cy="1874519"/>
          </a:xfrm>
          <a:prstGeom prst="roundRect">
            <a:avLst>
              <a:gd name="adj" fmla="val 8000"/>
            </a:avLst>
          </a:prstGeom>
          <a:solidFill>
            <a:srgbClr val="ECDFDA"/>
          </a:solid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30952" y="4407408"/>
            <a:ext cx="914400" cy="548640"/>
          </a:xfrm>
          <a:prstGeom prst="rect">
            <a:avLst/>
          </a:prstGeom>
          <a:noFill/>
        </p:spPr>
        <p:txBody>
          <a:bodyPr wrap="square" lIns="0" rIns="0" tIns="0" bIns="0" anchor="t">
            <a:spAutoFit/>
          </a:bodyPr>
          <a:lstStyle/>
          <a:p>
            <a:pPr algn="l">
              <a:spcAft>
                <a:spcPts val="0"/>
              </a:spcAft>
            </a:pPr>
            <a:r>
              <a:rPr sz="3000" b="0" i="0">
                <a:solidFill>
                  <a:srgbClr val="B5543A"/>
                </a:solidFill>
                <a:latin typeface="Bahnschrift Light"/>
              </a:rPr>
              <a:t>7</a:t>
            </a:r>
          </a:p>
        </p:txBody>
      </p:sp>
      <p:sp>
        <p:nvSpPr>
          <p:cNvPr id="28" name="TextBox 27"/>
          <p:cNvSpPr txBox="1"/>
          <p:nvPr/>
        </p:nvSpPr>
        <p:spPr>
          <a:xfrm>
            <a:off x="5330952" y="4983480"/>
            <a:ext cx="1783080" cy="1143000"/>
          </a:xfrm>
          <a:prstGeom prst="rect">
            <a:avLst/>
          </a:prstGeom>
          <a:noFill/>
        </p:spPr>
        <p:txBody>
          <a:bodyPr wrap="square" lIns="0" rIns="0" tIns="0" bIns="0" anchor="t">
            <a:spAutoFit/>
          </a:bodyPr>
          <a:lstStyle/>
          <a:p>
            <a:pPr algn="l">
              <a:spcAft>
                <a:spcPts val="300"/>
              </a:spcAft>
            </a:pPr>
            <a:r>
              <a:rPr sz="1300" b="0" i="0">
                <a:solidFill>
                  <a:srgbClr val="262A33"/>
                </a:solidFill>
                <a:latin typeface="Segoe UI Semibold"/>
              </a:rPr>
              <a:t>Interpretation</a:t>
            </a:r>
          </a:p>
          <a:p>
            <a:pPr algn="l">
              <a:spcAft>
                <a:spcPts val="300"/>
              </a:spcAft>
            </a:pPr>
            <a:r>
              <a:rPr sz="1050" b="0" i="0">
                <a:solidFill>
                  <a:srgbClr val="5B5F68"/>
                </a:solidFill>
                <a:latin typeface="Segoe UI"/>
              </a:rPr>
              <a:t>SHAP: 125 GeV peak · tree checked by hand</a:t>
            </a:r>
          </a:p>
        </p:txBody>
      </p:sp>
      <p:sp>
        <p:nvSpPr>
          <p:cNvPr id="29" name="Rounded Rectangle 28"/>
          <p:cNvSpPr/>
          <p:nvPr/>
        </p:nvSpPr>
        <p:spPr>
          <a:xfrm>
            <a:off x="7406640" y="4297680"/>
            <a:ext cx="2057400" cy="1874519"/>
          </a:xfrm>
          <a:prstGeom prst="roundRect">
            <a:avLst>
              <a:gd name="adj" fmla="val 8000"/>
            </a:avLst>
          </a:prstGeom>
          <a:no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2" y="4407408"/>
            <a:ext cx="914400" cy="548640"/>
          </a:xfrm>
          <a:prstGeom prst="rect">
            <a:avLst/>
          </a:prstGeom>
          <a:noFill/>
        </p:spPr>
        <p:txBody>
          <a:bodyPr wrap="square" lIns="0" rIns="0" tIns="0" bIns="0" anchor="t">
            <a:spAutoFit/>
          </a:bodyPr>
          <a:lstStyle/>
          <a:p>
            <a:pPr algn="l">
              <a:spcAft>
                <a:spcPts val="0"/>
              </a:spcAft>
            </a:pPr>
            <a:r>
              <a:rPr sz="3000" b="0" i="0">
                <a:solidFill>
                  <a:srgbClr val="B5543A"/>
                </a:solidFill>
                <a:latin typeface="Bahnschrift Light"/>
              </a:rPr>
              <a:t>8</a:t>
            </a:r>
          </a:p>
        </p:txBody>
      </p:sp>
      <p:sp>
        <p:nvSpPr>
          <p:cNvPr id="31" name="TextBox 30"/>
          <p:cNvSpPr txBox="1"/>
          <p:nvPr/>
        </p:nvSpPr>
        <p:spPr>
          <a:xfrm>
            <a:off x="7571232" y="4983480"/>
            <a:ext cx="1783080" cy="1143000"/>
          </a:xfrm>
          <a:prstGeom prst="rect">
            <a:avLst/>
          </a:prstGeom>
          <a:noFill/>
        </p:spPr>
        <p:txBody>
          <a:bodyPr wrap="square" lIns="0" rIns="0" tIns="0" bIns="0" anchor="t">
            <a:spAutoFit/>
          </a:bodyPr>
          <a:lstStyle/>
          <a:p>
            <a:pPr algn="l">
              <a:spcAft>
                <a:spcPts val="300"/>
              </a:spcAft>
            </a:pPr>
            <a:r>
              <a:rPr sz="1300" b="0" i="0">
                <a:solidFill>
                  <a:srgbClr val="262A33"/>
                </a:solidFill>
                <a:latin typeface="Segoe UI Semibold"/>
              </a:rPr>
              <a:t>Comparison</a:t>
            </a:r>
          </a:p>
          <a:p>
            <a:pPr algn="l">
              <a:spcAft>
                <a:spcPts val="300"/>
              </a:spcAft>
            </a:pPr>
            <a:r>
              <a:rPr sz="1050" b="0" i="0">
                <a:solidFill>
                  <a:srgbClr val="5B5F68"/>
                </a:solidFill>
                <a:latin typeface="Segoe UI"/>
              </a:rPr>
              <a:t>LR, RF, GBM, LightGBM · improved to 0.914 · regression R² 0.92</a:t>
            </a:r>
          </a:p>
        </p:txBody>
      </p:sp>
      <p:sp>
        <p:nvSpPr>
          <p:cNvPr id="32" name="Rounded Rectangle 31"/>
          <p:cNvSpPr/>
          <p:nvPr/>
        </p:nvSpPr>
        <p:spPr>
          <a:xfrm>
            <a:off x="9646920" y="4297680"/>
            <a:ext cx="2057400" cy="1874519"/>
          </a:xfrm>
          <a:prstGeom prst="roundRect">
            <a:avLst>
              <a:gd name="adj" fmla="val 8000"/>
            </a:avLst>
          </a:prstGeom>
          <a:noFill/>
          <a:ln w="12700">
            <a:solidFill>
              <a:srgbClr val="B9B9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11512" y="4407408"/>
            <a:ext cx="914400" cy="548640"/>
          </a:xfrm>
          <a:prstGeom prst="rect">
            <a:avLst/>
          </a:prstGeom>
          <a:noFill/>
        </p:spPr>
        <p:txBody>
          <a:bodyPr wrap="square" lIns="0" rIns="0" tIns="0" bIns="0" anchor="t">
            <a:spAutoFit/>
          </a:bodyPr>
          <a:lstStyle/>
          <a:p>
            <a:pPr algn="l">
              <a:spcAft>
                <a:spcPts val="0"/>
              </a:spcAft>
            </a:pPr>
            <a:r>
              <a:rPr sz="3000" b="0" i="0">
                <a:solidFill>
                  <a:srgbClr val="B5543A"/>
                </a:solidFill>
                <a:latin typeface="Bahnschrift Light"/>
              </a:rPr>
              <a:t>9</a:t>
            </a:r>
          </a:p>
        </p:txBody>
      </p:sp>
      <p:sp>
        <p:nvSpPr>
          <p:cNvPr id="34" name="TextBox 33"/>
          <p:cNvSpPr txBox="1"/>
          <p:nvPr/>
        </p:nvSpPr>
        <p:spPr>
          <a:xfrm>
            <a:off x="9811512" y="4983480"/>
            <a:ext cx="1783080" cy="1143000"/>
          </a:xfrm>
          <a:prstGeom prst="rect">
            <a:avLst/>
          </a:prstGeom>
          <a:noFill/>
        </p:spPr>
        <p:txBody>
          <a:bodyPr wrap="square" lIns="0" rIns="0" tIns="0" bIns="0" anchor="t">
            <a:spAutoFit/>
          </a:bodyPr>
          <a:lstStyle/>
          <a:p>
            <a:pPr algn="l">
              <a:spcAft>
                <a:spcPts val="300"/>
              </a:spcAft>
            </a:pPr>
            <a:r>
              <a:rPr sz="1300" b="0" i="0">
                <a:solidFill>
                  <a:srgbClr val="262A33"/>
                </a:solidFill>
                <a:latin typeface="Segoe UI Semibold"/>
              </a:rPr>
              <a:t>Conclusions</a:t>
            </a:r>
          </a:p>
          <a:p>
            <a:pPr algn="l">
              <a:spcAft>
                <a:spcPts val="300"/>
              </a:spcAft>
            </a:pPr>
            <a:r>
              <a:rPr sz="1050" b="0" i="0">
                <a:solidFill>
                  <a:srgbClr val="5B5F68"/>
                </a:solidFill>
                <a:latin typeface="Segoe UI"/>
              </a:rPr>
              <a:t>strengths, weaknesses, next steps</a:t>
            </a:r>
          </a:p>
        </p:txBody>
      </p:sp>
      <p:sp>
        <p:nvSpPr>
          <p:cNvPr id="35" name="TextBox 34"/>
          <p:cNvSpPr txBox="1"/>
          <p:nvPr/>
        </p:nvSpPr>
        <p:spPr>
          <a:xfrm>
            <a:off x="685800" y="6355080"/>
            <a:ext cx="10789920" cy="365760"/>
          </a:xfrm>
          <a:prstGeom prst="rect">
            <a:avLst/>
          </a:prstGeom>
          <a:noFill/>
        </p:spPr>
        <p:txBody>
          <a:bodyPr wrap="square" lIns="0" rIns="0" tIns="0" bIns="0" anchor="t">
            <a:spAutoFit/>
          </a:bodyPr>
          <a:lstStyle/>
          <a:p>
            <a:pPr algn="l">
              <a:spcAft>
                <a:spcPts val="0"/>
              </a:spcAft>
            </a:pPr>
            <a:r>
              <a:rPr sz="1100" b="0" i="1">
                <a:solidFill>
                  <a:srgbClr val="5B5F68"/>
                </a:solidFill>
                <a:latin typeface="Segoe UI"/>
              </a:rPr>
              <a:t>Highlighted: the XGBoost core (tune → evaluate → interpret). Every number on the next slides comes from this notebook.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1" fill="hold">
                            <p:stCondLst>
                              <p:cond delay="150"/>
                            </p:stCondLst>
                            <p:childTnLst>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00"/>
                                        <p:tgtEl>
                                          <p:spTgt spid="3"/>
                                        </p:tgtEl>
                                      </p:cBhvr>
                                    </p:animEffect>
                                  </p:childTnLst>
                                </p:cTn>
                              </p:par>
                            </p:childTnLst>
                          </p:cTn>
                        </p:par>
                        <p:par>
                          <p:cTn id="15" fill="hold">
                            <p:stCondLst>
                              <p:cond delay="450"/>
                            </p:stCondLst>
                            <p:childTnLst>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6" fill="hold">
                      <p:stCondLst>
                        <p:cond delay="indefinite"/>
                      </p:stCondLst>
                      <p:childTnLst>
                        <p:par>
                          <p:cTn id="29"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250"/>
                                        <p:tgtEl>
                                          <p:spTgt spid="5"/>
                                        </p:tgtEl>
                                      </p:cBhvr>
                                    </p:animEffect>
                                  </p:childTnLst>
                                </p:cTn>
                              </p:par>
                              <p:par>
                                <p:cTn id="20" presetID="53" presetClass="entr" presetSubtype="16"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anim calcmode="lin" valueType="num">
                                      <p:cBhvr>
                                        <p:cTn id="23" dur="550" fill="hold"/>
                                        <p:tgtEl>
                                          <p:spTgt spid="6"/>
                                        </p:tgtEl>
                                        <p:attrNameLst>
                                          <p:attrName>ppt_w</p:attrName>
                                        </p:attrNameLst>
                                      </p:cBhvr>
                                      <p:tavLst>
                                        <p:tav tm="0">
                                          <p:val>
                                            <p:strVal val="#ppt_w*0.8"/>
                                          </p:val>
                                        </p:tav>
                                        <p:tav tm="100000">
                                          <p:val>
                                            <p:strVal val="#ppt_w"/>
                                          </p:val>
                                        </p:tav>
                                      </p:tavLst>
                                    </p:anim>
                                    <p:anim calcmode="lin" valueType="num">
                                      <p:cBhvr>
                                        <p:cTn id="24" dur="550" fill="hold"/>
                                        <p:tgtEl>
                                          <p:spTgt spid="6"/>
                                        </p:tgtEl>
                                        <p:attrNameLst>
                                          <p:attrName>ppt_h</p:attrName>
                                        </p:attrNameLst>
                                      </p:cBhvr>
                                      <p:tavLst>
                                        <p:tav tm="0">
                                          <p:val>
                                            <p:strVal val="#ppt_h*0.8"/>
                                          </p:val>
                                        </p:tav>
                                        <p:tav tm="100000">
                                          <p:val>
                                            <p:strVal val="#ppt_h"/>
                                          </p:val>
                                        </p:tav>
                                      </p:tavLst>
                                    </p:anim>
                                  </p:childTnLst>
                                </p:cTn>
                              </p:par>
                              <p:par>
                                <p:cTn id="25" presetID="42"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650"/>
                                        <p:tgtEl>
                                          <p:spTgt spid="7"/>
                                        </p:tgtEl>
                                      </p:cBhvr>
                                    </p:animEffect>
                                    <p:anim calcmode="lin" valueType="num">
                                      <p:cBhvr>
                                        <p:cTn id="28" dur="650" fill="hold"/>
                                        <p:tgtEl>
                                          <p:spTgt spid="7"/>
                                        </p:tgtEl>
                                        <p:attrNameLst>
                                          <p:attrName>ppt_y</p:attrName>
                                        </p:attrNameLst>
                                      </p:cBhvr>
                                      <p:tavLst>
                                        <p:tav tm="0">
                                          <p:val>
                                            <p:strVal val="#ppt_y+0.06"/>
                                          </p:val>
                                        </p:tav>
                                        <p:tav tm="100000">
                                          <p:val>
                                            <p:strVal val="#ppt_y"/>
                                          </p:val>
                                        </p:tav>
                                      </p:tavLst>
                                    </p:anim>
                                  </p:childTnLst>
                                </p:cTn>
                              </p:par>
                            </p:childTnLst>
                          </p:cTn>
                        </p:par>
                        <p:par>
                          <p:cTn id="42" fill="hold">
                            <p:stCondLst>
                              <p:cond delay="650"/>
                            </p:stCondLst>
                            <p:childTnLst>
                              <p:par>
                                <p:cTn id="30" presetID="10" presetClass="entr" presetSubtype="0" fill="hold"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250"/>
                                        <p:tgtEl>
                                          <p:spTgt spid="8"/>
                                        </p:tgtEl>
                                      </p:cBhvr>
                                    </p:animEffect>
                                  </p:childTnLst>
                                </p:cTn>
                              </p:par>
                              <p:par>
                                <p:cTn id="33" presetID="53" presetClass="entr" presetSubtype="16"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50"/>
                                        <p:tgtEl>
                                          <p:spTgt spid="9"/>
                                        </p:tgtEl>
                                      </p:cBhvr>
                                    </p:animEffect>
                                    <p:anim calcmode="lin" valueType="num">
                                      <p:cBhvr>
                                        <p:cTn id="36" dur="550" fill="hold"/>
                                        <p:tgtEl>
                                          <p:spTgt spid="9"/>
                                        </p:tgtEl>
                                        <p:attrNameLst>
                                          <p:attrName>ppt_w</p:attrName>
                                        </p:attrNameLst>
                                      </p:cBhvr>
                                      <p:tavLst>
                                        <p:tav tm="0">
                                          <p:val>
                                            <p:strVal val="#ppt_w*0.8"/>
                                          </p:val>
                                        </p:tav>
                                        <p:tav tm="100000">
                                          <p:val>
                                            <p:strVal val="#ppt_w"/>
                                          </p:val>
                                        </p:tav>
                                      </p:tavLst>
                                    </p:anim>
                                    <p:anim calcmode="lin" valueType="num">
                                      <p:cBhvr>
                                        <p:cTn id="37" dur="550" fill="hold"/>
                                        <p:tgtEl>
                                          <p:spTgt spid="9"/>
                                        </p:tgtEl>
                                        <p:attrNameLst>
                                          <p:attrName>ppt_h</p:attrName>
                                        </p:attrNameLst>
                                      </p:cBhvr>
                                      <p:tavLst>
                                        <p:tav tm="0">
                                          <p:val>
                                            <p:strVal val="#ppt_h*0.8"/>
                                          </p:val>
                                        </p:tav>
                                        <p:tav tm="100000">
                                          <p:val>
                                            <p:strVal val="#ppt_h"/>
                                          </p:val>
                                        </p:tav>
                                      </p:tavLst>
                                    </p:anim>
                                  </p:childTnLst>
                                </p:cTn>
                              </p:par>
                              <p:par>
                                <p:cTn id="38" presetID="42" presetClass="entr" presetSubtype="0" fill="hold"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650"/>
                                        <p:tgtEl>
                                          <p:spTgt spid="10"/>
                                        </p:tgtEl>
                                      </p:cBhvr>
                                    </p:animEffect>
                                    <p:anim calcmode="lin" valueType="num">
                                      <p:cBhvr>
                                        <p:cTn id="41" dur="650" fill="hold"/>
                                        <p:tgtEl>
                                          <p:spTgt spid="10"/>
                                        </p:tgtEl>
                                        <p:attrNameLst>
                                          <p:attrName>ppt_y</p:attrName>
                                        </p:attrNameLst>
                                      </p:cBhvr>
                                      <p:tavLst>
                                        <p:tav tm="0">
                                          <p:val>
                                            <p:strVal val="#ppt_y+0.06"/>
                                          </p:val>
                                        </p:tav>
                                        <p:tav tm="100000">
                                          <p:val>
                                            <p:strVal val="#ppt_y"/>
                                          </p:val>
                                        </p:tav>
                                      </p:tavLst>
                                    </p:anim>
                                  </p:childTnLst>
                                </p:cTn>
                              </p:par>
                            </p:childTnLst>
                          </p:cTn>
                        </p:par>
                        <p:par>
                          <p:cTn id="55" fill="hold">
                            <p:stCondLst>
                              <p:cond delay="1300"/>
                            </p:stCondLst>
                            <p:childTnLst>
                              <p:par>
                                <p:cTn id="43" presetID="10" presetClass="entr" presetSubtype="0" fill="hold" nodeType="after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250"/>
                                        <p:tgtEl>
                                          <p:spTgt spid="11"/>
                                        </p:tgtEl>
                                      </p:cBhvr>
                                    </p:animEffect>
                                  </p:childTnLst>
                                </p:cTn>
                              </p:par>
                              <p:par>
                                <p:cTn id="46" presetID="53" presetClass="entr" presetSubtype="16" fill="hold" nodeType="after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50"/>
                                        <p:tgtEl>
                                          <p:spTgt spid="12"/>
                                        </p:tgtEl>
                                      </p:cBhvr>
                                    </p:animEffect>
                                    <p:anim calcmode="lin" valueType="num">
                                      <p:cBhvr>
                                        <p:cTn id="49" dur="550" fill="hold"/>
                                        <p:tgtEl>
                                          <p:spTgt spid="12"/>
                                        </p:tgtEl>
                                        <p:attrNameLst>
                                          <p:attrName>ppt_w</p:attrName>
                                        </p:attrNameLst>
                                      </p:cBhvr>
                                      <p:tavLst>
                                        <p:tav tm="0">
                                          <p:val>
                                            <p:strVal val="#ppt_w*0.8"/>
                                          </p:val>
                                        </p:tav>
                                        <p:tav tm="100000">
                                          <p:val>
                                            <p:strVal val="#ppt_w"/>
                                          </p:val>
                                        </p:tav>
                                      </p:tavLst>
                                    </p:anim>
                                    <p:anim calcmode="lin" valueType="num">
                                      <p:cBhvr>
                                        <p:cTn id="50" dur="550" fill="hold"/>
                                        <p:tgtEl>
                                          <p:spTgt spid="12"/>
                                        </p:tgtEl>
                                        <p:attrNameLst>
                                          <p:attrName>ppt_h</p:attrName>
                                        </p:attrNameLst>
                                      </p:cBhvr>
                                      <p:tavLst>
                                        <p:tav tm="0">
                                          <p:val>
                                            <p:strVal val="#ppt_h*0.8"/>
                                          </p:val>
                                        </p:tav>
                                        <p:tav tm="100000">
                                          <p:val>
                                            <p:strVal val="#ppt_h"/>
                                          </p:val>
                                        </p:tav>
                                      </p:tavLst>
                                    </p:anim>
                                  </p:childTnLst>
                                </p:cTn>
                              </p:par>
                              <p:par>
                                <p:cTn id="51" presetID="42" presetClass="entr" presetSubtype="0" fill="hold" nodeType="after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650"/>
                                        <p:tgtEl>
                                          <p:spTgt spid="13"/>
                                        </p:tgtEl>
                                      </p:cBhvr>
                                    </p:animEffect>
                                    <p:anim calcmode="lin" valueType="num">
                                      <p:cBhvr>
                                        <p:cTn id="54" dur="650" fill="hold"/>
                                        <p:tgtEl>
                                          <p:spTgt spid="13"/>
                                        </p:tgtEl>
                                        <p:attrNameLst>
                                          <p:attrName>ppt_y</p:attrName>
                                        </p:attrNameLst>
                                      </p:cBhvr>
                                      <p:tavLst>
                                        <p:tav tm="0">
                                          <p:val>
                                            <p:strVal val="#ppt_y+0.06"/>
                                          </p:val>
                                        </p:tav>
                                        <p:tav tm="100000">
                                          <p:val>
                                            <p:strVal val="#ppt_y"/>
                                          </p:val>
                                        </p:tav>
                                      </p:tavLst>
                                    </p:anim>
                                  </p:childTnLst>
                                </p:cTn>
                              </p:par>
                            </p:childTnLst>
                          </p:cTn>
                        </p:par>
                        <p:par>
                          <p:cTn id="68" fill="hold">
                            <p:stCondLst>
                              <p:cond delay="1950"/>
                            </p:stCondLst>
                            <p:childTnLst>
                              <p:par>
                                <p:cTn id="56" presetID="10" presetClass="entr" presetSubtype="0" fill="hold" nodeType="after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250"/>
                                        <p:tgtEl>
                                          <p:spTgt spid="14"/>
                                        </p:tgtEl>
                                      </p:cBhvr>
                                    </p:animEffect>
                                  </p:childTnLst>
                                </p:cTn>
                              </p:par>
                              <p:par>
                                <p:cTn id="59" presetID="53" presetClass="entr" presetSubtype="16" fill="hold" nodeType="after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50"/>
                                        <p:tgtEl>
                                          <p:spTgt spid="15"/>
                                        </p:tgtEl>
                                      </p:cBhvr>
                                    </p:animEffect>
                                    <p:anim calcmode="lin" valueType="num">
                                      <p:cBhvr>
                                        <p:cTn id="62" dur="550" fill="hold"/>
                                        <p:tgtEl>
                                          <p:spTgt spid="15"/>
                                        </p:tgtEl>
                                        <p:attrNameLst>
                                          <p:attrName>ppt_w</p:attrName>
                                        </p:attrNameLst>
                                      </p:cBhvr>
                                      <p:tavLst>
                                        <p:tav tm="0">
                                          <p:val>
                                            <p:strVal val="#ppt_w*0.8"/>
                                          </p:val>
                                        </p:tav>
                                        <p:tav tm="100000">
                                          <p:val>
                                            <p:strVal val="#ppt_w"/>
                                          </p:val>
                                        </p:tav>
                                      </p:tavLst>
                                    </p:anim>
                                    <p:anim calcmode="lin" valueType="num">
                                      <p:cBhvr>
                                        <p:cTn id="63" dur="550" fill="hold"/>
                                        <p:tgtEl>
                                          <p:spTgt spid="15"/>
                                        </p:tgtEl>
                                        <p:attrNameLst>
                                          <p:attrName>ppt_h</p:attrName>
                                        </p:attrNameLst>
                                      </p:cBhvr>
                                      <p:tavLst>
                                        <p:tav tm="0">
                                          <p:val>
                                            <p:strVal val="#ppt_h*0.8"/>
                                          </p:val>
                                        </p:tav>
                                        <p:tav tm="100000">
                                          <p:val>
                                            <p:strVal val="#ppt_h"/>
                                          </p:val>
                                        </p:tav>
                                      </p:tavLst>
                                    </p:anim>
                                  </p:childTnLst>
                                </p:cTn>
                              </p:par>
                              <p:par>
                                <p:cTn id="64" presetID="42" presetClass="entr" presetSubtype="0" fill="hold" nodeType="after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650"/>
                                        <p:tgtEl>
                                          <p:spTgt spid="16"/>
                                        </p:tgtEl>
                                      </p:cBhvr>
                                    </p:animEffect>
                                    <p:anim calcmode="lin" valueType="num">
                                      <p:cBhvr>
                                        <p:cTn id="67" dur="650" fill="hold"/>
                                        <p:tgtEl>
                                          <p:spTgt spid="16"/>
                                        </p:tgtEl>
                                        <p:attrNameLst>
                                          <p:attrName>ppt_y</p:attrName>
                                        </p:attrNameLst>
                                      </p:cBhvr>
                                      <p:tavLst>
                                        <p:tav tm="0">
                                          <p:val>
                                            <p:strVal val="#ppt_y+0.06"/>
                                          </p:val>
                                        </p:tav>
                                        <p:tav tm="100000">
                                          <p:val>
                                            <p:strVal val="#ppt_y"/>
                                          </p:val>
                                        </p:tav>
                                      </p:tavLst>
                                    </p:anim>
                                  </p:childTnLst>
                                </p:cTn>
                              </p:par>
                            </p:childTnLst>
                          </p:cTn>
                        </p:par>
                        <p:par>
                          <p:cTn id="81" fill="hold">
                            <p:stCondLst>
                              <p:cond delay="2600"/>
                            </p:stCondLst>
                            <p:childTnLst>
                              <p:par>
                                <p:cTn id="69" presetID="10" presetClass="entr" presetSubtype="0" fill="hold" nodeType="after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250"/>
                                        <p:tgtEl>
                                          <p:spTgt spid="17"/>
                                        </p:tgtEl>
                                      </p:cBhvr>
                                    </p:animEffect>
                                  </p:childTnLst>
                                </p:cTn>
                              </p:par>
                              <p:par>
                                <p:cTn id="72" presetID="53" presetClass="entr" presetSubtype="16" fill="hold" nodeType="after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550"/>
                                        <p:tgtEl>
                                          <p:spTgt spid="18"/>
                                        </p:tgtEl>
                                      </p:cBhvr>
                                    </p:animEffect>
                                    <p:anim calcmode="lin" valueType="num">
                                      <p:cBhvr>
                                        <p:cTn id="75" dur="550" fill="hold"/>
                                        <p:tgtEl>
                                          <p:spTgt spid="18"/>
                                        </p:tgtEl>
                                        <p:attrNameLst>
                                          <p:attrName>ppt_w</p:attrName>
                                        </p:attrNameLst>
                                      </p:cBhvr>
                                      <p:tavLst>
                                        <p:tav tm="0">
                                          <p:val>
                                            <p:strVal val="#ppt_w*0.8"/>
                                          </p:val>
                                        </p:tav>
                                        <p:tav tm="100000">
                                          <p:val>
                                            <p:strVal val="#ppt_w"/>
                                          </p:val>
                                        </p:tav>
                                      </p:tavLst>
                                    </p:anim>
                                    <p:anim calcmode="lin" valueType="num">
                                      <p:cBhvr>
                                        <p:cTn id="76" dur="550" fill="hold"/>
                                        <p:tgtEl>
                                          <p:spTgt spid="18"/>
                                        </p:tgtEl>
                                        <p:attrNameLst>
                                          <p:attrName>ppt_h</p:attrName>
                                        </p:attrNameLst>
                                      </p:cBhvr>
                                      <p:tavLst>
                                        <p:tav tm="0">
                                          <p:val>
                                            <p:strVal val="#ppt_h*0.8"/>
                                          </p:val>
                                        </p:tav>
                                        <p:tav tm="100000">
                                          <p:val>
                                            <p:strVal val="#ppt_h"/>
                                          </p:val>
                                        </p:tav>
                                      </p:tavLst>
                                    </p:anim>
                                  </p:childTnLst>
                                </p:cTn>
                              </p:par>
                              <p:par>
                                <p:cTn id="77" presetID="42" presetClass="entr" presetSubtype="0" fill="hold" nodeType="after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650"/>
                                        <p:tgtEl>
                                          <p:spTgt spid="19"/>
                                        </p:tgtEl>
                                      </p:cBhvr>
                                    </p:animEffect>
                                    <p:anim calcmode="lin" valueType="num">
                                      <p:cBhvr>
                                        <p:cTn id="80" dur="650" fill="hold"/>
                                        <p:tgtEl>
                                          <p:spTgt spid="19"/>
                                        </p:tgtEl>
                                        <p:attrNameLst>
                                          <p:attrName>ppt_y</p:attrName>
                                        </p:attrNameLst>
                                      </p:cBhvr>
                                      <p:tavLst>
                                        <p:tav tm="0">
                                          <p:val>
                                            <p:strVal val="#ppt_y+0.06"/>
                                          </p:val>
                                        </p:tav>
                                        <p:tav tm="100000">
                                          <p:val>
                                            <p:strVal val="#ppt_y"/>
                                          </p:val>
                                        </p:tav>
                                      </p:tavLst>
                                    </p:anim>
                                  </p:childTnLst>
                                </p:cTn>
                              </p:par>
                            </p:childTnLst>
                          </p:cTn>
                        </p:par>
                      </p:childTnLst>
                    </p:cTn>
                  </p:par>
                  <p:par>
                    <p:cTn id="82" fill="hold">
                      <p:stCondLst>
                        <p:cond delay="indefinite"/>
                      </p:stCondLst>
                      <p:childTnLst>
                        <p:par>
                          <p:cTn id="95"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250"/>
                                        <p:tgtEl>
                                          <p:spTgt spid="20"/>
                                        </p:tgtEl>
                                      </p:cBhvr>
                                    </p:animEffect>
                                  </p:childTnLst>
                                </p:cTn>
                              </p:par>
                              <p:par>
                                <p:cTn id="86" presetID="53" presetClass="entr" presetSubtype="16" fill="hold" nodeType="with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550"/>
                                        <p:tgtEl>
                                          <p:spTgt spid="21"/>
                                        </p:tgtEl>
                                      </p:cBhvr>
                                    </p:animEffect>
                                    <p:anim calcmode="lin" valueType="num">
                                      <p:cBhvr>
                                        <p:cTn id="89" dur="550" fill="hold"/>
                                        <p:tgtEl>
                                          <p:spTgt spid="21"/>
                                        </p:tgtEl>
                                        <p:attrNameLst>
                                          <p:attrName>ppt_w</p:attrName>
                                        </p:attrNameLst>
                                      </p:cBhvr>
                                      <p:tavLst>
                                        <p:tav tm="0">
                                          <p:val>
                                            <p:strVal val="#ppt_w*0.8"/>
                                          </p:val>
                                        </p:tav>
                                        <p:tav tm="100000">
                                          <p:val>
                                            <p:strVal val="#ppt_w"/>
                                          </p:val>
                                        </p:tav>
                                      </p:tavLst>
                                    </p:anim>
                                    <p:anim calcmode="lin" valueType="num">
                                      <p:cBhvr>
                                        <p:cTn id="90" dur="550" fill="hold"/>
                                        <p:tgtEl>
                                          <p:spTgt spid="21"/>
                                        </p:tgtEl>
                                        <p:attrNameLst>
                                          <p:attrName>ppt_h</p:attrName>
                                        </p:attrNameLst>
                                      </p:cBhvr>
                                      <p:tavLst>
                                        <p:tav tm="0">
                                          <p:val>
                                            <p:strVal val="#ppt_h*0.8"/>
                                          </p:val>
                                        </p:tav>
                                        <p:tav tm="100000">
                                          <p:val>
                                            <p:strVal val="#ppt_h"/>
                                          </p:val>
                                        </p:tav>
                                      </p:tavLst>
                                    </p:anim>
                                  </p:childTnLst>
                                </p:cTn>
                              </p:par>
                              <p:par>
                                <p:cTn id="91" presetID="42" presetClass="entr" presetSubtype="0" fill="hold"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650"/>
                                        <p:tgtEl>
                                          <p:spTgt spid="22"/>
                                        </p:tgtEl>
                                      </p:cBhvr>
                                    </p:animEffect>
                                    <p:anim calcmode="lin" valueType="num">
                                      <p:cBhvr>
                                        <p:cTn id="94" dur="650" fill="hold"/>
                                        <p:tgtEl>
                                          <p:spTgt spid="22"/>
                                        </p:tgtEl>
                                        <p:attrNameLst>
                                          <p:attrName>ppt_y</p:attrName>
                                        </p:attrNameLst>
                                      </p:cBhvr>
                                      <p:tavLst>
                                        <p:tav tm="0">
                                          <p:val>
                                            <p:strVal val="#ppt_y+0.06"/>
                                          </p:val>
                                        </p:tav>
                                        <p:tav tm="100000">
                                          <p:val>
                                            <p:strVal val="#ppt_y"/>
                                          </p:val>
                                        </p:tav>
                                      </p:tavLst>
                                    </p:anim>
                                  </p:childTnLst>
                                </p:cTn>
                              </p:par>
                            </p:childTnLst>
                          </p:cTn>
                        </p:par>
                        <p:par>
                          <p:cTn id="108" fill="hold">
                            <p:stCondLst>
                              <p:cond delay="650"/>
                            </p:stCondLst>
                            <p:childTnLst>
                              <p:par>
                                <p:cTn id="96" presetID="10" presetClass="entr" presetSubtype="0" fill="hold" nodeType="afterEffect">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250"/>
                                        <p:tgtEl>
                                          <p:spTgt spid="23"/>
                                        </p:tgtEl>
                                      </p:cBhvr>
                                    </p:animEffect>
                                  </p:childTnLst>
                                </p:cTn>
                              </p:par>
                              <p:par>
                                <p:cTn id="99" presetID="53" presetClass="entr" presetSubtype="16" fill="hold" nodeType="afterEffect">
                                  <p:stCondLst>
                                    <p:cond delay="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550"/>
                                        <p:tgtEl>
                                          <p:spTgt spid="24"/>
                                        </p:tgtEl>
                                      </p:cBhvr>
                                    </p:animEffect>
                                    <p:anim calcmode="lin" valueType="num">
                                      <p:cBhvr>
                                        <p:cTn id="102" dur="550" fill="hold"/>
                                        <p:tgtEl>
                                          <p:spTgt spid="24"/>
                                        </p:tgtEl>
                                        <p:attrNameLst>
                                          <p:attrName>ppt_w</p:attrName>
                                        </p:attrNameLst>
                                      </p:cBhvr>
                                      <p:tavLst>
                                        <p:tav tm="0">
                                          <p:val>
                                            <p:strVal val="#ppt_w*0.8"/>
                                          </p:val>
                                        </p:tav>
                                        <p:tav tm="100000">
                                          <p:val>
                                            <p:strVal val="#ppt_w"/>
                                          </p:val>
                                        </p:tav>
                                      </p:tavLst>
                                    </p:anim>
                                    <p:anim calcmode="lin" valueType="num">
                                      <p:cBhvr>
                                        <p:cTn id="103" dur="550" fill="hold"/>
                                        <p:tgtEl>
                                          <p:spTgt spid="24"/>
                                        </p:tgtEl>
                                        <p:attrNameLst>
                                          <p:attrName>ppt_h</p:attrName>
                                        </p:attrNameLst>
                                      </p:cBhvr>
                                      <p:tavLst>
                                        <p:tav tm="0">
                                          <p:val>
                                            <p:strVal val="#ppt_h*0.8"/>
                                          </p:val>
                                        </p:tav>
                                        <p:tav tm="100000">
                                          <p:val>
                                            <p:strVal val="#ppt_h"/>
                                          </p:val>
                                        </p:tav>
                                      </p:tavLst>
                                    </p:anim>
                                  </p:childTnLst>
                                </p:cTn>
                              </p:par>
                              <p:par>
                                <p:cTn id="104" presetID="42" presetClass="entr" presetSubtype="0" fill="hold"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650"/>
                                        <p:tgtEl>
                                          <p:spTgt spid="25"/>
                                        </p:tgtEl>
                                      </p:cBhvr>
                                    </p:animEffect>
                                    <p:anim calcmode="lin" valueType="num">
                                      <p:cBhvr>
                                        <p:cTn id="107" dur="650" fill="hold"/>
                                        <p:tgtEl>
                                          <p:spTgt spid="25"/>
                                        </p:tgtEl>
                                        <p:attrNameLst>
                                          <p:attrName>ppt_y</p:attrName>
                                        </p:attrNameLst>
                                      </p:cBhvr>
                                      <p:tavLst>
                                        <p:tav tm="0">
                                          <p:val>
                                            <p:strVal val="#ppt_y+0.06"/>
                                          </p:val>
                                        </p:tav>
                                        <p:tav tm="100000">
                                          <p:val>
                                            <p:strVal val="#ppt_y"/>
                                          </p:val>
                                        </p:tav>
                                      </p:tavLst>
                                    </p:anim>
                                  </p:childTnLst>
                                </p:cTn>
                              </p:par>
                            </p:childTnLst>
                          </p:cTn>
                        </p:par>
                        <p:par>
                          <p:cTn id="121" fill="hold">
                            <p:stCondLst>
                              <p:cond delay="1300"/>
                            </p:stCondLst>
                            <p:childTnLst>
                              <p:par>
                                <p:cTn id="109" presetID="10" presetClass="entr" presetSubtype="0" fill="hold" nodeType="afterEffect">
                                  <p:stCondLst>
                                    <p:cond delay="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250"/>
                                        <p:tgtEl>
                                          <p:spTgt spid="26"/>
                                        </p:tgtEl>
                                      </p:cBhvr>
                                    </p:animEffect>
                                  </p:childTnLst>
                                </p:cTn>
                              </p:par>
                              <p:par>
                                <p:cTn id="112" presetID="53" presetClass="entr" presetSubtype="16" fill="hold" nodeType="afterEffect">
                                  <p:stCondLst>
                                    <p:cond delay="0"/>
                                  </p:stCondLst>
                                  <p:childTnLst>
                                    <p:set>
                                      <p:cBhvr>
                                        <p:cTn id="113" dur="1" fill="hold">
                                          <p:stCondLst>
                                            <p:cond delay="0"/>
                                          </p:stCondLst>
                                        </p:cTn>
                                        <p:tgtEl>
                                          <p:spTgt spid="27"/>
                                        </p:tgtEl>
                                        <p:attrNameLst>
                                          <p:attrName>style.visibility</p:attrName>
                                        </p:attrNameLst>
                                      </p:cBhvr>
                                      <p:to>
                                        <p:strVal val="visible"/>
                                      </p:to>
                                    </p:set>
                                    <p:animEffect transition="in" filter="fade">
                                      <p:cBhvr>
                                        <p:cTn id="114" dur="550"/>
                                        <p:tgtEl>
                                          <p:spTgt spid="27"/>
                                        </p:tgtEl>
                                      </p:cBhvr>
                                    </p:animEffect>
                                    <p:anim calcmode="lin" valueType="num">
                                      <p:cBhvr>
                                        <p:cTn id="115" dur="550" fill="hold"/>
                                        <p:tgtEl>
                                          <p:spTgt spid="27"/>
                                        </p:tgtEl>
                                        <p:attrNameLst>
                                          <p:attrName>ppt_w</p:attrName>
                                        </p:attrNameLst>
                                      </p:cBhvr>
                                      <p:tavLst>
                                        <p:tav tm="0">
                                          <p:val>
                                            <p:strVal val="#ppt_w*0.8"/>
                                          </p:val>
                                        </p:tav>
                                        <p:tav tm="100000">
                                          <p:val>
                                            <p:strVal val="#ppt_w"/>
                                          </p:val>
                                        </p:tav>
                                      </p:tavLst>
                                    </p:anim>
                                    <p:anim calcmode="lin" valueType="num">
                                      <p:cBhvr>
                                        <p:cTn id="116" dur="550" fill="hold"/>
                                        <p:tgtEl>
                                          <p:spTgt spid="27"/>
                                        </p:tgtEl>
                                        <p:attrNameLst>
                                          <p:attrName>ppt_h</p:attrName>
                                        </p:attrNameLst>
                                      </p:cBhvr>
                                      <p:tavLst>
                                        <p:tav tm="0">
                                          <p:val>
                                            <p:strVal val="#ppt_h*0.8"/>
                                          </p:val>
                                        </p:tav>
                                        <p:tav tm="100000">
                                          <p:val>
                                            <p:strVal val="#ppt_h"/>
                                          </p:val>
                                        </p:tav>
                                      </p:tavLst>
                                    </p:anim>
                                  </p:childTnLst>
                                </p:cTn>
                              </p:par>
                              <p:par>
                                <p:cTn id="117" presetID="42" presetClass="entr" presetSubtype="0" fill="hold" nodeType="afterEffect">
                                  <p:stCondLst>
                                    <p:cond delay="0"/>
                                  </p:stCondLst>
                                  <p:childTnLst>
                                    <p:set>
                                      <p:cBhvr>
                                        <p:cTn id="118" dur="1" fill="hold">
                                          <p:stCondLst>
                                            <p:cond delay="0"/>
                                          </p:stCondLst>
                                        </p:cTn>
                                        <p:tgtEl>
                                          <p:spTgt spid="28"/>
                                        </p:tgtEl>
                                        <p:attrNameLst>
                                          <p:attrName>style.visibility</p:attrName>
                                        </p:attrNameLst>
                                      </p:cBhvr>
                                      <p:to>
                                        <p:strVal val="visible"/>
                                      </p:to>
                                    </p:set>
                                    <p:animEffect transition="in" filter="fade">
                                      <p:cBhvr>
                                        <p:cTn id="119" dur="650"/>
                                        <p:tgtEl>
                                          <p:spTgt spid="28"/>
                                        </p:tgtEl>
                                      </p:cBhvr>
                                    </p:animEffect>
                                    <p:anim calcmode="lin" valueType="num">
                                      <p:cBhvr>
                                        <p:cTn id="120" dur="650" fill="hold"/>
                                        <p:tgtEl>
                                          <p:spTgt spid="28"/>
                                        </p:tgtEl>
                                        <p:attrNameLst>
                                          <p:attrName>ppt_y</p:attrName>
                                        </p:attrNameLst>
                                      </p:cBhvr>
                                      <p:tavLst>
                                        <p:tav tm="0">
                                          <p:val>
                                            <p:strVal val="#ppt_y+0.06"/>
                                          </p:val>
                                        </p:tav>
                                        <p:tav tm="100000">
                                          <p:val>
                                            <p:strVal val="#ppt_y"/>
                                          </p:val>
                                        </p:tav>
                                      </p:tavLst>
                                    </p:anim>
                                  </p:childTnLst>
                                </p:cTn>
                              </p:par>
                            </p:childTnLst>
                          </p:cTn>
                        </p:par>
                        <p:par>
                          <p:cTn id="134" fill="hold">
                            <p:stCondLst>
                              <p:cond delay="1950"/>
                            </p:stCondLst>
                            <p:childTnLst>
                              <p:par>
                                <p:cTn id="122" presetID="10" presetClass="entr" presetSubtype="0" fill="hold"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250"/>
                                        <p:tgtEl>
                                          <p:spTgt spid="29"/>
                                        </p:tgtEl>
                                      </p:cBhvr>
                                    </p:animEffect>
                                  </p:childTnLst>
                                </p:cTn>
                              </p:par>
                              <p:par>
                                <p:cTn id="125" presetID="53" presetClass="entr" presetSubtype="16" fill="hold" nodeType="afterEffect">
                                  <p:stCondLst>
                                    <p:cond delay="0"/>
                                  </p:stCondLst>
                                  <p:childTnLst>
                                    <p:set>
                                      <p:cBhvr>
                                        <p:cTn id="126" dur="1" fill="hold">
                                          <p:stCondLst>
                                            <p:cond delay="0"/>
                                          </p:stCondLst>
                                        </p:cTn>
                                        <p:tgtEl>
                                          <p:spTgt spid="30"/>
                                        </p:tgtEl>
                                        <p:attrNameLst>
                                          <p:attrName>style.visibility</p:attrName>
                                        </p:attrNameLst>
                                      </p:cBhvr>
                                      <p:to>
                                        <p:strVal val="visible"/>
                                      </p:to>
                                    </p:set>
                                    <p:animEffect transition="in" filter="fade">
                                      <p:cBhvr>
                                        <p:cTn id="127" dur="550"/>
                                        <p:tgtEl>
                                          <p:spTgt spid="30"/>
                                        </p:tgtEl>
                                      </p:cBhvr>
                                    </p:animEffect>
                                    <p:anim calcmode="lin" valueType="num">
                                      <p:cBhvr>
                                        <p:cTn id="128" dur="550" fill="hold"/>
                                        <p:tgtEl>
                                          <p:spTgt spid="30"/>
                                        </p:tgtEl>
                                        <p:attrNameLst>
                                          <p:attrName>ppt_w</p:attrName>
                                        </p:attrNameLst>
                                      </p:cBhvr>
                                      <p:tavLst>
                                        <p:tav tm="0">
                                          <p:val>
                                            <p:strVal val="#ppt_w*0.8"/>
                                          </p:val>
                                        </p:tav>
                                        <p:tav tm="100000">
                                          <p:val>
                                            <p:strVal val="#ppt_w"/>
                                          </p:val>
                                        </p:tav>
                                      </p:tavLst>
                                    </p:anim>
                                    <p:anim calcmode="lin" valueType="num">
                                      <p:cBhvr>
                                        <p:cTn id="129" dur="550" fill="hold"/>
                                        <p:tgtEl>
                                          <p:spTgt spid="30"/>
                                        </p:tgtEl>
                                        <p:attrNameLst>
                                          <p:attrName>ppt_h</p:attrName>
                                        </p:attrNameLst>
                                      </p:cBhvr>
                                      <p:tavLst>
                                        <p:tav tm="0">
                                          <p:val>
                                            <p:strVal val="#ppt_h*0.8"/>
                                          </p:val>
                                        </p:tav>
                                        <p:tav tm="100000">
                                          <p:val>
                                            <p:strVal val="#ppt_h"/>
                                          </p:val>
                                        </p:tav>
                                      </p:tavLst>
                                    </p:anim>
                                  </p:childTnLst>
                                </p:cTn>
                              </p:par>
                              <p:par>
                                <p:cTn id="130" presetID="42" presetClass="entr" presetSubtype="0" fill="hold" nodeType="afterEffect">
                                  <p:stCondLst>
                                    <p:cond delay="0"/>
                                  </p:stCondLst>
                                  <p:childTnLst>
                                    <p:set>
                                      <p:cBhvr>
                                        <p:cTn id="131" dur="1" fill="hold">
                                          <p:stCondLst>
                                            <p:cond delay="0"/>
                                          </p:stCondLst>
                                        </p:cTn>
                                        <p:tgtEl>
                                          <p:spTgt spid="31"/>
                                        </p:tgtEl>
                                        <p:attrNameLst>
                                          <p:attrName>style.visibility</p:attrName>
                                        </p:attrNameLst>
                                      </p:cBhvr>
                                      <p:to>
                                        <p:strVal val="visible"/>
                                      </p:to>
                                    </p:set>
                                    <p:animEffect transition="in" filter="fade">
                                      <p:cBhvr>
                                        <p:cTn id="132" dur="650"/>
                                        <p:tgtEl>
                                          <p:spTgt spid="31"/>
                                        </p:tgtEl>
                                      </p:cBhvr>
                                    </p:animEffect>
                                    <p:anim calcmode="lin" valueType="num">
                                      <p:cBhvr>
                                        <p:cTn id="133" dur="650" fill="hold"/>
                                        <p:tgtEl>
                                          <p:spTgt spid="31"/>
                                        </p:tgtEl>
                                        <p:attrNameLst>
                                          <p:attrName>ppt_y</p:attrName>
                                        </p:attrNameLst>
                                      </p:cBhvr>
                                      <p:tavLst>
                                        <p:tav tm="0">
                                          <p:val>
                                            <p:strVal val="#ppt_y+0.06"/>
                                          </p:val>
                                        </p:tav>
                                        <p:tav tm="100000">
                                          <p:val>
                                            <p:strVal val="#ppt_y"/>
                                          </p:val>
                                        </p:tav>
                                      </p:tavLst>
                                    </p:anim>
                                  </p:childTnLst>
                                </p:cTn>
                              </p:par>
                            </p:childTnLst>
                          </p:cTn>
                        </p:par>
                        <p:par>
                          <p:cTn id="147" fill="hold">
                            <p:stCondLst>
                              <p:cond delay="2600"/>
                            </p:stCondLst>
                            <p:childTnLst>
                              <p:par>
                                <p:cTn id="135" presetID="10" presetClass="entr" presetSubtype="0" fill="hold" nodeType="afterEffect">
                                  <p:stCondLst>
                                    <p:cond delay="0"/>
                                  </p:stCondLst>
                                  <p:childTnLst>
                                    <p:set>
                                      <p:cBhvr>
                                        <p:cTn id="136" dur="1" fill="hold">
                                          <p:stCondLst>
                                            <p:cond delay="0"/>
                                          </p:stCondLst>
                                        </p:cTn>
                                        <p:tgtEl>
                                          <p:spTgt spid="32"/>
                                        </p:tgtEl>
                                        <p:attrNameLst>
                                          <p:attrName>style.visibility</p:attrName>
                                        </p:attrNameLst>
                                      </p:cBhvr>
                                      <p:to>
                                        <p:strVal val="visible"/>
                                      </p:to>
                                    </p:set>
                                    <p:animEffect transition="in" filter="fade">
                                      <p:cBhvr>
                                        <p:cTn id="137" dur="250"/>
                                        <p:tgtEl>
                                          <p:spTgt spid="32"/>
                                        </p:tgtEl>
                                      </p:cBhvr>
                                    </p:animEffect>
                                  </p:childTnLst>
                                </p:cTn>
                              </p:par>
                              <p:par>
                                <p:cTn id="138" presetID="53" presetClass="entr" presetSubtype="16" fill="hold" nodeType="afterEffect">
                                  <p:stCondLst>
                                    <p:cond delay="0"/>
                                  </p:stCondLst>
                                  <p:childTnLst>
                                    <p:set>
                                      <p:cBhvr>
                                        <p:cTn id="139" dur="1" fill="hold">
                                          <p:stCondLst>
                                            <p:cond delay="0"/>
                                          </p:stCondLst>
                                        </p:cTn>
                                        <p:tgtEl>
                                          <p:spTgt spid="33"/>
                                        </p:tgtEl>
                                        <p:attrNameLst>
                                          <p:attrName>style.visibility</p:attrName>
                                        </p:attrNameLst>
                                      </p:cBhvr>
                                      <p:to>
                                        <p:strVal val="visible"/>
                                      </p:to>
                                    </p:set>
                                    <p:animEffect transition="in" filter="fade">
                                      <p:cBhvr>
                                        <p:cTn id="140" dur="550"/>
                                        <p:tgtEl>
                                          <p:spTgt spid="33"/>
                                        </p:tgtEl>
                                      </p:cBhvr>
                                    </p:animEffect>
                                    <p:anim calcmode="lin" valueType="num">
                                      <p:cBhvr>
                                        <p:cTn id="141" dur="550" fill="hold"/>
                                        <p:tgtEl>
                                          <p:spTgt spid="33"/>
                                        </p:tgtEl>
                                        <p:attrNameLst>
                                          <p:attrName>ppt_w</p:attrName>
                                        </p:attrNameLst>
                                      </p:cBhvr>
                                      <p:tavLst>
                                        <p:tav tm="0">
                                          <p:val>
                                            <p:strVal val="#ppt_w*0.8"/>
                                          </p:val>
                                        </p:tav>
                                        <p:tav tm="100000">
                                          <p:val>
                                            <p:strVal val="#ppt_w"/>
                                          </p:val>
                                        </p:tav>
                                      </p:tavLst>
                                    </p:anim>
                                    <p:anim calcmode="lin" valueType="num">
                                      <p:cBhvr>
                                        <p:cTn id="142" dur="550" fill="hold"/>
                                        <p:tgtEl>
                                          <p:spTgt spid="33"/>
                                        </p:tgtEl>
                                        <p:attrNameLst>
                                          <p:attrName>ppt_h</p:attrName>
                                        </p:attrNameLst>
                                      </p:cBhvr>
                                      <p:tavLst>
                                        <p:tav tm="0">
                                          <p:val>
                                            <p:strVal val="#ppt_h*0.8"/>
                                          </p:val>
                                        </p:tav>
                                        <p:tav tm="100000">
                                          <p:val>
                                            <p:strVal val="#ppt_h"/>
                                          </p:val>
                                        </p:tav>
                                      </p:tavLst>
                                    </p:anim>
                                  </p:childTnLst>
                                </p:cTn>
                              </p:par>
                              <p:par>
                                <p:cTn id="143" presetID="42" presetClass="entr" presetSubtype="0" fill="hold" nodeType="afterEffect">
                                  <p:stCondLst>
                                    <p:cond delay="0"/>
                                  </p:stCondLst>
                                  <p:childTnLst>
                                    <p:set>
                                      <p:cBhvr>
                                        <p:cTn id="144" dur="1" fill="hold">
                                          <p:stCondLst>
                                            <p:cond delay="0"/>
                                          </p:stCondLst>
                                        </p:cTn>
                                        <p:tgtEl>
                                          <p:spTgt spid="34"/>
                                        </p:tgtEl>
                                        <p:attrNameLst>
                                          <p:attrName>style.visibility</p:attrName>
                                        </p:attrNameLst>
                                      </p:cBhvr>
                                      <p:to>
                                        <p:strVal val="visible"/>
                                      </p:to>
                                    </p:set>
                                    <p:animEffect transition="in" filter="fade">
                                      <p:cBhvr>
                                        <p:cTn id="145" dur="650"/>
                                        <p:tgtEl>
                                          <p:spTgt spid="34"/>
                                        </p:tgtEl>
                                      </p:cBhvr>
                                    </p:animEffect>
                                    <p:anim calcmode="lin" valueType="num">
                                      <p:cBhvr>
                                        <p:cTn id="146" dur="650" fill="hold"/>
                                        <p:tgtEl>
                                          <p:spTgt spid="34"/>
                                        </p:tgtEl>
                                        <p:attrNameLst>
                                          <p:attrName>ppt_y</p:attrName>
                                        </p:attrNameLst>
                                      </p:cBhvr>
                                      <p:tavLst>
                                        <p:tav tm="0">
                                          <p:val>
                                            <p:strVal val="#ppt_y+0.06"/>
                                          </p:val>
                                        </p:tav>
                                        <p:tav tm="100000">
                                          <p:val>
                                            <p:strVal val="#ppt_y"/>
                                          </p:val>
                                        </p:tav>
                                      </p:tavLst>
                                    </p:anim>
                                  </p:childTnLst>
                                </p:cTn>
                              </p:par>
                            </p:childTnLst>
                          </p:cTn>
                        </p:par>
                      </p:childTnLst>
                    </p:cTn>
                  </p:par>
                  <p:par>
                    <p:cTn id="148" fill="hold">
                      <p:stCondLst>
                        <p:cond delay="indefinite"/>
                      </p:stCondLst>
                      <p:childTnLst>
                        <p:par>
                          <p:cTn id="153" fill="hold">
                            <p:stCondLst>
                              <p:cond delay="0"/>
                            </p:stCondLst>
                            <p:childTnLst>
                              <p:par>
                                <p:cTn id="149" presetID="42" presetClass="entr" presetSubtype="0" fill="hold" nodeType="clickEffect">
                                  <p:stCondLst>
                                    <p:cond delay="0"/>
                                  </p:stCondLst>
                                  <p:childTnLst>
                                    <p:set>
                                      <p:cBhvr>
                                        <p:cTn id="150" dur="1" fill="hold">
                                          <p:stCondLst>
                                            <p:cond delay="0"/>
                                          </p:stCondLst>
                                        </p:cTn>
                                        <p:tgtEl>
                                          <p:spTgt spid="35"/>
                                        </p:tgtEl>
                                        <p:attrNameLst>
                                          <p:attrName>style.visibility</p:attrName>
                                        </p:attrNameLst>
                                      </p:cBhvr>
                                      <p:to>
                                        <p:strVal val="visible"/>
                                      </p:to>
                                    </p:set>
                                    <p:animEffect transition="in" filter="fade">
                                      <p:cBhvr>
                                        <p:cTn id="151" dur="650"/>
                                        <p:tgtEl>
                                          <p:spTgt spid="35"/>
                                        </p:tgtEl>
                                      </p:cBhvr>
                                    </p:animEffect>
                                    <p:anim calcmode="lin" valueType="num">
                                      <p:cBhvr>
                                        <p:cTn id="152" dur="650" fill="hold"/>
                                        <p:tgtEl>
                                          <p:spTgt spid="35"/>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